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heme/themeOverride1.xml" ContentType="application/vnd.openxmlformats-officedocument.themeOverr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</p:sldMasterIdLst>
  <p:notesMasterIdLst>
    <p:notesMasterId r:id="rId51"/>
  </p:notesMasterIdLst>
  <p:sldIdLst>
    <p:sldId id="257" r:id="rId3"/>
    <p:sldId id="328" r:id="rId4"/>
    <p:sldId id="454" r:id="rId5"/>
    <p:sldId id="363" r:id="rId6"/>
    <p:sldId id="355" r:id="rId7"/>
    <p:sldId id="427" r:id="rId8"/>
    <p:sldId id="428" r:id="rId9"/>
    <p:sldId id="409" r:id="rId10"/>
    <p:sldId id="360" r:id="rId11"/>
    <p:sldId id="410" r:id="rId12"/>
    <p:sldId id="411" r:id="rId13"/>
    <p:sldId id="424" r:id="rId14"/>
    <p:sldId id="429" r:id="rId15"/>
    <p:sldId id="425" r:id="rId16"/>
    <p:sldId id="455" r:id="rId17"/>
    <p:sldId id="366" r:id="rId18"/>
    <p:sldId id="279" r:id="rId19"/>
    <p:sldId id="367" r:id="rId20"/>
    <p:sldId id="369" r:id="rId21"/>
    <p:sldId id="370" r:id="rId22"/>
    <p:sldId id="371" r:id="rId23"/>
    <p:sldId id="456" r:id="rId24"/>
    <p:sldId id="383" r:id="rId25"/>
    <p:sldId id="460" r:id="rId26"/>
    <p:sldId id="284" r:id="rId27"/>
    <p:sldId id="457" r:id="rId28"/>
    <p:sldId id="350" r:id="rId29"/>
    <p:sldId id="372" r:id="rId30"/>
    <p:sldId id="399" r:id="rId31"/>
    <p:sldId id="385" r:id="rId32"/>
    <p:sldId id="458" r:id="rId33"/>
    <p:sldId id="386" r:id="rId34"/>
    <p:sldId id="426" r:id="rId35"/>
    <p:sldId id="387" r:id="rId36"/>
    <p:sldId id="413" r:id="rId37"/>
    <p:sldId id="414" r:id="rId38"/>
    <p:sldId id="459" r:id="rId39"/>
    <p:sldId id="373" r:id="rId40"/>
    <p:sldId id="415" r:id="rId41"/>
    <p:sldId id="400" r:id="rId42"/>
    <p:sldId id="416" r:id="rId43"/>
    <p:sldId id="417" r:id="rId44"/>
    <p:sldId id="418" r:id="rId45"/>
    <p:sldId id="420" r:id="rId46"/>
    <p:sldId id="421" r:id="rId47"/>
    <p:sldId id="422" r:id="rId48"/>
    <p:sldId id="423" r:id="rId49"/>
    <p:sldId id="408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38879"/>
    <a:srgbClr val="DFDFDF"/>
    <a:srgbClr val="A50021"/>
    <a:srgbClr val="008080"/>
    <a:srgbClr val="333300"/>
    <a:srgbClr val="FF3300"/>
    <a:srgbClr val="FFFF99"/>
    <a:srgbClr val="666633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FFF5E-C2F4-4EB8-BCB2-91229E640D69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3DDD5-B41C-4D06-A514-C8B18DA58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66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3DDD5-B41C-4D06-A514-C8B18DA5823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265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3DDD5-B41C-4D06-A514-C8B18DA5823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190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microsoft.com/office/2007/relationships/hdphoto" Target="../media/hdphoto2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microsoft.com/office/2007/relationships/hdphoto" Target="../media/hdphoto2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microsoft.com/office/2007/relationships/hdphoto" Target="../media/hdphoto2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3.wdp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750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711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75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70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57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93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429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801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939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41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11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3598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aseline="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Darshan University, Rajkot</a:t>
            </a:r>
            <a:endParaRPr lang="en-US" sz="16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05712" y="1935571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261765" y="799562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429" y="86710"/>
            <a:ext cx="2638766" cy="80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81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Deepraj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K. Patadia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2965451" y="6604000"/>
            <a:ext cx="62610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#2301DU003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(Indian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Constitution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- 1 – Forms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of Government &amp; Constitutional Framework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0C19AC1-1EDC-1C21-2A6E-1C089CA49B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3306" y="6088768"/>
            <a:ext cx="1558800" cy="47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50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19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805712" y="1935571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261765" y="1510755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429" y="86710"/>
            <a:ext cx="2638766" cy="80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37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</a:t>
            </a:r>
            <a:r>
              <a:rPr lang="en-US" dirty="0" err="1"/>
              <a:t>Dipak</a:t>
            </a:r>
            <a:r>
              <a:rPr lang="en-US" dirty="0"/>
              <a:t> </a:t>
            </a:r>
            <a:r>
              <a:rPr lang="en-US" dirty="0" err="1"/>
              <a:t>Jivani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848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Dipak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Jivani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#2101CV601 (DRCS)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Building Layout and Design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2215" y="861192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135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Dipak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Jivani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#2101CV601 (DRCS)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Building Layout and Design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6024144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30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Dipak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Jivani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#2101CV601 (DRCS)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Building Layout and Design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94" y="6068934"/>
            <a:ext cx="1446706" cy="471988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359601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solidFill>
                  <a:srgbClr val="038879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4097" y="6272216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066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Dipak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Jivani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#2101CV601 (DRCS)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Building Layout and Design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156924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43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Dipak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Jivani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#2101CV601 (DRCS)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Building Layout and Design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0447" y="6024144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542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Dipak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Jivani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#2101CV601 (DRCS)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Building Layout and Design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094" y="6068934"/>
            <a:ext cx="1446706" cy="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719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06260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2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64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295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650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193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718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041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897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509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915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085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719018" y="238924"/>
            <a:ext cx="3061397" cy="99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1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8C8FA-443D-4822-8CA5-2AA8B08CB812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24299-9764-42B9-AB3B-971E9EC43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5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0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gif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jpeg"/><Relationship Id="rId3" Type="http://schemas.openxmlformats.org/officeDocument/2006/relationships/image" Target="../media/image68.png"/><Relationship Id="rId7" Type="http://schemas.openxmlformats.org/officeDocument/2006/relationships/image" Target="../media/image72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1.jpe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gif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552CC84-22B8-4A73-8C03-84C06D1D2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9833207" cy="2578780"/>
          </a:xfrm>
        </p:spPr>
        <p:txBody>
          <a:bodyPr/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Unit – 1</a:t>
            </a:r>
            <a:b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48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Government &amp; Constitutional Framework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deepraj.patadia@darshan.ac.in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7990475865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Civil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Prof. Deepraj K. Patadia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Indian Constitution</a:t>
            </a:r>
          </a:p>
          <a:p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DU #2301DU003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pic>
        <p:nvPicPr>
          <p:cNvPr id="1026" name="Picture 2" descr="Democracy - the best form of government! | Curious Tim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341" y="3905130"/>
            <a:ext cx="5319439" cy="265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AB800D23-9411-0F63-3CEB-31B651154BCB}"/>
              </a:ext>
            </a:extLst>
          </p:cNvPr>
          <p:cNvSpPr txBox="1">
            <a:spLocks/>
          </p:cNvSpPr>
          <p:nvPr/>
        </p:nvSpPr>
        <p:spPr>
          <a:xfrm>
            <a:off x="559489" y="3429000"/>
            <a:ext cx="7407152" cy="591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(CO-1: </a:t>
            </a:r>
            <a:r>
              <a:rPr lang="en-US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outline</a:t>
            </a:r>
            <a:r>
              <a:rPr lang="en-US" dirty="0">
                <a:solidFill>
                  <a:srgbClr val="FF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the basic values and philosophy of Indian Constitution as expressed in the Preamble.)</a:t>
            </a:r>
            <a:endParaRPr lang="en-IN" dirty="0">
              <a:solidFill>
                <a:srgbClr val="FF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41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  <a:sym typeface="Wingdings 2" panose="05020102010507070707" pitchFamily="18" charset="2"/>
              </a:rPr>
              <a:t>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2661"/>
            <a:ext cx="0" cy="5688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98677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+mn-ea"/>
                <a:cs typeface="+mn-cs"/>
              </a:rPr>
              <a:t>Outline</a:t>
            </a:r>
          </a:p>
          <a:p>
            <a:pPr marL="800100" lvl="1" indent="-342900">
              <a:buFont typeface="Wingdings" panose="05000000000000000000" pitchFamily="2" charset="2"/>
              <a:buChar char="ü"/>
              <a:defRPr/>
            </a:pPr>
            <a:r>
              <a:rPr lang="en-US" sz="2400" dirty="0"/>
              <a:t>Government: </a:t>
            </a:r>
          </a:p>
          <a:p>
            <a:pPr marL="1257300" lvl="2" indent="-342900"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Forms of Government : Monarchy, Oligarchy, Democracy, Dictatorship, Socialism</a:t>
            </a:r>
          </a:p>
          <a:p>
            <a:pPr marL="800100" lvl="1" indent="-342900">
              <a:buFont typeface="Wingdings" panose="05000000000000000000" pitchFamily="2" charset="2"/>
              <a:buChar char="ü"/>
              <a:defRPr/>
            </a:pPr>
            <a:r>
              <a:rPr lang="en-IN" sz="2400" dirty="0"/>
              <a:t>Meaning of the Constitution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Historical Background of the Constituent Assembly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 dirty="0"/>
              <a:t>Government of India Act of 1935 and Indian Independence Act of 1947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400" dirty="0"/>
              <a:t>Salient features of Constitution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IN" sz="2400" dirty="0"/>
              <a:t>National Symbols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Roboto Condensed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53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2024370"/>
            <a:ext cx="9688450" cy="3373539"/>
          </a:xfrm>
        </p:spPr>
        <p:txBody>
          <a:bodyPr/>
          <a:lstStyle/>
          <a:p>
            <a:r>
              <a:rPr lang="en-US" sz="6000" dirty="0"/>
              <a:t>Government </a:t>
            </a:r>
            <a:br>
              <a:rPr lang="en-US" sz="6000" dirty="0"/>
            </a:br>
            <a:r>
              <a:rPr lang="en-IN" sz="3200" dirty="0">
                <a:solidFill>
                  <a:srgbClr val="FF0000"/>
                </a:solidFill>
              </a:rPr>
              <a:t>(</a:t>
            </a:r>
            <a:r>
              <a:rPr lang="en-US" sz="3200" dirty="0">
                <a:solidFill>
                  <a:srgbClr val="FF0000"/>
                </a:solidFill>
              </a:rPr>
              <a:t>Forms of Government : Monarchy, Oligarchy, Democracy, Dictatorship, Socialism</a:t>
            </a:r>
            <a:r>
              <a:rPr lang="en-IN" sz="3200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028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65000"/>
              <a:alpha val="50000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Government: Definition &amp; Types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335BFEE-8749-494C-B766-C0F7A27C39B8}"/>
              </a:ext>
            </a:extLst>
          </p:cNvPr>
          <p:cNvSpPr txBox="1">
            <a:spLocks/>
          </p:cNvSpPr>
          <p:nvPr/>
        </p:nvSpPr>
        <p:spPr>
          <a:xfrm>
            <a:off x="0" y="782831"/>
            <a:ext cx="11929641" cy="525300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Government: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System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or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group of people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who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rule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or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control a country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is known as a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government. 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main types were,</a:t>
            </a:r>
          </a:p>
          <a:p>
            <a:pPr lvl="2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IN" sz="2400" b="1" dirty="0">
                <a:solidFill>
                  <a:srgbClr val="C00000"/>
                </a:solidFill>
                <a:latin typeface="Roboto Condensed"/>
              </a:rPr>
              <a:t>Monarchy</a:t>
            </a:r>
          </a:p>
          <a:p>
            <a:pPr lvl="2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IN" sz="2400" b="1" dirty="0">
                <a:solidFill>
                  <a:srgbClr val="C00000"/>
                </a:solidFill>
                <a:latin typeface="Roboto Condensed"/>
              </a:rPr>
              <a:t>Oligarchy  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solidFill>
                  <a:srgbClr val="212121"/>
                </a:solidFill>
                <a:latin typeface="Roboto Condensed"/>
              </a:rPr>
              <a:t>As conditions changed, so did the forms of government in different areas of the world. </a:t>
            </a:r>
          </a:p>
          <a:p>
            <a:pPr lvl="0" algn="just">
              <a:buClr>
                <a:srgbClr val="B84742"/>
              </a:buClr>
              <a:buFont typeface="Wingdings 3" panose="05040102010807070707" pitchFamily="18" charset="2"/>
              <a:buChar char="}"/>
              <a:defRPr/>
            </a:pPr>
            <a:r>
              <a:rPr lang="en-US" sz="2400" dirty="0">
                <a:solidFill>
                  <a:srgbClr val="212121"/>
                </a:solidFill>
                <a:latin typeface="Roboto Condensed"/>
              </a:rPr>
              <a:t>By </a:t>
            </a:r>
            <a:r>
              <a:rPr lang="en-US" sz="2400" b="1" dirty="0">
                <a:solidFill>
                  <a:srgbClr val="C00000"/>
                </a:solidFill>
                <a:latin typeface="Roboto Condensed"/>
              </a:rPr>
              <a:t>analyzing</a:t>
            </a:r>
            <a:r>
              <a:rPr lang="en-US" sz="2400" dirty="0">
                <a:solidFill>
                  <a:srgbClr val="C00000"/>
                </a:solidFill>
                <a:latin typeface="Roboto Condensed"/>
              </a:rPr>
              <a:t> </a:t>
            </a:r>
            <a:r>
              <a:rPr lang="en-US" sz="2400" dirty="0">
                <a:solidFill>
                  <a:srgbClr val="212121"/>
                </a:solidFill>
                <a:latin typeface="Roboto Condensed"/>
              </a:rPr>
              <a:t>these changes and the </a:t>
            </a:r>
            <a:r>
              <a:rPr lang="en-US" sz="2400" b="1" dirty="0">
                <a:solidFill>
                  <a:srgbClr val="C00000"/>
                </a:solidFill>
                <a:latin typeface="Roboto Condensed"/>
              </a:rPr>
              <a:t>general characteristics </a:t>
            </a:r>
            <a:r>
              <a:rPr lang="en-US" sz="2400" dirty="0">
                <a:solidFill>
                  <a:srgbClr val="212121"/>
                </a:solidFill>
                <a:latin typeface="Roboto Condensed"/>
              </a:rPr>
              <a:t>of past and present governments, </a:t>
            </a:r>
            <a:r>
              <a:rPr lang="en-US" sz="2400" b="1" dirty="0">
                <a:solidFill>
                  <a:srgbClr val="C00000"/>
                </a:solidFill>
                <a:latin typeface="Roboto Condensed"/>
              </a:rPr>
              <a:t>scholars identified main forms of government as below</a:t>
            </a:r>
            <a:r>
              <a:rPr lang="en-US" sz="2400" b="1" dirty="0">
                <a:solidFill>
                  <a:srgbClr val="212121"/>
                </a:solidFill>
                <a:latin typeface="Roboto Condensed"/>
              </a:rPr>
              <a:t>.</a:t>
            </a:r>
          </a:p>
          <a:p>
            <a:pPr lvl="2" algn="just">
              <a:buClr>
                <a:srgbClr val="B84742"/>
              </a:buClr>
              <a:buFont typeface="Wingdings 3" panose="05040102010807070707" pitchFamily="18" charset="2"/>
              <a:buChar char="Ê"/>
              <a:defRPr/>
            </a:pPr>
            <a:r>
              <a:rPr lang="en-US" sz="2400" b="1" dirty="0">
                <a:solidFill>
                  <a:srgbClr val="C00000"/>
                </a:solidFill>
                <a:latin typeface="Roboto Condensed"/>
              </a:rPr>
              <a:t>Dictatorships </a:t>
            </a:r>
          </a:p>
          <a:p>
            <a:pPr lvl="2" algn="just">
              <a:buClr>
                <a:srgbClr val="B84742"/>
              </a:buClr>
              <a:buFont typeface="Wingdings 3" panose="05040102010807070707" pitchFamily="18" charset="2"/>
              <a:buChar char="Ê"/>
              <a:defRPr/>
            </a:pPr>
            <a:r>
              <a:rPr lang="en-US" sz="2400" b="1" dirty="0">
                <a:solidFill>
                  <a:srgbClr val="C00000"/>
                </a:solidFill>
                <a:latin typeface="Roboto Condensed"/>
              </a:rPr>
              <a:t>Democracies</a:t>
            </a:r>
          </a:p>
          <a:p>
            <a:pPr lvl="2" algn="just">
              <a:buClr>
                <a:srgbClr val="B84742"/>
              </a:buClr>
              <a:buFont typeface="Wingdings 3" panose="05040102010807070707" pitchFamily="18" charset="2"/>
              <a:buChar char="Ê"/>
              <a:defRPr/>
            </a:pPr>
            <a:r>
              <a:rPr lang="en-US" sz="2400" b="1" dirty="0">
                <a:solidFill>
                  <a:srgbClr val="C00000"/>
                </a:solidFill>
                <a:latin typeface="Roboto Condensed"/>
              </a:rPr>
              <a:t>Socialism etc.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Some forms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disappeared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for a while, then emerged in other places, then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transformed and returned to a previous form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24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0" y="789895"/>
            <a:ext cx="7122047" cy="48144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Democracy</a:t>
            </a:r>
            <a:r>
              <a:rPr lang="en-US" b="1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 system in which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government of a country is elected by the people.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/>
              </a:rPr>
              <a:t>India</a:t>
            </a: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/>
              </a:rPr>
              <a:t>Denmark</a:t>
            </a: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/>
              </a:rPr>
              <a:t>Norway</a:t>
            </a: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/>
              </a:rPr>
              <a:t>Sweden etc.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Laws passed by the state (ideally) reflect the will of the majority of the population.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term democracy comes from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Greek words ‘demos’ and ‘</a:t>
            </a:r>
            <a:r>
              <a:rPr lang="en-US" sz="24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kratos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’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which mean ‘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common people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’ and ‘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power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’. </a:t>
            </a:r>
          </a:p>
        </p:txBody>
      </p:sp>
      <p:pic>
        <p:nvPicPr>
          <p:cNvPr id="1026" name="Picture 2" descr="Disabled voters, people older than 80 years can now vote through postal  ballot - BusinessToday">
            <a:extLst>
              <a:ext uri="{FF2B5EF4-FFF2-40B4-BE49-F238E27FC236}">
                <a16:creationId xmlns:a16="http://schemas.microsoft.com/office/drawing/2014/main" id="{676B719E-F8E7-2263-F4C1-AA6097AA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743" y="2115593"/>
            <a:ext cx="4749255" cy="31364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75C8DF-2FD6-181F-42D2-9D77834A7287}"/>
              </a:ext>
            </a:extLst>
          </p:cNvPr>
          <p:cNvSpPr txBox="1"/>
          <p:nvPr/>
        </p:nvSpPr>
        <p:spPr>
          <a:xfrm>
            <a:off x="8178783" y="1434076"/>
            <a:ext cx="3017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What is Democracy ???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49F25-027D-126A-80EB-8C09226A7CFA}"/>
              </a:ext>
            </a:extLst>
          </p:cNvPr>
          <p:cNvSpPr txBox="1"/>
          <p:nvPr/>
        </p:nvSpPr>
        <p:spPr>
          <a:xfrm>
            <a:off x="8086610" y="5373554"/>
            <a:ext cx="3201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Election by public voting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574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C78FFA3-87EC-F157-3A8B-F230FAEA1837}"/>
              </a:ext>
            </a:extLst>
          </p:cNvPr>
          <p:cNvGrpSpPr/>
          <p:nvPr/>
        </p:nvGrpSpPr>
        <p:grpSpPr>
          <a:xfrm>
            <a:off x="202916" y="1786421"/>
            <a:ext cx="3740427" cy="1134386"/>
            <a:chOff x="1584773" y="1396025"/>
            <a:chExt cx="3740427" cy="1134386"/>
          </a:xfrm>
        </p:grpSpPr>
        <p:sp>
          <p:nvSpPr>
            <p:cNvPr id="194" name="Google Shape;1700;p45"/>
            <p:cNvSpPr/>
            <p:nvPr/>
          </p:nvSpPr>
          <p:spPr>
            <a:xfrm>
              <a:off x="1836083" y="1564009"/>
              <a:ext cx="3489117" cy="809337"/>
            </a:xfrm>
            <a:prstGeom prst="roundRect">
              <a:avLst>
                <a:gd name="adj" fmla="val 16667"/>
              </a:avLst>
            </a:pr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09" name="Google Shape;1716;p45"/>
            <p:cNvGrpSpPr/>
            <p:nvPr/>
          </p:nvGrpSpPr>
          <p:grpSpPr>
            <a:xfrm>
              <a:off x="1584773" y="1396025"/>
              <a:ext cx="977416" cy="1134386"/>
              <a:chOff x="832427" y="1193024"/>
              <a:chExt cx="810228" cy="811540"/>
            </a:xfrm>
          </p:grpSpPr>
          <p:grpSp>
            <p:nvGrpSpPr>
              <p:cNvPr id="211" name="Google Shape;1717;p45"/>
              <p:cNvGrpSpPr/>
              <p:nvPr/>
            </p:nvGrpSpPr>
            <p:grpSpPr>
              <a:xfrm>
                <a:off x="832427" y="1193024"/>
                <a:ext cx="810228" cy="811540"/>
                <a:chOff x="832427" y="1193024"/>
                <a:chExt cx="810228" cy="811540"/>
              </a:xfrm>
            </p:grpSpPr>
            <p:sp>
              <p:nvSpPr>
                <p:cNvPr id="213" name="Google Shape;1718;p45"/>
                <p:cNvSpPr/>
                <p:nvPr/>
              </p:nvSpPr>
              <p:spPr>
                <a:xfrm>
                  <a:off x="832427" y="1219030"/>
                  <a:ext cx="759600" cy="759600"/>
                </a:xfrm>
                <a:prstGeom prst="ellipse">
                  <a:avLst/>
                </a:prstGeom>
                <a:solidFill>
                  <a:srgbClr val="FDC74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1719;p45"/>
                <p:cNvSpPr/>
                <p:nvPr/>
              </p:nvSpPr>
              <p:spPr>
                <a:xfrm>
                  <a:off x="910780" y="1193024"/>
                  <a:ext cx="731875" cy="811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69" h="34340" extrusionOk="0">
                      <a:moveTo>
                        <a:pt x="2555" y="0"/>
                      </a:moveTo>
                      <a:cubicBezTo>
                        <a:pt x="1221" y="0"/>
                        <a:pt x="0" y="1066"/>
                        <a:pt x="0" y="2557"/>
                      </a:cubicBezTo>
                      <a:lnTo>
                        <a:pt x="12" y="31787"/>
                      </a:lnTo>
                      <a:cubicBezTo>
                        <a:pt x="12" y="33280"/>
                        <a:pt x="1236" y="34339"/>
                        <a:pt x="2570" y="34339"/>
                      </a:cubicBezTo>
                      <a:cubicBezTo>
                        <a:pt x="2992" y="34339"/>
                        <a:pt x="3425" y="34233"/>
                        <a:pt x="3834" y="34002"/>
                      </a:cubicBezTo>
                      <a:lnTo>
                        <a:pt x="29266" y="19381"/>
                      </a:lnTo>
                      <a:cubicBezTo>
                        <a:pt x="30968" y="18404"/>
                        <a:pt x="30968" y="15940"/>
                        <a:pt x="29266" y="14963"/>
                      </a:cubicBezTo>
                      <a:lnTo>
                        <a:pt x="3822" y="343"/>
                      </a:lnTo>
                      <a:cubicBezTo>
                        <a:pt x="3412" y="107"/>
                        <a:pt x="2978" y="0"/>
                        <a:pt x="2555" y="0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 w="19050" cap="flat" cmpd="sng">
                  <a:solidFill>
                    <a:srgbClr val="FDC741"/>
                  </a:solidFill>
                  <a:prstDash val="solid"/>
                  <a:miter lim="1190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2" name="Google Shape;1720;p45"/>
              <p:cNvSpPr txBox="1"/>
              <p:nvPr/>
            </p:nvSpPr>
            <p:spPr>
              <a:xfrm>
                <a:off x="936387" y="1429025"/>
                <a:ext cx="5517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FDC741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01</a:t>
                </a:r>
                <a:endParaRPr kumimoji="0" sz="2200" b="0" i="0" u="none" strike="noStrike" kern="0" cap="none" spc="0" normalizeH="0" baseline="0" noProof="0">
                  <a:ln>
                    <a:noFill/>
                  </a:ln>
                  <a:solidFill>
                    <a:srgbClr val="FDC741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sp>
          <p:nvSpPr>
            <p:cNvPr id="210" name="Google Shape;1721;p45"/>
            <p:cNvSpPr txBox="1"/>
            <p:nvPr/>
          </p:nvSpPr>
          <p:spPr>
            <a:xfrm>
              <a:off x="2682224" y="1660660"/>
              <a:ext cx="2642976" cy="6160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IN" b="1" dirty="0">
                  <a:latin typeface="Roboto Condensed" panose="02000000000000000000" pitchFamily="2" charset="0"/>
                  <a:ea typeface="Roboto Condensed" panose="02000000000000000000" pitchFamily="2" charset="0"/>
                </a:rPr>
                <a:t>Freedom to organize parties and hold elections</a:t>
              </a:r>
              <a:endParaRPr lang="en-US" b="1" dirty="0">
                <a:latin typeface="Roboto Condensed" panose="02000000000000000000" pitchFamily="2" charset="0"/>
                <a:ea typeface="Roboto Condensed" panose="02000000000000000000" pitchFamily="2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2831738" y="792003"/>
            <a:ext cx="6528525" cy="461665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Basic rights of citizen in a democracy</a:t>
            </a:r>
            <a:endParaRPr lang="en-US" sz="24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E10176-30F4-379A-1188-603BBA699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34" y="3057275"/>
            <a:ext cx="3337099" cy="26323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8F696DE-CFC4-67F6-51B5-5FE0AE816F08}"/>
              </a:ext>
            </a:extLst>
          </p:cNvPr>
          <p:cNvGrpSpPr/>
          <p:nvPr/>
        </p:nvGrpSpPr>
        <p:grpSpPr>
          <a:xfrm>
            <a:off x="4100132" y="1786421"/>
            <a:ext cx="3740427" cy="1134386"/>
            <a:chOff x="1584773" y="2849967"/>
            <a:chExt cx="3740427" cy="1134386"/>
          </a:xfrm>
        </p:grpSpPr>
        <p:sp>
          <p:nvSpPr>
            <p:cNvPr id="14" name="Google Shape;1702;p45">
              <a:extLst>
                <a:ext uri="{FF2B5EF4-FFF2-40B4-BE49-F238E27FC236}">
                  <a16:creationId xmlns:a16="http://schemas.microsoft.com/office/drawing/2014/main" id="{A200930F-BC68-BD00-6A63-6B69B7811757}"/>
                </a:ext>
              </a:extLst>
            </p:cNvPr>
            <p:cNvSpPr/>
            <p:nvPr/>
          </p:nvSpPr>
          <p:spPr>
            <a:xfrm>
              <a:off x="1836083" y="3017951"/>
              <a:ext cx="3489117" cy="809337"/>
            </a:xfrm>
            <a:prstGeom prst="roundRect">
              <a:avLst>
                <a:gd name="adj" fmla="val 16667"/>
              </a:avLst>
            </a:pr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1729;p45">
              <a:extLst>
                <a:ext uri="{FF2B5EF4-FFF2-40B4-BE49-F238E27FC236}">
                  <a16:creationId xmlns:a16="http://schemas.microsoft.com/office/drawing/2014/main" id="{05C4CDD4-3AA7-10D6-A75E-BB3DD080B9FE}"/>
                </a:ext>
              </a:extLst>
            </p:cNvPr>
            <p:cNvGrpSpPr/>
            <p:nvPr/>
          </p:nvGrpSpPr>
          <p:grpSpPr>
            <a:xfrm>
              <a:off x="1584773" y="2849967"/>
              <a:ext cx="3556590" cy="1134386"/>
              <a:chOff x="832427" y="2233174"/>
              <a:chExt cx="2948231" cy="811540"/>
            </a:xfrm>
          </p:grpSpPr>
          <p:grpSp>
            <p:nvGrpSpPr>
              <p:cNvPr id="16" name="Google Shape;1730;p45">
                <a:extLst>
                  <a:ext uri="{FF2B5EF4-FFF2-40B4-BE49-F238E27FC236}">
                    <a16:creationId xmlns:a16="http://schemas.microsoft.com/office/drawing/2014/main" id="{1085BEAC-D63F-0BFB-E817-EEF32F7C6A3C}"/>
                  </a:ext>
                </a:extLst>
              </p:cNvPr>
              <p:cNvGrpSpPr/>
              <p:nvPr/>
            </p:nvGrpSpPr>
            <p:grpSpPr>
              <a:xfrm>
                <a:off x="832427" y="2233174"/>
                <a:ext cx="810228" cy="811540"/>
                <a:chOff x="832427" y="2233174"/>
                <a:chExt cx="810228" cy="811540"/>
              </a:xfrm>
            </p:grpSpPr>
            <p:grpSp>
              <p:nvGrpSpPr>
                <p:cNvPr id="18" name="Google Shape;1731;p45">
                  <a:extLst>
                    <a:ext uri="{FF2B5EF4-FFF2-40B4-BE49-F238E27FC236}">
                      <a16:creationId xmlns:a16="http://schemas.microsoft.com/office/drawing/2014/main" id="{92A90382-6163-ABA5-3FB1-F5816CFA6401}"/>
                    </a:ext>
                  </a:extLst>
                </p:cNvPr>
                <p:cNvGrpSpPr/>
                <p:nvPr/>
              </p:nvGrpSpPr>
              <p:grpSpPr>
                <a:xfrm>
                  <a:off x="832427" y="2233174"/>
                  <a:ext cx="810228" cy="811540"/>
                  <a:chOff x="832427" y="2233174"/>
                  <a:chExt cx="810228" cy="811540"/>
                </a:xfrm>
              </p:grpSpPr>
              <p:sp>
                <p:nvSpPr>
                  <p:cNvPr id="20" name="Google Shape;1732;p45">
                    <a:extLst>
                      <a:ext uri="{FF2B5EF4-FFF2-40B4-BE49-F238E27FC236}">
                        <a16:creationId xmlns:a16="http://schemas.microsoft.com/office/drawing/2014/main" id="{7017943F-D191-ED0C-41F3-D701380B81CC}"/>
                      </a:ext>
                    </a:extLst>
                  </p:cNvPr>
                  <p:cNvSpPr/>
                  <p:nvPr/>
                </p:nvSpPr>
                <p:spPr>
                  <a:xfrm>
                    <a:off x="832427" y="2259180"/>
                    <a:ext cx="759600" cy="759600"/>
                  </a:xfrm>
                  <a:prstGeom prst="ellipse">
                    <a:avLst/>
                  </a:prstGeom>
                  <a:solidFill>
                    <a:srgbClr val="F07D19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" name="Google Shape;1733;p45">
                    <a:extLst>
                      <a:ext uri="{FF2B5EF4-FFF2-40B4-BE49-F238E27FC236}">
                        <a16:creationId xmlns:a16="http://schemas.microsoft.com/office/drawing/2014/main" id="{44316C23-D5EB-4A1F-B0D6-F46D4D856291}"/>
                      </a:ext>
                    </a:extLst>
                  </p:cNvPr>
                  <p:cNvSpPr/>
                  <p:nvPr/>
                </p:nvSpPr>
                <p:spPr>
                  <a:xfrm>
                    <a:off x="910780" y="2233174"/>
                    <a:ext cx="731875" cy="8115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969" h="34340" extrusionOk="0">
                        <a:moveTo>
                          <a:pt x="2555" y="0"/>
                        </a:moveTo>
                        <a:cubicBezTo>
                          <a:pt x="1221" y="0"/>
                          <a:pt x="0" y="1066"/>
                          <a:pt x="0" y="2557"/>
                        </a:cubicBezTo>
                        <a:lnTo>
                          <a:pt x="12" y="31787"/>
                        </a:lnTo>
                        <a:cubicBezTo>
                          <a:pt x="12" y="33280"/>
                          <a:pt x="1236" y="34339"/>
                          <a:pt x="2570" y="34339"/>
                        </a:cubicBezTo>
                        <a:cubicBezTo>
                          <a:pt x="2992" y="34339"/>
                          <a:pt x="3425" y="34233"/>
                          <a:pt x="3834" y="34002"/>
                        </a:cubicBezTo>
                        <a:lnTo>
                          <a:pt x="29266" y="19381"/>
                        </a:lnTo>
                        <a:cubicBezTo>
                          <a:pt x="30968" y="18404"/>
                          <a:pt x="30968" y="15940"/>
                          <a:pt x="29266" y="14963"/>
                        </a:cubicBezTo>
                        <a:lnTo>
                          <a:pt x="3822" y="343"/>
                        </a:lnTo>
                        <a:cubicBezTo>
                          <a:pt x="3412" y="107"/>
                          <a:pt x="2978" y="0"/>
                          <a:pt x="2555" y="0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 w="19050" cap="flat" cmpd="sng">
                    <a:solidFill>
                      <a:srgbClr val="F07D19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" name="Google Shape;1734;p45">
                  <a:extLst>
                    <a:ext uri="{FF2B5EF4-FFF2-40B4-BE49-F238E27FC236}">
                      <a16:creationId xmlns:a16="http://schemas.microsoft.com/office/drawing/2014/main" id="{0680054A-AD9B-B519-5CC5-890D6A206959}"/>
                    </a:ext>
                  </a:extLst>
                </p:cNvPr>
                <p:cNvSpPr txBox="1"/>
                <p:nvPr/>
              </p:nvSpPr>
              <p:spPr>
                <a:xfrm>
                  <a:off x="936387" y="2469175"/>
                  <a:ext cx="551700" cy="33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" sz="2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07D19"/>
                      </a:solidFill>
                      <a:effectLst/>
                      <a:uLnTx/>
                      <a:uFillTx/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02</a:t>
                  </a:r>
                  <a:endPara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F07D19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sp>
            <p:nvSpPr>
              <p:cNvPr id="17" name="Google Shape;1735;p45">
                <a:extLst>
                  <a:ext uri="{FF2B5EF4-FFF2-40B4-BE49-F238E27FC236}">
                    <a16:creationId xmlns:a16="http://schemas.microsoft.com/office/drawing/2014/main" id="{B051C064-CF40-EF6A-D439-190BFF7852CD}"/>
                  </a:ext>
                </a:extLst>
              </p:cNvPr>
              <p:cNvSpPr txBox="1"/>
              <p:nvPr/>
            </p:nvSpPr>
            <p:spPr>
              <a:xfrm>
                <a:off x="1742158" y="2422494"/>
                <a:ext cx="20385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SzPts val="1100"/>
                </a:pPr>
                <a:r>
                  <a:rPr lang="en-IN" b="1" dirty="0">
                    <a:latin typeface="Roboto Condensed" panose="02000000000000000000" pitchFamily="2" charset="0"/>
                    <a:ea typeface="Roboto Condensed" panose="02000000000000000000" pitchFamily="2" charset="0"/>
                  </a:rPr>
                  <a:t>Freedom of speech</a:t>
                </a:r>
                <a:endParaRPr lang="en-US" b="1" dirty="0"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</p:txBody>
          </p:sp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8EC611-7417-A48C-85A1-05494B2A8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451" y="3057275"/>
            <a:ext cx="3337098" cy="26323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ED90D9C0-335C-8FD3-0DB9-002BB01FBC71}"/>
              </a:ext>
            </a:extLst>
          </p:cNvPr>
          <p:cNvGrpSpPr/>
          <p:nvPr/>
        </p:nvGrpSpPr>
        <p:grpSpPr>
          <a:xfrm>
            <a:off x="7997348" y="1786421"/>
            <a:ext cx="3740427" cy="1134386"/>
            <a:chOff x="1584773" y="4330886"/>
            <a:chExt cx="3740427" cy="1134386"/>
          </a:xfrm>
        </p:grpSpPr>
        <p:sp>
          <p:nvSpPr>
            <p:cNvPr id="24" name="Google Shape;1704;p45">
              <a:extLst>
                <a:ext uri="{FF2B5EF4-FFF2-40B4-BE49-F238E27FC236}">
                  <a16:creationId xmlns:a16="http://schemas.microsoft.com/office/drawing/2014/main" id="{761D56A1-CA66-7C6B-5DD8-909BFB06FD8F}"/>
                </a:ext>
              </a:extLst>
            </p:cNvPr>
            <p:cNvSpPr/>
            <p:nvPr/>
          </p:nvSpPr>
          <p:spPr>
            <a:xfrm>
              <a:off x="1836083" y="4498870"/>
              <a:ext cx="3489117" cy="809337"/>
            </a:xfrm>
            <a:prstGeom prst="roundRect">
              <a:avLst>
                <a:gd name="adj" fmla="val 16667"/>
              </a:avLst>
            </a:pr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25" name="Google Shape;1743;p45">
              <a:extLst>
                <a:ext uri="{FF2B5EF4-FFF2-40B4-BE49-F238E27FC236}">
                  <a16:creationId xmlns:a16="http://schemas.microsoft.com/office/drawing/2014/main" id="{FA7391A0-8497-0D2F-A99A-882B6E76027B}"/>
                </a:ext>
              </a:extLst>
            </p:cNvPr>
            <p:cNvGrpSpPr/>
            <p:nvPr/>
          </p:nvGrpSpPr>
          <p:grpSpPr>
            <a:xfrm>
              <a:off x="1584773" y="4330886"/>
              <a:ext cx="3556590" cy="1134386"/>
              <a:chOff x="832427" y="3292624"/>
              <a:chExt cx="2948231" cy="811540"/>
            </a:xfrm>
          </p:grpSpPr>
          <p:grpSp>
            <p:nvGrpSpPr>
              <p:cNvPr id="26" name="Google Shape;1744;p45">
                <a:extLst>
                  <a:ext uri="{FF2B5EF4-FFF2-40B4-BE49-F238E27FC236}">
                    <a16:creationId xmlns:a16="http://schemas.microsoft.com/office/drawing/2014/main" id="{F1D7F645-2B91-1159-336E-DDCC5DB893F1}"/>
                  </a:ext>
                </a:extLst>
              </p:cNvPr>
              <p:cNvGrpSpPr/>
              <p:nvPr/>
            </p:nvGrpSpPr>
            <p:grpSpPr>
              <a:xfrm>
                <a:off x="832427" y="3292624"/>
                <a:ext cx="810228" cy="811540"/>
                <a:chOff x="832427" y="3292624"/>
                <a:chExt cx="810228" cy="811540"/>
              </a:xfrm>
            </p:grpSpPr>
            <p:grpSp>
              <p:nvGrpSpPr>
                <p:cNvPr id="28" name="Google Shape;1745;p45">
                  <a:extLst>
                    <a:ext uri="{FF2B5EF4-FFF2-40B4-BE49-F238E27FC236}">
                      <a16:creationId xmlns:a16="http://schemas.microsoft.com/office/drawing/2014/main" id="{22F09168-DC93-8FC2-52A6-BD5FB5A88050}"/>
                    </a:ext>
                  </a:extLst>
                </p:cNvPr>
                <p:cNvGrpSpPr/>
                <p:nvPr/>
              </p:nvGrpSpPr>
              <p:grpSpPr>
                <a:xfrm>
                  <a:off x="832427" y="3292624"/>
                  <a:ext cx="810228" cy="811540"/>
                  <a:chOff x="832427" y="3292624"/>
                  <a:chExt cx="810228" cy="811540"/>
                </a:xfrm>
              </p:grpSpPr>
              <p:sp>
                <p:nvSpPr>
                  <p:cNvPr id="30" name="Google Shape;1746;p45">
                    <a:extLst>
                      <a:ext uri="{FF2B5EF4-FFF2-40B4-BE49-F238E27FC236}">
                        <a16:creationId xmlns:a16="http://schemas.microsoft.com/office/drawing/2014/main" id="{23DD86C3-2800-74F0-873E-0B47E9097C3E}"/>
                      </a:ext>
                    </a:extLst>
                  </p:cNvPr>
                  <p:cNvSpPr/>
                  <p:nvPr/>
                </p:nvSpPr>
                <p:spPr>
                  <a:xfrm>
                    <a:off x="832427" y="3318630"/>
                    <a:ext cx="759600" cy="759600"/>
                  </a:xfrm>
                  <a:prstGeom prst="ellipse">
                    <a:avLst/>
                  </a:prstGeom>
                  <a:solidFill>
                    <a:srgbClr val="D8353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" name="Google Shape;1747;p45">
                    <a:extLst>
                      <a:ext uri="{FF2B5EF4-FFF2-40B4-BE49-F238E27FC236}">
                        <a16:creationId xmlns:a16="http://schemas.microsoft.com/office/drawing/2014/main" id="{93C18EF0-0CE3-7B9F-75F0-17FCE1F1CCE3}"/>
                      </a:ext>
                    </a:extLst>
                  </p:cNvPr>
                  <p:cNvSpPr/>
                  <p:nvPr/>
                </p:nvSpPr>
                <p:spPr>
                  <a:xfrm>
                    <a:off x="910780" y="3292624"/>
                    <a:ext cx="731875" cy="8115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969" h="34340" extrusionOk="0">
                        <a:moveTo>
                          <a:pt x="2555" y="0"/>
                        </a:moveTo>
                        <a:cubicBezTo>
                          <a:pt x="1221" y="0"/>
                          <a:pt x="0" y="1066"/>
                          <a:pt x="0" y="2557"/>
                        </a:cubicBezTo>
                        <a:lnTo>
                          <a:pt x="12" y="31787"/>
                        </a:lnTo>
                        <a:cubicBezTo>
                          <a:pt x="12" y="33280"/>
                          <a:pt x="1236" y="34339"/>
                          <a:pt x="2570" y="34339"/>
                        </a:cubicBezTo>
                        <a:cubicBezTo>
                          <a:pt x="2992" y="34339"/>
                          <a:pt x="3425" y="34233"/>
                          <a:pt x="3834" y="34002"/>
                        </a:cubicBezTo>
                        <a:lnTo>
                          <a:pt x="29266" y="19381"/>
                        </a:lnTo>
                        <a:cubicBezTo>
                          <a:pt x="30968" y="18404"/>
                          <a:pt x="30968" y="15940"/>
                          <a:pt x="29266" y="14963"/>
                        </a:cubicBezTo>
                        <a:lnTo>
                          <a:pt x="3822" y="343"/>
                        </a:lnTo>
                        <a:cubicBezTo>
                          <a:pt x="3412" y="107"/>
                          <a:pt x="2978" y="0"/>
                          <a:pt x="2555" y="0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 w="19050" cap="flat" cmpd="sng">
                    <a:solidFill>
                      <a:srgbClr val="D83535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07D19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9" name="Google Shape;1748;p45">
                  <a:extLst>
                    <a:ext uri="{FF2B5EF4-FFF2-40B4-BE49-F238E27FC236}">
                      <a16:creationId xmlns:a16="http://schemas.microsoft.com/office/drawing/2014/main" id="{49489727-A2C3-1A5A-FE21-CE08F74B080E}"/>
                    </a:ext>
                  </a:extLst>
                </p:cNvPr>
                <p:cNvSpPr txBox="1"/>
                <p:nvPr/>
              </p:nvSpPr>
              <p:spPr>
                <a:xfrm>
                  <a:off x="936387" y="3528625"/>
                  <a:ext cx="551700" cy="33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" sz="2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D83535"/>
                      </a:solidFill>
                      <a:effectLst/>
                      <a:uLnTx/>
                      <a:uFillTx/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03</a:t>
                  </a:r>
                  <a:endPara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D83535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sp>
            <p:nvSpPr>
              <p:cNvPr id="27" name="Google Shape;1749;p45">
                <a:extLst>
                  <a:ext uri="{FF2B5EF4-FFF2-40B4-BE49-F238E27FC236}">
                    <a16:creationId xmlns:a16="http://schemas.microsoft.com/office/drawing/2014/main" id="{0E880D53-832A-84F9-DFD3-80A04CA6D518}"/>
                  </a:ext>
                </a:extLst>
              </p:cNvPr>
              <p:cNvSpPr txBox="1"/>
              <p:nvPr/>
            </p:nvSpPr>
            <p:spPr>
              <a:xfrm>
                <a:off x="1742158" y="3481944"/>
                <a:ext cx="20385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SzPts val="1100"/>
                </a:pPr>
                <a:r>
                  <a:rPr lang="en-IN" b="1" dirty="0">
                    <a:latin typeface="Roboto Condensed" panose="02000000000000000000" pitchFamily="2" charset="0"/>
                    <a:ea typeface="Roboto Condensed" panose="02000000000000000000" pitchFamily="2" charset="0"/>
                  </a:rPr>
                  <a:t>Freedom of Expression</a:t>
                </a:r>
                <a:endParaRPr lang="en-US" b="1" dirty="0"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</p:txBody>
          </p:sp>
        </p:grp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D822426F-30FE-B8E9-43AD-31957727AE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667" y="3057998"/>
            <a:ext cx="3337097" cy="2631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36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1738" y="792003"/>
            <a:ext cx="6528525" cy="461665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Basic rights of citizen in a democracy</a:t>
            </a:r>
            <a:endParaRPr lang="en-US" sz="24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E28F26-E713-C269-628B-1AB63AE6BF19}"/>
              </a:ext>
            </a:extLst>
          </p:cNvPr>
          <p:cNvGrpSpPr/>
          <p:nvPr/>
        </p:nvGrpSpPr>
        <p:grpSpPr>
          <a:xfrm flipH="1">
            <a:off x="126777" y="1786421"/>
            <a:ext cx="3740556" cy="1134386"/>
            <a:chOff x="6866671" y="1396025"/>
            <a:chExt cx="3740556" cy="1134386"/>
          </a:xfrm>
        </p:grpSpPr>
        <p:sp>
          <p:nvSpPr>
            <p:cNvPr id="4" name="Google Shape;1701;p45">
              <a:extLst>
                <a:ext uri="{FF2B5EF4-FFF2-40B4-BE49-F238E27FC236}">
                  <a16:creationId xmlns:a16="http://schemas.microsoft.com/office/drawing/2014/main" id="{CDC4D8F4-2A0B-CE3F-1AD7-1DC90570A72D}"/>
                </a:ext>
              </a:extLst>
            </p:cNvPr>
            <p:cNvSpPr/>
            <p:nvPr/>
          </p:nvSpPr>
          <p:spPr>
            <a:xfrm>
              <a:off x="6866671" y="1564009"/>
              <a:ext cx="3489117" cy="809337"/>
            </a:xfrm>
            <a:prstGeom prst="roundRect">
              <a:avLst>
                <a:gd name="adj" fmla="val 16667"/>
              </a:avLst>
            </a:pr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" name="Google Shape;1722;p45">
              <a:extLst>
                <a:ext uri="{FF2B5EF4-FFF2-40B4-BE49-F238E27FC236}">
                  <a16:creationId xmlns:a16="http://schemas.microsoft.com/office/drawing/2014/main" id="{1AF940E3-4EC4-FD14-80B0-763B1CA157D3}"/>
                </a:ext>
              </a:extLst>
            </p:cNvPr>
            <p:cNvGrpSpPr/>
            <p:nvPr/>
          </p:nvGrpSpPr>
          <p:grpSpPr>
            <a:xfrm>
              <a:off x="7050528" y="1396025"/>
              <a:ext cx="3556699" cy="1134386"/>
              <a:chOff x="5363258" y="1193024"/>
              <a:chExt cx="2948322" cy="811540"/>
            </a:xfrm>
          </p:grpSpPr>
          <p:grpSp>
            <p:nvGrpSpPr>
              <p:cNvPr id="6" name="Google Shape;1723;p45">
                <a:extLst>
                  <a:ext uri="{FF2B5EF4-FFF2-40B4-BE49-F238E27FC236}">
                    <a16:creationId xmlns:a16="http://schemas.microsoft.com/office/drawing/2014/main" id="{B576100C-267B-3E59-9221-2A91D662CFF6}"/>
                  </a:ext>
                </a:extLst>
              </p:cNvPr>
              <p:cNvGrpSpPr/>
              <p:nvPr/>
            </p:nvGrpSpPr>
            <p:grpSpPr>
              <a:xfrm>
                <a:off x="7501352" y="1193024"/>
                <a:ext cx="810228" cy="811540"/>
                <a:chOff x="7501352" y="1193024"/>
                <a:chExt cx="810228" cy="811540"/>
              </a:xfrm>
            </p:grpSpPr>
            <p:grpSp>
              <p:nvGrpSpPr>
                <p:cNvPr id="8" name="Google Shape;1724;p45">
                  <a:extLst>
                    <a:ext uri="{FF2B5EF4-FFF2-40B4-BE49-F238E27FC236}">
                      <a16:creationId xmlns:a16="http://schemas.microsoft.com/office/drawing/2014/main" id="{CE197852-9CDB-A4FA-0150-28499FFDE061}"/>
                    </a:ext>
                  </a:extLst>
                </p:cNvPr>
                <p:cNvGrpSpPr/>
                <p:nvPr/>
              </p:nvGrpSpPr>
              <p:grpSpPr>
                <a:xfrm>
                  <a:off x="7501352" y="1193024"/>
                  <a:ext cx="810228" cy="811540"/>
                  <a:chOff x="7501352" y="1193024"/>
                  <a:chExt cx="810228" cy="811540"/>
                </a:xfrm>
              </p:grpSpPr>
              <p:sp>
                <p:nvSpPr>
                  <p:cNvPr id="11" name="Google Shape;1725;p45">
                    <a:extLst>
                      <a:ext uri="{FF2B5EF4-FFF2-40B4-BE49-F238E27FC236}">
                        <a16:creationId xmlns:a16="http://schemas.microsoft.com/office/drawing/2014/main" id="{29567DD9-9010-2631-52EE-4955D59FB239}"/>
                      </a:ext>
                    </a:extLst>
                  </p:cNvPr>
                  <p:cNvSpPr/>
                  <p:nvPr/>
                </p:nvSpPr>
                <p:spPr>
                  <a:xfrm flipH="1">
                    <a:off x="7551980" y="1219030"/>
                    <a:ext cx="759600" cy="759600"/>
                  </a:xfrm>
                  <a:prstGeom prst="ellipse">
                    <a:avLst/>
                  </a:prstGeom>
                  <a:solidFill>
                    <a:srgbClr val="B6307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3" name="Google Shape;1726;p45">
                    <a:extLst>
                      <a:ext uri="{FF2B5EF4-FFF2-40B4-BE49-F238E27FC236}">
                        <a16:creationId xmlns:a16="http://schemas.microsoft.com/office/drawing/2014/main" id="{E3A1D6FD-669C-5490-A3E7-DF7391882DC3}"/>
                      </a:ext>
                    </a:extLst>
                  </p:cNvPr>
                  <p:cNvSpPr/>
                  <p:nvPr/>
                </p:nvSpPr>
                <p:spPr>
                  <a:xfrm flipH="1">
                    <a:off x="7501352" y="1193024"/>
                    <a:ext cx="731875" cy="8115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969" h="34340" extrusionOk="0">
                        <a:moveTo>
                          <a:pt x="2555" y="0"/>
                        </a:moveTo>
                        <a:cubicBezTo>
                          <a:pt x="1221" y="0"/>
                          <a:pt x="0" y="1066"/>
                          <a:pt x="0" y="2557"/>
                        </a:cubicBezTo>
                        <a:lnTo>
                          <a:pt x="12" y="31787"/>
                        </a:lnTo>
                        <a:cubicBezTo>
                          <a:pt x="12" y="33280"/>
                          <a:pt x="1236" y="34339"/>
                          <a:pt x="2570" y="34339"/>
                        </a:cubicBezTo>
                        <a:cubicBezTo>
                          <a:pt x="2992" y="34339"/>
                          <a:pt x="3425" y="34233"/>
                          <a:pt x="3834" y="34002"/>
                        </a:cubicBezTo>
                        <a:lnTo>
                          <a:pt x="29266" y="19381"/>
                        </a:lnTo>
                        <a:cubicBezTo>
                          <a:pt x="30968" y="18404"/>
                          <a:pt x="30968" y="15940"/>
                          <a:pt x="29266" y="14963"/>
                        </a:cubicBezTo>
                        <a:lnTo>
                          <a:pt x="3822" y="343"/>
                        </a:lnTo>
                        <a:cubicBezTo>
                          <a:pt x="3412" y="107"/>
                          <a:pt x="2978" y="0"/>
                          <a:pt x="2555" y="0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 w="19050" cap="flat" cmpd="sng">
                    <a:solidFill>
                      <a:srgbClr val="B63070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" name="Google Shape;1727;p45">
                  <a:extLst>
                    <a:ext uri="{FF2B5EF4-FFF2-40B4-BE49-F238E27FC236}">
                      <a16:creationId xmlns:a16="http://schemas.microsoft.com/office/drawing/2014/main" id="{93288330-E8AF-7B2D-56CD-1BC93E134BB1}"/>
                    </a:ext>
                  </a:extLst>
                </p:cNvPr>
                <p:cNvSpPr txBox="1"/>
                <p:nvPr/>
              </p:nvSpPr>
              <p:spPr>
                <a:xfrm>
                  <a:off x="7681527" y="1429025"/>
                  <a:ext cx="551700" cy="33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" sz="2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B63070"/>
                      </a:solidFill>
                      <a:effectLst/>
                      <a:uLnTx/>
                      <a:uFillTx/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04</a:t>
                  </a:r>
                  <a:endParaRPr kumimoji="0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B63070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sp>
            <p:nvSpPr>
              <p:cNvPr id="7" name="Google Shape;1728;p45">
                <a:extLst>
                  <a:ext uri="{FF2B5EF4-FFF2-40B4-BE49-F238E27FC236}">
                    <a16:creationId xmlns:a16="http://schemas.microsoft.com/office/drawing/2014/main" id="{250AB6EE-34F8-3FB8-D75A-7DDB1929E65E}"/>
                  </a:ext>
                </a:extLst>
              </p:cNvPr>
              <p:cNvSpPr txBox="1"/>
              <p:nvPr/>
            </p:nvSpPr>
            <p:spPr>
              <a:xfrm>
                <a:off x="5363258" y="1382344"/>
                <a:ext cx="20385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1">
                  <a:buSzPts val="1100"/>
                </a:pPr>
                <a:r>
                  <a:rPr lang="en-IN" b="1" dirty="0">
                    <a:latin typeface="Roboto Condensed" panose="02000000000000000000" pitchFamily="2" charset="0"/>
                    <a:ea typeface="Roboto Condensed" panose="02000000000000000000" pitchFamily="2" charset="0"/>
                  </a:rPr>
                  <a:t>Free assembly</a:t>
                </a:r>
                <a:endParaRPr lang="en-US" b="1" dirty="0"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</p:txBody>
          </p:sp>
        </p:grpSp>
      </p:grpSp>
      <p:pic>
        <p:nvPicPr>
          <p:cNvPr id="2050" name="Picture 2" descr="Fundamental Right' to seek permission from the police to assemble peacefully">
            <a:extLst>
              <a:ext uri="{FF2B5EF4-FFF2-40B4-BE49-F238E27FC236}">
                <a16:creationId xmlns:a16="http://schemas.microsoft.com/office/drawing/2014/main" id="{DEDEECBE-EE93-1C70-92D0-551C7DA14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25" y="3057275"/>
            <a:ext cx="3337097" cy="2631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52DC7-C905-351F-FC86-672E73595DBD}"/>
              </a:ext>
            </a:extLst>
          </p:cNvPr>
          <p:cNvGrpSpPr/>
          <p:nvPr/>
        </p:nvGrpSpPr>
        <p:grpSpPr>
          <a:xfrm flipH="1">
            <a:off x="4072935" y="1786421"/>
            <a:ext cx="3740556" cy="1134386"/>
            <a:chOff x="6866671" y="2849967"/>
            <a:chExt cx="3740556" cy="1134386"/>
          </a:xfrm>
        </p:grpSpPr>
        <p:sp>
          <p:nvSpPr>
            <p:cNvPr id="35" name="Google Shape;1703;p45">
              <a:extLst>
                <a:ext uri="{FF2B5EF4-FFF2-40B4-BE49-F238E27FC236}">
                  <a16:creationId xmlns:a16="http://schemas.microsoft.com/office/drawing/2014/main" id="{0CDE8B2A-2A8C-CE92-4C13-0E03973EC301}"/>
                </a:ext>
              </a:extLst>
            </p:cNvPr>
            <p:cNvSpPr/>
            <p:nvPr/>
          </p:nvSpPr>
          <p:spPr>
            <a:xfrm>
              <a:off x="6866671" y="3017951"/>
              <a:ext cx="3489117" cy="809337"/>
            </a:xfrm>
            <a:prstGeom prst="roundRect">
              <a:avLst>
                <a:gd name="adj" fmla="val 16667"/>
              </a:avLst>
            </a:pr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36" name="Google Shape;1736;p45">
              <a:extLst>
                <a:ext uri="{FF2B5EF4-FFF2-40B4-BE49-F238E27FC236}">
                  <a16:creationId xmlns:a16="http://schemas.microsoft.com/office/drawing/2014/main" id="{BF1939B7-B654-079F-B7B8-DF79719A87F6}"/>
                </a:ext>
              </a:extLst>
            </p:cNvPr>
            <p:cNvGrpSpPr/>
            <p:nvPr/>
          </p:nvGrpSpPr>
          <p:grpSpPr>
            <a:xfrm>
              <a:off x="7050528" y="2849967"/>
              <a:ext cx="3556699" cy="1134386"/>
              <a:chOff x="5363258" y="2233174"/>
              <a:chExt cx="2948322" cy="811540"/>
            </a:xfrm>
          </p:grpSpPr>
          <p:grpSp>
            <p:nvGrpSpPr>
              <p:cNvPr id="37" name="Google Shape;1737;p45">
                <a:extLst>
                  <a:ext uri="{FF2B5EF4-FFF2-40B4-BE49-F238E27FC236}">
                    <a16:creationId xmlns:a16="http://schemas.microsoft.com/office/drawing/2014/main" id="{1F7195B8-D223-5256-6420-356B49450152}"/>
                  </a:ext>
                </a:extLst>
              </p:cNvPr>
              <p:cNvGrpSpPr/>
              <p:nvPr/>
            </p:nvGrpSpPr>
            <p:grpSpPr>
              <a:xfrm>
                <a:off x="7501352" y="2233174"/>
                <a:ext cx="810228" cy="811540"/>
                <a:chOff x="7501352" y="2233174"/>
                <a:chExt cx="810228" cy="811540"/>
              </a:xfrm>
            </p:grpSpPr>
            <p:grpSp>
              <p:nvGrpSpPr>
                <p:cNvPr id="39" name="Google Shape;1738;p45">
                  <a:extLst>
                    <a:ext uri="{FF2B5EF4-FFF2-40B4-BE49-F238E27FC236}">
                      <a16:creationId xmlns:a16="http://schemas.microsoft.com/office/drawing/2014/main" id="{E024DBCA-0E4E-3CF4-6A90-7B13E9ADDD34}"/>
                    </a:ext>
                  </a:extLst>
                </p:cNvPr>
                <p:cNvGrpSpPr/>
                <p:nvPr/>
              </p:nvGrpSpPr>
              <p:grpSpPr>
                <a:xfrm>
                  <a:off x="7501352" y="2233174"/>
                  <a:ext cx="810228" cy="811540"/>
                  <a:chOff x="7501352" y="2233174"/>
                  <a:chExt cx="810228" cy="811540"/>
                </a:xfrm>
              </p:grpSpPr>
              <p:sp>
                <p:nvSpPr>
                  <p:cNvPr id="41" name="Google Shape;1739;p45">
                    <a:extLst>
                      <a:ext uri="{FF2B5EF4-FFF2-40B4-BE49-F238E27FC236}">
                        <a16:creationId xmlns:a16="http://schemas.microsoft.com/office/drawing/2014/main" id="{C4DD20E4-4BC4-FCEC-95A4-7AA2D645731D}"/>
                      </a:ext>
                    </a:extLst>
                  </p:cNvPr>
                  <p:cNvSpPr/>
                  <p:nvPr/>
                </p:nvSpPr>
                <p:spPr>
                  <a:xfrm flipH="1">
                    <a:off x="7551980" y="2259180"/>
                    <a:ext cx="759600" cy="759600"/>
                  </a:xfrm>
                  <a:prstGeom prst="ellipse">
                    <a:avLst/>
                  </a:prstGeom>
                  <a:solidFill>
                    <a:srgbClr val="8D385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" name="Google Shape;1740;p45">
                    <a:extLst>
                      <a:ext uri="{FF2B5EF4-FFF2-40B4-BE49-F238E27FC236}">
                        <a16:creationId xmlns:a16="http://schemas.microsoft.com/office/drawing/2014/main" id="{F18585E7-3BFF-D121-E5E7-D3EEED615DDD}"/>
                      </a:ext>
                    </a:extLst>
                  </p:cNvPr>
                  <p:cNvSpPr/>
                  <p:nvPr/>
                </p:nvSpPr>
                <p:spPr>
                  <a:xfrm flipH="1">
                    <a:off x="7501352" y="2233174"/>
                    <a:ext cx="731875" cy="8115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969" h="34340" extrusionOk="0">
                        <a:moveTo>
                          <a:pt x="2555" y="0"/>
                        </a:moveTo>
                        <a:cubicBezTo>
                          <a:pt x="1221" y="0"/>
                          <a:pt x="0" y="1066"/>
                          <a:pt x="0" y="2557"/>
                        </a:cubicBezTo>
                        <a:lnTo>
                          <a:pt x="12" y="31787"/>
                        </a:lnTo>
                        <a:cubicBezTo>
                          <a:pt x="12" y="33280"/>
                          <a:pt x="1236" y="34339"/>
                          <a:pt x="2570" y="34339"/>
                        </a:cubicBezTo>
                        <a:cubicBezTo>
                          <a:pt x="2992" y="34339"/>
                          <a:pt x="3425" y="34233"/>
                          <a:pt x="3834" y="34002"/>
                        </a:cubicBezTo>
                        <a:lnTo>
                          <a:pt x="29266" y="19381"/>
                        </a:lnTo>
                        <a:cubicBezTo>
                          <a:pt x="30968" y="18404"/>
                          <a:pt x="30968" y="15940"/>
                          <a:pt x="29266" y="14963"/>
                        </a:cubicBezTo>
                        <a:lnTo>
                          <a:pt x="3822" y="343"/>
                        </a:lnTo>
                        <a:cubicBezTo>
                          <a:pt x="3412" y="107"/>
                          <a:pt x="2978" y="0"/>
                          <a:pt x="2555" y="0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 w="19050" cap="flat" cmpd="sng">
                    <a:solidFill>
                      <a:srgbClr val="8D385F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0" name="Google Shape;1741;p45">
                  <a:extLst>
                    <a:ext uri="{FF2B5EF4-FFF2-40B4-BE49-F238E27FC236}">
                      <a16:creationId xmlns:a16="http://schemas.microsoft.com/office/drawing/2014/main" id="{89D40161-8033-28EC-DAEC-2E35810C4FEB}"/>
                    </a:ext>
                  </a:extLst>
                </p:cNvPr>
                <p:cNvSpPr txBox="1"/>
                <p:nvPr/>
              </p:nvSpPr>
              <p:spPr>
                <a:xfrm>
                  <a:off x="7681527" y="2469175"/>
                  <a:ext cx="551700" cy="33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" sz="2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8D385F"/>
                      </a:solidFill>
                      <a:effectLst/>
                      <a:uLnTx/>
                      <a:uFillTx/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05</a:t>
                  </a:r>
                  <a:endPara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8D385F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sp>
            <p:nvSpPr>
              <p:cNvPr id="38" name="Google Shape;1742;p45">
                <a:extLst>
                  <a:ext uri="{FF2B5EF4-FFF2-40B4-BE49-F238E27FC236}">
                    <a16:creationId xmlns:a16="http://schemas.microsoft.com/office/drawing/2014/main" id="{1C0D06F9-57AE-5D4A-DEF6-51648FC9F172}"/>
                  </a:ext>
                </a:extLst>
              </p:cNvPr>
              <p:cNvSpPr txBox="1"/>
              <p:nvPr/>
            </p:nvSpPr>
            <p:spPr>
              <a:xfrm>
                <a:off x="5363258" y="2422494"/>
                <a:ext cx="20385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1">
                  <a:buSzPts val="1100"/>
                </a:pPr>
                <a:r>
                  <a:rPr lang="en-IN" b="1" dirty="0">
                    <a:latin typeface="Roboto Condensed" panose="02000000000000000000" pitchFamily="2" charset="0"/>
                    <a:ea typeface="Roboto Condensed" panose="02000000000000000000" pitchFamily="2" charset="0"/>
                  </a:rPr>
                  <a:t>Prohibition of unlawful imprisonment</a:t>
                </a:r>
                <a:endParaRPr lang="en-US" b="1" dirty="0"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</p:txBody>
          </p:sp>
        </p:grpSp>
      </p:grpSp>
      <p:pic>
        <p:nvPicPr>
          <p:cNvPr id="2052" name="Picture 4" descr="False Imprisonment in North Carolina ...">
            <a:extLst>
              <a:ext uri="{FF2B5EF4-FFF2-40B4-BE49-F238E27FC236}">
                <a16:creationId xmlns:a16="http://schemas.microsoft.com/office/drawing/2014/main" id="{AF2C3E3C-4F85-7BA2-1A5D-5D489DF8C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445" y="3057275"/>
            <a:ext cx="3337098" cy="2631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10B649E7-8814-3EE3-1432-F61BE2A354AF}"/>
              </a:ext>
            </a:extLst>
          </p:cNvPr>
          <p:cNvGrpSpPr/>
          <p:nvPr/>
        </p:nvGrpSpPr>
        <p:grpSpPr>
          <a:xfrm flipH="1">
            <a:off x="8052539" y="1786421"/>
            <a:ext cx="3740556" cy="1134386"/>
            <a:chOff x="6866671" y="4330886"/>
            <a:chExt cx="3740556" cy="1134386"/>
          </a:xfrm>
        </p:grpSpPr>
        <p:sp>
          <p:nvSpPr>
            <p:cNvPr id="44" name="Google Shape;1705;p45">
              <a:extLst>
                <a:ext uri="{FF2B5EF4-FFF2-40B4-BE49-F238E27FC236}">
                  <a16:creationId xmlns:a16="http://schemas.microsoft.com/office/drawing/2014/main" id="{8DEC17E0-5764-75E5-AEA4-F42A47CC8034}"/>
                </a:ext>
              </a:extLst>
            </p:cNvPr>
            <p:cNvSpPr/>
            <p:nvPr/>
          </p:nvSpPr>
          <p:spPr>
            <a:xfrm>
              <a:off x="6866671" y="4498870"/>
              <a:ext cx="3489117" cy="809337"/>
            </a:xfrm>
            <a:prstGeom prst="roundRect">
              <a:avLst>
                <a:gd name="adj" fmla="val 16667"/>
              </a:avLst>
            </a:pr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5" name="Google Shape;1750;p45">
              <a:extLst>
                <a:ext uri="{FF2B5EF4-FFF2-40B4-BE49-F238E27FC236}">
                  <a16:creationId xmlns:a16="http://schemas.microsoft.com/office/drawing/2014/main" id="{C9F8CB2A-DA0E-42B7-FC88-5D247C17BF43}"/>
                </a:ext>
              </a:extLst>
            </p:cNvPr>
            <p:cNvGrpSpPr/>
            <p:nvPr/>
          </p:nvGrpSpPr>
          <p:grpSpPr>
            <a:xfrm>
              <a:off x="7050528" y="4330886"/>
              <a:ext cx="3556699" cy="1134386"/>
              <a:chOff x="5363258" y="3292624"/>
              <a:chExt cx="2948322" cy="811540"/>
            </a:xfrm>
          </p:grpSpPr>
          <p:grpSp>
            <p:nvGrpSpPr>
              <p:cNvPr id="46" name="Google Shape;1751;p45">
                <a:extLst>
                  <a:ext uri="{FF2B5EF4-FFF2-40B4-BE49-F238E27FC236}">
                    <a16:creationId xmlns:a16="http://schemas.microsoft.com/office/drawing/2014/main" id="{1D5735F9-3525-182C-20FB-EB8E31D6FACC}"/>
                  </a:ext>
                </a:extLst>
              </p:cNvPr>
              <p:cNvGrpSpPr/>
              <p:nvPr/>
            </p:nvGrpSpPr>
            <p:grpSpPr>
              <a:xfrm>
                <a:off x="7501352" y="3292624"/>
                <a:ext cx="810228" cy="811540"/>
                <a:chOff x="7501352" y="3292624"/>
                <a:chExt cx="810228" cy="811540"/>
              </a:xfrm>
            </p:grpSpPr>
            <p:grpSp>
              <p:nvGrpSpPr>
                <p:cNvPr id="48" name="Google Shape;1752;p45">
                  <a:extLst>
                    <a:ext uri="{FF2B5EF4-FFF2-40B4-BE49-F238E27FC236}">
                      <a16:creationId xmlns:a16="http://schemas.microsoft.com/office/drawing/2014/main" id="{64575C74-26F6-C87C-57F0-B2F332637978}"/>
                    </a:ext>
                  </a:extLst>
                </p:cNvPr>
                <p:cNvGrpSpPr/>
                <p:nvPr/>
              </p:nvGrpSpPr>
              <p:grpSpPr>
                <a:xfrm>
                  <a:off x="7501352" y="3292624"/>
                  <a:ext cx="810228" cy="811540"/>
                  <a:chOff x="7501352" y="3292624"/>
                  <a:chExt cx="810228" cy="811540"/>
                </a:xfrm>
              </p:grpSpPr>
              <p:sp>
                <p:nvSpPr>
                  <p:cNvPr id="50" name="Google Shape;1753;p45">
                    <a:extLst>
                      <a:ext uri="{FF2B5EF4-FFF2-40B4-BE49-F238E27FC236}">
                        <a16:creationId xmlns:a16="http://schemas.microsoft.com/office/drawing/2014/main" id="{169DA100-296E-781A-F2CC-663220BF53A8}"/>
                      </a:ext>
                    </a:extLst>
                  </p:cNvPr>
                  <p:cNvSpPr/>
                  <p:nvPr/>
                </p:nvSpPr>
                <p:spPr>
                  <a:xfrm flipH="1">
                    <a:off x="7551980" y="3318630"/>
                    <a:ext cx="759600" cy="759600"/>
                  </a:xfrm>
                  <a:prstGeom prst="ellipse">
                    <a:avLst/>
                  </a:prstGeom>
                  <a:solidFill>
                    <a:srgbClr val="68234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Google Shape;1754;p45">
                    <a:extLst>
                      <a:ext uri="{FF2B5EF4-FFF2-40B4-BE49-F238E27FC236}">
                        <a16:creationId xmlns:a16="http://schemas.microsoft.com/office/drawing/2014/main" id="{29B2A71B-D83C-6C57-F062-242A1EA28FCB}"/>
                      </a:ext>
                    </a:extLst>
                  </p:cNvPr>
                  <p:cNvSpPr/>
                  <p:nvPr/>
                </p:nvSpPr>
                <p:spPr>
                  <a:xfrm flipH="1">
                    <a:off x="7501352" y="3292624"/>
                    <a:ext cx="731875" cy="8115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969" h="34340" extrusionOk="0">
                        <a:moveTo>
                          <a:pt x="2555" y="0"/>
                        </a:moveTo>
                        <a:cubicBezTo>
                          <a:pt x="1221" y="0"/>
                          <a:pt x="0" y="1066"/>
                          <a:pt x="0" y="2557"/>
                        </a:cubicBezTo>
                        <a:lnTo>
                          <a:pt x="12" y="31787"/>
                        </a:lnTo>
                        <a:cubicBezTo>
                          <a:pt x="12" y="33280"/>
                          <a:pt x="1236" y="34339"/>
                          <a:pt x="2570" y="34339"/>
                        </a:cubicBezTo>
                        <a:cubicBezTo>
                          <a:pt x="2992" y="34339"/>
                          <a:pt x="3425" y="34233"/>
                          <a:pt x="3834" y="34002"/>
                        </a:cubicBezTo>
                        <a:lnTo>
                          <a:pt x="29266" y="19381"/>
                        </a:lnTo>
                        <a:cubicBezTo>
                          <a:pt x="30968" y="18404"/>
                          <a:pt x="30968" y="15940"/>
                          <a:pt x="29266" y="14963"/>
                        </a:cubicBezTo>
                        <a:lnTo>
                          <a:pt x="3822" y="343"/>
                        </a:lnTo>
                        <a:cubicBezTo>
                          <a:pt x="3412" y="107"/>
                          <a:pt x="2978" y="0"/>
                          <a:pt x="2555" y="0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 w="19050" cap="flat" cmpd="sng">
                    <a:solidFill>
                      <a:srgbClr val="68234F"/>
                    </a:solidFill>
                    <a:prstDash val="solid"/>
                    <a:miter lim="1190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endParaRPr kumimoji="0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9" name="Google Shape;1755;p45">
                  <a:extLst>
                    <a:ext uri="{FF2B5EF4-FFF2-40B4-BE49-F238E27FC236}">
                      <a16:creationId xmlns:a16="http://schemas.microsoft.com/office/drawing/2014/main" id="{30AA2C70-397B-8808-4FFA-3938F11D1852}"/>
                    </a:ext>
                  </a:extLst>
                </p:cNvPr>
                <p:cNvSpPr txBox="1"/>
                <p:nvPr/>
              </p:nvSpPr>
              <p:spPr>
                <a:xfrm>
                  <a:off x="7681527" y="3528625"/>
                  <a:ext cx="551700" cy="33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r>
                    <a:rPr kumimoji="0" lang="en" sz="2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8234F"/>
                      </a:solidFill>
                      <a:effectLst/>
                      <a:uLnTx/>
                      <a:uFillTx/>
                      <a:latin typeface="Fira Sans Extra Condensed Medium"/>
                      <a:ea typeface="Fira Sans Extra Condensed Medium"/>
                      <a:cs typeface="Fira Sans Extra Condensed Medium"/>
                      <a:sym typeface="Fira Sans Extra Condensed Medium"/>
                    </a:rPr>
                    <a:t>06</a:t>
                  </a:r>
                  <a:endPara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68234F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endParaRPr>
                </a:p>
              </p:txBody>
            </p:sp>
          </p:grpSp>
          <p:sp>
            <p:nvSpPr>
              <p:cNvPr id="47" name="Google Shape;1756;p45">
                <a:extLst>
                  <a:ext uri="{FF2B5EF4-FFF2-40B4-BE49-F238E27FC236}">
                    <a16:creationId xmlns:a16="http://schemas.microsoft.com/office/drawing/2014/main" id="{2FC055AA-44B0-FAF2-13D0-CDF064A2DB01}"/>
                  </a:ext>
                </a:extLst>
              </p:cNvPr>
              <p:cNvSpPr txBox="1"/>
              <p:nvPr/>
            </p:nvSpPr>
            <p:spPr>
              <a:xfrm>
                <a:off x="5363258" y="3481944"/>
                <a:ext cx="2038500" cy="44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1">
                  <a:buSzPts val="1100"/>
                </a:pPr>
                <a:r>
                  <a:rPr lang="en-IN" b="1" dirty="0">
                    <a:latin typeface="Roboto Condensed" panose="02000000000000000000" pitchFamily="2" charset="0"/>
                    <a:ea typeface="Roboto Condensed" panose="02000000000000000000" pitchFamily="2" charset="0"/>
                  </a:rPr>
                  <a:t>Pure and Representative Democracies</a:t>
                </a:r>
                <a:endParaRPr lang="en-US" b="1" dirty="0">
                  <a:latin typeface="Roboto Condensed" panose="02000000000000000000" pitchFamily="2" charset="0"/>
                  <a:ea typeface="Roboto Condensed" panose="02000000000000000000" pitchFamily="2" charset="0"/>
                </a:endParaRPr>
              </a:p>
            </p:txBody>
          </p:sp>
        </p:grp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9E0D7645-16C7-C17D-065C-F4FBDB9017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677" y="3046459"/>
            <a:ext cx="3337098" cy="2631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632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079" y="785292"/>
            <a:ext cx="8014161" cy="47417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Monarchy</a:t>
            </a:r>
            <a:r>
              <a:rPr lang="en-US" b="1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lang="en-US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 monarchy is a government where a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single person (the monarch) rules the government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lang="en-IN" sz="2400" b="1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Bhutan</a:t>
            </a: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UAE</a:t>
            </a: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Jamaica</a:t>
            </a:r>
            <a:endParaRPr lang="en-US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There are many monarchies around the world today. 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title of the monarch is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hereditary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; this means one inherits the position. </a:t>
            </a:r>
          </a:p>
        </p:txBody>
      </p:sp>
      <p:pic>
        <p:nvPicPr>
          <p:cNvPr id="3074" name="Picture 2" descr="What Would Happen to Royal Family If Britain Abolished Monarch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379" y="821939"/>
            <a:ext cx="3255901" cy="23774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379" y="3429000"/>
            <a:ext cx="3255901" cy="22456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5820B3-52EA-27C1-FE04-A69783B7A3B1}"/>
              </a:ext>
            </a:extLst>
          </p:cNvPr>
          <p:cNvSpPr txBox="1"/>
          <p:nvPr/>
        </p:nvSpPr>
        <p:spPr>
          <a:xfrm>
            <a:off x="1767033" y="821939"/>
            <a:ext cx="2866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What is Monarchy ???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DE28C-C521-80EA-E8F7-CE9DD3422999}"/>
              </a:ext>
            </a:extLst>
          </p:cNvPr>
          <p:cNvSpPr txBox="1"/>
          <p:nvPr/>
        </p:nvSpPr>
        <p:spPr>
          <a:xfrm>
            <a:off x="8849957" y="5805228"/>
            <a:ext cx="2574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Power is hereditary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897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0" y="790209"/>
            <a:ext cx="8603226" cy="52458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Dictatorship</a:t>
            </a:r>
            <a:r>
              <a:rPr lang="en-US" b="1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lang="en-US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 government in which a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single person or small group</a:t>
            </a:r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holds all the power, and has absolute authority over politics and the population. </a:t>
            </a: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North Korea</a:t>
            </a:r>
          </a:p>
          <a:p>
            <a:pPr lvl="1" algn="just">
              <a:buFont typeface="Wingdings 3" panose="05040102010807070707" pitchFamily="18" charset="2"/>
              <a:buChar char="Ê"/>
            </a:pP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Eritrea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Dictatorships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are often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corrupt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and aim to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limit the liberties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of the general population in order to maintain their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power</a:t>
            </a:r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Dictators take and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keep absolute power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and authority through economic and military means, and they often use even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brutality and threat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 </a:t>
            </a:r>
            <a:endParaRPr lang="en-US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4098" name="Picture 2" descr="What Makes a Ruler a Dictator? Definition and List of Dictator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6911" y="959415"/>
            <a:ext cx="3199185" cy="2207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6911" y="3465052"/>
            <a:ext cx="3199185" cy="20697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FB26F-A2E1-748C-58BF-7B75C5E2EA37}"/>
              </a:ext>
            </a:extLst>
          </p:cNvPr>
          <p:cNvSpPr txBox="1"/>
          <p:nvPr/>
        </p:nvSpPr>
        <p:spPr>
          <a:xfrm>
            <a:off x="1985912" y="821939"/>
            <a:ext cx="3150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What is Dictatorship ???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6FFC89-D9E2-16B4-AA49-833D6F4ABBF7}"/>
              </a:ext>
            </a:extLst>
          </p:cNvPr>
          <p:cNvSpPr txBox="1"/>
          <p:nvPr/>
        </p:nvSpPr>
        <p:spPr>
          <a:xfrm>
            <a:off x="8953258" y="5602380"/>
            <a:ext cx="2866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Rule by power/cruelty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11485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0" y="784559"/>
            <a:ext cx="7534384" cy="410240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Oligarchy</a:t>
            </a:r>
            <a:r>
              <a:rPr lang="en-US" b="1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  <a:tabLst>
                <a:tab pos="360363" algn="l"/>
              </a:tabLst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An oligarchy is a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government ruled by a small, elite </a:t>
            </a:r>
            <a:r>
              <a:rPr lang="en-US" sz="18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gu-IN" sz="18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સૌથી પ્રતિભાશાળી અથવા શ્રેષ્ઠ</a:t>
            </a:r>
            <a:r>
              <a:rPr lang="en-US" sz="18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)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group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  <a:tabLst>
                <a:tab pos="360363" algn="l"/>
              </a:tabLst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South Africa (East Africa) 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  <a:tabLst>
                <a:tab pos="360363" algn="l"/>
              </a:tabLst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Liberia (West Africa)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  <a:tabLst>
                <a:tab pos="360363" algn="l"/>
              </a:tabLst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Sultanate of Zanzibar (Arabic)</a:t>
            </a:r>
            <a:endParaRPr lang="en-US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  <a:tabLst>
                <a:tab pos="360363" algn="l"/>
              </a:tabLst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rulers do not inherit their positions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unlike in a monarchy.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  <a:tabLst>
                <a:tab pos="360363" algn="l"/>
              </a:tabLst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They are often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influential figures from business, the military, or politics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pic>
        <p:nvPicPr>
          <p:cNvPr id="6146" name="Picture 2" descr="What are the examples of oligarchy? - Quor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25"/>
          <a:stretch/>
        </p:blipFill>
        <p:spPr bwMode="auto">
          <a:xfrm>
            <a:off x="8310880" y="807380"/>
            <a:ext cx="3692772" cy="20408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Op Ed: Milwaukee can never desegregate under America's Oligarchy system |  Milwaukee Independen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880" y="3113626"/>
            <a:ext cx="3692772" cy="2018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6CA94F-29E7-1C1A-F997-5352BF178AFD}"/>
              </a:ext>
            </a:extLst>
          </p:cNvPr>
          <p:cNvSpPr txBox="1"/>
          <p:nvPr/>
        </p:nvSpPr>
        <p:spPr>
          <a:xfrm>
            <a:off x="1767033" y="821939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What is Oligarchy ???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35E0669-847D-034F-E2C0-D38052D78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BCE2E6-C0C8-C614-5A0C-CAD4737ABC89}"/>
              </a:ext>
            </a:extLst>
          </p:cNvPr>
          <p:cNvSpPr txBox="1"/>
          <p:nvPr/>
        </p:nvSpPr>
        <p:spPr>
          <a:xfrm>
            <a:off x="8416244" y="5273876"/>
            <a:ext cx="3482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Rule by wealthiness/power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48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0" y="787038"/>
            <a:ext cx="7122047" cy="34211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Socialism</a:t>
            </a:r>
            <a:r>
              <a:rPr lang="en-US" b="1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:</a:t>
            </a:r>
            <a:r>
              <a:rPr lang="en-US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lang="en-US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An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economic and political system promoting collective or public ownership of production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People’s Republic of China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Republic of Cuba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Republic of Vietnam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Workers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share control, unlike capitalism where business owners dominate and pay wages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1" algn="just"/>
            <a:endParaRPr lang="en-US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7" name="Picture 6" descr="OIP (5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646" y="1609694"/>
            <a:ext cx="4400265" cy="32481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0DB5F-84A0-56C0-32BC-0E78778BAD12}"/>
              </a:ext>
            </a:extLst>
          </p:cNvPr>
          <p:cNvSpPr txBox="1"/>
          <p:nvPr/>
        </p:nvSpPr>
        <p:spPr>
          <a:xfrm>
            <a:off x="8157746" y="1018583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What is Socialism ???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20A69-E505-253D-28F5-D943B87758EF}"/>
              </a:ext>
            </a:extLst>
          </p:cNvPr>
          <p:cNvSpPr txBox="1"/>
          <p:nvPr/>
        </p:nvSpPr>
        <p:spPr>
          <a:xfrm>
            <a:off x="6955878" y="4987285"/>
            <a:ext cx="5255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Equality, Cooperation, Public Ownership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964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565DD3-6811-99CE-C0EE-CCAA09BBB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278470"/>
              </p:ext>
            </p:extLst>
          </p:nvPr>
        </p:nvGraphicFramePr>
        <p:xfrm>
          <a:off x="280216" y="795377"/>
          <a:ext cx="11631565" cy="77901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944355">
                  <a:extLst>
                    <a:ext uri="{9D8B030D-6E8A-4147-A177-3AD203B41FA5}">
                      <a16:colId xmlns:a16="http://schemas.microsoft.com/office/drawing/2014/main" val="836453954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403873697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52367532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278576931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3906030340"/>
                    </a:ext>
                  </a:extLst>
                </a:gridCol>
                <a:gridCol w="1909790">
                  <a:extLst>
                    <a:ext uri="{9D8B030D-6E8A-4147-A177-3AD203B41FA5}">
                      <a16:colId xmlns:a16="http://schemas.microsoft.com/office/drawing/2014/main" val="2013193354"/>
                    </a:ext>
                  </a:extLst>
                </a:gridCol>
              </a:tblGrid>
              <a:tr h="3688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Type of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Government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Monarchy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Oligarchy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Dictatorship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Socialism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Democracy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27461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C6E580-52B9-1250-1864-970CBB555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186935"/>
              </p:ext>
            </p:extLst>
          </p:nvPr>
        </p:nvGraphicFramePr>
        <p:xfrm>
          <a:off x="280216" y="1603685"/>
          <a:ext cx="11631565" cy="17879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355">
                  <a:extLst>
                    <a:ext uri="{9D8B030D-6E8A-4147-A177-3AD203B41FA5}">
                      <a16:colId xmlns:a16="http://schemas.microsoft.com/office/drawing/2014/main" val="2664158293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572908465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368177063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1255183137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4117054984"/>
                    </a:ext>
                  </a:extLst>
                </a:gridCol>
                <a:gridCol w="1909790">
                  <a:extLst>
                    <a:ext uri="{9D8B030D-6E8A-4147-A177-3AD203B41FA5}">
                      <a16:colId xmlns:a16="http://schemas.microsoft.com/office/drawing/2014/main" val="1977894998"/>
                    </a:ext>
                  </a:extLst>
                </a:gridCol>
              </a:tblGrid>
              <a:tr h="11599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Description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system where a king, queen, or emperor rules.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system where a small group of people rule.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system where one person has complete control.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system where the government or community owns resources and controls production.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system where citizens elect representatives and have fundamental rights.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9121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08B3E1-D87E-8626-B8EB-DBBB87493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565915"/>
              </p:ext>
            </p:extLst>
          </p:nvPr>
        </p:nvGraphicFramePr>
        <p:xfrm>
          <a:off x="280215" y="3391655"/>
          <a:ext cx="11631565" cy="130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355">
                  <a:extLst>
                    <a:ext uri="{9D8B030D-6E8A-4147-A177-3AD203B41FA5}">
                      <a16:colId xmlns:a16="http://schemas.microsoft.com/office/drawing/2014/main" val="2905452373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1413112083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3196056027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1748743888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3687689194"/>
                    </a:ext>
                  </a:extLst>
                </a:gridCol>
                <a:gridCol w="1909790">
                  <a:extLst>
                    <a:ext uri="{9D8B030D-6E8A-4147-A177-3AD203B41FA5}">
                      <a16:colId xmlns:a16="http://schemas.microsoft.com/office/drawing/2014/main" val="1850195195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Who Holds Power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single ruler, often hereditary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 (passed down in the family).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few wealthy or powerful people or families.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 single dictator with absolute power, often gained by force.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The government or the community (in theory, the people).</a:t>
                      </a:r>
                      <a:endParaRPr lang="en-IN" sz="1800" b="1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Elected representatives chosen by the people.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02406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BE1C41-B13A-6573-1BA1-B14E6FBBB0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805140"/>
              </p:ext>
            </p:extLst>
          </p:nvPr>
        </p:nvGraphicFramePr>
        <p:xfrm>
          <a:off x="280214" y="4694231"/>
          <a:ext cx="11631565" cy="1494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355">
                  <a:extLst>
                    <a:ext uri="{9D8B030D-6E8A-4147-A177-3AD203B41FA5}">
                      <a16:colId xmlns:a16="http://schemas.microsoft.com/office/drawing/2014/main" val="1460348635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1622578782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1406278733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4216803565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1130322447"/>
                    </a:ext>
                  </a:extLst>
                </a:gridCol>
                <a:gridCol w="1909790">
                  <a:extLst>
                    <a:ext uri="{9D8B030D-6E8A-4147-A177-3AD203B41FA5}">
                      <a16:colId xmlns:a16="http://schemas.microsoft.com/office/drawing/2014/main" val="2379849907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Example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United Kingdom (constitutional monarchy), Saudi Arabia (absolute monarchy)</a:t>
                      </a:r>
                      <a:endParaRPr lang="en-IN" sz="1800" b="1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Ancient Sparta, Russia (sometimes considered an oligarchy)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North Korea (Kim Jong-un), Nazi Germany (Hitler)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Norway (democratic socialism), Cuba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India, United States, Germany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156705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3325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DE7AC7-057E-44F3-FC24-92D8D15C8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786250"/>
              </p:ext>
            </p:extLst>
          </p:nvPr>
        </p:nvGraphicFramePr>
        <p:xfrm>
          <a:off x="280215" y="1574395"/>
          <a:ext cx="11631565" cy="2476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355">
                  <a:extLst>
                    <a:ext uri="{9D8B030D-6E8A-4147-A177-3AD203B41FA5}">
                      <a16:colId xmlns:a16="http://schemas.microsoft.com/office/drawing/2014/main" val="1096069442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329114903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101155764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4001170177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642275653"/>
                    </a:ext>
                  </a:extLst>
                </a:gridCol>
                <a:gridCol w="1909790">
                  <a:extLst>
                    <a:ext uri="{9D8B030D-6E8A-4147-A177-3AD203B41FA5}">
                      <a16:colId xmlns:a16="http://schemas.microsoft.com/office/drawing/2014/main" val="3947081743"/>
                    </a:ext>
                  </a:extLst>
                </a:gridCol>
              </a:tblGrid>
              <a:tr h="13582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Key Points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Monarchs may have full power (absolute) or limited power (constitutional).</a:t>
                      </a:r>
                    </a:p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FontTx/>
                        <a:buNone/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Power usually passed within a royal family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Power is concentrated among a small elite group.</a:t>
                      </a:r>
                      <a:b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</a:b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Decisions often benefit the ruling group.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Limited freedoms for people.</a:t>
                      </a:r>
                      <a:b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</a:b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Strict control over laws, media, and people’s lives.</a:t>
                      </a:r>
                      <a:b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</a:br>
                      <a:r>
                        <a:rPr lang="en-US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Opposition is often suppressed.</a:t>
                      </a:r>
                      <a:endParaRPr lang="en-IN" sz="1800" b="1" dirty="0"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Reduces wealth inequality, with essential services provided by the government and limited private ownership.</a:t>
                      </a:r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Free elections with protected rights like speech and assembly.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8324633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334B41-DCD5-1489-3EB8-2B98D2400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269539"/>
              </p:ext>
            </p:extLst>
          </p:nvPr>
        </p:nvGraphicFramePr>
        <p:xfrm>
          <a:off x="280216" y="795377"/>
          <a:ext cx="11631565" cy="77901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944355">
                  <a:extLst>
                    <a:ext uri="{9D8B030D-6E8A-4147-A177-3AD203B41FA5}">
                      <a16:colId xmlns:a16="http://schemas.microsoft.com/office/drawing/2014/main" val="836453954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403873697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52367532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2278576931"/>
                    </a:ext>
                  </a:extLst>
                </a:gridCol>
                <a:gridCol w="1944355">
                  <a:extLst>
                    <a:ext uri="{9D8B030D-6E8A-4147-A177-3AD203B41FA5}">
                      <a16:colId xmlns:a16="http://schemas.microsoft.com/office/drawing/2014/main" val="3906030340"/>
                    </a:ext>
                  </a:extLst>
                </a:gridCol>
                <a:gridCol w="1909790">
                  <a:extLst>
                    <a:ext uri="{9D8B030D-6E8A-4147-A177-3AD203B41FA5}">
                      <a16:colId xmlns:a16="http://schemas.microsoft.com/office/drawing/2014/main" val="2013193354"/>
                    </a:ext>
                  </a:extLst>
                </a:gridCol>
              </a:tblGrid>
              <a:tr h="3688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Type of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Government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Monarchy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Oligarchy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Dictatorship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Socialism</a:t>
                      </a:r>
                    </a:p>
                  </a:txBody>
                  <a:tcPr marL="43180" marR="43180" marT="21590" marB="2159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Democracy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274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53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Forms of Govt. in the world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07CAA-7BAC-748E-B667-AA415F5B3E55}"/>
              </a:ext>
            </a:extLst>
          </p:cNvPr>
          <p:cNvSpPr txBox="1"/>
          <p:nvPr/>
        </p:nvSpPr>
        <p:spPr>
          <a:xfrm>
            <a:off x="226142" y="6302361"/>
            <a:ext cx="2363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*for better understanding only.</a:t>
            </a:r>
            <a:endParaRPr lang="en-IN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53160-BFD1-6D06-95CE-6E4BEA9E3485}"/>
              </a:ext>
            </a:extLst>
          </p:cNvPr>
          <p:cNvSpPr txBox="1"/>
          <p:nvPr/>
        </p:nvSpPr>
        <p:spPr>
          <a:xfrm>
            <a:off x="24381" y="786383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65471A-B986-ED2E-8CE3-8C4C386FE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539010"/>
              </p:ext>
            </p:extLst>
          </p:nvPr>
        </p:nvGraphicFramePr>
        <p:xfrm>
          <a:off x="240891" y="827104"/>
          <a:ext cx="11724967" cy="5247994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56053">
                  <a:extLst>
                    <a:ext uri="{9D8B030D-6E8A-4147-A177-3AD203B41FA5}">
                      <a16:colId xmlns:a16="http://schemas.microsoft.com/office/drawing/2014/main" val="3876868268"/>
                    </a:ext>
                  </a:extLst>
                </a:gridCol>
                <a:gridCol w="2828014">
                  <a:extLst>
                    <a:ext uri="{9D8B030D-6E8A-4147-A177-3AD203B41FA5}">
                      <a16:colId xmlns:a16="http://schemas.microsoft.com/office/drawing/2014/main" val="3849454431"/>
                    </a:ext>
                  </a:extLst>
                </a:gridCol>
                <a:gridCol w="1885225">
                  <a:extLst>
                    <a:ext uri="{9D8B030D-6E8A-4147-A177-3AD203B41FA5}">
                      <a16:colId xmlns:a16="http://schemas.microsoft.com/office/drawing/2014/main" val="3426580693"/>
                    </a:ext>
                  </a:extLst>
                </a:gridCol>
                <a:gridCol w="1885225">
                  <a:extLst>
                    <a:ext uri="{9D8B030D-6E8A-4147-A177-3AD203B41FA5}">
                      <a16:colId xmlns:a16="http://schemas.microsoft.com/office/drawing/2014/main" val="1639547171"/>
                    </a:ext>
                  </a:extLst>
                </a:gridCol>
                <a:gridCol w="1885225">
                  <a:extLst>
                    <a:ext uri="{9D8B030D-6E8A-4147-A177-3AD203B41FA5}">
                      <a16:colId xmlns:a16="http://schemas.microsoft.com/office/drawing/2014/main" val="3095045947"/>
                    </a:ext>
                  </a:extLst>
                </a:gridCol>
                <a:gridCol w="1885225">
                  <a:extLst>
                    <a:ext uri="{9D8B030D-6E8A-4147-A177-3AD203B41FA5}">
                      <a16:colId xmlns:a16="http://schemas.microsoft.com/office/drawing/2014/main" val="65681886"/>
                    </a:ext>
                  </a:extLst>
                </a:gridCol>
              </a:tblGrid>
              <a:tr h="277872">
                <a:tc>
                  <a:txBody>
                    <a:bodyPr/>
                    <a:lstStyle/>
                    <a:p>
                      <a:pPr algn="ctr"/>
                      <a:r>
                        <a:rPr lang="gu-IN" sz="16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શાસન પ્રકારે</a:t>
                      </a:r>
                      <a:endParaRPr lang="gu-IN" sz="16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6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રાજાશાહી</a:t>
                      </a:r>
                      <a:endParaRPr lang="gu-IN" sz="16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6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ઓલિગાર્કી</a:t>
                      </a:r>
                      <a:endParaRPr lang="gu-IN" sz="16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6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સત્તાવાદી શાસન</a:t>
                      </a:r>
                      <a:endParaRPr lang="gu-IN" sz="16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6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સામ્યવાદ</a:t>
                      </a:r>
                      <a:endParaRPr lang="gu-IN" sz="16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6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લોકશાહી</a:t>
                      </a:r>
                      <a:endParaRPr lang="gu-IN" sz="16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extLst>
                  <a:ext uri="{0D108BD9-81ED-4DB2-BD59-A6C34878D82A}">
                    <a16:rowId xmlns:a16="http://schemas.microsoft.com/office/drawing/2014/main" val="2337985104"/>
                  </a:ext>
                </a:extLst>
              </a:tr>
              <a:tr h="2172905">
                <a:tc>
                  <a:txBody>
                    <a:bodyPr/>
                    <a:lstStyle/>
                    <a:p>
                      <a:pPr algn="ctr"/>
                      <a:r>
                        <a:rPr lang="gu-IN" sz="14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વર્ણન</a:t>
                      </a:r>
                      <a:endParaRPr lang="gu-IN" sz="14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રાજા, રાણી અથવા સામ્રાટ્ દ્વારા શાસન. રાજાશાહી સંપૂર્ણ સત્તાવાળી (સંપૂર્ણ રાજાશાહી) અથવા મર્યાદિત સત્તાવાળી (સંવિધાનિક રાજાશાહી) હોઈ શકે છે. શક્તિ સામાન્ય રીતે રાજ પરિવારમાં ઉત્તરાધિકારથી પસાર થાય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તે શાસન જ્યાં એક નાના સમુહ દ્વારા શાસન કરવામાં આવે છે. સત્તા મુખ્યત્વે એક નાનાં આર્થિક અથવા રાજકીય પ્રભાવશાળી સમુહ પાસે હોય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એ શાસન જ્યાં એક વ્યક્તિ પાસે સંપૂર્ણ સત્તા હોય છે. નાગરિકોની મુક્તિ મર્યાદિત હોય છે અને વિરોધ દબાવી દેવામાં આવે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જ્યાં સરકાર અથવા સમુદાય સંસાધનોનું માલિકત્વ અને ઉત્પાદનનું નિયંત્રણ રાખે છે. ધન સમાનતાને પ્રોત્સાહન મળે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એ શાસન છે જ્યાં નાગરિકો પોતાના પ્રતિનિધિઓને ચૂંટે છે અને તેમના દ્વારા નિર્ણય લેવામાં આવે છે. નાગરિકોને મૂળભૂત અધિકારો હોય છે.</a:t>
                      </a:r>
                    </a:p>
                  </a:txBody>
                  <a:tcPr marL="37512" marR="37512" marT="18756" marB="18756" anchor="ctr"/>
                </a:tc>
                <a:extLst>
                  <a:ext uri="{0D108BD9-81ED-4DB2-BD59-A6C34878D82A}">
                    <a16:rowId xmlns:a16="http://schemas.microsoft.com/office/drawing/2014/main" val="3068197195"/>
                  </a:ext>
                </a:extLst>
              </a:tr>
              <a:tr h="842556">
                <a:tc>
                  <a:txBody>
                    <a:bodyPr/>
                    <a:lstStyle/>
                    <a:p>
                      <a:pPr algn="ctr"/>
                      <a:r>
                        <a:rPr lang="gu-IN" sz="1400" b="1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શક્તિ કોના હાથમાં છે</a:t>
                      </a:r>
                      <a:endParaRPr lang="gu-IN" sz="140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એક વ્યક્તિના હાથે હોય છે, જે સામાન્ય રીતે પરિવાર દ્વારા પેઢીદાર સત્તા પ્રાપ્ત કરે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નાનાં આર્થિક અથવા પ્રભાવશાળી સમુહ પાસે સત્તા હોય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એક તાનાશાહ, જે શક્તિ બળથી પ્રાપ્ત કરે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સરકાર અથવા સમુદાય (સિદ્ધાંત પ્રમાણે લોકો).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નાગરિકો દ્વારા ચૂંટાયેલા પ્રતિનિધિઓ પાસે સત્તા હોય છે.</a:t>
                      </a:r>
                    </a:p>
                  </a:txBody>
                  <a:tcPr marL="37512" marR="37512" marT="18756" marB="18756" anchor="ctr"/>
                </a:tc>
                <a:extLst>
                  <a:ext uri="{0D108BD9-81ED-4DB2-BD59-A6C34878D82A}">
                    <a16:rowId xmlns:a16="http://schemas.microsoft.com/office/drawing/2014/main" val="1383680857"/>
                  </a:ext>
                </a:extLst>
              </a:tr>
              <a:tr h="842556">
                <a:tc>
                  <a:txBody>
                    <a:bodyPr/>
                    <a:lstStyle/>
                    <a:p>
                      <a:pPr algn="ctr"/>
                      <a:r>
                        <a:rPr lang="gu-IN" sz="1400" b="1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ઉદાહરણ</a:t>
                      </a:r>
                      <a:endParaRPr lang="gu-IN" sz="140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યુનાઇટેડ કિંગડમ (સંવિધાનિક રાજાશાહી), સાઉદી અરેબિયા (સંપૂર્ણ રાજાશાહી)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પ્રાચીન સ્પાર્ટા, રશિયા (ક્યારેક ઓલિગાર્કી ગણાય છે)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ઉત્તર કોરિયા (કિમ જોંગ ઉન), નાઝી જર્મની (હિટલર)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નોર્વે (પ્રજાસત્તાત્મક સામ્યવાદ), ક્યુબા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ભારત, યુનાઇટેડ સ્ટેટ્સ, જર્મની</a:t>
                      </a:r>
                    </a:p>
                  </a:txBody>
                  <a:tcPr marL="37512" marR="37512" marT="18756" marB="18756" anchor="ctr"/>
                </a:tc>
                <a:extLst>
                  <a:ext uri="{0D108BD9-81ED-4DB2-BD59-A6C34878D82A}">
                    <a16:rowId xmlns:a16="http://schemas.microsoft.com/office/drawing/2014/main" val="3382823269"/>
                  </a:ext>
                </a:extLst>
              </a:tr>
              <a:tr h="1108625">
                <a:tc>
                  <a:txBody>
                    <a:bodyPr/>
                    <a:lstStyle/>
                    <a:p>
                      <a:pPr algn="ctr"/>
                      <a:r>
                        <a:rPr lang="gu-IN" sz="140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મુખ્ય મુદ્દા</a:t>
                      </a:r>
                      <a:endParaRPr lang="gu-IN" sz="1400" dirty="0"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રાજાઓ પાસે સાંકેતિક ભૂમિકા કે મહત્વપૂર્ણ સત્તા હોઈ શકે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નિર્ણયો સામાન્ય રીતે પ્રભાવશાળી સમુહના હિત માટે હોય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નાગરિકોની અસહાયતા. કાયદા અને મીડિયા પર કડક નિયંત્રણ.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આરોગ્ય અને શિક્ષણ જેવી આવશ્યક સેવાઓ સરકાર દ્વારા આપવામાં આવે છે. ખાનગી માલિકી મર્યાદિત હોઈ શકે છે.</a:t>
                      </a:r>
                    </a:p>
                  </a:txBody>
                  <a:tcPr marL="37512" marR="37512" marT="18756" marB="1875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gu-IN" sz="14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નાગરિકોને મુક્ત ચૂંટણીમાં ભાગ લેવા મળે છે. ભાષણ અને મિડીયા જેવા અધિકારો સુરક્ષિત હોય છે.</a:t>
                      </a:r>
                    </a:p>
                  </a:txBody>
                  <a:tcPr marL="37512" marR="37512" marT="18756" marB="18756" anchor="ctr"/>
                </a:tc>
                <a:extLst>
                  <a:ext uri="{0D108BD9-81ED-4DB2-BD59-A6C34878D82A}">
                    <a16:rowId xmlns:a16="http://schemas.microsoft.com/office/drawing/2014/main" val="68403824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9088E75-6A1D-7B7E-0774-6F86669DB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8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073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4" y="1513093"/>
            <a:ext cx="9688450" cy="3373539"/>
          </a:xfrm>
        </p:spPr>
        <p:txBody>
          <a:bodyPr/>
          <a:lstStyle/>
          <a:p>
            <a:r>
              <a:rPr lang="en-IN" sz="6000" dirty="0"/>
              <a:t>Meaning of the Constitution</a:t>
            </a:r>
            <a:r>
              <a:rPr lang="en-US" sz="6000" dirty="0"/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296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</a:rPr>
              <a:t>Constitution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-1" y="890476"/>
            <a:ext cx="7622859" cy="51176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3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6" name="Picture 5" descr="OIP (9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505" y="879427"/>
            <a:ext cx="4153503" cy="5165395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38A9D1A-A7AD-AD2E-92F7-85FCBCE60E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0" y="775815"/>
            <a:ext cx="803849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 constitution outlines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main principles and laws of a nation or group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  <a:p>
            <a:pPr marL="342900" indent="-34290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 defines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government powers and responsibilities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</a:p>
          <a:p>
            <a:pPr marL="342900" indent="-34290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It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protects certain rights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for the people.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129D55-4FA1-3BD4-F86A-9AB5EA13E99C}"/>
              </a:ext>
            </a:extLst>
          </p:cNvPr>
          <p:cNvSpPr txBox="1"/>
          <p:nvPr/>
        </p:nvSpPr>
        <p:spPr>
          <a:xfrm>
            <a:off x="2092124" y="2552210"/>
            <a:ext cx="38542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Classification of Constitution</a:t>
            </a:r>
            <a:r>
              <a:rPr lang="en-US" sz="2400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lang="en-US" sz="2400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153F0B-F2A6-7CD0-A895-648B5245659F}"/>
              </a:ext>
            </a:extLst>
          </p:cNvPr>
          <p:cNvCxnSpPr/>
          <p:nvPr/>
        </p:nvCxnSpPr>
        <p:spPr>
          <a:xfrm flipV="1">
            <a:off x="918556" y="2475997"/>
            <a:ext cx="6201381" cy="173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30B989-EF1F-5B7F-B4D6-990874F3A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404727"/>
              </p:ext>
            </p:extLst>
          </p:nvPr>
        </p:nvGraphicFramePr>
        <p:xfrm>
          <a:off x="329898" y="3072760"/>
          <a:ext cx="7378700" cy="416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321927367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1562977665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4183805718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dirty="0"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701344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143E25-CE55-7E76-C277-507D6ACF1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426047"/>
              </p:ext>
            </p:extLst>
          </p:nvPr>
        </p:nvGraphicFramePr>
        <p:xfrm>
          <a:off x="329898" y="3503163"/>
          <a:ext cx="7378700" cy="728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19057424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366598758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493289697"/>
                    </a:ext>
                  </a:extLst>
                </a:gridCol>
              </a:tblGrid>
              <a:tr h="7289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200" dirty="0">
                          <a:solidFill>
                            <a:srgbClr val="C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Codified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In a single act (document)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Most of the world (first: United States), </a:t>
                      </a:r>
                      <a:r>
                        <a:rPr lang="en-US" sz="1800" b="1" kern="1200" dirty="0">
                          <a:solidFill>
                            <a:srgbClr val="FF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India</a:t>
                      </a:r>
                      <a:endParaRPr lang="en-IN" sz="1800" b="1" kern="1200" dirty="0">
                        <a:solidFill>
                          <a:srgbClr val="FF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5538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F11398-0FFC-F5E1-534C-FB918A154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880172"/>
              </p:ext>
            </p:extLst>
          </p:nvPr>
        </p:nvGraphicFramePr>
        <p:xfrm>
          <a:off x="329898" y="4245986"/>
          <a:ext cx="7378700" cy="728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2193062092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628642819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4229975592"/>
                    </a:ext>
                  </a:extLst>
                </a:gridCol>
              </a:tblGrid>
              <a:tr h="7289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200" dirty="0">
                          <a:solidFill>
                            <a:srgbClr val="C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Uncodified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Fully written (in few documents)</a:t>
                      </a:r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it-IT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San Marino, Israel, Saudi Arabia</a:t>
                      </a:r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76157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05A6E3-6331-BA5B-B78C-A6B3CAA41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376469"/>
              </p:ext>
            </p:extLst>
          </p:nvPr>
        </p:nvGraphicFramePr>
        <p:xfrm>
          <a:off x="329898" y="4988809"/>
          <a:ext cx="7378700" cy="728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447923581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453669340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44871322"/>
                    </a:ext>
                  </a:extLst>
                </a:gridCol>
              </a:tblGrid>
              <a:tr h="7289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200" dirty="0">
                          <a:solidFill>
                            <a:srgbClr val="C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Partially Unwritten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See constitutional convention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Canada, New Zealand, United Kingdom</a:t>
                      </a:r>
                      <a:endParaRPr lang="en-IN" sz="1800" b="1" kern="1200" dirty="0">
                        <a:solidFill>
                          <a:schemeClr val="dk1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260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19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0" y="781668"/>
            <a:ext cx="11929641" cy="5363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India’s Constitution is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supreme law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India. 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defines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Government’s fundamental political values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policies,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processes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powers, rights, and duties. 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reflects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constitutional, not parliamentary supremacy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being established by a constituent assembly and adopted by citizens.</a:t>
            </a:r>
            <a:endParaRPr lang="en-US" sz="2400" dirty="0"/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Constitution of India is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longest Constitution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in the world. 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had… 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395 articles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22 parts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8 schedules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1,46,385 words </a:t>
            </a:r>
            <a:r>
              <a:rPr lang="en-US" sz="1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(in Hindi version) </a:t>
            </a:r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at its beginning</a:t>
            </a:r>
            <a:r>
              <a:rPr lang="en-US" sz="20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currently has a preamble,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25 parts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with</a:t>
            </a:r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12 schedules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5 appendices, 470 articles 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&amp;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105 amendments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</a:rPr>
              <a:t>Constitution</a:t>
            </a:r>
          </a:p>
        </p:txBody>
      </p:sp>
    </p:spTree>
    <p:extLst>
      <p:ext uri="{BB962C8B-B14F-4D97-AF65-F5344CB8AC3E}">
        <p14:creationId xmlns:p14="http://schemas.microsoft.com/office/powerpoint/2010/main" val="42701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0" y="790507"/>
            <a:ext cx="11929641" cy="56397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India’s Constitution was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adopted</a:t>
            </a:r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 the year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1949 on November 26</a:t>
            </a:r>
            <a:r>
              <a:rPr lang="en-IN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lang="en-US" sz="2400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0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came into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effect</a:t>
            </a:r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on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January 26, 1950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 January 26 is celebrated as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Republic Day</a:t>
            </a:r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India and the assembly approved it.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0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The Chairman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the drafting committee, </a:t>
            </a:r>
            <a:r>
              <a:rPr lang="en-IN" sz="24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Dr.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B. R. </a:t>
            </a:r>
            <a:r>
              <a:rPr lang="en-IN" sz="24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Ambedkar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is generally regarded as the architect of the Indian Constitution.</a:t>
            </a:r>
          </a:p>
          <a:p>
            <a:pPr lvl="1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IN" sz="20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Other committee members were: 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K.M.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Munshi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Muhammed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Saadulah</a:t>
            </a:r>
            <a:r>
              <a:rPr lang="en-IN" sz="2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Alladi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Krishnaswamy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Iyer</a:t>
            </a:r>
            <a:r>
              <a:rPr lang="en-IN" sz="2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Gopal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Swami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Ayyangar</a:t>
            </a:r>
            <a:r>
              <a:rPr lang="en-IN" sz="2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N.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Madhava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Rao</a:t>
            </a:r>
            <a:r>
              <a:rPr lang="en-IN" sz="2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IN" sz="20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T.T. </a:t>
            </a:r>
            <a:r>
              <a:rPr lang="en-IN" sz="20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Krishnamachari</a:t>
            </a:r>
            <a:r>
              <a:rPr lang="en-IN" sz="2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lang="en-US" sz="2000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Preamble of the Constitution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India got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inspiration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from the Constitution and</a:t>
            </a:r>
            <a:r>
              <a:rPr lang="en-IN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preamble of the USA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Prem Bihari </a:t>
            </a:r>
            <a:r>
              <a:rPr lang="en-IN" sz="24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Narain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4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Raizada</a:t>
            </a:r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wrote the actual copies of the Indian Constitution.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283 members signed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original Indian Constitution.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lvl="0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endParaRPr lang="en-US" sz="2400" b="1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</a:rPr>
              <a:t>History of Indian Constitution</a:t>
            </a:r>
          </a:p>
        </p:txBody>
      </p:sp>
    </p:spTree>
    <p:extLst>
      <p:ext uri="{BB962C8B-B14F-4D97-AF65-F5344CB8AC3E}">
        <p14:creationId xmlns:p14="http://schemas.microsoft.com/office/powerpoint/2010/main" val="3814132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OIP (8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743" y="797090"/>
            <a:ext cx="8240486" cy="50744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</a:rPr>
              <a:t>Facts </a:t>
            </a:r>
            <a:r>
              <a:rPr lang="en-IN">
                <a:latin typeface="Roboto Condensed" panose="02000000000000000000" pitchFamily="2" charset="0"/>
                <a:ea typeface="Roboto Condensed" panose="02000000000000000000" pitchFamily="2" charset="0"/>
              </a:rPr>
              <a:t>of Indian Constitution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2ACE11-9379-E638-0A99-2EF08A553DAE}"/>
              </a:ext>
            </a:extLst>
          </p:cNvPr>
          <p:cNvSpPr txBox="1"/>
          <p:nvPr/>
        </p:nvSpPr>
        <p:spPr>
          <a:xfrm>
            <a:off x="1425677" y="5957384"/>
            <a:ext cx="91537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Members of Constituent Assembly signing the final copy of Constitution</a:t>
            </a:r>
            <a:r>
              <a:rPr lang="en-US" sz="2400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endParaRPr lang="en-US" sz="2400" b="1" u="sng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39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D4FF3A-116D-4E54-8192-6C6183B873BA}"/>
              </a:ext>
            </a:extLst>
          </p:cNvPr>
          <p:cNvSpPr txBox="1">
            <a:spLocks/>
          </p:cNvSpPr>
          <p:nvPr/>
        </p:nvSpPr>
        <p:spPr>
          <a:xfrm>
            <a:off x="0" y="777187"/>
            <a:ext cx="11929641" cy="44634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Originally, the Indian Constitution was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written in Hindi and English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English variety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the Constitution of India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has 1,17,369 words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Various artists who hailed from </a:t>
            </a:r>
            <a:r>
              <a:rPr lang="en-IN" sz="2400" b="1" dirty="0" err="1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Shantiniketan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(West Bengal) had decorated the pages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the Indian Constitution.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On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9</a:t>
            </a:r>
            <a:r>
              <a:rPr lang="en-IN" sz="2400" b="1" baseline="30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December 1946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the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first meeting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the Constituent Assembly took place.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Nearly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2000 amendments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were made in the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initial draft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of the Indian Constitution.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On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24</a:t>
            </a:r>
            <a:r>
              <a:rPr lang="en-IN" sz="2400" b="1" baseline="30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January 1950</a:t>
            </a:r>
            <a:r>
              <a:rPr lang="en-IN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Indian Constitution was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signed</a:t>
            </a:r>
            <a:r>
              <a:rPr lang="en-IN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lang="en-US" sz="2400" dirty="0">
              <a:solidFill>
                <a:srgbClr val="C0000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On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26</a:t>
            </a:r>
            <a:r>
              <a:rPr lang="en-IN" sz="2400" b="1" baseline="300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January 1950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the Indian Constitution was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enforced legally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 the year 2019, there were </a:t>
            </a:r>
            <a:r>
              <a:rPr lang="en-IN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103 amendments </a:t>
            </a:r>
            <a:r>
              <a:rPr lang="en-IN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that were made in the Indian Constitution since the time it was enforced.</a:t>
            </a: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</a:rPr>
              <a:t>Facts </a:t>
            </a:r>
            <a:r>
              <a:rPr lang="en-IN">
                <a:latin typeface="Roboto Condensed" panose="02000000000000000000" pitchFamily="2" charset="0"/>
                <a:ea typeface="Roboto Condensed" panose="02000000000000000000" pitchFamily="2" charset="0"/>
              </a:rPr>
              <a:t>of Indian Constitution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34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799771"/>
            <a:ext cx="12192000" cy="478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2278743"/>
            <a:ext cx="12192000" cy="478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2757715"/>
            <a:ext cx="12192000" cy="478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3218448"/>
            <a:ext cx="12192000" cy="478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33402"/>
            <a:ext cx="12192000" cy="478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4112374"/>
            <a:ext cx="12192000" cy="478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4592802"/>
            <a:ext cx="12192000" cy="4789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5071773"/>
            <a:ext cx="12192000" cy="627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5" descr="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48" y="714403"/>
            <a:ext cx="4728358" cy="5591175"/>
          </a:xfrm>
          <a:prstGeom prst="rect">
            <a:avLst/>
          </a:prstGeom>
        </p:spPr>
      </p:pic>
      <p:pic>
        <p:nvPicPr>
          <p:cNvPr id="18" name="Picture 17" descr="OIP (9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607" y="810951"/>
            <a:ext cx="4215641" cy="5395885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</a:rPr>
              <a:t>Facts </a:t>
            </a:r>
            <a:r>
              <a:rPr lang="en-IN">
                <a:latin typeface="Roboto Condensed" panose="02000000000000000000" pitchFamily="2" charset="0"/>
                <a:ea typeface="Roboto Condensed" panose="02000000000000000000" pitchFamily="2" charset="0"/>
              </a:rPr>
              <a:t>of Indian Constitution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501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4" y="1513093"/>
            <a:ext cx="9688450" cy="3373539"/>
          </a:xfrm>
        </p:spPr>
        <p:txBody>
          <a:bodyPr/>
          <a:lstStyle/>
          <a:p>
            <a:r>
              <a:rPr lang="en-US" sz="6000" dirty="0"/>
              <a:t>Historical Background of the Constituent Assembly</a:t>
            </a:r>
          </a:p>
        </p:txBody>
      </p:sp>
    </p:spTree>
    <p:extLst>
      <p:ext uri="{BB962C8B-B14F-4D97-AF65-F5344CB8AC3E}">
        <p14:creationId xmlns:p14="http://schemas.microsoft.com/office/powerpoint/2010/main" val="4020622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Historical Background of the Constituent Assembly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787371"/>
            <a:ext cx="54361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00808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Formation of Constituent Assembly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AD4FF3A-116D-4E54-8192-6C6183B873BA}"/>
              </a:ext>
            </a:extLst>
          </p:cNvPr>
          <p:cNvSpPr txBox="1">
            <a:spLocks/>
          </p:cNvSpPr>
          <p:nvPr/>
        </p:nvSpPr>
        <p:spPr>
          <a:xfrm>
            <a:off x="0" y="1583407"/>
            <a:ext cx="11929641" cy="43946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1934,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 N Roy first proposed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idea of a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constituent assembly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demand</a:t>
            </a:r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was taken up by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Congress Party in 1935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as an official demand.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British accepted this in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August Offer of 1940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1"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20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August Offer promised future </a:t>
            </a:r>
            <a:r>
              <a:rPr lang="en-US" sz="2000" b="1" dirty="0">
                <a:solidFill>
                  <a:srgbClr val="8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constitutional reforms and minority safeguards but no immediate self-rule</a:t>
            </a:r>
            <a:r>
              <a:rPr lang="en-US" sz="20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so it was </a:t>
            </a:r>
            <a:r>
              <a:rPr lang="en-US" sz="2000" b="1" dirty="0">
                <a:solidFill>
                  <a:srgbClr val="8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rejected by Indian leaders</a:t>
            </a:r>
            <a:r>
              <a:rPr lang="en-US" sz="20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Under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Cabinet Mission plan of 1946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elections</a:t>
            </a:r>
            <a:r>
              <a:rPr lang="en-US" sz="2400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were held for the formation of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constituent assembly</a:t>
            </a:r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The constituent assembly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was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formed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 the purpose of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writing a constitution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 independent India.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last session was held during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14 – 26 November 1949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 </a:t>
            </a:r>
          </a:p>
          <a:p>
            <a:pPr algn="just">
              <a:buFont typeface="Arial" panose="020B0604020202020204" pitchFamily="34" charset="0"/>
              <a:buNone/>
            </a:pPr>
            <a:endParaRPr lang="en-IN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0" y="1319255"/>
            <a:ext cx="5201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21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Historical Background of the Constituent Assembly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D185C2F-0E20-E957-56B5-FDEB5DD23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481592"/>
              </p:ext>
            </p:extLst>
          </p:nvPr>
        </p:nvGraphicFramePr>
        <p:xfrm>
          <a:off x="402293" y="1531687"/>
          <a:ext cx="11387414" cy="453894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97158">
                  <a:extLst>
                    <a:ext uri="{9D8B030D-6E8A-4147-A177-3AD203B41FA5}">
                      <a16:colId xmlns:a16="http://schemas.microsoft.com/office/drawing/2014/main" val="117242164"/>
                    </a:ext>
                  </a:extLst>
                </a:gridCol>
                <a:gridCol w="1919508">
                  <a:extLst>
                    <a:ext uri="{9D8B030D-6E8A-4147-A177-3AD203B41FA5}">
                      <a16:colId xmlns:a16="http://schemas.microsoft.com/office/drawing/2014/main" val="1250122904"/>
                    </a:ext>
                  </a:extLst>
                </a:gridCol>
                <a:gridCol w="2210020">
                  <a:extLst>
                    <a:ext uri="{9D8B030D-6E8A-4147-A177-3AD203B41FA5}">
                      <a16:colId xmlns:a16="http://schemas.microsoft.com/office/drawing/2014/main" val="4063352518"/>
                    </a:ext>
                  </a:extLst>
                </a:gridCol>
                <a:gridCol w="4073745">
                  <a:extLst>
                    <a:ext uri="{9D8B030D-6E8A-4147-A177-3AD203B41FA5}">
                      <a16:colId xmlns:a16="http://schemas.microsoft.com/office/drawing/2014/main" val="664544523"/>
                    </a:ext>
                  </a:extLst>
                </a:gridCol>
                <a:gridCol w="2286983">
                  <a:extLst>
                    <a:ext uri="{9D8B030D-6E8A-4147-A177-3AD203B41FA5}">
                      <a16:colId xmlns:a16="http://schemas.microsoft.com/office/drawing/2014/main" val="3319250218"/>
                    </a:ext>
                  </a:extLst>
                </a:gridCol>
              </a:tblGrid>
              <a:tr h="241741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8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Year</a:t>
                      </a:r>
                      <a:endParaRPr lang="en-IN" sz="1600" dirty="0">
                        <a:solidFill>
                          <a:srgbClr val="8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8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Event / Proposal</a:t>
                      </a:r>
                      <a:endParaRPr lang="en-IN" sz="1600" dirty="0">
                        <a:solidFill>
                          <a:srgbClr val="8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8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Key Person / Body</a:t>
                      </a:r>
                      <a:endParaRPr lang="en-IN" sz="1600" dirty="0">
                        <a:solidFill>
                          <a:srgbClr val="8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8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Main Provisions</a:t>
                      </a:r>
                      <a:endParaRPr lang="en-IN" sz="1600" dirty="0">
                        <a:solidFill>
                          <a:srgbClr val="8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8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Outcome</a:t>
                      </a:r>
                      <a:endParaRPr lang="en-IN" sz="1600" dirty="0">
                        <a:solidFill>
                          <a:srgbClr val="800000"/>
                        </a:solidFill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923880256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1940–41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Individual Satyagraha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Mahatma Gandhi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Limited protest against forced war participation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Many leaders arrested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684932645"/>
                  </a:ext>
                </a:extLst>
              </a:tr>
              <a:tr h="785658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1942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Cripps Mission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Stafford Cripps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Dominion status after war, Constituent Assembly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Rejected by Congress &amp; Muslim League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4239016931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1942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Quit India Movement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Indian National Congress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Immediate British withdrawal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Suppressed; leaders jailed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680135851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1945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Wavell Plan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Lord Wavell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Reconstitution of Executive Council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Failed due to political deadlock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994359462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1945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Simla Conference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British Govt.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Discussion on Wavell Plan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No agreement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295359787"/>
                  </a:ext>
                </a:extLst>
              </a:tr>
              <a:tr h="604352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1946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Cabinet Mission Plan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British Cabinet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Constituent Assembly, federal structure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Accepted with reservations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525410011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1946–49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Constituent Assembly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Indian Leaders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Drafting of Constitution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Constitution prepared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4192089994"/>
                  </a:ext>
                </a:extLst>
              </a:tr>
              <a:tr h="423047">
                <a:tc>
                  <a:txBody>
                    <a:bodyPr/>
                    <a:lstStyle/>
                    <a:p>
                      <a:pPr algn="ctr"/>
                      <a:r>
                        <a:rPr lang="en-IN" sz="160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1950</a:t>
                      </a:r>
                      <a:endParaRPr lang="en-IN" sz="1600">
                        <a:latin typeface="Roboto Condensed" panose="02000000000000000000" pitchFamily="2" charset="0"/>
                        <a:ea typeface="Roboto Condensed" panose="02000000000000000000" pitchFamily="2" charset="0"/>
                        <a:cs typeface="Roboto Condensed" panose="02000000000000000000" pitchFamily="2" charset="0"/>
                      </a:endParaRP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Constitution in Force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Republic of India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Democratic Constitution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Constitution adopted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71856101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FD464E1-AFD8-4249-49CF-93944AE9A772}"/>
              </a:ext>
            </a:extLst>
          </p:cNvPr>
          <p:cNvSpPr/>
          <p:nvPr/>
        </p:nvSpPr>
        <p:spPr>
          <a:xfrm>
            <a:off x="0" y="787371"/>
            <a:ext cx="47644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00808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Development after August Offer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FFFDBC-96D6-72C6-42AC-C46D33D35232}"/>
              </a:ext>
            </a:extLst>
          </p:cNvPr>
          <p:cNvCxnSpPr>
            <a:cxnSpLocks/>
          </p:cNvCxnSpPr>
          <p:nvPr/>
        </p:nvCxnSpPr>
        <p:spPr>
          <a:xfrm>
            <a:off x="0" y="1319255"/>
            <a:ext cx="52012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65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IN" dirty="0">
                <a:latin typeface="Roboto Condensed" panose="02000000000000000000" pitchFamily="2" charset="0"/>
                <a:ea typeface="Roboto Condensed" panose="02000000000000000000" pitchFamily="2" charset="0"/>
              </a:rPr>
              <a:t>Constituent Assembly</a:t>
            </a:r>
          </a:p>
        </p:txBody>
      </p:sp>
      <p:pic>
        <p:nvPicPr>
          <p:cNvPr id="17" name="Content Placeholder 4" descr="1500x900_405303-constituent-assemb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435" y="843935"/>
            <a:ext cx="8985505" cy="54638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31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3" y="1513093"/>
            <a:ext cx="11415251" cy="3373539"/>
          </a:xfrm>
        </p:spPr>
        <p:txBody>
          <a:bodyPr/>
          <a:lstStyle/>
          <a:p>
            <a:r>
              <a:rPr lang="en-US" sz="6000" dirty="0"/>
              <a:t>Government of India Act of 1935 </a:t>
            </a:r>
            <a:br>
              <a:rPr lang="en-US" sz="6000" dirty="0"/>
            </a:br>
            <a:r>
              <a:rPr lang="en-US" sz="6000" dirty="0"/>
              <a:t>and </a:t>
            </a:r>
            <a:br>
              <a:rPr lang="en-US" sz="6000" dirty="0"/>
            </a:br>
            <a:r>
              <a:rPr lang="en-US" sz="6000" dirty="0"/>
              <a:t>Indian Independence Act of 1947</a:t>
            </a:r>
          </a:p>
        </p:txBody>
      </p:sp>
    </p:spTree>
    <p:extLst>
      <p:ext uri="{BB962C8B-B14F-4D97-AF65-F5344CB8AC3E}">
        <p14:creationId xmlns:p14="http://schemas.microsoft.com/office/powerpoint/2010/main" val="3632461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Government of India Act 1935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D4FF3A-116D-4E54-8192-6C6183B873BA}"/>
              </a:ext>
            </a:extLst>
          </p:cNvPr>
          <p:cNvSpPr txBox="1">
            <a:spLocks/>
          </p:cNvSpPr>
          <p:nvPr/>
        </p:nvSpPr>
        <p:spPr>
          <a:xfrm>
            <a:off x="0" y="785461"/>
            <a:ext cx="11929641" cy="51494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Government of India Act 1935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made India a Federal Country 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and was a milestone in governance.</a:t>
            </a:r>
          </a:p>
          <a:p>
            <a:pPr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British arrived in the 1600s 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 trade; East India Company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got rights from Queen Elizabeth I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East India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Company ruled 200 years 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before Independence in 1947.</a:t>
            </a:r>
          </a:p>
          <a:p>
            <a:pPr lvl="0"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Independence led to a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constitution ensuring justice for the common man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0"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1935 Act introduced a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responsible government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0"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was the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last British constitution 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before Independence.</a:t>
            </a:r>
          </a:p>
          <a:p>
            <a:pPr lvl="0"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gave women a separate electorate and more power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0" algn="just" fontAlgn="base">
              <a:spcAft>
                <a:spcPct val="0"/>
              </a:spcAft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It paved the </a:t>
            </a:r>
            <a:r>
              <a:rPr lang="en-US" alt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way for Independence and the constitution</a:t>
            </a:r>
            <a:r>
              <a:rPr lang="en-US" alt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085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Indian Independence Act of 1947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6" name="Picture 5" descr="india-first-independence-day-celebrations-august-15-1947-rare-photos (60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165" y="1189201"/>
            <a:ext cx="5234382" cy="47080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AD4FF3A-116D-4E54-8192-6C6183B873BA}"/>
              </a:ext>
            </a:extLst>
          </p:cNvPr>
          <p:cNvSpPr txBox="1">
            <a:spLocks/>
          </p:cNvSpPr>
          <p:nvPr/>
        </p:nvSpPr>
        <p:spPr>
          <a:xfrm>
            <a:off x="0" y="783059"/>
            <a:ext cx="6365153" cy="30220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Indian Independence Act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passed by the UK Parliament on July 18, 1947,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established independent India and Pakistan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marL="0" indent="0" algn="just">
              <a:buClr>
                <a:srgbClr val="C00000"/>
              </a:buClr>
              <a:buNone/>
            </a:pPr>
            <a:endParaRPr lang="en-US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Indian Independence Act was set to take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effect on August 15, 1947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just a month after being passed.</a:t>
            </a:r>
          </a:p>
        </p:txBody>
      </p:sp>
    </p:spTree>
    <p:extLst>
      <p:ext uri="{BB962C8B-B14F-4D97-AF65-F5344CB8AC3E}">
        <p14:creationId xmlns:p14="http://schemas.microsoft.com/office/powerpoint/2010/main" val="304489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Indian Independence Act of 1947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D4FF3A-116D-4E54-8192-6C6183B873BA}"/>
              </a:ext>
            </a:extLst>
          </p:cNvPr>
          <p:cNvSpPr txBox="1">
            <a:spLocks/>
          </p:cNvSpPr>
          <p:nvPr/>
        </p:nvSpPr>
        <p:spPr>
          <a:xfrm>
            <a:off x="0" y="794168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808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Attlee's Announcement</a:t>
            </a: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Clement Attlee, the Prime Minister of the United Kingdom,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announced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on 20 February 1947 that: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British Government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would 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grant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full self-government to British 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India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 by 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30 June 1948 at the latest</a:t>
            </a:r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lvl="1" algn="just"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future of the 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Princely States (</a:t>
            </a:r>
            <a:r>
              <a:rPr lang="gu-IN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રજવાડાઓ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)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would 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be decided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after the date of </a:t>
            </a:r>
            <a:r>
              <a:rPr lang="en-US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final transfer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is decided.</a:t>
            </a:r>
          </a:p>
          <a:p>
            <a:pPr lvl="1" algn="just">
              <a:buFont typeface="Arial" panose="020B0604020202020204" pitchFamily="34" charset="0"/>
              <a:buNone/>
            </a:pPr>
            <a:b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184" y="3429000"/>
            <a:ext cx="3767272" cy="29104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9" name="Straight Connector 8"/>
          <p:cNvCxnSpPr>
            <a:cxnSpLocks/>
          </p:cNvCxnSpPr>
          <p:nvPr/>
        </p:nvCxnSpPr>
        <p:spPr>
          <a:xfrm>
            <a:off x="0" y="1265225"/>
            <a:ext cx="35435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362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Indian Independence Act of 1947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1AD4FF3A-116D-4E54-8192-6C6183B873BA}"/>
              </a:ext>
            </a:extLst>
          </p:cNvPr>
          <p:cNvSpPr txBox="1">
            <a:spLocks/>
          </p:cNvSpPr>
          <p:nvPr/>
        </p:nvSpPr>
        <p:spPr>
          <a:xfrm>
            <a:off x="0" y="794620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rgbClr val="00808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June Plan</a:t>
            </a:r>
          </a:p>
          <a:p>
            <a:pPr marL="457200" lvl="1" indent="0" algn="just">
              <a:lnSpc>
                <a:spcPct val="100000"/>
              </a:lnSpc>
              <a:buNone/>
            </a:pPr>
            <a:endParaRPr lang="en-US" sz="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3 June 1947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Plan was also known as the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Mountbatten Plan</a:t>
            </a:r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that included these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principles:</a:t>
            </a:r>
          </a:p>
          <a:p>
            <a:pPr lvl="2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Principle of the partition of British India was accepted by the British Government</a:t>
            </a:r>
          </a:p>
          <a:p>
            <a:pPr lvl="2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Successor governments would be given dominion status</a:t>
            </a:r>
          </a:p>
          <a:p>
            <a:pPr lvl="2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Autonomy and sovereignty to both countries</a:t>
            </a:r>
          </a:p>
          <a:p>
            <a:pPr lvl="2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Can make their own constitution</a:t>
            </a:r>
          </a:p>
          <a:p>
            <a:pPr lvl="2" algn="just">
              <a:lnSpc>
                <a:spcPct val="100000"/>
              </a:lnSpc>
              <a:buClr>
                <a:srgbClr val="C00000"/>
              </a:buClr>
              <a:buFont typeface="Wingdings 3" panose="05040102010807070707" pitchFamily="18" charset="2"/>
              <a:buChar char="Ê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Princely States were given the right to join either Pakistan or India, based on two major factors: Geographical contiguity and the people's wishes</a:t>
            </a:r>
          </a:p>
          <a:p>
            <a:pPr algn="just"/>
            <a:endParaRPr lang="en-IN" sz="24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0" y="1250405"/>
            <a:ext cx="15599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3" y="1513093"/>
            <a:ext cx="10196051" cy="3373539"/>
          </a:xfrm>
        </p:spPr>
        <p:txBody>
          <a:bodyPr/>
          <a:lstStyle/>
          <a:p>
            <a:r>
              <a:rPr lang="en-IN" sz="6000" dirty="0"/>
              <a:t>Salient features of Constitution</a:t>
            </a:r>
          </a:p>
        </p:txBody>
      </p:sp>
    </p:spTree>
    <p:extLst>
      <p:ext uri="{BB962C8B-B14F-4D97-AF65-F5344CB8AC3E}">
        <p14:creationId xmlns:p14="http://schemas.microsoft.com/office/powerpoint/2010/main" val="1182852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Salient Features </a:t>
            </a: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of Indian Constitution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8" name="Google Shape;1559;p39"/>
          <p:cNvSpPr/>
          <p:nvPr/>
        </p:nvSpPr>
        <p:spPr>
          <a:xfrm>
            <a:off x="5679976" y="4426328"/>
            <a:ext cx="817750" cy="174180"/>
          </a:xfrm>
          <a:custGeom>
            <a:avLst/>
            <a:gdLst/>
            <a:ahLst/>
            <a:cxnLst/>
            <a:rect l="l" t="t" r="r" b="b"/>
            <a:pathLst>
              <a:path w="20921" h="4513" extrusionOk="0">
                <a:moveTo>
                  <a:pt x="1001" y="0"/>
                </a:moveTo>
                <a:lnTo>
                  <a:pt x="1" y="1727"/>
                </a:lnTo>
                <a:cubicBezTo>
                  <a:pt x="3108" y="3513"/>
                  <a:pt x="6645" y="4477"/>
                  <a:pt x="10228" y="4513"/>
                </a:cubicBezTo>
                <a:lnTo>
                  <a:pt x="10419" y="4513"/>
                </a:lnTo>
                <a:cubicBezTo>
                  <a:pt x="14050" y="4513"/>
                  <a:pt x="17622" y="3560"/>
                  <a:pt x="20765" y="1739"/>
                </a:cubicBezTo>
                <a:lnTo>
                  <a:pt x="20849" y="1691"/>
                </a:lnTo>
                <a:lnTo>
                  <a:pt x="20920" y="1631"/>
                </a:lnTo>
                <a:lnTo>
                  <a:pt x="20289" y="893"/>
                </a:lnTo>
                <a:lnTo>
                  <a:pt x="19789" y="0"/>
                </a:lnTo>
                <a:lnTo>
                  <a:pt x="19706" y="60"/>
                </a:lnTo>
                <a:lnTo>
                  <a:pt x="19694" y="60"/>
                </a:lnTo>
                <a:cubicBezTo>
                  <a:pt x="16870" y="1670"/>
                  <a:pt x="13681" y="2526"/>
                  <a:pt x="10439" y="2526"/>
                </a:cubicBezTo>
                <a:cubicBezTo>
                  <a:pt x="10373" y="2526"/>
                  <a:pt x="10307" y="2525"/>
                  <a:pt x="10240" y="2524"/>
                </a:cubicBezTo>
                <a:cubicBezTo>
                  <a:pt x="7002" y="2489"/>
                  <a:pt x="3811" y="1620"/>
                  <a:pt x="1001" y="0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1560;p39"/>
          <p:cNvSpPr/>
          <p:nvPr/>
        </p:nvSpPr>
        <p:spPr>
          <a:xfrm>
            <a:off x="6453010" y="3799079"/>
            <a:ext cx="444464" cy="694366"/>
          </a:xfrm>
          <a:custGeom>
            <a:avLst/>
            <a:gdLst/>
            <a:ahLst/>
            <a:cxnLst/>
            <a:rect l="l" t="t" r="r" b="b"/>
            <a:pathLst>
              <a:path w="11371" h="17991" extrusionOk="0">
                <a:moveTo>
                  <a:pt x="9382" y="0"/>
                </a:moveTo>
                <a:cubicBezTo>
                  <a:pt x="9370" y="3239"/>
                  <a:pt x="8525" y="6442"/>
                  <a:pt x="6942" y="9263"/>
                </a:cubicBezTo>
                <a:cubicBezTo>
                  <a:pt x="5298" y="12168"/>
                  <a:pt x="2893" y="14597"/>
                  <a:pt x="0" y="16264"/>
                </a:cubicBezTo>
                <a:lnTo>
                  <a:pt x="988" y="17991"/>
                </a:lnTo>
                <a:cubicBezTo>
                  <a:pt x="4203" y="16133"/>
                  <a:pt x="6858" y="13454"/>
                  <a:pt x="8668" y="10240"/>
                </a:cubicBezTo>
                <a:cubicBezTo>
                  <a:pt x="10430" y="7120"/>
                  <a:pt x="11359" y="3584"/>
                  <a:pt x="11371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561;p39"/>
          <p:cNvSpPr/>
          <p:nvPr/>
        </p:nvSpPr>
        <p:spPr>
          <a:xfrm>
            <a:off x="5274169" y="3799079"/>
            <a:ext cx="444972" cy="693903"/>
          </a:xfrm>
          <a:custGeom>
            <a:avLst/>
            <a:gdLst/>
            <a:ahLst/>
            <a:cxnLst/>
            <a:rect l="l" t="t" r="r" b="b"/>
            <a:pathLst>
              <a:path w="11384" h="17979" extrusionOk="0">
                <a:moveTo>
                  <a:pt x="1" y="0"/>
                </a:moveTo>
                <a:cubicBezTo>
                  <a:pt x="1" y="3644"/>
                  <a:pt x="953" y="7239"/>
                  <a:pt x="2775" y="10383"/>
                </a:cubicBezTo>
                <a:cubicBezTo>
                  <a:pt x="4596" y="13538"/>
                  <a:pt x="7228" y="16169"/>
                  <a:pt x="10383" y="17979"/>
                </a:cubicBezTo>
                <a:lnTo>
                  <a:pt x="11383" y="16252"/>
                </a:lnTo>
                <a:cubicBezTo>
                  <a:pt x="8526" y="14621"/>
                  <a:pt x="6144" y="12240"/>
                  <a:pt x="4501" y="9394"/>
                </a:cubicBezTo>
                <a:cubicBezTo>
                  <a:pt x="2858" y="6537"/>
                  <a:pt x="1989" y="3298"/>
                  <a:pt x="2001" y="0"/>
                </a:cubicBez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1562;p39"/>
          <p:cNvSpPr/>
          <p:nvPr/>
        </p:nvSpPr>
        <p:spPr>
          <a:xfrm>
            <a:off x="5274169" y="3104752"/>
            <a:ext cx="444503" cy="694366"/>
          </a:xfrm>
          <a:custGeom>
            <a:avLst/>
            <a:gdLst/>
            <a:ahLst/>
            <a:cxnLst/>
            <a:rect l="l" t="t" r="r" b="b"/>
            <a:pathLst>
              <a:path w="11372" h="17991" extrusionOk="0">
                <a:moveTo>
                  <a:pt x="10383" y="0"/>
                </a:moveTo>
                <a:cubicBezTo>
                  <a:pt x="7168" y="1857"/>
                  <a:pt x="4513" y="4536"/>
                  <a:pt x="2703" y="7751"/>
                </a:cubicBezTo>
                <a:cubicBezTo>
                  <a:pt x="941" y="10870"/>
                  <a:pt x="13" y="14407"/>
                  <a:pt x="1" y="17990"/>
                </a:cubicBezTo>
                <a:lnTo>
                  <a:pt x="2001" y="17990"/>
                </a:lnTo>
                <a:cubicBezTo>
                  <a:pt x="2001" y="14752"/>
                  <a:pt x="2846" y="11549"/>
                  <a:pt x="4442" y="8727"/>
                </a:cubicBezTo>
                <a:cubicBezTo>
                  <a:pt x="6073" y="5822"/>
                  <a:pt x="8478" y="3405"/>
                  <a:pt x="11371" y="1726"/>
                </a:cubicBezTo>
                <a:lnTo>
                  <a:pt x="10383" y="0"/>
                </a:ln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1563;p39"/>
          <p:cNvSpPr/>
          <p:nvPr/>
        </p:nvSpPr>
        <p:spPr>
          <a:xfrm>
            <a:off x="6452541" y="3105177"/>
            <a:ext cx="444933" cy="693941"/>
          </a:xfrm>
          <a:custGeom>
            <a:avLst/>
            <a:gdLst/>
            <a:ahLst/>
            <a:cxnLst/>
            <a:rect l="l" t="t" r="r" b="b"/>
            <a:pathLst>
              <a:path w="11383" h="17980" extrusionOk="0">
                <a:moveTo>
                  <a:pt x="1000" y="1"/>
                </a:moveTo>
                <a:lnTo>
                  <a:pt x="0" y="1727"/>
                </a:lnTo>
                <a:cubicBezTo>
                  <a:pt x="2858" y="3370"/>
                  <a:pt x="5239" y="5740"/>
                  <a:pt x="6882" y="8585"/>
                </a:cubicBezTo>
                <a:cubicBezTo>
                  <a:pt x="8525" y="11443"/>
                  <a:pt x="9394" y="14681"/>
                  <a:pt x="9394" y="17979"/>
                </a:cubicBezTo>
                <a:lnTo>
                  <a:pt x="11383" y="17979"/>
                </a:lnTo>
                <a:cubicBezTo>
                  <a:pt x="11383" y="14336"/>
                  <a:pt x="10430" y="10752"/>
                  <a:pt x="8609" y="7597"/>
                </a:cubicBezTo>
                <a:cubicBezTo>
                  <a:pt x="6787" y="4442"/>
                  <a:pt x="4156" y="1811"/>
                  <a:pt x="1000" y="1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564;p39"/>
          <p:cNvSpPr/>
          <p:nvPr/>
        </p:nvSpPr>
        <p:spPr>
          <a:xfrm>
            <a:off x="5677200" y="2997612"/>
            <a:ext cx="814467" cy="175183"/>
          </a:xfrm>
          <a:custGeom>
            <a:avLst/>
            <a:gdLst/>
            <a:ahLst/>
            <a:cxnLst/>
            <a:rect l="l" t="t" r="r" b="b"/>
            <a:pathLst>
              <a:path w="20837" h="4539" extrusionOk="0">
                <a:moveTo>
                  <a:pt x="10411" y="1"/>
                </a:moveTo>
                <a:cubicBezTo>
                  <a:pt x="6788" y="1"/>
                  <a:pt x="3217" y="964"/>
                  <a:pt x="72" y="2776"/>
                </a:cubicBezTo>
                <a:lnTo>
                  <a:pt x="0" y="2824"/>
                </a:lnTo>
                <a:lnTo>
                  <a:pt x="551" y="3615"/>
                </a:lnTo>
                <a:lnTo>
                  <a:pt x="551" y="3615"/>
                </a:lnTo>
                <a:lnTo>
                  <a:pt x="1013" y="4538"/>
                </a:lnTo>
                <a:lnTo>
                  <a:pt x="1072" y="4502"/>
                </a:lnTo>
                <a:lnTo>
                  <a:pt x="1096" y="4479"/>
                </a:lnTo>
                <a:cubicBezTo>
                  <a:pt x="3950" y="2846"/>
                  <a:pt x="7186" y="1990"/>
                  <a:pt x="10462" y="1990"/>
                </a:cubicBezTo>
                <a:cubicBezTo>
                  <a:pt x="10507" y="1990"/>
                  <a:pt x="10552" y="1990"/>
                  <a:pt x="10597" y="1990"/>
                </a:cubicBezTo>
                <a:cubicBezTo>
                  <a:pt x="13836" y="2026"/>
                  <a:pt x="17026" y="2895"/>
                  <a:pt x="19836" y="4514"/>
                </a:cubicBezTo>
                <a:lnTo>
                  <a:pt x="20836" y="2788"/>
                </a:lnTo>
                <a:cubicBezTo>
                  <a:pt x="17729" y="1002"/>
                  <a:pt x="14193" y="38"/>
                  <a:pt x="10609" y="2"/>
                </a:cubicBezTo>
                <a:cubicBezTo>
                  <a:pt x="10543" y="1"/>
                  <a:pt x="10477" y="1"/>
                  <a:pt x="10411" y="1"/>
                </a:cubicBez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1565;p39"/>
          <p:cNvSpPr/>
          <p:nvPr/>
        </p:nvSpPr>
        <p:spPr>
          <a:xfrm>
            <a:off x="6085822" y="2577658"/>
            <a:ext cx="39" cy="3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close/>
              </a:path>
            </a:pathLst>
          </a:custGeom>
          <a:solidFill>
            <a:srgbClr val="FCC131"/>
          </a:solidFill>
          <a:ln w="66375" cap="flat" cmpd="sng">
            <a:solidFill>
              <a:srgbClr val="FCBD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" name="Google Shape;1567;p39"/>
          <p:cNvCxnSpPr/>
          <p:nvPr/>
        </p:nvCxnSpPr>
        <p:spPr>
          <a:xfrm>
            <a:off x="8017840" y="4756279"/>
            <a:ext cx="80489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60" name="Google Shape;1568;p39"/>
          <p:cNvSpPr/>
          <p:nvPr/>
        </p:nvSpPr>
        <p:spPr>
          <a:xfrm>
            <a:off x="6641959" y="3799080"/>
            <a:ext cx="806532" cy="1165844"/>
          </a:xfrm>
          <a:custGeom>
            <a:avLst/>
            <a:gdLst/>
            <a:ahLst/>
            <a:cxnLst/>
            <a:rect l="l" t="t" r="r" b="b"/>
            <a:pathLst>
              <a:path w="20634" h="30207" extrusionOk="0">
                <a:moveTo>
                  <a:pt x="14204" y="0"/>
                </a:moveTo>
                <a:cubicBezTo>
                  <a:pt x="14192" y="4906"/>
                  <a:pt x="12918" y="9763"/>
                  <a:pt x="10501" y="14038"/>
                </a:cubicBezTo>
                <a:cubicBezTo>
                  <a:pt x="8025" y="18431"/>
                  <a:pt x="4394" y="22098"/>
                  <a:pt x="0" y="24634"/>
                </a:cubicBezTo>
                <a:lnTo>
                  <a:pt x="3215" y="30206"/>
                </a:lnTo>
                <a:cubicBezTo>
                  <a:pt x="8596" y="27099"/>
                  <a:pt x="13061" y="22598"/>
                  <a:pt x="16097" y="17193"/>
                </a:cubicBezTo>
                <a:cubicBezTo>
                  <a:pt x="19062" y="11966"/>
                  <a:pt x="20622" y="6013"/>
                  <a:pt x="20634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1569;p39"/>
          <p:cNvSpPr/>
          <p:nvPr/>
        </p:nvSpPr>
        <p:spPr>
          <a:xfrm>
            <a:off x="7131530" y="4365657"/>
            <a:ext cx="659954" cy="434736"/>
          </a:xfrm>
          <a:custGeom>
            <a:avLst/>
            <a:gdLst/>
            <a:ahLst/>
            <a:cxnLst/>
            <a:rect l="l" t="t" r="r" b="b"/>
            <a:pathLst>
              <a:path w="16884" h="11264" extrusionOk="0">
                <a:moveTo>
                  <a:pt x="1322" y="1"/>
                </a:moveTo>
                <a:lnTo>
                  <a:pt x="1" y="2299"/>
                </a:lnTo>
                <a:lnTo>
                  <a:pt x="15550" y="11264"/>
                </a:lnTo>
                <a:lnTo>
                  <a:pt x="16884" y="8966"/>
                </a:lnTo>
                <a:lnTo>
                  <a:pt x="1322" y="1"/>
                </a:ln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1570;p39"/>
          <p:cNvSpPr/>
          <p:nvPr/>
        </p:nvSpPr>
        <p:spPr>
          <a:xfrm>
            <a:off x="7377273" y="4373492"/>
            <a:ext cx="775809" cy="766037"/>
          </a:xfrm>
          <a:custGeom>
            <a:avLst/>
            <a:gdLst/>
            <a:ahLst/>
            <a:cxnLst/>
            <a:rect l="l" t="t" r="r" b="b"/>
            <a:pathLst>
              <a:path w="19848" h="19848" extrusionOk="0">
                <a:moveTo>
                  <a:pt x="9918" y="0"/>
                </a:moveTo>
                <a:cubicBezTo>
                  <a:pt x="4453" y="0"/>
                  <a:pt x="0" y="4453"/>
                  <a:pt x="0" y="9930"/>
                </a:cubicBezTo>
                <a:cubicBezTo>
                  <a:pt x="0" y="15395"/>
                  <a:pt x="4453" y="19848"/>
                  <a:pt x="9918" y="19848"/>
                </a:cubicBezTo>
                <a:cubicBezTo>
                  <a:pt x="15395" y="19848"/>
                  <a:pt x="19848" y="15395"/>
                  <a:pt x="19848" y="9930"/>
                </a:cubicBezTo>
                <a:cubicBezTo>
                  <a:pt x="19848" y="4453"/>
                  <a:pt x="15395" y="0"/>
                  <a:pt x="9918" y="0"/>
                </a:cubicBezTo>
                <a:close/>
              </a:path>
            </a:pathLst>
          </a:custGeom>
          <a:solidFill>
            <a:srgbClr val="FCBD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1575;p39"/>
          <p:cNvSpPr txBox="1"/>
          <p:nvPr/>
        </p:nvSpPr>
        <p:spPr>
          <a:xfrm>
            <a:off x="8939196" y="4413691"/>
            <a:ext cx="2827435" cy="66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434343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Fira Sans Extra Condensed Medium"/>
                <a:sym typeface="Fira Sans Extra Condensed Medium"/>
              </a:rPr>
              <a:t>South Africa</a:t>
            </a:r>
            <a:endParaRPr sz="3200" b="1" dirty="0">
              <a:solidFill>
                <a:srgbClr val="434343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Fira Sans Extra Condensed Medium"/>
              <a:sym typeface="Fira Sans Extra Condensed Medium"/>
            </a:endParaRPr>
          </a:p>
        </p:txBody>
      </p:sp>
      <p:cxnSp>
        <p:nvCxnSpPr>
          <p:cNvPr id="70" name="Google Shape;1578;p39"/>
          <p:cNvCxnSpPr/>
          <p:nvPr/>
        </p:nvCxnSpPr>
        <p:spPr>
          <a:xfrm rot="10800000">
            <a:off x="3355949" y="5725211"/>
            <a:ext cx="247611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1" name="Google Shape;1579;p39"/>
          <p:cNvSpPr/>
          <p:nvPr/>
        </p:nvSpPr>
        <p:spPr>
          <a:xfrm>
            <a:off x="5404956" y="4749370"/>
            <a:ext cx="1369666" cy="395215"/>
          </a:xfrm>
          <a:custGeom>
            <a:avLst/>
            <a:gdLst/>
            <a:ahLst/>
            <a:cxnLst/>
            <a:rect l="l" t="t" r="r" b="b"/>
            <a:pathLst>
              <a:path w="35041" h="10240" extrusionOk="0">
                <a:moveTo>
                  <a:pt x="3203" y="0"/>
                </a:moveTo>
                <a:lnTo>
                  <a:pt x="0" y="5573"/>
                </a:lnTo>
                <a:cubicBezTo>
                  <a:pt x="5203" y="8573"/>
                  <a:pt x="11145" y="10180"/>
                  <a:pt x="17145" y="10240"/>
                </a:cubicBezTo>
                <a:lnTo>
                  <a:pt x="17479" y="10240"/>
                </a:lnTo>
                <a:cubicBezTo>
                  <a:pt x="23575" y="10240"/>
                  <a:pt x="29575" y="8632"/>
                  <a:pt x="34862" y="5584"/>
                </a:cubicBezTo>
                <a:lnTo>
                  <a:pt x="35040" y="5477"/>
                </a:lnTo>
                <a:lnTo>
                  <a:pt x="33243" y="2775"/>
                </a:lnTo>
                <a:lnTo>
                  <a:pt x="31647" y="12"/>
                </a:lnTo>
                <a:cubicBezTo>
                  <a:pt x="27331" y="2504"/>
                  <a:pt x="22440" y="3812"/>
                  <a:pt x="17483" y="3812"/>
                </a:cubicBezTo>
                <a:cubicBezTo>
                  <a:pt x="17394" y="3812"/>
                  <a:pt x="17305" y="3811"/>
                  <a:pt x="17217" y="3810"/>
                </a:cubicBezTo>
                <a:cubicBezTo>
                  <a:pt x="12299" y="3763"/>
                  <a:pt x="7454" y="2453"/>
                  <a:pt x="3203" y="0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1580;p39"/>
          <p:cNvSpPr/>
          <p:nvPr/>
        </p:nvSpPr>
        <p:spPr>
          <a:xfrm>
            <a:off x="6033679" y="5020501"/>
            <a:ext cx="104286" cy="693440"/>
          </a:xfrm>
          <a:custGeom>
            <a:avLst/>
            <a:gdLst/>
            <a:ahLst/>
            <a:cxnLst/>
            <a:rect l="l" t="t" r="r" b="b"/>
            <a:pathLst>
              <a:path w="2668" h="17967" extrusionOk="0">
                <a:moveTo>
                  <a:pt x="1" y="0"/>
                </a:moveTo>
                <a:lnTo>
                  <a:pt x="13" y="17967"/>
                </a:lnTo>
                <a:lnTo>
                  <a:pt x="2668" y="17955"/>
                </a:lnTo>
                <a:lnTo>
                  <a:pt x="2656" y="0"/>
                </a:ln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1581;p39"/>
          <p:cNvSpPr/>
          <p:nvPr/>
        </p:nvSpPr>
        <p:spPr>
          <a:xfrm>
            <a:off x="5697683" y="5330652"/>
            <a:ext cx="776278" cy="766076"/>
          </a:xfrm>
          <a:custGeom>
            <a:avLst/>
            <a:gdLst/>
            <a:ahLst/>
            <a:cxnLst/>
            <a:rect l="l" t="t" r="r" b="b"/>
            <a:pathLst>
              <a:path w="19860" h="19849" extrusionOk="0">
                <a:moveTo>
                  <a:pt x="9930" y="1"/>
                </a:moveTo>
                <a:cubicBezTo>
                  <a:pt x="4453" y="1"/>
                  <a:pt x="0" y="4454"/>
                  <a:pt x="0" y="9919"/>
                </a:cubicBezTo>
                <a:cubicBezTo>
                  <a:pt x="0" y="15396"/>
                  <a:pt x="4453" y="19848"/>
                  <a:pt x="9930" y="19848"/>
                </a:cubicBezTo>
                <a:cubicBezTo>
                  <a:pt x="15407" y="19848"/>
                  <a:pt x="19860" y="15396"/>
                  <a:pt x="19860" y="9919"/>
                </a:cubicBezTo>
                <a:cubicBezTo>
                  <a:pt x="19860" y="4454"/>
                  <a:pt x="15407" y="1"/>
                  <a:pt x="9930" y="1"/>
                </a:cubicBezTo>
                <a:close/>
              </a:path>
            </a:pathLst>
          </a:custGeom>
          <a:solidFill>
            <a:srgbClr val="5EB2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1585;p39"/>
          <p:cNvSpPr txBox="1"/>
          <p:nvPr/>
        </p:nvSpPr>
        <p:spPr>
          <a:xfrm>
            <a:off x="517121" y="5350245"/>
            <a:ext cx="2807266" cy="66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3200" b="1" dirty="0">
                <a:solidFill>
                  <a:srgbClr val="434343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Fira Sans Extra Condensed Medium"/>
                <a:sym typeface="Fira Sans Extra Condensed Medium"/>
              </a:rPr>
              <a:t>Australia</a:t>
            </a:r>
            <a:endParaRPr sz="3200" b="1" dirty="0">
              <a:solidFill>
                <a:srgbClr val="434343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Fira Sans Extra Condensed Medium"/>
              <a:sym typeface="Fira Sans Extra Condensed Medium"/>
            </a:endParaRPr>
          </a:p>
        </p:txBody>
      </p:sp>
      <p:sp>
        <p:nvSpPr>
          <p:cNvPr id="80" name="Google Shape;1588;p39"/>
          <p:cNvSpPr/>
          <p:nvPr/>
        </p:nvSpPr>
        <p:spPr>
          <a:xfrm>
            <a:off x="8016237" y="2843559"/>
            <a:ext cx="804929" cy="476921"/>
          </a:xfrm>
          <a:custGeom>
            <a:avLst/>
            <a:gdLst/>
            <a:ahLst/>
            <a:cxnLst/>
            <a:rect l="l" t="t" r="r" b="b"/>
            <a:pathLst>
              <a:path w="20593" h="12357" extrusionOk="0">
                <a:moveTo>
                  <a:pt x="0" y="0"/>
                </a:moveTo>
                <a:lnTo>
                  <a:pt x="9463" y="0"/>
                </a:lnTo>
                <a:lnTo>
                  <a:pt x="9463" y="12357"/>
                </a:lnTo>
                <a:lnTo>
                  <a:pt x="20593" y="12357"/>
                </a:ln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81" name="Google Shape;1589;p39"/>
          <p:cNvSpPr/>
          <p:nvPr/>
        </p:nvSpPr>
        <p:spPr>
          <a:xfrm>
            <a:off x="6641490" y="2633737"/>
            <a:ext cx="807470" cy="1165382"/>
          </a:xfrm>
          <a:custGeom>
            <a:avLst/>
            <a:gdLst/>
            <a:ahLst/>
            <a:cxnLst/>
            <a:rect l="l" t="t" r="r" b="b"/>
            <a:pathLst>
              <a:path w="20658" h="30195" extrusionOk="0">
                <a:moveTo>
                  <a:pt x="3203" y="0"/>
                </a:moveTo>
                <a:lnTo>
                  <a:pt x="0" y="5572"/>
                </a:lnTo>
                <a:cubicBezTo>
                  <a:pt x="4322" y="8061"/>
                  <a:pt x="7930" y="11656"/>
                  <a:pt x="10418" y="15978"/>
                </a:cubicBezTo>
                <a:cubicBezTo>
                  <a:pt x="12907" y="20288"/>
                  <a:pt x="14228" y="25206"/>
                  <a:pt x="14216" y="30194"/>
                </a:cubicBezTo>
                <a:lnTo>
                  <a:pt x="20646" y="30194"/>
                </a:lnTo>
                <a:cubicBezTo>
                  <a:pt x="20658" y="24086"/>
                  <a:pt x="19050" y="18050"/>
                  <a:pt x="15990" y="12764"/>
                </a:cubicBezTo>
                <a:cubicBezTo>
                  <a:pt x="12930" y="7465"/>
                  <a:pt x="8513" y="3048"/>
                  <a:pt x="3203" y="0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1590;p39"/>
          <p:cNvSpPr/>
          <p:nvPr/>
        </p:nvSpPr>
        <p:spPr>
          <a:xfrm>
            <a:off x="7131999" y="2797304"/>
            <a:ext cx="659485" cy="435199"/>
          </a:xfrm>
          <a:custGeom>
            <a:avLst/>
            <a:gdLst/>
            <a:ahLst/>
            <a:cxnLst/>
            <a:rect l="l" t="t" r="r" b="b"/>
            <a:pathLst>
              <a:path w="16872" h="11276" extrusionOk="0">
                <a:moveTo>
                  <a:pt x="15538" y="1"/>
                </a:moveTo>
                <a:lnTo>
                  <a:pt x="0" y="8978"/>
                </a:lnTo>
                <a:lnTo>
                  <a:pt x="1334" y="11276"/>
                </a:lnTo>
                <a:lnTo>
                  <a:pt x="16872" y="2299"/>
                </a:lnTo>
                <a:lnTo>
                  <a:pt x="15538" y="1"/>
                </a:ln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1591;p39"/>
          <p:cNvSpPr/>
          <p:nvPr/>
        </p:nvSpPr>
        <p:spPr>
          <a:xfrm>
            <a:off x="7377274" y="2458631"/>
            <a:ext cx="775809" cy="766076"/>
          </a:xfrm>
          <a:custGeom>
            <a:avLst/>
            <a:gdLst/>
            <a:ahLst/>
            <a:cxnLst/>
            <a:rect l="l" t="t" r="r" b="b"/>
            <a:pathLst>
              <a:path w="19848" h="19849" extrusionOk="0">
                <a:moveTo>
                  <a:pt x="9918" y="1"/>
                </a:moveTo>
                <a:cubicBezTo>
                  <a:pt x="4453" y="1"/>
                  <a:pt x="0" y="4454"/>
                  <a:pt x="0" y="9931"/>
                </a:cubicBezTo>
                <a:cubicBezTo>
                  <a:pt x="0" y="15396"/>
                  <a:pt x="4453" y="19849"/>
                  <a:pt x="9918" y="19849"/>
                </a:cubicBezTo>
                <a:cubicBezTo>
                  <a:pt x="15395" y="19849"/>
                  <a:pt x="19848" y="15396"/>
                  <a:pt x="19848" y="9931"/>
                </a:cubicBezTo>
                <a:cubicBezTo>
                  <a:pt x="19848" y="4454"/>
                  <a:pt x="15395" y="1"/>
                  <a:pt x="9918" y="1"/>
                </a:cubicBezTo>
                <a:close/>
              </a:path>
            </a:pathLst>
          </a:custGeom>
          <a:solidFill>
            <a:srgbClr val="869FB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1594;p39"/>
          <p:cNvSpPr txBox="1"/>
          <p:nvPr/>
        </p:nvSpPr>
        <p:spPr>
          <a:xfrm>
            <a:off x="8939195" y="2988870"/>
            <a:ext cx="2827435" cy="66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3200" b="1" dirty="0">
                <a:solidFill>
                  <a:srgbClr val="434343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Fira Sans Extra Condensed Medium"/>
                <a:sym typeface="Fira Sans Extra Condensed Medium"/>
              </a:rPr>
              <a:t>Canadian</a:t>
            </a:r>
            <a:endParaRPr sz="3200" b="1" dirty="0">
              <a:solidFill>
                <a:srgbClr val="434343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Fira Sans Extra Condensed Medium"/>
              <a:sym typeface="Fira Sans Extra Condensed Medium"/>
            </a:endParaRPr>
          </a:p>
        </p:txBody>
      </p:sp>
      <p:cxnSp>
        <p:nvCxnSpPr>
          <p:cNvPr id="89" name="Google Shape;1597;p39"/>
          <p:cNvCxnSpPr/>
          <p:nvPr/>
        </p:nvCxnSpPr>
        <p:spPr>
          <a:xfrm rot="10800000">
            <a:off x="3355910" y="2853439"/>
            <a:ext cx="80489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90" name="Google Shape;1598;p39"/>
          <p:cNvSpPr/>
          <p:nvPr/>
        </p:nvSpPr>
        <p:spPr>
          <a:xfrm>
            <a:off x="4723152" y="2633274"/>
            <a:ext cx="806571" cy="1166307"/>
          </a:xfrm>
          <a:custGeom>
            <a:avLst/>
            <a:gdLst/>
            <a:ahLst/>
            <a:cxnLst/>
            <a:rect l="l" t="t" r="r" b="b"/>
            <a:pathLst>
              <a:path w="20635" h="30219" extrusionOk="0">
                <a:moveTo>
                  <a:pt x="17420" y="0"/>
                </a:moveTo>
                <a:cubicBezTo>
                  <a:pt x="12038" y="3120"/>
                  <a:pt x="7585" y="7608"/>
                  <a:pt x="4537" y="13014"/>
                </a:cubicBezTo>
                <a:cubicBezTo>
                  <a:pt x="1584" y="18252"/>
                  <a:pt x="13" y="24194"/>
                  <a:pt x="1" y="30206"/>
                </a:cubicBezTo>
                <a:lnTo>
                  <a:pt x="6430" y="30218"/>
                </a:lnTo>
                <a:cubicBezTo>
                  <a:pt x="6442" y="25301"/>
                  <a:pt x="7716" y="20443"/>
                  <a:pt x="10133" y="16169"/>
                </a:cubicBezTo>
                <a:cubicBezTo>
                  <a:pt x="12609" y="11775"/>
                  <a:pt x="16253" y="8108"/>
                  <a:pt x="20634" y="5572"/>
                </a:cubicBezTo>
                <a:lnTo>
                  <a:pt x="17420" y="0"/>
                </a:ln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1599;p39"/>
          <p:cNvSpPr/>
          <p:nvPr/>
        </p:nvSpPr>
        <p:spPr>
          <a:xfrm>
            <a:off x="4381097" y="2797766"/>
            <a:ext cx="654364" cy="431996"/>
          </a:xfrm>
          <a:custGeom>
            <a:avLst/>
            <a:gdLst/>
            <a:ahLst/>
            <a:cxnLst/>
            <a:rect l="l" t="t" r="r" b="b"/>
            <a:pathLst>
              <a:path w="16741" h="11193" extrusionOk="0">
                <a:moveTo>
                  <a:pt x="1322" y="1"/>
                </a:moveTo>
                <a:lnTo>
                  <a:pt x="1" y="2299"/>
                </a:lnTo>
                <a:lnTo>
                  <a:pt x="15407" y="11193"/>
                </a:lnTo>
                <a:lnTo>
                  <a:pt x="16741" y="8895"/>
                </a:lnTo>
                <a:lnTo>
                  <a:pt x="1322" y="1"/>
                </a:ln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1600;p39"/>
          <p:cNvSpPr/>
          <p:nvPr/>
        </p:nvSpPr>
        <p:spPr>
          <a:xfrm>
            <a:off x="4018560" y="2458630"/>
            <a:ext cx="775848" cy="766076"/>
          </a:xfrm>
          <a:custGeom>
            <a:avLst/>
            <a:gdLst/>
            <a:ahLst/>
            <a:cxnLst/>
            <a:rect l="l" t="t" r="r" b="b"/>
            <a:pathLst>
              <a:path w="19849" h="19849" extrusionOk="0">
                <a:moveTo>
                  <a:pt x="9930" y="1"/>
                </a:moveTo>
                <a:cubicBezTo>
                  <a:pt x="4454" y="1"/>
                  <a:pt x="1" y="4454"/>
                  <a:pt x="1" y="9931"/>
                </a:cubicBezTo>
                <a:cubicBezTo>
                  <a:pt x="1" y="15396"/>
                  <a:pt x="4454" y="19849"/>
                  <a:pt x="9930" y="19849"/>
                </a:cubicBezTo>
                <a:cubicBezTo>
                  <a:pt x="15395" y="19849"/>
                  <a:pt x="19848" y="15396"/>
                  <a:pt x="19848" y="9931"/>
                </a:cubicBezTo>
                <a:cubicBezTo>
                  <a:pt x="19848" y="4454"/>
                  <a:pt x="15395" y="1"/>
                  <a:pt x="9930" y="1"/>
                </a:cubicBezTo>
                <a:close/>
              </a:path>
            </a:pathLst>
          </a:custGeom>
          <a:solidFill>
            <a:srgbClr val="69E7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1604;p39"/>
          <p:cNvSpPr txBox="1"/>
          <p:nvPr/>
        </p:nvSpPr>
        <p:spPr>
          <a:xfrm>
            <a:off x="550788" y="2509576"/>
            <a:ext cx="2807266" cy="66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 sz="3200" b="1" dirty="0">
                <a:solidFill>
                  <a:srgbClr val="434343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Fira Sans Extra Condensed Medium"/>
                <a:sym typeface="Fira Sans Extra Condensed Medium"/>
              </a:rPr>
              <a:t>British</a:t>
            </a:r>
            <a:endParaRPr sz="3200" b="1" dirty="0">
              <a:solidFill>
                <a:srgbClr val="434343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Fira Sans Extra Condensed Medium"/>
              <a:sym typeface="Fira Sans Extra Condensed Medium"/>
            </a:endParaRPr>
          </a:p>
        </p:txBody>
      </p:sp>
      <p:cxnSp>
        <p:nvCxnSpPr>
          <p:cNvPr id="99" name="Google Shape;1607;p39"/>
          <p:cNvCxnSpPr/>
          <p:nvPr/>
        </p:nvCxnSpPr>
        <p:spPr>
          <a:xfrm>
            <a:off x="6346575" y="1884508"/>
            <a:ext cx="2476116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00" name="Google Shape;1608;p39"/>
          <p:cNvSpPr/>
          <p:nvPr/>
        </p:nvSpPr>
        <p:spPr>
          <a:xfrm>
            <a:off x="5393308" y="2453536"/>
            <a:ext cx="1373379" cy="399885"/>
          </a:xfrm>
          <a:custGeom>
            <a:avLst/>
            <a:gdLst/>
            <a:ahLst/>
            <a:cxnLst/>
            <a:rect l="l" t="t" r="r" b="b"/>
            <a:pathLst>
              <a:path w="35136" h="10361" extrusionOk="0">
                <a:moveTo>
                  <a:pt x="17658" y="0"/>
                </a:moveTo>
                <a:cubicBezTo>
                  <a:pt x="11569" y="0"/>
                  <a:pt x="5572" y="1605"/>
                  <a:pt x="286" y="4657"/>
                </a:cubicBezTo>
                <a:lnTo>
                  <a:pt x="286" y="4669"/>
                </a:lnTo>
                <a:lnTo>
                  <a:pt x="1" y="4848"/>
                </a:lnTo>
                <a:lnTo>
                  <a:pt x="1894" y="7455"/>
                </a:lnTo>
                <a:lnTo>
                  <a:pt x="3239" y="10360"/>
                </a:lnTo>
                <a:lnTo>
                  <a:pt x="3370" y="10301"/>
                </a:lnTo>
                <a:lnTo>
                  <a:pt x="3489" y="10229"/>
                </a:lnTo>
                <a:cubicBezTo>
                  <a:pt x="7805" y="7738"/>
                  <a:pt x="12696" y="6430"/>
                  <a:pt x="17665" y="6430"/>
                </a:cubicBezTo>
                <a:cubicBezTo>
                  <a:pt x="17754" y="6430"/>
                  <a:pt x="17843" y="6430"/>
                  <a:pt x="17931" y="6431"/>
                </a:cubicBezTo>
                <a:cubicBezTo>
                  <a:pt x="22837" y="6479"/>
                  <a:pt x="27683" y="7800"/>
                  <a:pt x="31933" y="10241"/>
                </a:cubicBezTo>
                <a:lnTo>
                  <a:pt x="35136" y="4669"/>
                </a:lnTo>
                <a:cubicBezTo>
                  <a:pt x="29933" y="1669"/>
                  <a:pt x="24004" y="61"/>
                  <a:pt x="17991" y="2"/>
                </a:cubicBezTo>
                <a:cubicBezTo>
                  <a:pt x="17880" y="1"/>
                  <a:pt x="17769" y="0"/>
                  <a:pt x="17658" y="0"/>
                </a:cubicBez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609;p39"/>
          <p:cNvSpPr/>
          <p:nvPr/>
        </p:nvSpPr>
        <p:spPr>
          <a:xfrm>
            <a:off x="5697683" y="1501470"/>
            <a:ext cx="776278" cy="766037"/>
          </a:xfrm>
          <a:custGeom>
            <a:avLst/>
            <a:gdLst/>
            <a:ahLst/>
            <a:cxnLst/>
            <a:rect l="l" t="t" r="r" b="b"/>
            <a:pathLst>
              <a:path w="19860" h="19848" extrusionOk="0">
                <a:moveTo>
                  <a:pt x="9930" y="0"/>
                </a:moveTo>
                <a:cubicBezTo>
                  <a:pt x="4453" y="0"/>
                  <a:pt x="0" y="4453"/>
                  <a:pt x="0" y="9930"/>
                </a:cubicBezTo>
                <a:cubicBezTo>
                  <a:pt x="0" y="15395"/>
                  <a:pt x="4453" y="19848"/>
                  <a:pt x="9930" y="19848"/>
                </a:cubicBezTo>
                <a:cubicBezTo>
                  <a:pt x="15407" y="19848"/>
                  <a:pt x="19860" y="15395"/>
                  <a:pt x="19860" y="9930"/>
                </a:cubicBezTo>
                <a:cubicBezTo>
                  <a:pt x="19860" y="4453"/>
                  <a:pt x="15407" y="0"/>
                  <a:pt x="9930" y="0"/>
                </a:cubicBez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610;p39"/>
          <p:cNvSpPr/>
          <p:nvPr/>
        </p:nvSpPr>
        <p:spPr>
          <a:xfrm>
            <a:off x="6085822" y="1884682"/>
            <a:ext cx="39" cy="39"/>
          </a:xfrm>
          <a:custGeom>
            <a:avLst/>
            <a:gdLst/>
            <a:ahLst/>
            <a:cxnLst/>
            <a:rect l="l" t="t" r="r" b="b"/>
            <a:pathLst>
              <a:path w="1" h="1" extrusionOk="0">
                <a:moveTo>
                  <a:pt x="0" y="1"/>
                </a:moveTo>
                <a:close/>
              </a:path>
            </a:pathLst>
          </a:custGeom>
          <a:solidFill>
            <a:srgbClr val="FCC131"/>
          </a:solidFill>
          <a:ln w="66375" cap="flat" cmpd="sng">
            <a:solidFill>
              <a:srgbClr val="FCBD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611;p39"/>
          <p:cNvSpPr/>
          <p:nvPr/>
        </p:nvSpPr>
        <p:spPr>
          <a:xfrm>
            <a:off x="6033679" y="1884682"/>
            <a:ext cx="103816" cy="693015"/>
          </a:xfrm>
          <a:custGeom>
            <a:avLst/>
            <a:gdLst/>
            <a:ahLst/>
            <a:cxnLst/>
            <a:rect l="l" t="t" r="r" b="b"/>
            <a:pathLst>
              <a:path w="2656" h="17956" extrusionOk="0">
                <a:moveTo>
                  <a:pt x="1" y="1"/>
                </a:moveTo>
                <a:lnTo>
                  <a:pt x="1" y="17956"/>
                </a:lnTo>
                <a:lnTo>
                  <a:pt x="2656" y="17956"/>
                </a:lnTo>
                <a:lnTo>
                  <a:pt x="2656" y="1"/>
                </a:lnTo>
                <a:close/>
              </a:path>
            </a:pathLst>
          </a:custGeom>
          <a:solidFill>
            <a:srgbClr val="EC3A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615;p39"/>
          <p:cNvSpPr txBox="1"/>
          <p:nvPr/>
        </p:nvSpPr>
        <p:spPr>
          <a:xfrm>
            <a:off x="8939195" y="1531709"/>
            <a:ext cx="2827435" cy="66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434343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Fira Sans Extra Condensed Medium"/>
                <a:sym typeface="Fira Sans Extra Condensed Medium"/>
              </a:rPr>
              <a:t>Irish</a:t>
            </a:r>
            <a:endParaRPr sz="3200" b="1" dirty="0">
              <a:solidFill>
                <a:srgbClr val="434343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Fira Sans Extra Condensed Medium"/>
              <a:sym typeface="Fira Sans Extra Condensed Medium"/>
            </a:endParaRPr>
          </a:p>
        </p:txBody>
      </p:sp>
      <p:sp>
        <p:nvSpPr>
          <p:cNvPr id="109" name="Google Shape;1617;p39"/>
          <p:cNvSpPr/>
          <p:nvPr/>
        </p:nvSpPr>
        <p:spPr>
          <a:xfrm rot="10800000">
            <a:off x="3357473" y="4289239"/>
            <a:ext cx="804929" cy="476921"/>
          </a:xfrm>
          <a:custGeom>
            <a:avLst/>
            <a:gdLst/>
            <a:ahLst/>
            <a:cxnLst/>
            <a:rect l="l" t="t" r="r" b="b"/>
            <a:pathLst>
              <a:path w="20593" h="12357" extrusionOk="0">
                <a:moveTo>
                  <a:pt x="0" y="0"/>
                </a:moveTo>
                <a:lnTo>
                  <a:pt x="9463" y="0"/>
                </a:lnTo>
                <a:lnTo>
                  <a:pt x="9463" y="12357"/>
                </a:lnTo>
                <a:lnTo>
                  <a:pt x="20593" y="12357"/>
                </a:lnTo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oval" w="med" len="med"/>
          </a:ln>
        </p:spPr>
      </p:sp>
      <p:sp>
        <p:nvSpPr>
          <p:cNvPr id="110" name="Google Shape;1618;p39"/>
          <p:cNvSpPr/>
          <p:nvPr/>
        </p:nvSpPr>
        <p:spPr>
          <a:xfrm>
            <a:off x="4722683" y="3799080"/>
            <a:ext cx="807509" cy="1165381"/>
          </a:xfrm>
          <a:custGeom>
            <a:avLst/>
            <a:gdLst/>
            <a:ahLst/>
            <a:cxnLst/>
            <a:rect l="l" t="t" r="r" b="b"/>
            <a:pathLst>
              <a:path w="20659" h="30195" extrusionOk="0">
                <a:moveTo>
                  <a:pt x="13" y="0"/>
                </a:moveTo>
                <a:lnTo>
                  <a:pt x="13" y="0"/>
                </a:lnTo>
                <a:cubicBezTo>
                  <a:pt x="1" y="6120"/>
                  <a:pt x="1620" y="12145"/>
                  <a:pt x="4668" y="17443"/>
                </a:cubicBezTo>
                <a:cubicBezTo>
                  <a:pt x="7728" y="22729"/>
                  <a:pt x="12145" y="27147"/>
                  <a:pt x="17455" y="30195"/>
                </a:cubicBezTo>
                <a:lnTo>
                  <a:pt x="20658" y="24622"/>
                </a:lnTo>
                <a:cubicBezTo>
                  <a:pt x="16336" y="22134"/>
                  <a:pt x="12729" y="18538"/>
                  <a:pt x="10240" y="14228"/>
                </a:cubicBezTo>
                <a:cubicBezTo>
                  <a:pt x="7752" y="9906"/>
                  <a:pt x="6430" y="4989"/>
                  <a:pt x="6442" y="12"/>
                </a:cubicBezTo>
                <a:lnTo>
                  <a:pt x="13" y="0"/>
                </a:ln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619;p39"/>
          <p:cNvSpPr/>
          <p:nvPr/>
        </p:nvSpPr>
        <p:spPr>
          <a:xfrm>
            <a:off x="4018560" y="4373029"/>
            <a:ext cx="775848" cy="766500"/>
          </a:xfrm>
          <a:custGeom>
            <a:avLst/>
            <a:gdLst/>
            <a:ahLst/>
            <a:cxnLst/>
            <a:rect l="l" t="t" r="r" b="b"/>
            <a:pathLst>
              <a:path w="19849" h="19860" extrusionOk="0">
                <a:moveTo>
                  <a:pt x="9930" y="0"/>
                </a:moveTo>
                <a:cubicBezTo>
                  <a:pt x="4454" y="0"/>
                  <a:pt x="1" y="4453"/>
                  <a:pt x="1" y="9930"/>
                </a:cubicBezTo>
                <a:cubicBezTo>
                  <a:pt x="1" y="15407"/>
                  <a:pt x="4454" y="19860"/>
                  <a:pt x="9930" y="19860"/>
                </a:cubicBezTo>
                <a:cubicBezTo>
                  <a:pt x="15395" y="19860"/>
                  <a:pt x="19848" y="15407"/>
                  <a:pt x="19848" y="9930"/>
                </a:cubicBezTo>
                <a:cubicBezTo>
                  <a:pt x="19848" y="4453"/>
                  <a:pt x="15395" y="0"/>
                  <a:pt x="9930" y="0"/>
                </a:cubicBez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620;p39"/>
          <p:cNvSpPr/>
          <p:nvPr/>
        </p:nvSpPr>
        <p:spPr>
          <a:xfrm>
            <a:off x="4381097" y="4365657"/>
            <a:ext cx="659485" cy="435199"/>
          </a:xfrm>
          <a:custGeom>
            <a:avLst/>
            <a:gdLst/>
            <a:ahLst/>
            <a:cxnLst/>
            <a:rect l="l" t="t" r="r" b="b"/>
            <a:pathLst>
              <a:path w="16872" h="11276" extrusionOk="0">
                <a:moveTo>
                  <a:pt x="15538" y="1"/>
                </a:moveTo>
                <a:lnTo>
                  <a:pt x="1" y="8978"/>
                </a:lnTo>
                <a:lnTo>
                  <a:pt x="1334" y="11276"/>
                </a:lnTo>
                <a:lnTo>
                  <a:pt x="16872" y="2299"/>
                </a:lnTo>
                <a:lnTo>
                  <a:pt x="15538" y="1"/>
                </a:lnTo>
                <a:close/>
              </a:path>
            </a:pathLst>
          </a:custGeom>
          <a:solidFill>
            <a:srgbClr val="4949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626;p39"/>
          <p:cNvSpPr txBox="1"/>
          <p:nvPr/>
        </p:nvSpPr>
        <p:spPr>
          <a:xfrm>
            <a:off x="425356" y="3957629"/>
            <a:ext cx="2807266" cy="66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434343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Fira Sans Extra Condensed Medium"/>
                <a:sym typeface="Fira Sans Extra Condensed Medium"/>
              </a:rPr>
              <a:t>USA</a:t>
            </a:r>
            <a:endParaRPr sz="3200" b="1" dirty="0">
              <a:solidFill>
                <a:srgbClr val="434343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Fira Sans Extra Condensed Medium"/>
              <a:sym typeface="Fira Sans Extra Condensed Medium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683" y="1501007"/>
            <a:ext cx="754857" cy="7246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65587" y="2474296"/>
            <a:ext cx="787495" cy="7146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170" y="4403905"/>
            <a:ext cx="756000" cy="68279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26" name="Picture 2" descr="https://www.worldometers.info/img/flags/as-flag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527" y="5350245"/>
            <a:ext cx="772995" cy="7146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89" y="2495721"/>
            <a:ext cx="886056" cy="6951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560" y="4396167"/>
            <a:ext cx="804260" cy="7202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3" name="Rectangle 62"/>
          <p:cNvSpPr/>
          <p:nvPr/>
        </p:nvSpPr>
        <p:spPr>
          <a:xfrm>
            <a:off x="2810848" y="859681"/>
            <a:ext cx="6528525" cy="461665"/>
          </a:xfrm>
          <a:prstGeom prst="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206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Constitution of India – Major Features</a:t>
            </a:r>
            <a:endParaRPr lang="en-IN" sz="2400" b="1" u="sng" dirty="0">
              <a:solidFill>
                <a:srgbClr val="002060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88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7" grpId="0"/>
      <p:bldP spid="86" grpId="0"/>
      <p:bldP spid="96" grpId="0"/>
      <p:bldP spid="107" grpId="0"/>
      <p:bldP spid="118" grpId="0"/>
      <p:bldP spid="6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Details on Indian Constitution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164D47-0CF0-8C47-3E3C-97DED1E1E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431954"/>
              </p:ext>
            </p:extLst>
          </p:nvPr>
        </p:nvGraphicFramePr>
        <p:xfrm>
          <a:off x="532666" y="768118"/>
          <a:ext cx="11126667" cy="528333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89100">
                  <a:extLst>
                    <a:ext uri="{9D8B030D-6E8A-4147-A177-3AD203B41FA5}">
                      <a16:colId xmlns:a16="http://schemas.microsoft.com/office/drawing/2014/main" val="349542693"/>
                    </a:ext>
                  </a:extLst>
                </a:gridCol>
                <a:gridCol w="8537567">
                  <a:extLst>
                    <a:ext uri="{9D8B030D-6E8A-4147-A177-3AD203B41FA5}">
                      <a16:colId xmlns:a16="http://schemas.microsoft.com/office/drawing/2014/main" val="2159785764"/>
                    </a:ext>
                  </a:extLst>
                </a:gridCol>
              </a:tblGrid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solidFill>
                            <a:sysClr val="windowText" lastClr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Topic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IN" sz="1550" b="1" dirty="0">
                          <a:solidFill>
                            <a:sysClr val="windowText" lastClr="000000"/>
                          </a:solidFill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Details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400606501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Adoption Date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26</a:t>
                      </a:r>
                      <a:r>
                        <a:rPr lang="en-IN" sz="1550" b="0" baseline="300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th</a:t>
                      </a:r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 November 1949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3121206884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Effective Date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26</a:t>
                      </a:r>
                      <a:r>
                        <a:rPr lang="en-IN" sz="1550" b="0" baseline="3000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th</a:t>
                      </a:r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 January 1950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904414140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Drafting Body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Constituent Assembly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540706664"/>
                  </a:ext>
                </a:extLst>
              </a:tr>
              <a:tr h="511028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Chairman of Drafting Committee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IN" sz="1550" b="0" dirty="0" err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Dr.</a:t>
                      </a:r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 B.R. Ambedkar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852307615"/>
                  </a:ext>
                </a:extLst>
              </a:tr>
              <a:tr h="511028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Key Contributors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IN" sz="1550" b="0" dirty="0" err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Dr.</a:t>
                      </a:r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 B.R. Ambedkar, </a:t>
                      </a:r>
                      <a:r>
                        <a:rPr lang="en-IN" sz="1550" b="0" dirty="0" err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Dr.</a:t>
                      </a:r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 Rajendra Prasad, Jawaharlal Nehru, Sardar Vallabhbhai Patel, </a:t>
                      </a:r>
                      <a:r>
                        <a:rPr lang="en-IN" sz="1550" b="0" dirty="0" err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Alladi</a:t>
                      </a:r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 Krishnaswamy </a:t>
                      </a:r>
                      <a:r>
                        <a:rPr lang="en-IN" sz="1550" b="0" dirty="0" err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Iyer</a:t>
                      </a:r>
                      <a:r>
                        <a:rPr lang="en-IN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, K.M. Munshi, B.N. Rau (Constitutional Advisor), and H.C. Mookerjee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454270010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Total Articles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395 articles at adoption (currently around 470)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563503321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Schedules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8 schedules at adoption (currently 12)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33544250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Parts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25 parts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190801329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Language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Written in English and Hindi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976025930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Longest Written Constitution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Yes, it’s the longest written constitution in the world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520026061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Fundamental Rights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6 fundamental rights guaranteed to all citizens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217335187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Directive Principles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Guidelines for government to create a fair society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474216590"/>
                  </a:ext>
                </a:extLst>
              </a:tr>
              <a:tr h="282193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Amendments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105 amendments as of 2023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359673990"/>
                  </a:ext>
                </a:extLst>
              </a:tr>
              <a:tr h="366347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Unique Feature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Mix of principles from British, American, Irish, and other constitutions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75534005"/>
                  </a:ext>
                </a:extLst>
              </a:tr>
              <a:tr h="366347">
                <a:tc>
                  <a:txBody>
                    <a:bodyPr/>
                    <a:lstStyle/>
                    <a:p>
                      <a:r>
                        <a:rPr lang="en-IN" sz="1550" b="1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Federal Structure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r>
                        <a:rPr lang="en-US" sz="1550" b="0" dirty="0">
                          <a:latin typeface="Roboto Condensed" panose="02000000000000000000" pitchFamily="2" charset="0"/>
                          <a:ea typeface="Roboto Condensed" panose="02000000000000000000" pitchFamily="2" charset="0"/>
                          <a:cs typeface="Roboto Condensed" panose="02000000000000000000" pitchFamily="2" charset="0"/>
                        </a:rPr>
                        <a:t>Union of states with power divided between the center and states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078961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60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Constitution of India – Major Features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95" name="Slide Number Placeholder 3">
            <a:extLst>
              <a:ext uri="{FF2B5EF4-FFF2-40B4-BE49-F238E27FC236}">
                <a16:creationId xmlns:a16="http://schemas.microsoft.com/office/drawing/2014/main" id="{EB84FF8F-3945-4470-AA0F-BAC7CA63A379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"/>
              </a:rPr>
              <a:pPr/>
              <a:t>34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  <a:latin typeface="Roboto Condensed"/>
            </a:endParaRPr>
          </a:p>
        </p:txBody>
      </p:sp>
      <p:grpSp>
        <p:nvGrpSpPr>
          <p:cNvPr id="96" name="Google Shape;276;p18"/>
          <p:cNvGrpSpPr/>
          <p:nvPr/>
        </p:nvGrpSpPr>
        <p:grpSpPr>
          <a:xfrm>
            <a:off x="638612" y="1034990"/>
            <a:ext cx="10672266" cy="512260"/>
            <a:chOff x="745050" y="1313180"/>
            <a:chExt cx="7723500" cy="642300"/>
          </a:xfrm>
        </p:grpSpPr>
        <p:sp>
          <p:nvSpPr>
            <p:cNvPr id="97" name="Google Shape;277;p18"/>
            <p:cNvSpPr/>
            <p:nvPr/>
          </p:nvSpPr>
          <p:spPr>
            <a:xfrm>
              <a:off x="2264625" y="1346350"/>
              <a:ext cx="49194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98" name="Google Shape;278;p18"/>
            <p:cNvSpPr/>
            <p:nvPr/>
          </p:nvSpPr>
          <p:spPr>
            <a:xfrm>
              <a:off x="745050" y="1346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1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9" name="Google Shape;279;p18"/>
            <p:cNvSpPr/>
            <p:nvPr/>
          </p:nvSpPr>
          <p:spPr>
            <a:xfrm>
              <a:off x="7826250" y="1313180"/>
              <a:ext cx="642300" cy="642300"/>
            </a:xfrm>
            <a:prstGeom prst="roundRect">
              <a:avLst>
                <a:gd name="adj" fmla="val 50000"/>
              </a:avLst>
            </a:pr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00" name="Google Shape;280;p18"/>
            <p:cNvSpPr txBox="1"/>
            <p:nvPr/>
          </p:nvSpPr>
          <p:spPr>
            <a:xfrm>
              <a:off x="2923975" y="1458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Written Constitution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1" name="Google Shape;281;p18"/>
            <p:cNvSpPr txBox="1"/>
            <p:nvPr/>
          </p:nvSpPr>
          <p:spPr>
            <a:xfrm>
              <a:off x="4364400" y="1346350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Adopted on November 26, 1949</a:t>
              </a: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2" name="Google Shape;282;p18"/>
            <p:cNvCxnSpPr>
              <a:stCxn id="97" idx="3"/>
              <a:endCxn id="99" idx="1"/>
            </p:cNvCxnSpPr>
            <p:nvPr/>
          </p:nvCxnSpPr>
          <p:spPr>
            <a:xfrm>
              <a:off x="7184025" y="1632700"/>
              <a:ext cx="642300" cy="150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" name="Google Shape;283;p18"/>
          <p:cNvGrpSpPr/>
          <p:nvPr/>
        </p:nvGrpSpPr>
        <p:grpSpPr>
          <a:xfrm>
            <a:off x="599906" y="1936780"/>
            <a:ext cx="10652294" cy="753085"/>
            <a:chOff x="745050" y="1637792"/>
            <a:chExt cx="7653900" cy="944258"/>
          </a:xfrm>
        </p:grpSpPr>
        <p:sp>
          <p:nvSpPr>
            <p:cNvPr id="104" name="Google Shape;284;p18"/>
            <p:cNvSpPr/>
            <p:nvPr/>
          </p:nvSpPr>
          <p:spPr>
            <a:xfrm>
              <a:off x="2144475" y="2009350"/>
              <a:ext cx="50397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05" name="Google Shape;285;p18"/>
            <p:cNvSpPr/>
            <p:nvPr/>
          </p:nvSpPr>
          <p:spPr>
            <a:xfrm>
              <a:off x="745050" y="2009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00B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2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6" name="Google Shape;286;p18"/>
            <p:cNvSpPr/>
            <p:nvPr/>
          </p:nvSpPr>
          <p:spPr>
            <a:xfrm>
              <a:off x="7826250" y="2009350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00B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07" name="Google Shape;287;p18"/>
            <p:cNvSpPr txBox="1"/>
            <p:nvPr/>
          </p:nvSpPr>
          <p:spPr>
            <a:xfrm>
              <a:off x="2923975" y="2121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Lengthy Constitution: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8" name="Google Shape;288;p18"/>
            <p:cNvSpPr txBox="1"/>
            <p:nvPr/>
          </p:nvSpPr>
          <p:spPr>
            <a:xfrm>
              <a:off x="4364400" y="1637792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  <a:ea typeface="Roboto"/>
                  <a:cs typeface="Roboto"/>
                  <a:sym typeface="Roboto"/>
                </a:rPr>
                <a:t>448 Articles, 12 Schedule, 5 Appendices and 1.46 Lakh words (Source: Livemint as per 25</a:t>
              </a:r>
              <a:r>
                <a:rPr kumimoji="0" lang="en" sz="1800" b="0" i="0" u="none" strike="noStrike" kern="0" cap="none" spc="0" normalizeH="0" baseline="3000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  <a:ea typeface="Roboto"/>
                  <a:cs typeface="Roboto"/>
                  <a:sym typeface="Roboto"/>
                </a:rPr>
                <a:t>th</a:t>
              </a:r>
              <a:r>
                <a:rPr kumimoji="0" lang="e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  <a:ea typeface="Roboto"/>
                  <a:cs typeface="Roboto"/>
                  <a:sym typeface="Roboto"/>
                </a:rPr>
                <a:t> Jan 2023.)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09" name="Google Shape;289;p18"/>
            <p:cNvCxnSpPr>
              <a:stCxn id="104" idx="3"/>
              <a:endCxn id="106" idx="1"/>
            </p:cNvCxnSpPr>
            <p:nvPr/>
          </p:nvCxnSpPr>
          <p:spPr>
            <a:xfrm>
              <a:off x="7184175" y="2295700"/>
              <a:ext cx="6420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0" name="Google Shape;290;p18"/>
          <p:cNvGrpSpPr/>
          <p:nvPr/>
        </p:nvGrpSpPr>
        <p:grpSpPr>
          <a:xfrm>
            <a:off x="642239" y="3281950"/>
            <a:ext cx="10619637" cy="456752"/>
            <a:chOff x="745050" y="2672350"/>
            <a:chExt cx="7685413" cy="572700"/>
          </a:xfrm>
        </p:grpSpPr>
        <p:sp>
          <p:nvSpPr>
            <p:cNvPr id="111" name="Google Shape;291;p18"/>
            <p:cNvSpPr/>
            <p:nvPr/>
          </p:nvSpPr>
          <p:spPr>
            <a:xfrm>
              <a:off x="2047725" y="2672350"/>
              <a:ext cx="51363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12" name="Google Shape;292;p18"/>
            <p:cNvSpPr/>
            <p:nvPr/>
          </p:nvSpPr>
          <p:spPr>
            <a:xfrm>
              <a:off x="745050" y="2672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8BC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3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3" name="Google Shape;293;p18"/>
            <p:cNvSpPr/>
            <p:nvPr/>
          </p:nvSpPr>
          <p:spPr>
            <a:xfrm>
              <a:off x="7826250" y="2672350"/>
              <a:ext cx="604213" cy="572700"/>
            </a:xfrm>
            <a:prstGeom prst="roundRect">
              <a:avLst>
                <a:gd name="adj" fmla="val 50000"/>
              </a:avLst>
            </a:prstGeom>
            <a:solidFill>
              <a:srgbClr val="8BC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14" name="Google Shape;294;p18"/>
            <p:cNvSpPr txBox="1"/>
            <p:nvPr/>
          </p:nvSpPr>
          <p:spPr>
            <a:xfrm>
              <a:off x="2923975" y="2784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Federal System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15" name="Google Shape;295;p18"/>
            <p:cNvSpPr txBox="1"/>
            <p:nvPr/>
          </p:nvSpPr>
          <p:spPr>
            <a:xfrm>
              <a:off x="4364400" y="2672350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Power is divided between the central government and the states.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16" name="Google Shape;296;p18"/>
            <p:cNvCxnSpPr>
              <a:stCxn id="111" idx="3"/>
              <a:endCxn id="113" idx="1"/>
            </p:cNvCxnSpPr>
            <p:nvPr/>
          </p:nvCxnSpPr>
          <p:spPr>
            <a:xfrm>
              <a:off x="7184025" y="2958700"/>
              <a:ext cx="642225" cy="1991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7" name="Google Shape;297;p18"/>
          <p:cNvGrpSpPr/>
          <p:nvPr/>
        </p:nvGrpSpPr>
        <p:grpSpPr>
          <a:xfrm>
            <a:off x="625306" y="4184436"/>
            <a:ext cx="10576093" cy="634552"/>
            <a:chOff x="745050" y="3112415"/>
            <a:chExt cx="7653900" cy="795635"/>
          </a:xfrm>
        </p:grpSpPr>
        <p:sp>
          <p:nvSpPr>
            <p:cNvPr id="118" name="Google Shape;298;p18"/>
            <p:cNvSpPr/>
            <p:nvPr/>
          </p:nvSpPr>
          <p:spPr>
            <a:xfrm>
              <a:off x="2015475" y="3335350"/>
              <a:ext cx="51687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19" name="Google Shape;299;p18"/>
            <p:cNvSpPr/>
            <p:nvPr/>
          </p:nvSpPr>
          <p:spPr>
            <a:xfrm>
              <a:off x="745050" y="3335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1D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4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0" name="Google Shape;300;p18"/>
            <p:cNvSpPr/>
            <p:nvPr/>
          </p:nvSpPr>
          <p:spPr>
            <a:xfrm>
              <a:off x="7826250" y="3335350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1D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21" name="Google Shape;301;p18"/>
            <p:cNvSpPr txBox="1"/>
            <p:nvPr/>
          </p:nvSpPr>
          <p:spPr>
            <a:xfrm>
              <a:off x="2923975" y="3447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Parliamentary Form of Government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2" name="Google Shape;302;p18"/>
            <p:cNvSpPr txBox="1"/>
            <p:nvPr/>
          </p:nvSpPr>
          <p:spPr>
            <a:xfrm>
              <a:off x="4364400" y="3112415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President is the nominal head of state, and the Prime Minister is the head of government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23" name="Google Shape;303;p18"/>
            <p:cNvCxnSpPr>
              <a:stCxn id="118" idx="3"/>
              <a:endCxn id="120" idx="1"/>
            </p:cNvCxnSpPr>
            <p:nvPr/>
          </p:nvCxnSpPr>
          <p:spPr>
            <a:xfrm>
              <a:off x="7184175" y="3621700"/>
              <a:ext cx="6420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4" name="Google Shape;304;p18"/>
          <p:cNvGrpSpPr/>
          <p:nvPr/>
        </p:nvGrpSpPr>
        <p:grpSpPr>
          <a:xfrm>
            <a:off x="614421" y="5299365"/>
            <a:ext cx="10576093" cy="835243"/>
            <a:chOff x="745050" y="3729289"/>
            <a:chExt cx="7653900" cy="1047273"/>
          </a:xfrm>
        </p:grpSpPr>
        <p:sp>
          <p:nvSpPr>
            <p:cNvPr id="125" name="Google Shape;305;p18"/>
            <p:cNvSpPr/>
            <p:nvPr/>
          </p:nvSpPr>
          <p:spPr>
            <a:xfrm>
              <a:off x="2007425" y="3962850"/>
              <a:ext cx="51765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26" name="Google Shape;306;p18"/>
            <p:cNvSpPr/>
            <p:nvPr/>
          </p:nvSpPr>
          <p:spPr>
            <a:xfrm>
              <a:off x="745050" y="3962838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F19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5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7" name="Google Shape;307;p18"/>
            <p:cNvSpPr/>
            <p:nvPr/>
          </p:nvSpPr>
          <p:spPr>
            <a:xfrm>
              <a:off x="7826250" y="3962838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F19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28" name="Google Shape;308;p18"/>
            <p:cNvSpPr txBox="1"/>
            <p:nvPr/>
          </p:nvSpPr>
          <p:spPr>
            <a:xfrm>
              <a:off x="2929170" y="3827418"/>
              <a:ext cx="1440300" cy="9491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Fundamental </a:t>
              </a:r>
              <a:r>
                <a:rPr lang="en-US" b="1" kern="0" dirty="0">
                  <a:solidFill>
                    <a:srgbClr val="C00000"/>
                  </a:solidFill>
                  <a:latin typeface="Roboto Condensed"/>
                </a:rPr>
                <a:t>Rights</a:t>
              </a:r>
              <a:endParaRPr b="1" kern="0" dirty="0">
                <a:solidFill>
                  <a:srgbClr val="C00000"/>
                </a:solidFill>
                <a:latin typeface="Roboto Condensed"/>
                <a:sym typeface="Fira Sans Extra Condensed"/>
              </a:endParaRPr>
            </a:p>
          </p:txBody>
        </p:sp>
        <p:sp>
          <p:nvSpPr>
            <p:cNvPr id="129" name="Google Shape;309;p18"/>
            <p:cNvSpPr txBox="1"/>
            <p:nvPr/>
          </p:nvSpPr>
          <p:spPr>
            <a:xfrm>
              <a:off x="4205090" y="3729289"/>
              <a:ext cx="3104949" cy="572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Right to equality, right to freedom, right against exploitation, right to freedom of religion, cultural and educational rights etc.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30" name="Google Shape;310;p18"/>
            <p:cNvCxnSpPr>
              <a:stCxn id="125" idx="3"/>
              <a:endCxn id="127" idx="1"/>
            </p:cNvCxnSpPr>
            <p:nvPr/>
          </p:nvCxnSpPr>
          <p:spPr>
            <a:xfrm>
              <a:off x="7183925" y="4249200"/>
              <a:ext cx="6423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54711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Constitution of India – Major Features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8" name="Slide Number Placeholder 3">
            <a:extLst>
              <a:ext uri="{FF2B5EF4-FFF2-40B4-BE49-F238E27FC236}">
                <a16:creationId xmlns:a16="http://schemas.microsoft.com/office/drawing/2014/main" id="{EB84FF8F-3945-4470-AA0F-BAC7CA63A379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"/>
              </a:rPr>
              <a:pPr/>
              <a:t>35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  <a:latin typeface="Roboto Condensed"/>
            </a:endParaRPr>
          </a:p>
        </p:txBody>
      </p:sp>
      <p:grpSp>
        <p:nvGrpSpPr>
          <p:cNvPr id="149" name="Google Shape;276;p18"/>
          <p:cNvGrpSpPr/>
          <p:nvPr/>
        </p:nvGrpSpPr>
        <p:grpSpPr>
          <a:xfrm>
            <a:off x="638612" y="769344"/>
            <a:ext cx="10672266" cy="777906"/>
            <a:chOff x="745050" y="980098"/>
            <a:chExt cx="7723500" cy="975382"/>
          </a:xfrm>
        </p:grpSpPr>
        <p:sp>
          <p:nvSpPr>
            <p:cNvPr id="150" name="Google Shape;277;p18"/>
            <p:cNvSpPr/>
            <p:nvPr/>
          </p:nvSpPr>
          <p:spPr>
            <a:xfrm>
              <a:off x="2264625" y="1346350"/>
              <a:ext cx="49194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51" name="Google Shape;278;p18"/>
            <p:cNvSpPr/>
            <p:nvPr/>
          </p:nvSpPr>
          <p:spPr>
            <a:xfrm>
              <a:off x="745050" y="1346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6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2" name="Google Shape;279;p18"/>
            <p:cNvSpPr/>
            <p:nvPr/>
          </p:nvSpPr>
          <p:spPr>
            <a:xfrm>
              <a:off x="7826250" y="1313180"/>
              <a:ext cx="642300" cy="642300"/>
            </a:xfrm>
            <a:prstGeom prst="roundRect">
              <a:avLst>
                <a:gd name="adj" fmla="val 50000"/>
              </a:avLst>
            </a:pr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53" name="Google Shape;280;p18"/>
            <p:cNvSpPr txBox="1"/>
            <p:nvPr/>
          </p:nvSpPr>
          <p:spPr>
            <a:xfrm>
              <a:off x="2923975" y="1458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Directive Principles of State Policy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" name="Google Shape;281;p18"/>
            <p:cNvSpPr txBox="1"/>
            <p:nvPr/>
          </p:nvSpPr>
          <p:spPr>
            <a:xfrm>
              <a:off x="4364400" y="980098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 Article 39A directs the state to ensure equal justice and provide free legal aid to the poor and weaker sections of society.</a:t>
              </a:r>
            </a:p>
          </p:txBody>
        </p:sp>
        <p:cxnSp>
          <p:nvCxnSpPr>
            <p:cNvPr id="155" name="Google Shape;282;p18"/>
            <p:cNvCxnSpPr>
              <a:stCxn id="150" idx="3"/>
              <a:endCxn id="152" idx="1"/>
            </p:cNvCxnSpPr>
            <p:nvPr/>
          </p:nvCxnSpPr>
          <p:spPr>
            <a:xfrm>
              <a:off x="7184025" y="1632700"/>
              <a:ext cx="642300" cy="150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6" name="Google Shape;283;p18"/>
          <p:cNvGrpSpPr/>
          <p:nvPr/>
        </p:nvGrpSpPr>
        <p:grpSpPr>
          <a:xfrm>
            <a:off x="599906" y="2165381"/>
            <a:ext cx="10652294" cy="524485"/>
            <a:chOff x="745050" y="1924423"/>
            <a:chExt cx="7653900" cy="657627"/>
          </a:xfrm>
        </p:grpSpPr>
        <p:sp>
          <p:nvSpPr>
            <p:cNvPr id="157" name="Google Shape;284;p18"/>
            <p:cNvSpPr/>
            <p:nvPr/>
          </p:nvSpPr>
          <p:spPr>
            <a:xfrm>
              <a:off x="2144475" y="2009350"/>
              <a:ext cx="50397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58" name="Google Shape;285;p18"/>
            <p:cNvSpPr/>
            <p:nvPr/>
          </p:nvSpPr>
          <p:spPr>
            <a:xfrm>
              <a:off x="745050" y="2009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00B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7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9" name="Google Shape;286;p18"/>
            <p:cNvSpPr/>
            <p:nvPr/>
          </p:nvSpPr>
          <p:spPr>
            <a:xfrm>
              <a:off x="7826250" y="2009350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00B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60" name="Google Shape;287;p18"/>
            <p:cNvSpPr txBox="1"/>
            <p:nvPr/>
          </p:nvSpPr>
          <p:spPr>
            <a:xfrm>
              <a:off x="2923975" y="2121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Independent Judiciary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1" name="Google Shape;288;p18"/>
            <p:cNvSpPr txBox="1"/>
            <p:nvPr/>
          </p:nvSpPr>
          <p:spPr>
            <a:xfrm>
              <a:off x="4364400" y="1924423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Independent judiciary as a guardian of the fundamental rights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2" name="Google Shape;289;p18"/>
            <p:cNvCxnSpPr>
              <a:stCxn id="157" idx="3"/>
              <a:endCxn id="159" idx="1"/>
            </p:cNvCxnSpPr>
            <p:nvPr/>
          </p:nvCxnSpPr>
          <p:spPr>
            <a:xfrm>
              <a:off x="7184175" y="2295700"/>
              <a:ext cx="6420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3" name="Google Shape;290;p18"/>
          <p:cNvGrpSpPr/>
          <p:nvPr/>
        </p:nvGrpSpPr>
        <p:grpSpPr>
          <a:xfrm>
            <a:off x="642239" y="3281950"/>
            <a:ext cx="10619637" cy="456752"/>
            <a:chOff x="745050" y="2672350"/>
            <a:chExt cx="7685413" cy="572700"/>
          </a:xfrm>
        </p:grpSpPr>
        <p:sp>
          <p:nvSpPr>
            <p:cNvPr id="164" name="Google Shape;291;p18"/>
            <p:cNvSpPr/>
            <p:nvPr/>
          </p:nvSpPr>
          <p:spPr>
            <a:xfrm>
              <a:off x="2047725" y="2672350"/>
              <a:ext cx="51363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65" name="Google Shape;292;p18"/>
            <p:cNvSpPr/>
            <p:nvPr/>
          </p:nvSpPr>
          <p:spPr>
            <a:xfrm>
              <a:off x="745050" y="2672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8BC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8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6" name="Google Shape;293;p18"/>
            <p:cNvSpPr/>
            <p:nvPr/>
          </p:nvSpPr>
          <p:spPr>
            <a:xfrm>
              <a:off x="7826250" y="2672350"/>
              <a:ext cx="604213" cy="572700"/>
            </a:xfrm>
            <a:prstGeom prst="roundRect">
              <a:avLst>
                <a:gd name="adj" fmla="val 50000"/>
              </a:avLst>
            </a:prstGeom>
            <a:solidFill>
              <a:srgbClr val="8BC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67" name="Google Shape;294;p18"/>
            <p:cNvSpPr txBox="1"/>
            <p:nvPr/>
          </p:nvSpPr>
          <p:spPr>
            <a:xfrm>
              <a:off x="2923975" y="2784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Secularism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8" name="Google Shape;295;p18"/>
            <p:cNvSpPr txBox="1"/>
            <p:nvPr/>
          </p:nvSpPr>
          <p:spPr>
            <a:xfrm>
              <a:off x="4364400" y="2672350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Treats all religions equally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69" name="Google Shape;296;p18"/>
            <p:cNvCxnSpPr>
              <a:stCxn id="164" idx="3"/>
              <a:endCxn id="166" idx="1"/>
            </p:cNvCxnSpPr>
            <p:nvPr/>
          </p:nvCxnSpPr>
          <p:spPr>
            <a:xfrm>
              <a:off x="7184025" y="2958700"/>
              <a:ext cx="642225" cy="1991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0" name="Google Shape;297;p18"/>
          <p:cNvGrpSpPr/>
          <p:nvPr/>
        </p:nvGrpSpPr>
        <p:grpSpPr>
          <a:xfrm>
            <a:off x="625306" y="4184436"/>
            <a:ext cx="10576093" cy="634552"/>
            <a:chOff x="745050" y="3112415"/>
            <a:chExt cx="7653900" cy="795635"/>
          </a:xfrm>
        </p:grpSpPr>
        <p:sp>
          <p:nvSpPr>
            <p:cNvPr id="171" name="Google Shape;298;p18"/>
            <p:cNvSpPr/>
            <p:nvPr/>
          </p:nvSpPr>
          <p:spPr>
            <a:xfrm>
              <a:off x="2015475" y="3335350"/>
              <a:ext cx="51687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72" name="Google Shape;299;p18"/>
            <p:cNvSpPr/>
            <p:nvPr/>
          </p:nvSpPr>
          <p:spPr>
            <a:xfrm>
              <a:off x="745050" y="3335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1D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9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3" name="Google Shape;300;p18"/>
            <p:cNvSpPr/>
            <p:nvPr/>
          </p:nvSpPr>
          <p:spPr>
            <a:xfrm>
              <a:off x="7826250" y="3335350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1D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74" name="Google Shape;301;p18"/>
            <p:cNvSpPr txBox="1"/>
            <p:nvPr/>
          </p:nvSpPr>
          <p:spPr>
            <a:xfrm>
              <a:off x="2923975" y="3447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Universal Adult Suffrage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" name="Google Shape;302;p18"/>
            <p:cNvSpPr txBox="1"/>
            <p:nvPr/>
          </p:nvSpPr>
          <p:spPr>
            <a:xfrm>
              <a:off x="4364400" y="3112415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Age of 18 has the right to vote without any discrimination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6" name="Google Shape;303;p18"/>
            <p:cNvCxnSpPr>
              <a:stCxn id="171" idx="3"/>
              <a:endCxn id="173" idx="1"/>
            </p:cNvCxnSpPr>
            <p:nvPr/>
          </p:nvCxnSpPr>
          <p:spPr>
            <a:xfrm>
              <a:off x="7184175" y="3621700"/>
              <a:ext cx="6420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7" name="Google Shape;304;p18"/>
          <p:cNvGrpSpPr/>
          <p:nvPr/>
        </p:nvGrpSpPr>
        <p:grpSpPr>
          <a:xfrm>
            <a:off x="614421" y="5299365"/>
            <a:ext cx="10576093" cy="643026"/>
            <a:chOff x="745050" y="3729289"/>
            <a:chExt cx="7653900" cy="806261"/>
          </a:xfrm>
        </p:grpSpPr>
        <p:sp>
          <p:nvSpPr>
            <p:cNvPr id="178" name="Google Shape;305;p18"/>
            <p:cNvSpPr/>
            <p:nvPr/>
          </p:nvSpPr>
          <p:spPr>
            <a:xfrm>
              <a:off x="2007425" y="3962850"/>
              <a:ext cx="51765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79" name="Google Shape;306;p18"/>
            <p:cNvSpPr/>
            <p:nvPr/>
          </p:nvSpPr>
          <p:spPr>
            <a:xfrm>
              <a:off x="745050" y="3962838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F19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10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0" name="Google Shape;307;p18"/>
            <p:cNvSpPr/>
            <p:nvPr/>
          </p:nvSpPr>
          <p:spPr>
            <a:xfrm>
              <a:off x="7826250" y="3962838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F19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181" name="Google Shape;308;p18"/>
            <p:cNvSpPr txBox="1"/>
            <p:nvPr/>
          </p:nvSpPr>
          <p:spPr>
            <a:xfrm>
              <a:off x="2923975" y="4074888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Single Citizenship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: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2" name="Google Shape;309;p18"/>
            <p:cNvSpPr txBox="1"/>
            <p:nvPr/>
          </p:nvSpPr>
          <p:spPr>
            <a:xfrm>
              <a:off x="4205090" y="3729289"/>
              <a:ext cx="3104949" cy="572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A citizen of the country as a whole and not of any particular state..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3" name="Google Shape;310;p18"/>
            <p:cNvCxnSpPr>
              <a:stCxn id="178" idx="3"/>
              <a:endCxn id="180" idx="1"/>
            </p:cNvCxnSpPr>
            <p:nvPr/>
          </p:nvCxnSpPr>
          <p:spPr>
            <a:xfrm>
              <a:off x="7183925" y="4249200"/>
              <a:ext cx="6423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18244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Constitution of India – Major Features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0" name="Slide Number Placeholder 3">
            <a:extLst>
              <a:ext uri="{FF2B5EF4-FFF2-40B4-BE49-F238E27FC236}">
                <a16:creationId xmlns:a16="http://schemas.microsoft.com/office/drawing/2014/main" id="{EB84FF8F-3945-4470-AA0F-BAC7CA63A379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"/>
              </a:rPr>
              <a:pPr/>
              <a:t>36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  <a:latin typeface="Roboto Condensed"/>
            </a:endParaRPr>
          </a:p>
        </p:txBody>
      </p:sp>
      <p:grpSp>
        <p:nvGrpSpPr>
          <p:cNvPr id="41" name="Google Shape;276;p18"/>
          <p:cNvGrpSpPr/>
          <p:nvPr/>
        </p:nvGrpSpPr>
        <p:grpSpPr>
          <a:xfrm>
            <a:off x="638612" y="1034990"/>
            <a:ext cx="10672266" cy="512260"/>
            <a:chOff x="745050" y="1313180"/>
            <a:chExt cx="7723500" cy="642300"/>
          </a:xfrm>
        </p:grpSpPr>
        <p:sp>
          <p:nvSpPr>
            <p:cNvPr id="42" name="Google Shape;277;p18"/>
            <p:cNvSpPr/>
            <p:nvPr/>
          </p:nvSpPr>
          <p:spPr>
            <a:xfrm>
              <a:off x="2264625" y="1346350"/>
              <a:ext cx="49194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3" name="Google Shape;278;p18"/>
            <p:cNvSpPr/>
            <p:nvPr/>
          </p:nvSpPr>
          <p:spPr>
            <a:xfrm>
              <a:off x="745050" y="1346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11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4" name="Google Shape;279;p18"/>
            <p:cNvSpPr/>
            <p:nvPr/>
          </p:nvSpPr>
          <p:spPr>
            <a:xfrm>
              <a:off x="7826250" y="1313180"/>
              <a:ext cx="642300" cy="642300"/>
            </a:xfrm>
            <a:prstGeom prst="roundRect">
              <a:avLst>
                <a:gd name="adj" fmla="val 50000"/>
              </a:avLst>
            </a:prstGeom>
            <a:solidFill>
              <a:srgbClr val="9090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45" name="Google Shape;280;p18"/>
            <p:cNvSpPr txBox="1"/>
            <p:nvPr/>
          </p:nvSpPr>
          <p:spPr>
            <a:xfrm>
              <a:off x="2923975" y="1458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Reservation Policy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6" name="Google Shape;281;p18"/>
            <p:cNvSpPr txBox="1"/>
            <p:nvPr/>
          </p:nvSpPr>
          <p:spPr>
            <a:xfrm>
              <a:off x="4364400" y="1346350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Promote social inclusion and upliftment of marginalized communities.</a:t>
              </a:r>
            </a:p>
          </p:txBody>
        </p:sp>
        <p:cxnSp>
          <p:nvCxnSpPr>
            <p:cNvPr id="47" name="Google Shape;282;p18"/>
            <p:cNvCxnSpPr>
              <a:stCxn id="42" idx="3"/>
              <a:endCxn id="44" idx="1"/>
            </p:cNvCxnSpPr>
            <p:nvPr/>
          </p:nvCxnSpPr>
          <p:spPr>
            <a:xfrm>
              <a:off x="7184025" y="1632700"/>
              <a:ext cx="642300" cy="150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" name="Google Shape;283;p18"/>
          <p:cNvGrpSpPr/>
          <p:nvPr/>
        </p:nvGrpSpPr>
        <p:grpSpPr>
          <a:xfrm>
            <a:off x="599906" y="2096801"/>
            <a:ext cx="10652294" cy="593065"/>
            <a:chOff x="745050" y="1838434"/>
            <a:chExt cx="7653900" cy="743616"/>
          </a:xfrm>
        </p:grpSpPr>
        <p:sp>
          <p:nvSpPr>
            <p:cNvPr id="49" name="Google Shape;284;p18"/>
            <p:cNvSpPr/>
            <p:nvPr/>
          </p:nvSpPr>
          <p:spPr>
            <a:xfrm>
              <a:off x="2144475" y="2009350"/>
              <a:ext cx="50397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50" name="Google Shape;285;p18"/>
            <p:cNvSpPr/>
            <p:nvPr/>
          </p:nvSpPr>
          <p:spPr>
            <a:xfrm>
              <a:off x="745050" y="2009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00B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12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1" name="Google Shape;286;p18"/>
            <p:cNvSpPr/>
            <p:nvPr/>
          </p:nvSpPr>
          <p:spPr>
            <a:xfrm>
              <a:off x="7826250" y="2009350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00BB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52" name="Google Shape;287;p18"/>
            <p:cNvSpPr txBox="1"/>
            <p:nvPr/>
          </p:nvSpPr>
          <p:spPr>
            <a:xfrm>
              <a:off x="2934925" y="2121399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Judicial Activism 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3" name="Google Shape;288;p18"/>
            <p:cNvSpPr txBox="1"/>
            <p:nvPr/>
          </p:nvSpPr>
          <p:spPr>
            <a:xfrm>
              <a:off x="4364400" y="1838434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Role in interpreting and safeguarding the Constitution and fundamental rights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4" name="Google Shape;289;p18"/>
            <p:cNvCxnSpPr>
              <a:stCxn id="49" idx="3"/>
              <a:endCxn id="51" idx="1"/>
            </p:cNvCxnSpPr>
            <p:nvPr/>
          </p:nvCxnSpPr>
          <p:spPr>
            <a:xfrm>
              <a:off x="7184175" y="2295700"/>
              <a:ext cx="6420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" name="Google Shape;290;p18"/>
          <p:cNvGrpSpPr/>
          <p:nvPr/>
        </p:nvGrpSpPr>
        <p:grpSpPr>
          <a:xfrm>
            <a:off x="642239" y="3114309"/>
            <a:ext cx="10619637" cy="624393"/>
            <a:chOff x="745050" y="2462153"/>
            <a:chExt cx="7685413" cy="782897"/>
          </a:xfrm>
        </p:grpSpPr>
        <p:sp>
          <p:nvSpPr>
            <p:cNvPr id="56" name="Google Shape;291;p18"/>
            <p:cNvSpPr/>
            <p:nvPr/>
          </p:nvSpPr>
          <p:spPr>
            <a:xfrm>
              <a:off x="2047725" y="2672350"/>
              <a:ext cx="51363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57" name="Google Shape;292;p18"/>
            <p:cNvSpPr/>
            <p:nvPr/>
          </p:nvSpPr>
          <p:spPr>
            <a:xfrm>
              <a:off x="745050" y="2672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8BC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13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8" name="Google Shape;293;p18"/>
            <p:cNvSpPr/>
            <p:nvPr/>
          </p:nvSpPr>
          <p:spPr>
            <a:xfrm>
              <a:off x="7826250" y="2672350"/>
              <a:ext cx="604213" cy="572700"/>
            </a:xfrm>
            <a:prstGeom prst="roundRect">
              <a:avLst>
                <a:gd name="adj" fmla="val 50000"/>
              </a:avLst>
            </a:prstGeom>
            <a:solidFill>
              <a:srgbClr val="8BC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59" name="Google Shape;294;p18"/>
            <p:cNvSpPr txBox="1"/>
            <p:nvPr/>
          </p:nvSpPr>
          <p:spPr>
            <a:xfrm>
              <a:off x="2923975" y="2784400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Rigidity and Flexibility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0" name="Google Shape;295;p18"/>
            <p:cNvSpPr txBox="1"/>
            <p:nvPr/>
          </p:nvSpPr>
          <p:spPr>
            <a:xfrm>
              <a:off x="4265137" y="2462153"/>
              <a:ext cx="3013129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Amendments to fundamental rights require a special majority, while amendments to certain other provisions may require a simple majority.</a:t>
              </a:r>
            </a:p>
          </p:txBody>
        </p:sp>
        <p:cxnSp>
          <p:nvCxnSpPr>
            <p:cNvPr id="61" name="Google Shape;296;p18"/>
            <p:cNvCxnSpPr>
              <a:stCxn id="56" idx="3"/>
              <a:endCxn id="58" idx="1"/>
            </p:cNvCxnSpPr>
            <p:nvPr/>
          </p:nvCxnSpPr>
          <p:spPr>
            <a:xfrm>
              <a:off x="7184025" y="2958700"/>
              <a:ext cx="642225" cy="1991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2" name="Google Shape;297;p18"/>
          <p:cNvGrpSpPr/>
          <p:nvPr/>
        </p:nvGrpSpPr>
        <p:grpSpPr>
          <a:xfrm>
            <a:off x="625306" y="4362233"/>
            <a:ext cx="10576093" cy="522792"/>
            <a:chOff x="745050" y="3335350"/>
            <a:chExt cx="7653900" cy="655505"/>
          </a:xfrm>
        </p:grpSpPr>
        <p:sp>
          <p:nvSpPr>
            <p:cNvPr id="63" name="Google Shape;298;p18"/>
            <p:cNvSpPr/>
            <p:nvPr/>
          </p:nvSpPr>
          <p:spPr>
            <a:xfrm>
              <a:off x="2015475" y="3335350"/>
              <a:ext cx="51687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64" name="Google Shape;299;p18"/>
            <p:cNvSpPr/>
            <p:nvPr/>
          </p:nvSpPr>
          <p:spPr>
            <a:xfrm>
              <a:off x="745050" y="3335350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1D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14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5" name="Google Shape;300;p18"/>
            <p:cNvSpPr/>
            <p:nvPr/>
          </p:nvSpPr>
          <p:spPr>
            <a:xfrm>
              <a:off x="7826250" y="3335350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1D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66" name="Google Shape;301;p18"/>
            <p:cNvSpPr txBox="1"/>
            <p:nvPr/>
          </p:nvSpPr>
          <p:spPr>
            <a:xfrm>
              <a:off x="2923975" y="3562056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Independent Bodies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7" name="Google Shape;302;p18"/>
            <p:cNvSpPr txBox="1"/>
            <p:nvPr/>
          </p:nvSpPr>
          <p:spPr>
            <a:xfrm>
              <a:off x="4364400" y="3418155"/>
              <a:ext cx="2616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Election Commission, Comptroller and Auditor General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8" name="Google Shape;303;p18"/>
            <p:cNvCxnSpPr>
              <a:stCxn id="63" idx="3"/>
              <a:endCxn id="65" idx="1"/>
            </p:cNvCxnSpPr>
            <p:nvPr/>
          </p:nvCxnSpPr>
          <p:spPr>
            <a:xfrm>
              <a:off x="7184175" y="3621700"/>
              <a:ext cx="6420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9" name="Google Shape;304;p18"/>
          <p:cNvGrpSpPr/>
          <p:nvPr/>
        </p:nvGrpSpPr>
        <p:grpSpPr>
          <a:xfrm>
            <a:off x="614421" y="5299365"/>
            <a:ext cx="10576093" cy="643026"/>
            <a:chOff x="745050" y="3729289"/>
            <a:chExt cx="7653900" cy="806261"/>
          </a:xfrm>
        </p:grpSpPr>
        <p:sp>
          <p:nvSpPr>
            <p:cNvPr id="70" name="Google Shape;305;p18"/>
            <p:cNvSpPr/>
            <p:nvPr/>
          </p:nvSpPr>
          <p:spPr>
            <a:xfrm>
              <a:off x="2007425" y="3962850"/>
              <a:ext cx="5176500" cy="5727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71" name="Google Shape;306;p18"/>
            <p:cNvSpPr/>
            <p:nvPr/>
          </p:nvSpPr>
          <p:spPr>
            <a:xfrm>
              <a:off x="745050" y="3962838"/>
              <a:ext cx="2030100" cy="572700"/>
            </a:xfrm>
            <a:prstGeom prst="roundRect">
              <a:avLst>
                <a:gd name="adj" fmla="val 50000"/>
              </a:avLst>
            </a:prstGeom>
            <a:solidFill>
              <a:srgbClr val="F19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Condensed"/>
                  <a:ea typeface="Fira Sans Extra Condensed"/>
                  <a:cs typeface="Fira Sans Extra Condensed"/>
                  <a:sym typeface="Fira Sans Extra Condensed"/>
                </a:rPr>
                <a:t>15</a:t>
              </a:r>
              <a:endParaRPr kumimoji="0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2" name="Google Shape;307;p18"/>
            <p:cNvSpPr/>
            <p:nvPr/>
          </p:nvSpPr>
          <p:spPr>
            <a:xfrm>
              <a:off x="7826250" y="3962838"/>
              <a:ext cx="572700" cy="572700"/>
            </a:xfrm>
            <a:prstGeom prst="roundRect">
              <a:avLst>
                <a:gd name="adj" fmla="val 50000"/>
              </a:avLst>
            </a:prstGeom>
            <a:solidFill>
              <a:srgbClr val="F19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</a:endParaRPr>
            </a:p>
          </p:txBody>
        </p:sp>
        <p:sp>
          <p:nvSpPr>
            <p:cNvPr id="73" name="Google Shape;308;p18"/>
            <p:cNvSpPr txBox="1"/>
            <p:nvPr/>
          </p:nvSpPr>
          <p:spPr>
            <a:xfrm>
              <a:off x="2885373" y="4065333"/>
              <a:ext cx="14403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Roboto Condensed"/>
                </a:rPr>
                <a:t>Protection of Cultural and Educational Rights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Roboto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4" name="Google Shape;309;p18"/>
            <p:cNvSpPr txBox="1"/>
            <p:nvPr/>
          </p:nvSpPr>
          <p:spPr>
            <a:xfrm>
              <a:off x="4205090" y="3729289"/>
              <a:ext cx="3104949" cy="572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212121"/>
                  </a:solidFill>
                  <a:effectLst/>
                  <a:uLnTx/>
                  <a:uFillTx/>
                  <a:latin typeface="Roboto Condensed"/>
                </a:rPr>
                <a:t>safeguards the cultural and educational rights of diverse communities and minorities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75" name="Google Shape;310;p18"/>
            <p:cNvCxnSpPr>
              <a:stCxn id="70" idx="3"/>
              <a:endCxn id="72" idx="1"/>
            </p:cNvCxnSpPr>
            <p:nvPr/>
          </p:nvCxnSpPr>
          <p:spPr>
            <a:xfrm>
              <a:off x="7183925" y="4249200"/>
              <a:ext cx="642300" cy="0"/>
            </a:xfrm>
            <a:prstGeom prst="straightConnector1">
              <a:avLst/>
            </a:prstGeom>
            <a:noFill/>
            <a:ln w="9525" cap="flat" cmpd="sng">
              <a:solidFill>
                <a:srgbClr val="21212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0962690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3" y="1513093"/>
            <a:ext cx="10196051" cy="3373539"/>
          </a:xfrm>
        </p:spPr>
        <p:txBody>
          <a:bodyPr/>
          <a:lstStyle/>
          <a:p>
            <a:r>
              <a:rPr lang="en-IN" sz="6000" dirty="0"/>
              <a:t>National Symbols</a:t>
            </a:r>
          </a:p>
        </p:txBody>
      </p:sp>
    </p:spTree>
    <p:extLst>
      <p:ext uri="{BB962C8B-B14F-4D97-AF65-F5344CB8AC3E}">
        <p14:creationId xmlns:p14="http://schemas.microsoft.com/office/powerpoint/2010/main" val="625512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of India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778254"/>
            <a:ext cx="11693238" cy="1843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4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of India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: </a:t>
            </a:r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reflect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India's heritage, pride, and cultural identity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They </a:t>
            </a:r>
            <a:r>
              <a:rPr lang="en-US" sz="2400" b="1" dirty="0">
                <a:solidFill>
                  <a:srgbClr val="C00000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hold significant national importance </a:t>
            </a: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for the country.	</a:t>
            </a:r>
          </a:p>
          <a:p>
            <a:pPr marL="228600" lvl="0" indent="-228600" algn="just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Every citizen should be aware of these national symbols.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307" y="5801558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Song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42757" y="6175185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dirty="0"/>
              <a:t>National Flag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343207" y="5801558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Calendar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15" name="Content Placeholder 4" descr="download (3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061" y="3427984"/>
            <a:ext cx="3387388" cy="27628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 descr="download (5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605" y="3055373"/>
            <a:ext cx="3391200" cy="27687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 descr="download (6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96" y="3054357"/>
            <a:ext cx="3392709" cy="27628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157B44-8D47-7A99-EA0A-D2222D4C8CEB}"/>
              </a:ext>
            </a:extLst>
          </p:cNvPr>
          <p:cNvSpPr txBox="1"/>
          <p:nvPr/>
        </p:nvSpPr>
        <p:spPr>
          <a:xfrm>
            <a:off x="942307" y="2609569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Vande</a:t>
            </a:r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0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Mataram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4FE72B-F16B-A612-F4BF-61155FE5DAE7}"/>
              </a:ext>
            </a:extLst>
          </p:cNvPr>
          <p:cNvSpPr txBox="1"/>
          <p:nvPr/>
        </p:nvSpPr>
        <p:spPr>
          <a:xfrm>
            <a:off x="4680637" y="2670967"/>
            <a:ext cx="28307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Tri-</a:t>
            </a:r>
            <a:r>
              <a:rPr lang="en-US" sz="20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colour</a:t>
            </a:r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of </a:t>
            </a:r>
          </a:p>
          <a:p>
            <a:pPr algn="ctr"/>
            <a:r>
              <a:rPr lang="en-US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saffron, white, and green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14B53-F620-AF1C-86E9-742D47D181EA}"/>
              </a:ext>
            </a:extLst>
          </p:cNvPr>
          <p:cNvSpPr txBox="1"/>
          <p:nvPr/>
        </p:nvSpPr>
        <p:spPr>
          <a:xfrm>
            <a:off x="8065875" y="2609569"/>
            <a:ext cx="3461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Shaka</a:t>
            </a:r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IN" sz="20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Calender</a:t>
            </a:r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/Vikram Savant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71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4" grpId="0"/>
      <p:bldP spid="5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of India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6985" y="4604514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Animal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25110" y="5242139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Bird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08070" y="5729250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Currency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19" name="Picture 18" descr="download (9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216" y="1927098"/>
            <a:ext cx="3976275" cy="33150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 descr="download (16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3" y="1251489"/>
            <a:ext cx="3976951" cy="33008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AC27DC-7A49-2D1F-38F4-1CB8C400CDF2}"/>
              </a:ext>
            </a:extLst>
          </p:cNvPr>
          <p:cNvSpPr txBox="1"/>
          <p:nvPr/>
        </p:nvSpPr>
        <p:spPr>
          <a:xfrm>
            <a:off x="656985" y="825271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Bengal Tiger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E4E97-03D1-5FD7-C5A4-6A0ACA1D584F}"/>
              </a:ext>
            </a:extLst>
          </p:cNvPr>
          <p:cNvSpPr txBox="1"/>
          <p:nvPr/>
        </p:nvSpPr>
        <p:spPr>
          <a:xfrm>
            <a:off x="4642757" y="1526988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Peacock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E3F89-255A-7BFD-7721-D824B86F8322}"/>
              </a:ext>
            </a:extLst>
          </p:cNvPr>
          <p:cNvSpPr txBox="1"/>
          <p:nvPr/>
        </p:nvSpPr>
        <p:spPr>
          <a:xfrm>
            <a:off x="8708070" y="2013540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Indian Rupee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050" name="Picture 2" descr="Indian currency, Money, India, Kids Videos - YouTube">
            <a:extLst>
              <a:ext uri="{FF2B5EF4-FFF2-40B4-BE49-F238E27FC236}">
                <a16:creationId xmlns:a16="http://schemas.microsoft.com/office/drawing/2014/main" id="{B3DE3C99-33F2-5C7E-94A4-C6641D554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003" y="2413650"/>
            <a:ext cx="3812245" cy="3315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481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" grpId="0"/>
      <p:bldP spid="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of India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4781" y="6155546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dirty="0"/>
              <a:t>National River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619830" y="5477004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Fruit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98638" y="4698743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Aquatic Animal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43" name="Picture 42" descr="download (1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127" y="2165004"/>
            <a:ext cx="3883893" cy="331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4" name="Picture 43" descr="download (12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1" y="2843546"/>
            <a:ext cx="3848667" cy="3312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8549D9-B276-1EC5-9360-0D6FBCFDBA32}"/>
              </a:ext>
            </a:extLst>
          </p:cNvPr>
          <p:cNvSpPr txBox="1"/>
          <p:nvPr/>
        </p:nvSpPr>
        <p:spPr>
          <a:xfrm>
            <a:off x="554781" y="2443436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dirty="0"/>
              <a:t>The Ganga River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C8EA2-02BD-4BCF-B623-A58918CD5D4E}"/>
              </a:ext>
            </a:extLst>
          </p:cNvPr>
          <p:cNvSpPr txBox="1"/>
          <p:nvPr/>
        </p:nvSpPr>
        <p:spPr>
          <a:xfrm>
            <a:off x="4642757" y="1764894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dirty="0"/>
              <a:t>Mango</a:t>
            </a:r>
            <a:endParaRPr lang="en-US" dirty="0"/>
          </a:p>
        </p:txBody>
      </p:sp>
      <p:pic>
        <p:nvPicPr>
          <p:cNvPr id="1026" name="Picture 2" descr="Environment and Ecology for UPSC 🇮🇳 on X: &quot;On 6th October 2023,  Government of Uttar Pradesh declared the Gangetic River Dolphin as the  state aquatic animal. In 2008, the Government of Assam">
            <a:extLst>
              <a:ext uri="{FF2B5EF4-FFF2-40B4-BE49-F238E27FC236}">
                <a16:creationId xmlns:a16="http://schemas.microsoft.com/office/drawing/2014/main" id="{F346CA1D-180E-0EB4-7238-5531E2BC4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935" y="1386742"/>
            <a:ext cx="3883892" cy="33120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13E5F0-D7AA-B7BE-389F-95F7958D3C2F}"/>
              </a:ext>
            </a:extLst>
          </p:cNvPr>
          <p:cNvSpPr txBox="1"/>
          <p:nvPr/>
        </p:nvSpPr>
        <p:spPr>
          <a:xfrm>
            <a:off x="8698638" y="977153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Ganges River Dolphin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43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2" grpId="0"/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of India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41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794" y="4584334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Flower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6480" y="5243567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Emblem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28957" y="5611279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Reptile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14" name="Picture 13" descr="download (14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015" y="2351462"/>
            <a:ext cx="3976673" cy="32598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326" y="1940810"/>
            <a:ext cx="3621348" cy="33027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 descr="images (1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2" y="1285745"/>
            <a:ext cx="3991990" cy="3298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51FF33-F467-6E6B-92AA-0126CA76933B}"/>
              </a:ext>
            </a:extLst>
          </p:cNvPr>
          <p:cNvSpPr txBox="1"/>
          <p:nvPr/>
        </p:nvSpPr>
        <p:spPr>
          <a:xfrm>
            <a:off x="617794" y="885635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Lotus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ED88E-3D1E-51BB-A200-046B9916C294}"/>
              </a:ext>
            </a:extLst>
          </p:cNvPr>
          <p:cNvSpPr txBox="1"/>
          <p:nvPr/>
        </p:nvSpPr>
        <p:spPr>
          <a:xfrm>
            <a:off x="4642757" y="925147"/>
            <a:ext cx="2906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Lion Capital of Ashoka (</a:t>
            </a:r>
            <a:r>
              <a:rPr lang="gu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અશોક મૌર્યનું સારનાથ સ્તંભશીર્ષ</a:t>
            </a:r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AF7084-3941-B1E8-476D-6CEC04926781}"/>
              </a:ext>
            </a:extLst>
          </p:cNvPr>
          <p:cNvSpPr txBox="1"/>
          <p:nvPr/>
        </p:nvSpPr>
        <p:spPr>
          <a:xfrm>
            <a:off x="8637108" y="1940810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King </a:t>
            </a:r>
            <a:r>
              <a:rPr lang="en-IN" sz="20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Kobra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13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2" grpId="0"/>
      <p:bldP spid="6" grpId="0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of India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42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42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3094" y="6188608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Heritage Animal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59664" y="5451831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Tree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20941" y="4649386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Game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1" name="Picture 20" descr="images (2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038" y="2014754"/>
            <a:ext cx="3778967" cy="34370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 descr="images (3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43" y="1207658"/>
            <a:ext cx="3807283" cy="34370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3" name="Picture 22" descr="images (4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74" y="2763020"/>
            <a:ext cx="3784327" cy="34255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682C1B-CB16-E8F3-6D53-B1577CCD200D}"/>
              </a:ext>
            </a:extLst>
          </p:cNvPr>
          <p:cNvSpPr txBox="1"/>
          <p:nvPr/>
        </p:nvSpPr>
        <p:spPr>
          <a:xfrm>
            <a:off x="553094" y="2352514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Elephant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58970-F6A5-E4BF-3A41-374490CDA805}"/>
              </a:ext>
            </a:extLst>
          </p:cNvPr>
          <p:cNvSpPr txBox="1"/>
          <p:nvPr/>
        </p:nvSpPr>
        <p:spPr>
          <a:xfrm>
            <a:off x="4631278" y="1614644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>
                <a:latin typeface="Roboto Condensed" panose="02000000000000000000" pitchFamily="2" charset="0"/>
                <a:ea typeface="Roboto Condensed" panose="02000000000000000000" pitchFamily="2" charset="0"/>
              </a:rPr>
              <a:t>Banyan Tree (</a:t>
            </a:r>
            <a:r>
              <a:rPr lang="gu-IN" sz="2000" b="1">
                <a:latin typeface="Roboto Condensed" panose="02000000000000000000" pitchFamily="2" charset="0"/>
                <a:ea typeface="Roboto Condensed" panose="02000000000000000000" pitchFamily="2" charset="0"/>
              </a:rPr>
              <a:t>વડ</a:t>
            </a:r>
            <a:r>
              <a:rPr lang="en-IN" sz="2000" b="1"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6DE84-5FA0-56ED-F9CC-4D70E9B19FD7}"/>
              </a:ext>
            </a:extLst>
          </p:cNvPr>
          <p:cNvSpPr txBox="1"/>
          <p:nvPr/>
        </p:nvSpPr>
        <p:spPr>
          <a:xfrm>
            <a:off x="8720941" y="805223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Hockey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78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" grpId="0"/>
      <p:bldP spid="4" grpId="0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National Symbols of India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43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97002" y="5929802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Anthem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28538" y="5929802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National Oath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0" name="Picture 19" descr="OIP (1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62" y="1212419"/>
            <a:ext cx="5820438" cy="4717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18CB34-5028-4E52-B9B4-FDC5DF5AEF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0"/>
          <a:stretch/>
        </p:blipFill>
        <p:spPr>
          <a:xfrm>
            <a:off x="0" y="1212419"/>
            <a:ext cx="5882243" cy="47173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C95139-13BB-5354-9CFD-B4C88CC91C72}"/>
              </a:ext>
            </a:extLst>
          </p:cNvPr>
          <p:cNvSpPr txBox="1"/>
          <p:nvPr/>
        </p:nvSpPr>
        <p:spPr>
          <a:xfrm>
            <a:off x="1597002" y="812309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Jana </a:t>
            </a:r>
            <a:r>
              <a:rPr lang="en-IN" sz="2000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Gana</a:t>
            </a:r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Mana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AB9C5-5A2A-2997-69C7-499934802762}"/>
              </a:ext>
            </a:extLst>
          </p:cNvPr>
          <p:cNvSpPr txBox="1"/>
          <p:nvPr/>
        </p:nvSpPr>
        <p:spPr>
          <a:xfrm>
            <a:off x="7828538" y="812309"/>
            <a:ext cx="2906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Oath in Preamble</a:t>
            </a:r>
            <a:endParaRPr lang="en-US" sz="2000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73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Pictures of Constituent Assembly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44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6" y="1664088"/>
            <a:ext cx="5862005" cy="3987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379" y="1664087"/>
            <a:ext cx="5841242" cy="39870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762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Pictures of Constituent Assembly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45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1EB70D-883F-9829-9A19-6BA8E6648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47" y="1474839"/>
            <a:ext cx="5869858" cy="40771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 descr="The Bengal contingent at the Constituent Assembly">
            <a:extLst>
              <a:ext uri="{FF2B5EF4-FFF2-40B4-BE49-F238E27FC236}">
                <a16:creationId xmlns:a16="http://schemas.microsoft.com/office/drawing/2014/main" id="{29254F4E-72FA-F082-41EB-93AC1FAE24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" t="9337" r="2303" b="9507"/>
          <a:stretch/>
        </p:blipFill>
        <p:spPr bwMode="auto">
          <a:xfrm>
            <a:off x="6184931" y="1474838"/>
            <a:ext cx="5869858" cy="40771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558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Pictures of Constituent Assembly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46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1" y="1671484"/>
            <a:ext cx="5684536" cy="37067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138" y="1671484"/>
            <a:ext cx="5572693" cy="37067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588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  <a:alpha val="49804"/>
            </a:scheme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/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People who contributed for Indian Constitution</a:t>
            </a:r>
            <a:endParaRPr lang="en-IN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E1C394A-EF9B-4F80-84A7-57C12E6BE7C5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47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1201"/>
            <a:ext cx="2275764" cy="26957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4170" y="3406940"/>
            <a:ext cx="2027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sz="1600" dirty="0" err="1"/>
              <a:t>Dr.</a:t>
            </a:r>
            <a:r>
              <a:rPr lang="en-IN" sz="1600" dirty="0"/>
              <a:t> </a:t>
            </a:r>
            <a:r>
              <a:rPr lang="en-IN" sz="1600" dirty="0" err="1"/>
              <a:t>Bhimrao</a:t>
            </a:r>
            <a:r>
              <a:rPr lang="en-IN" sz="1600" dirty="0"/>
              <a:t> </a:t>
            </a:r>
            <a:r>
              <a:rPr lang="en-IN" sz="1600" dirty="0" err="1"/>
              <a:t>Ambedkar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155" y="715768"/>
            <a:ext cx="2270505" cy="26911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68695" y="3406940"/>
            <a:ext cx="2027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sz="1600" dirty="0"/>
              <a:t>Jawaharlal Nehru</a:t>
            </a:r>
            <a:endParaRPr lang="en-US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051" y="711201"/>
            <a:ext cx="2267092" cy="26957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73189" y="3406940"/>
            <a:ext cx="2298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sz="1600" dirty="0"/>
              <a:t>Sardar </a:t>
            </a:r>
            <a:r>
              <a:rPr lang="en-IN" sz="1600" dirty="0" err="1"/>
              <a:t>Vallabhbhai</a:t>
            </a:r>
            <a:r>
              <a:rPr lang="en-IN" sz="1600" dirty="0"/>
              <a:t> Patel</a:t>
            </a:r>
            <a:endParaRPr lang="en-US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533" y="712759"/>
            <a:ext cx="2267094" cy="26941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11672" y="3406940"/>
            <a:ext cx="2298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US" sz="1600" dirty="0"/>
              <a:t>Dr. </a:t>
            </a:r>
            <a:r>
              <a:rPr lang="en-US" sz="1600" dirty="0" err="1"/>
              <a:t>Rajendra</a:t>
            </a:r>
            <a:r>
              <a:rPr lang="en-US" sz="1600" dirty="0"/>
              <a:t> Prasad</a:t>
            </a:r>
          </a:p>
        </p:txBody>
      </p:sp>
      <p:pic>
        <p:nvPicPr>
          <p:cNvPr id="1026" name="Picture 2" descr="https://upload.wikimedia.org/wikipedia/commons/0/07/G._V._Mavalankar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582" y="711201"/>
            <a:ext cx="2024417" cy="269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0030382" y="3406940"/>
            <a:ext cx="2298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US" sz="1600" dirty="0"/>
              <a:t>G.V. </a:t>
            </a:r>
            <a:r>
              <a:rPr lang="en-US" sz="1600" dirty="0" err="1"/>
              <a:t>Mavlankar</a:t>
            </a:r>
            <a:endParaRPr lang="en-US" sz="1600" dirty="0"/>
          </a:p>
        </p:txBody>
      </p:sp>
      <p:pic>
        <p:nvPicPr>
          <p:cNvPr id="1028" name="Picture 4" descr="https://upload.wikimedia.org/wikipedia/commons/thumb/5/5f/Bhogaraju_Pattabhi_Sitaramayya_1997_stamp_of_India.jpg/364px-Bhogaraju_Pattabhi_Sitaramayya_1997_stamp_of_India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9" b="19244"/>
          <a:stretch/>
        </p:blipFill>
        <p:spPr bwMode="auto">
          <a:xfrm>
            <a:off x="2547154" y="3929293"/>
            <a:ext cx="2270505" cy="22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2560156" y="6208095"/>
            <a:ext cx="224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sz="1600" dirty="0"/>
              <a:t>B. </a:t>
            </a:r>
            <a:r>
              <a:rPr lang="en-IN" sz="1600" dirty="0" err="1"/>
              <a:t>Pattabhi</a:t>
            </a:r>
            <a:r>
              <a:rPr lang="en-IN" sz="1600" dirty="0"/>
              <a:t> </a:t>
            </a:r>
            <a:r>
              <a:rPr lang="en-IN" sz="1600" dirty="0" err="1"/>
              <a:t>Sitaramayya</a:t>
            </a:r>
            <a:endParaRPr lang="en-US" sz="1600" dirty="0"/>
          </a:p>
        </p:txBody>
      </p:sp>
      <p:pic>
        <p:nvPicPr>
          <p:cNvPr id="1030" name="Picture 6" descr="https://upload.wikimedia.org/wikipedia/commons/thumb/c/ce/Dr_Moutri_Satyanarayan.jpg/433px-Dr_Moutri_Satyanarayan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189" y="3929293"/>
            <a:ext cx="2282954" cy="22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4973750" y="6208095"/>
            <a:ext cx="224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sz="1600" dirty="0" err="1"/>
              <a:t>Moturi</a:t>
            </a:r>
            <a:r>
              <a:rPr lang="en-IN" sz="1600" dirty="0"/>
              <a:t> </a:t>
            </a:r>
            <a:r>
              <a:rPr lang="en-IN" sz="1600" dirty="0" err="1"/>
              <a:t>Satyanarayana</a:t>
            </a:r>
            <a:endParaRPr lang="en-US" sz="1600" dirty="0"/>
          </a:p>
        </p:txBody>
      </p:sp>
      <p:pic>
        <p:nvPicPr>
          <p:cNvPr id="1032" name="Picture 8" descr="https://upload.wikimedia.org/wikipedia/commons/d/d8/K_M_Munshi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671" y="3929293"/>
            <a:ext cx="2282955" cy="227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7637276" y="6208095"/>
            <a:ext cx="224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sz="1600" dirty="0"/>
              <a:t>K.M. </a:t>
            </a:r>
            <a:r>
              <a:rPr lang="en-IN" sz="1600" dirty="0" err="1"/>
              <a:t>Munshi</a:t>
            </a:r>
            <a:endParaRPr lang="en-US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9881776" y="5403905"/>
            <a:ext cx="2244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latin typeface="Roboto Condensed" panose="02000000000000000000" pitchFamily="2" charset="0"/>
                <a:ea typeface="Roboto Condensed" panose="02000000000000000000" pitchFamily="2" charset="0"/>
              </a:defRPr>
            </a:lvl1pPr>
          </a:lstStyle>
          <a:p>
            <a:r>
              <a:rPr lang="en-IN" sz="1600" dirty="0">
                <a:solidFill>
                  <a:srgbClr val="002060"/>
                </a:solidFill>
              </a:rPr>
              <a:t>…..&amp; many known – unknown personalities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86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552CC84-22B8-4A73-8C03-84C06D1D2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189" y="805681"/>
            <a:ext cx="8223902" cy="2578780"/>
          </a:xfrm>
        </p:spPr>
        <p:txBody>
          <a:bodyPr/>
          <a:lstStyle/>
          <a:p>
            <a:br>
              <a:rPr lang="en-US" sz="9600" dirty="0">
                <a:latin typeface="Roboto Condensed" panose="02000000000000000000" pitchFamily="2" charset="0"/>
                <a:ea typeface="Roboto Condensed" panose="02000000000000000000" pitchFamily="2" charset="0"/>
              </a:rPr>
            </a:br>
            <a:r>
              <a:rPr lang="en-US" sz="96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Thank You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63176" y="0"/>
            <a:ext cx="4646358" cy="734653"/>
          </a:xfrm>
        </p:spPr>
        <p:txBody>
          <a:bodyPr/>
          <a:lstStyle/>
          <a:p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Indian Constitution</a:t>
            </a:r>
          </a:p>
          <a:p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DU #2301DU003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4248520" y="2609983"/>
            <a:ext cx="3871042" cy="1747683"/>
          </a:xfrm>
          <a:prstGeom prst="line">
            <a:avLst/>
          </a:prstGeom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194174" y="3706502"/>
            <a:ext cx="68025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A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I like the religion that teaches</a:t>
            </a:r>
          </a:p>
          <a:p>
            <a:pPr algn="ctr"/>
            <a:r>
              <a:rPr lang="de-A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de-AT" sz="2800" dirty="0">
                <a:ln w="0"/>
                <a:solidFill>
                  <a:srgbClr val="FF33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Liberty</a:t>
            </a:r>
            <a:r>
              <a:rPr lang="de-A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, </a:t>
            </a:r>
            <a:r>
              <a:rPr lang="de-AT" sz="2800" dirty="0">
                <a:ln w="0">
                  <a:solidFill>
                    <a:srgbClr val="333300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Equality</a:t>
            </a:r>
            <a:r>
              <a:rPr lang="de-A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&amp; </a:t>
            </a:r>
            <a:r>
              <a:rPr lang="de-AT" sz="280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Fraternity</a:t>
            </a:r>
            <a:r>
              <a:rPr lang="de-A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“</a:t>
            </a:r>
          </a:p>
          <a:p>
            <a:pPr algn="ctr"/>
            <a:r>
              <a:rPr lang="de-A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                                </a:t>
            </a:r>
            <a:r>
              <a:rPr lang="de-AT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ras Bold ITC" panose="020B0907030504020204" pitchFamily="34" charset="0"/>
              </a:rPr>
              <a:t>-Dr. B.R. Ambedkar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80" y="87032"/>
            <a:ext cx="1873345" cy="12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002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5|2.2|1.3|14.4|2|1.7|3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8.9|6|3.1|3.6|12.3|7.5|4|3.4|4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0.6|0.5|0.5|19.6|3.8|1.1|0.9|6.2|1|24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0.1|22.6|4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7.1|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3.6|0.9|0.8|1|15.9|4.6|1.1|1|7.5|25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4.4|0.7|0.7|0.5|22.8|9.2|2.2|25.7|46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.4|0.8|0.8|0.6|16.1|4.9|1.6|8.4|24.1|18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3.5|0.5|0.8|9.1|3.8|1.2|1.7|19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11595</TotalTime>
  <Words>2991</Words>
  <Application>Microsoft Office PowerPoint</Application>
  <PresentationFormat>Widescreen</PresentationFormat>
  <Paragraphs>475</Paragraphs>
  <Slides>48</Slides>
  <Notes>2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Arial</vt:lpstr>
      <vt:lpstr>Calibri</vt:lpstr>
      <vt:lpstr>Calibri Light</vt:lpstr>
      <vt:lpstr>Eras Bold ITC</vt:lpstr>
      <vt:lpstr>Fira Sans Extra Condensed Medium</vt:lpstr>
      <vt:lpstr>Roboto Condensed</vt:lpstr>
      <vt:lpstr>Roboto Condensed Light</vt:lpstr>
      <vt:lpstr>Wingdings</vt:lpstr>
      <vt:lpstr>Wingdings 3</vt:lpstr>
      <vt:lpstr>Office Theme</vt:lpstr>
      <vt:lpstr>3_Office Theme</vt:lpstr>
      <vt:lpstr>Unit – 1 Forms of Government &amp; Constitutional Framework</vt:lpstr>
      <vt:lpstr>PowerPoint Presentation</vt:lpstr>
      <vt:lpstr>Government  (Forms of Government : Monarchy, Oligarchy, Democracy, Dictatorship, Socialism)</vt:lpstr>
      <vt:lpstr>Government: Definition &amp; Types</vt:lpstr>
      <vt:lpstr>Forms of Govt. in the world</vt:lpstr>
      <vt:lpstr>Forms of Govt. in the world</vt:lpstr>
      <vt:lpstr>Forms of Govt. in the world</vt:lpstr>
      <vt:lpstr>Forms of Govt. in the world</vt:lpstr>
      <vt:lpstr>Forms of Govt. in the world</vt:lpstr>
      <vt:lpstr>Forms of Govt. in the world</vt:lpstr>
      <vt:lpstr>Forms of Govt. in the world</vt:lpstr>
      <vt:lpstr>Forms of Govt. in the world</vt:lpstr>
      <vt:lpstr>Forms of Govt. in the world</vt:lpstr>
      <vt:lpstr>Forms of Govt. in the world</vt:lpstr>
      <vt:lpstr>Meaning of the Constitution </vt:lpstr>
      <vt:lpstr>Constitution</vt:lpstr>
      <vt:lpstr>Constitution</vt:lpstr>
      <vt:lpstr>History of Indian Constitution</vt:lpstr>
      <vt:lpstr>Facts of Indian Constitution</vt:lpstr>
      <vt:lpstr>Facts of Indian Constitution</vt:lpstr>
      <vt:lpstr>Facts of Indian Constitution</vt:lpstr>
      <vt:lpstr>Historical Background of the Constituent Assembly</vt:lpstr>
      <vt:lpstr>Historical Background of the Constituent Assembly</vt:lpstr>
      <vt:lpstr>Historical Background of the Constituent Assembly</vt:lpstr>
      <vt:lpstr>Constituent Assembly</vt:lpstr>
      <vt:lpstr>Government of India Act of 1935  and  Indian Independence Act of 1947</vt:lpstr>
      <vt:lpstr>Government of India Act 1935</vt:lpstr>
      <vt:lpstr>Indian Independence Act of 1947</vt:lpstr>
      <vt:lpstr>Indian Independence Act of 1947</vt:lpstr>
      <vt:lpstr>Indian Independence Act of 1947</vt:lpstr>
      <vt:lpstr>Salient features of Constitution</vt:lpstr>
      <vt:lpstr>Salient Features of Indian Constitution</vt:lpstr>
      <vt:lpstr>Details on Indian Constitution</vt:lpstr>
      <vt:lpstr>Constitution of India – Major Features</vt:lpstr>
      <vt:lpstr>Constitution of India – Major Features</vt:lpstr>
      <vt:lpstr>Constitution of India – Major Features</vt:lpstr>
      <vt:lpstr>National Symbols</vt:lpstr>
      <vt:lpstr>National Symbols of India</vt:lpstr>
      <vt:lpstr>National Symbols of India</vt:lpstr>
      <vt:lpstr>National Symbols of India</vt:lpstr>
      <vt:lpstr>National Symbols of India</vt:lpstr>
      <vt:lpstr>National Symbols of India</vt:lpstr>
      <vt:lpstr>National Symbols of India</vt:lpstr>
      <vt:lpstr>Pictures of Constituent Assembly</vt:lpstr>
      <vt:lpstr>Pictures of Constituent Assembly</vt:lpstr>
      <vt:lpstr>Pictures of Constituent Assembly</vt:lpstr>
      <vt:lpstr>People who contributed for Indian Constitution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 – 1 Water Supply System</dc:title>
  <dc:creator>Lenovo</dc:creator>
  <cp:lastModifiedBy>Deepraj Patadia</cp:lastModifiedBy>
  <cp:revision>398</cp:revision>
  <dcterms:created xsi:type="dcterms:W3CDTF">2023-05-13T06:25:56Z</dcterms:created>
  <dcterms:modified xsi:type="dcterms:W3CDTF">2026-05-22T05:40:24Z</dcterms:modified>
</cp:coreProperties>
</file>