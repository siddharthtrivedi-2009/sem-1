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6"/>
  </p:notesMasterIdLst>
  <p:handoutMasterIdLst>
    <p:handoutMasterId r:id="rId47"/>
  </p:handoutMasterIdLst>
  <p:sldIdLst>
    <p:sldId id="378" r:id="rId2"/>
    <p:sldId id="429" r:id="rId3"/>
    <p:sldId id="434" r:id="rId4"/>
    <p:sldId id="399" r:id="rId5"/>
    <p:sldId id="400" r:id="rId6"/>
    <p:sldId id="435" r:id="rId7"/>
    <p:sldId id="379" r:id="rId8"/>
    <p:sldId id="436" r:id="rId9"/>
    <p:sldId id="428" r:id="rId10"/>
    <p:sldId id="402" r:id="rId11"/>
    <p:sldId id="403" r:id="rId12"/>
    <p:sldId id="404" r:id="rId13"/>
    <p:sldId id="405" r:id="rId14"/>
    <p:sldId id="406" r:id="rId15"/>
    <p:sldId id="407" r:id="rId16"/>
    <p:sldId id="408" r:id="rId17"/>
    <p:sldId id="409" r:id="rId18"/>
    <p:sldId id="410" r:id="rId19"/>
    <p:sldId id="442" r:id="rId20"/>
    <p:sldId id="437" r:id="rId21"/>
    <p:sldId id="411" r:id="rId22"/>
    <p:sldId id="412" r:id="rId23"/>
    <p:sldId id="413" r:id="rId24"/>
    <p:sldId id="441" r:id="rId25"/>
    <p:sldId id="414" r:id="rId26"/>
    <p:sldId id="416" r:id="rId27"/>
    <p:sldId id="430" r:id="rId28"/>
    <p:sldId id="431" r:id="rId29"/>
    <p:sldId id="432" r:id="rId30"/>
    <p:sldId id="415" r:id="rId31"/>
    <p:sldId id="417" r:id="rId32"/>
    <p:sldId id="438" r:id="rId33"/>
    <p:sldId id="418" r:id="rId34"/>
    <p:sldId id="419" r:id="rId35"/>
    <p:sldId id="420" r:id="rId36"/>
    <p:sldId id="421" r:id="rId37"/>
    <p:sldId id="439" r:id="rId38"/>
    <p:sldId id="422" r:id="rId39"/>
    <p:sldId id="423" r:id="rId40"/>
    <p:sldId id="424" r:id="rId41"/>
    <p:sldId id="425" r:id="rId42"/>
    <p:sldId id="440" r:id="rId43"/>
    <p:sldId id="426" r:id="rId44"/>
    <p:sldId id="433" r:id="rId45"/>
  </p:sldIdLst>
  <p:sldSz cx="12192000" cy="6858000"/>
  <p:notesSz cx="6858000" cy="9144000"/>
  <p:embeddedFontLst>
    <p:embeddedFont>
      <p:font typeface="Roboto Condensed" panose="02000000000000000000" pitchFamily="2" charset="0"/>
      <p:regular r:id="rId48"/>
      <p:bold r:id="rId49"/>
      <p:italic r:id="rId50"/>
      <p:boldItalic r:id="rId51"/>
    </p:embeddedFont>
    <p:embeddedFont>
      <p:font typeface="Roboto Condensed Light" panose="02000000000000000000" pitchFamily="2" charset="0"/>
      <p:regular r:id="rId52"/>
      <p:italic r:id="rId53"/>
    </p:embeddedFont>
    <p:embeddedFont>
      <p:font typeface="Shruti" panose="020B0502040204020203" pitchFamily="34" charset="0"/>
      <p:regular r:id="rId54"/>
      <p:bold r:id="rId55"/>
    </p:embeddedFont>
    <p:embeddedFont>
      <p:font typeface="Wingdings 2" panose="05020102010507070707" pitchFamily="18" charset="2"/>
      <p:regular r:id="rId56"/>
    </p:embeddedFont>
    <p:embeddedFont>
      <p:font typeface="Wingdings 3" panose="05040102010807070707" pitchFamily="18" charset="2"/>
      <p:regular r:id="rId5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G3QNGqPtPC6HOr+ISH14kQ==" hashData="9qwIRKhCJSJqFzhupLagBflgIXdKoi0CtjPa+zjM47o68mvoX0fdqkpB+LgJdaLB1bP9dRjNWD10B9nGNEMgSg=="/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3064"/>
    <a:srgbClr val="4F6773"/>
    <a:srgbClr val="273238"/>
    <a:srgbClr val="AD433E"/>
    <a:srgbClr val="8C3632"/>
    <a:srgbClr val="933935"/>
    <a:srgbClr val="712B28"/>
    <a:srgbClr val="6B2926"/>
    <a:srgbClr val="B24540"/>
    <a:srgbClr val="8B36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234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56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3954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font" Target="fonts/font3.fntdata"/><Relationship Id="rId55" Type="http://schemas.openxmlformats.org/officeDocument/2006/relationships/font" Target="fonts/font8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6.fntdata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1.fntdata"/><Relationship Id="rId56" Type="http://schemas.openxmlformats.org/officeDocument/2006/relationships/font" Target="fonts/font9.fntdata"/><Relationship Id="rId8" Type="http://schemas.openxmlformats.org/officeDocument/2006/relationships/slide" Target="slides/slide7.xml"/><Relationship Id="rId51" Type="http://schemas.openxmlformats.org/officeDocument/2006/relationships/font" Target="fonts/font4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2.fntdata"/><Relationship Id="rId57" Type="http://schemas.openxmlformats.org/officeDocument/2006/relationships/font" Target="fonts/font10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5.fntdata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F217277-2583-4036-BB08-7CDA30D2548F}" type="doc">
      <dgm:prSet loTypeId="urn:microsoft.com/office/officeart/2005/8/layout/matrix3" loCatId="matrix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IN"/>
        </a:p>
      </dgm:t>
    </dgm:pt>
    <dgm:pt modelId="{22391B6A-8482-484E-88B3-361D5003CC5C}">
      <dgm:prSet/>
      <dgm:spPr/>
      <dgm:t>
        <a:bodyPr/>
        <a:lstStyle/>
        <a:p>
          <a:r>
            <a:rPr lang="en-US" b="1"/>
            <a:t>Atmosphere</a:t>
          </a:r>
          <a:endParaRPr lang="en-IN" b="1" dirty="0"/>
        </a:p>
      </dgm:t>
    </dgm:pt>
    <dgm:pt modelId="{1CE25A3B-09C5-44C7-BD85-DDD389DEE812}" type="parTrans" cxnId="{39384FFE-0634-4794-9732-9CAB617EFF84}">
      <dgm:prSet/>
      <dgm:spPr/>
      <dgm:t>
        <a:bodyPr/>
        <a:lstStyle/>
        <a:p>
          <a:endParaRPr lang="en-IN"/>
        </a:p>
      </dgm:t>
    </dgm:pt>
    <dgm:pt modelId="{C05E6D74-BE5C-4A4A-83E6-A635431268AC}" type="sibTrans" cxnId="{39384FFE-0634-4794-9732-9CAB617EFF84}">
      <dgm:prSet/>
      <dgm:spPr/>
      <dgm:t>
        <a:bodyPr/>
        <a:lstStyle/>
        <a:p>
          <a:endParaRPr lang="en-IN"/>
        </a:p>
      </dgm:t>
    </dgm:pt>
    <dgm:pt modelId="{B8CEF206-F9BD-4E8A-ADD8-F1362F778869}">
      <dgm:prSet custT="1"/>
      <dgm:spPr/>
      <dgm:t>
        <a:bodyPr/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>
              <a:latin typeface="Roboto Condensed"/>
              <a:ea typeface="+mn-ea"/>
              <a:cs typeface="+mn-cs"/>
            </a:rPr>
            <a:t>Hydrosphere</a:t>
          </a:r>
          <a:endParaRPr lang="en-IN" sz="2500" b="1" kern="1200" dirty="0">
            <a:latin typeface="Roboto Condensed"/>
            <a:ea typeface="+mn-ea"/>
            <a:cs typeface="+mn-cs"/>
          </a:endParaRPr>
        </a:p>
      </dgm:t>
    </dgm:pt>
    <dgm:pt modelId="{ABD2D30B-902C-4278-8992-1F4B007648F0}" type="parTrans" cxnId="{96AD2461-E894-407D-8E2E-C56801830DA3}">
      <dgm:prSet/>
      <dgm:spPr/>
      <dgm:t>
        <a:bodyPr/>
        <a:lstStyle/>
        <a:p>
          <a:endParaRPr lang="en-IN"/>
        </a:p>
      </dgm:t>
    </dgm:pt>
    <dgm:pt modelId="{7BF2C587-5ED2-41C9-BF48-F8178B704F07}" type="sibTrans" cxnId="{96AD2461-E894-407D-8E2E-C56801830DA3}">
      <dgm:prSet/>
      <dgm:spPr/>
      <dgm:t>
        <a:bodyPr/>
        <a:lstStyle/>
        <a:p>
          <a:endParaRPr lang="en-IN"/>
        </a:p>
      </dgm:t>
    </dgm:pt>
    <dgm:pt modelId="{62DBB06E-1B35-4AEC-A463-4D08EDB37A4F}">
      <dgm:prSet custT="1"/>
      <dgm:spPr/>
      <dgm:t>
        <a:bodyPr/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>
              <a:latin typeface="Roboto Condensed"/>
              <a:ea typeface="+mn-ea"/>
              <a:cs typeface="+mn-cs"/>
            </a:rPr>
            <a:t>Lithosphere</a:t>
          </a:r>
          <a:endParaRPr lang="en-IN" sz="2500" b="1" kern="1200" dirty="0">
            <a:latin typeface="Roboto Condensed"/>
            <a:ea typeface="+mn-ea"/>
            <a:cs typeface="+mn-cs"/>
          </a:endParaRPr>
        </a:p>
      </dgm:t>
    </dgm:pt>
    <dgm:pt modelId="{89681A14-6A03-49A5-A5CE-177AAEDEF4E9}" type="parTrans" cxnId="{FD640F05-2F66-4B5E-9E23-D676DB88E49F}">
      <dgm:prSet/>
      <dgm:spPr/>
      <dgm:t>
        <a:bodyPr/>
        <a:lstStyle/>
        <a:p>
          <a:endParaRPr lang="en-IN"/>
        </a:p>
      </dgm:t>
    </dgm:pt>
    <dgm:pt modelId="{465FE987-3450-4AC4-B602-68A3FEAAD75A}" type="sibTrans" cxnId="{FD640F05-2F66-4B5E-9E23-D676DB88E49F}">
      <dgm:prSet/>
      <dgm:spPr/>
      <dgm:t>
        <a:bodyPr/>
        <a:lstStyle/>
        <a:p>
          <a:endParaRPr lang="en-IN"/>
        </a:p>
      </dgm:t>
    </dgm:pt>
    <dgm:pt modelId="{628E0BFF-247A-4C1A-AB8A-5D5076BD2935}">
      <dgm:prSet custT="1"/>
      <dgm:spPr/>
      <dgm:t>
        <a:bodyPr/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>
              <a:latin typeface="Roboto Condensed"/>
              <a:ea typeface="+mn-ea"/>
              <a:cs typeface="+mn-cs"/>
            </a:rPr>
            <a:t>Biosphere</a:t>
          </a:r>
          <a:endParaRPr lang="en-IN" sz="2500" b="1" kern="1200" dirty="0">
            <a:latin typeface="Roboto Condensed"/>
            <a:ea typeface="+mn-ea"/>
            <a:cs typeface="+mn-cs"/>
          </a:endParaRPr>
        </a:p>
      </dgm:t>
    </dgm:pt>
    <dgm:pt modelId="{1A7D1E14-0699-4741-9ECB-AB0FD1AA4ADD}" type="parTrans" cxnId="{2985E6D1-74A9-4296-99F7-5FE887961AA4}">
      <dgm:prSet/>
      <dgm:spPr/>
      <dgm:t>
        <a:bodyPr/>
        <a:lstStyle/>
        <a:p>
          <a:endParaRPr lang="en-IN"/>
        </a:p>
      </dgm:t>
    </dgm:pt>
    <dgm:pt modelId="{0294D852-1C7E-4D6D-A38E-613BEF572C1D}" type="sibTrans" cxnId="{2985E6D1-74A9-4296-99F7-5FE887961AA4}">
      <dgm:prSet/>
      <dgm:spPr/>
      <dgm:t>
        <a:bodyPr/>
        <a:lstStyle/>
        <a:p>
          <a:endParaRPr lang="en-IN"/>
        </a:p>
      </dgm:t>
    </dgm:pt>
    <dgm:pt modelId="{15E0FF3F-EDC6-4DE2-8EFF-5C1E68F64F3A}" type="pres">
      <dgm:prSet presAssocID="{CF217277-2583-4036-BB08-7CDA30D2548F}" presName="matrix" presStyleCnt="0">
        <dgm:presLayoutVars>
          <dgm:chMax val="1"/>
          <dgm:dir/>
          <dgm:resizeHandles val="exact"/>
        </dgm:presLayoutVars>
      </dgm:prSet>
      <dgm:spPr/>
    </dgm:pt>
    <dgm:pt modelId="{EDE27B3F-6E87-43DF-AF7D-CFA3C02D6930}" type="pres">
      <dgm:prSet presAssocID="{CF217277-2583-4036-BB08-7CDA30D2548F}" presName="diamond" presStyleLbl="bgShp" presStyleIdx="0" presStyleCnt="1"/>
      <dgm:spPr/>
    </dgm:pt>
    <dgm:pt modelId="{FEB49B03-D246-4BDF-9A94-919355335E92}" type="pres">
      <dgm:prSet presAssocID="{CF217277-2583-4036-BB08-7CDA30D2548F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574D5D26-7CF9-4042-9F5C-3E27FE4AA355}" type="pres">
      <dgm:prSet presAssocID="{CF217277-2583-4036-BB08-7CDA30D2548F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5B40530C-8BCD-48BD-96B8-7172D40F4FFC}" type="pres">
      <dgm:prSet presAssocID="{CF217277-2583-4036-BB08-7CDA30D2548F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744712AC-656A-4BBB-813D-C2CBE88B6C6F}" type="pres">
      <dgm:prSet presAssocID="{CF217277-2583-4036-BB08-7CDA30D2548F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FD640F05-2F66-4B5E-9E23-D676DB88E49F}" srcId="{CF217277-2583-4036-BB08-7CDA30D2548F}" destId="{62DBB06E-1B35-4AEC-A463-4D08EDB37A4F}" srcOrd="2" destOrd="0" parTransId="{89681A14-6A03-49A5-A5CE-177AAEDEF4E9}" sibTransId="{465FE987-3450-4AC4-B602-68A3FEAAD75A}"/>
    <dgm:cxn modelId="{96AD2461-E894-407D-8E2E-C56801830DA3}" srcId="{CF217277-2583-4036-BB08-7CDA30D2548F}" destId="{B8CEF206-F9BD-4E8A-ADD8-F1362F778869}" srcOrd="1" destOrd="0" parTransId="{ABD2D30B-902C-4278-8992-1F4B007648F0}" sibTransId="{7BF2C587-5ED2-41C9-BF48-F8178B704F07}"/>
    <dgm:cxn modelId="{B2D63261-C023-4DD3-BECE-E503ED69D02F}" type="presOf" srcId="{628E0BFF-247A-4C1A-AB8A-5D5076BD2935}" destId="{744712AC-656A-4BBB-813D-C2CBE88B6C6F}" srcOrd="0" destOrd="0" presId="urn:microsoft.com/office/officeart/2005/8/layout/matrix3"/>
    <dgm:cxn modelId="{6F944B94-42F6-43F7-ADDF-3E3BBC0BAD03}" type="presOf" srcId="{62DBB06E-1B35-4AEC-A463-4D08EDB37A4F}" destId="{5B40530C-8BCD-48BD-96B8-7172D40F4FFC}" srcOrd="0" destOrd="0" presId="urn:microsoft.com/office/officeart/2005/8/layout/matrix3"/>
    <dgm:cxn modelId="{E389939C-DD75-402C-95F4-B181F1315A30}" type="presOf" srcId="{22391B6A-8482-484E-88B3-361D5003CC5C}" destId="{FEB49B03-D246-4BDF-9A94-919355335E92}" srcOrd="0" destOrd="0" presId="urn:microsoft.com/office/officeart/2005/8/layout/matrix3"/>
    <dgm:cxn modelId="{ABA23AA3-9C94-450C-A5A9-202835A393B1}" type="presOf" srcId="{B8CEF206-F9BD-4E8A-ADD8-F1362F778869}" destId="{574D5D26-7CF9-4042-9F5C-3E27FE4AA355}" srcOrd="0" destOrd="0" presId="urn:microsoft.com/office/officeart/2005/8/layout/matrix3"/>
    <dgm:cxn modelId="{2985E6D1-74A9-4296-99F7-5FE887961AA4}" srcId="{CF217277-2583-4036-BB08-7CDA30D2548F}" destId="{628E0BFF-247A-4C1A-AB8A-5D5076BD2935}" srcOrd="3" destOrd="0" parTransId="{1A7D1E14-0699-4741-9ECB-AB0FD1AA4ADD}" sibTransId="{0294D852-1C7E-4D6D-A38E-613BEF572C1D}"/>
    <dgm:cxn modelId="{E0DA6DD8-AB33-438B-B806-2C62949789E4}" type="presOf" srcId="{CF217277-2583-4036-BB08-7CDA30D2548F}" destId="{15E0FF3F-EDC6-4DE2-8EFF-5C1E68F64F3A}" srcOrd="0" destOrd="0" presId="urn:microsoft.com/office/officeart/2005/8/layout/matrix3"/>
    <dgm:cxn modelId="{39384FFE-0634-4794-9732-9CAB617EFF84}" srcId="{CF217277-2583-4036-BB08-7CDA30D2548F}" destId="{22391B6A-8482-484E-88B3-361D5003CC5C}" srcOrd="0" destOrd="0" parTransId="{1CE25A3B-09C5-44C7-BD85-DDD389DEE812}" sibTransId="{C05E6D74-BE5C-4A4A-83E6-A635431268AC}"/>
    <dgm:cxn modelId="{9408CC7B-A15D-425B-ACAE-AA6C59017BBC}" type="presParOf" srcId="{15E0FF3F-EDC6-4DE2-8EFF-5C1E68F64F3A}" destId="{EDE27B3F-6E87-43DF-AF7D-CFA3C02D6930}" srcOrd="0" destOrd="0" presId="urn:microsoft.com/office/officeart/2005/8/layout/matrix3"/>
    <dgm:cxn modelId="{0D878A36-8FC6-4396-93CF-1729617329F4}" type="presParOf" srcId="{15E0FF3F-EDC6-4DE2-8EFF-5C1E68F64F3A}" destId="{FEB49B03-D246-4BDF-9A94-919355335E92}" srcOrd="1" destOrd="0" presId="urn:microsoft.com/office/officeart/2005/8/layout/matrix3"/>
    <dgm:cxn modelId="{ADD1C78C-83A7-4CE3-8F06-B7E3039F7371}" type="presParOf" srcId="{15E0FF3F-EDC6-4DE2-8EFF-5C1E68F64F3A}" destId="{574D5D26-7CF9-4042-9F5C-3E27FE4AA355}" srcOrd="2" destOrd="0" presId="urn:microsoft.com/office/officeart/2005/8/layout/matrix3"/>
    <dgm:cxn modelId="{FBA450EE-8F68-4D69-B641-114866A3F897}" type="presParOf" srcId="{15E0FF3F-EDC6-4DE2-8EFF-5C1E68F64F3A}" destId="{5B40530C-8BCD-48BD-96B8-7172D40F4FFC}" srcOrd="3" destOrd="0" presId="urn:microsoft.com/office/officeart/2005/8/layout/matrix3"/>
    <dgm:cxn modelId="{A0886A53-7E00-4A8A-83C3-5EE74DB5B920}" type="presParOf" srcId="{15E0FF3F-EDC6-4DE2-8EFF-5C1E68F64F3A}" destId="{744712AC-656A-4BBB-813D-C2CBE88B6C6F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E27B3F-6E87-43DF-AF7D-CFA3C02D6930}">
      <dsp:nvSpPr>
        <dsp:cNvPr id="0" name=""/>
        <dsp:cNvSpPr/>
      </dsp:nvSpPr>
      <dsp:spPr>
        <a:xfrm>
          <a:off x="3168650" y="0"/>
          <a:ext cx="5591175" cy="559117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B49B03-D246-4BDF-9A94-919355335E92}">
      <dsp:nvSpPr>
        <dsp:cNvPr id="0" name=""/>
        <dsp:cNvSpPr/>
      </dsp:nvSpPr>
      <dsp:spPr>
        <a:xfrm>
          <a:off x="3699811" y="531161"/>
          <a:ext cx="2180558" cy="218055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/>
            <a:t>Atmosphere</a:t>
          </a:r>
          <a:endParaRPr lang="en-IN" sz="2800" b="1" kern="1200" dirty="0"/>
        </a:p>
      </dsp:txBody>
      <dsp:txXfrm>
        <a:off x="3806257" y="637607"/>
        <a:ext cx="1967666" cy="1967666"/>
      </dsp:txXfrm>
    </dsp:sp>
    <dsp:sp modelId="{574D5D26-7CF9-4042-9F5C-3E27FE4AA355}">
      <dsp:nvSpPr>
        <dsp:cNvPr id="0" name=""/>
        <dsp:cNvSpPr/>
      </dsp:nvSpPr>
      <dsp:spPr>
        <a:xfrm>
          <a:off x="6048105" y="531161"/>
          <a:ext cx="2180558" cy="218055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>
              <a:latin typeface="Roboto Condensed"/>
              <a:ea typeface="+mn-ea"/>
              <a:cs typeface="+mn-cs"/>
            </a:rPr>
            <a:t>Hydrosphere</a:t>
          </a:r>
          <a:endParaRPr lang="en-IN" sz="2500" b="1" kern="1200" dirty="0">
            <a:latin typeface="Roboto Condensed"/>
            <a:ea typeface="+mn-ea"/>
            <a:cs typeface="+mn-cs"/>
          </a:endParaRPr>
        </a:p>
      </dsp:txBody>
      <dsp:txXfrm>
        <a:off x="6154551" y="637607"/>
        <a:ext cx="1967666" cy="1967666"/>
      </dsp:txXfrm>
    </dsp:sp>
    <dsp:sp modelId="{5B40530C-8BCD-48BD-96B8-7172D40F4FFC}">
      <dsp:nvSpPr>
        <dsp:cNvPr id="0" name=""/>
        <dsp:cNvSpPr/>
      </dsp:nvSpPr>
      <dsp:spPr>
        <a:xfrm>
          <a:off x="3699811" y="2879455"/>
          <a:ext cx="2180558" cy="218055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>
              <a:latin typeface="Roboto Condensed"/>
              <a:ea typeface="+mn-ea"/>
              <a:cs typeface="+mn-cs"/>
            </a:rPr>
            <a:t>Lithosphere</a:t>
          </a:r>
          <a:endParaRPr lang="en-IN" sz="2500" b="1" kern="1200" dirty="0">
            <a:latin typeface="Roboto Condensed"/>
            <a:ea typeface="+mn-ea"/>
            <a:cs typeface="+mn-cs"/>
          </a:endParaRPr>
        </a:p>
      </dsp:txBody>
      <dsp:txXfrm>
        <a:off x="3806257" y="2985901"/>
        <a:ext cx="1967666" cy="1967666"/>
      </dsp:txXfrm>
    </dsp:sp>
    <dsp:sp modelId="{744712AC-656A-4BBB-813D-C2CBE88B6C6F}">
      <dsp:nvSpPr>
        <dsp:cNvPr id="0" name=""/>
        <dsp:cNvSpPr/>
      </dsp:nvSpPr>
      <dsp:spPr>
        <a:xfrm>
          <a:off x="6048105" y="2879455"/>
          <a:ext cx="2180558" cy="218055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>
              <a:latin typeface="Roboto Condensed"/>
              <a:ea typeface="+mn-ea"/>
              <a:cs typeface="+mn-cs"/>
            </a:rPr>
            <a:t>Biosphere</a:t>
          </a:r>
          <a:endParaRPr lang="en-IN" sz="2500" b="1" kern="1200" dirty="0">
            <a:latin typeface="Roboto Condensed"/>
            <a:ea typeface="+mn-ea"/>
            <a:cs typeface="+mn-cs"/>
          </a:endParaRPr>
        </a:p>
      </dsp:txBody>
      <dsp:txXfrm>
        <a:off x="6154551" y="2985901"/>
        <a:ext cx="1967666" cy="19676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84B952A-6A93-4977-8ECA-14F96CF63F8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852CCB-65AC-4BD0-8D89-3FDB28D0A0A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9BD58B-2584-4713-BDD8-A0470CDAF42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75FE77-DA86-44AE-A7EF-54A89159D36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ED6038-817E-497E-ACE8-022E5CDE38C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612124-58A2-4D56-BB05-D23DC5DFB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195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microsoft.com/office/2007/relationships/hdphoto" Target="../media/hdphoto2.wdp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microsoft.com/office/2007/relationships/hdphoto" Target="../media/hdphoto2.wdp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microsoft.com/office/2007/relationships/hdphoto" Target="../media/hdphoto2.wdp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microsoft.com/office/2007/relationships/hdphoto" Target="../media/hdphoto2.wdp"/><Relationship Id="rId5" Type="http://schemas.openxmlformats.org/officeDocument/2006/relationships/image" Target="../media/image9.png"/><Relationship Id="rId4" Type="http://schemas.microsoft.com/office/2007/relationships/hdphoto" Target="../media/hdphoto3.wdp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microsoft.com/office/2007/relationships/hdphoto" Target="../media/hdphoto2.wdp"/><Relationship Id="rId5" Type="http://schemas.openxmlformats.org/officeDocument/2006/relationships/image" Target="../media/image9.png"/><Relationship Id="rId4" Type="http://schemas.microsoft.com/office/2007/relationships/hdphoto" Target="../media/hdphoto3.wdp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6.jpe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6.jpeg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13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microsoft.com/office/2007/relationships/hdphoto" Target="../media/hdphoto4.wdp"/><Relationship Id="rId10" Type="http://schemas.openxmlformats.org/officeDocument/2006/relationships/image" Target="../media/image17.png"/><Relationship Id="rId4" Type="http://schemas.openxmlformats.org/officeDocument/2006/relationships/image" Target="../media/image14.png"/><Relationship Id="rId9" Type="http://schemas.openxmlformats.org/officeDocument/2006/relationships/image" Target="../media/image16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-23383" y="-9237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-26376" y="5914123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40112" y="5585069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06848A-5779-4765-8B57-16A8CC157536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4945" y="154649"/>
            <a:ext cx="2246641" cy="683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Arjun C. Chavada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30447" y="6024144"/>
            <a:ext cx="1446706" cy="471988"/>
          </a:xfrm>
          <a:prstGeom prst="rect">
            <a:avLst/>
          </a:prstGeom>
        </p:spPr>
      </p:pic>
      <p:sp>
        <p:nvSpPr>
          <p:cNvPr id="12" name="Footer Placeholder 2">
            <a:extLst>
              <a:ext uri="{FF2B5EF4-FFF2-40B4-BE49-F238E27FC236}">
                <a16:creationId xmlns:a16="http://schemas.microsoft.com/office/drawing/2014/main" id="{4601C2DB-9405-42AA-8238-4CB4CDC3D116}"/>
              </a:ext>
            </a:extLst>
          </p:cNvPr>
          <p:cNvSpPr txBox="1">
            <a:spLocks/>
          </p:cNvSpPr>
          <p:nvPr userDrawn="1"/>
        </p:nvSpPr>
        <p:spPr>
          <a:xfrm>
            <a:off x="4038599" y="6604000"/>
            <a:ext cx="433167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Unit 1 – Multidisciplinary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Nature of Environment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4311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Arjun C. Chavada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8094" y="6068934"/>
            <a:ext cx="1446706" cy="47198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2" name="Footer Placeholder 2">
            <a:extLst>
              <a:ext uri="{FF2B5EF4-FFF2-40B4-BE49-F238E27FC236}">
                <a16:creationId xmlns:a16="http://schemas.microsoft.com/office/drawing/2014/main" id="{777A2345-506F-4865-B6F8-6C1BACB3888E}"/>
              </a:ext>
            </a:extLst>
          </p:cNvPr>
          <p:cNvSpPr txBox="1">
            <a:spLocks/>
          </p:cNvSpPr>
          <p:nvPr userDrawn="1"/>
        </p:nvSpPr>
        <p:spPr>
          <a:xfrm>
            <a:off x="4038599" y="6604000"/>
            <a:ext cx="433167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Unit 1 – Multidisciplinary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Nature of Environment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1951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Arjun C. Chavada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599" y="6604000"/>
            <a:ext cx="433167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Unit 1 – Multidisciplinary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Nature of Environment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4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52215" y="861192"/>
            <a:ext cx="1446706" cy="47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902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Arjun C. Chavada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30447" y="156924"/>
            <a:ext cx="1446706" cy="471988"/>
          </a:xfrm>
          <a:prstGeom prst="rect">
            <a:avLst/>
          </a:prstGeom>
        </p:spPr>
      </p:pic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B00DB510-4FAC-4912-BFD3-97DE1CEAFC88}"/>
              </a:ext>
            </a:extLst>
          </p:cNvPr>
          <p:cNvSpPr txBox="1">
            <a:spLocks/>
          </p:cNvSpPr>
          <p:nvPr userDrawn="1"/>
        </p:nvSpPr>
        <p:spPr>
          <a:xfrm>
            <a:off x="4038599" y="6604000"/>
            <a:ext cx="433167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Unit 1 – Multidisciplinary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Nature of Environment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6495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Arjun C. Chavada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30447" y="6024144"/>
            <a:ext cx="1446706" cy="471988"/>
          </a:xfrm>
          <a:prstGeom prst="rect">
            <a:avLst/>
          </a:prstGeom>
        </p:spPr>
      </p:pic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E1A465D0-3012-4A08-BA38-DAC53AC60F54}"/>
              </a:ext>
            </a:extLst>
          </p:cNvPr>
          <p:cNvSpPr txBox="1">
            <a:spLocks/>
          </p:cNvSpPr>
          <p:nvPr userDrawn="1"/>
        </p:nvSpPr>
        <p:spPr>
          <a:xfrm>
            <a:off x="4038599" y="6604000"/>
            <a:ext cx="433167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Unit 1 – Multidisciplinary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Nature of Environment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7031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Arjun C. Chavada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8094" y="6068934"/>
            <a:ext cx="1446706" cy="471988"/>
          </a:xfrm>
          <a:prstGeom prst="rect">
            <a:avLst/>
          </a:prstGeom>
        </p:spPr>
      </p:pic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F36C4651-2DBE-4B4E-A890-624159C49FE5}"/>
              </a:ext>
            </a:extLst>
          </p:cNvPr>
          <p:cNvSpPr txBox="1">
            <a:spLocks/>
          </p:cNvSpPr>
          <p:nvPr userDrawn="1"/>
        </p:nvSpPr>
        <p:spPr>
          <a:xfrm>
            <a:off x="4038599" y="6604000"/>
            <a:ext cx="433167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Unit 1 – Multidisciplinary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Nature of Environment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2101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6042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24097" y="6272216"/>
            <a:ext cx="1446706" cy="47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588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24097" y="6272216"/>
            <a:ext cx="1446706" cy="47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059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-63248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-61098" y="5925715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57E55A6B-E39F-4236-B700-8085FBEFF8F2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4945" y="154649"/>
            <a:ext cx="2246641" cy="683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DC935499-E3DD-4513-B49A-D55BA94EF5F7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4945" y="154649"/>
            <a:ext cx="2246641" cy="683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52B6674-A432-42A4-A60C-2FF505CF4DE4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4945" y="154649"/>
            <a:ext cx="2246641" cy="683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C42A553-EF12-4784-A159-C984CDDA18D5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4945" y="154649"/>
            <a:ext cx="2246641" cy="683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D01FEDC-9640-40DA-892C-AC30D9071867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4945" y="154649"/>
            <a:ext cx="2246641" cy="683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-21931" y="1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192814" y="17395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Unit-1 </a:t>
            </a:r>
            <a:br>
              <a:rPr lang="en-US" dirty="0"/>
            </a:br>
            <a:r>
              <a:rPr lang="en-US" dirty="0"/>
              <a:t>Properties of Fluids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Arjun.chavada@darshan.ac.in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8200802523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Department of Civil Engineering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33564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baseline="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Prof. Arjun </a:t>
            </a:r>
            <a:r>
              <a:rPr lang="en-US" dirty="0" err="1"/>
              <a:t>Chavada</a:t>
            </a:r>
            <a:endParaRPr lang="en-US" dirty="0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-137181" y="1301925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Fluid Mechanics &amp; Hydraulics(FMH)</a:t>
            </a:r>
          </a:p>
          <a:p>
            <a:pPr lvl="0"/>
            <a:r>
              <a:rPr lang="en-US" dirty="0"/>
              <a:t>2101CV303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BC2F338-82E7-4E11-ACAF-C54420420410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4945" y="154649"/>
            <a:ext cx="2246641" cy="683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AF20B43-8634-483A-A8B1-5A6D3C80A6AF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4945" y="154649"/>
            <a:ext cx="2246641" cy="683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9492029-BEAA-42A5-A73C-1618989B0A0F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4945" y="154649"/>
            <a:ext cx="2246641" cy="683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804B8F5-53CF-4584-B595-4962221A80A2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4945" y="154649"/>
            <a:ext cx="2246641" cy="683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1A8C696B-4113-4F8C-9E2E-72D0B3876DC4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4945" y="154649"/>
            <a:ext cx="2246641" cy="683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2771A6F-4E30-4DA0-987C-2A7BA0EDF929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4945" y="154649"/>
            <a:ext cx="2246641" cy="683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sp>
        <p:nvSpPr>
          <p:cNvPr id="41" name="Hexagon 40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273238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TextBox 41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  <p:sp>
        <p:nvSpPr>
          <p:cNvPr id="43" name="Rectangle 42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44" name="Rectangle 43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47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Picture 48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7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59" name="Picture 58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509B648-2F1E-4633-9C22-F6A30AFA79AF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659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90" r:id="rId2"/>
    <p:sldLayoutId id="2147483692" r:id="rId3"/>
    <p:sldLayoutId id="2147483691" r:id="rId4"/>
    <p:sldLayoutId id="2147483695" r:id="rId5"/>
    <p:sldLayoutId id="2147483696" r:id="rId6"/>
    <p:sldLayoutId id="2147483693" r:id="rId7"/>
    <p:sldLayoutId id="2147483694" r:id="rId8"/>
    <p:sldLayoutId id="2147483699" r:id="rId9"/>
    <p:sldLayoutId id="2147483697" r:id="rId10"/>
    <p:sldLayoutId id="2147483667" r:id="rId11"/>
    <p:sldLayoutId id="2147483674" r:id="rId12"/>
    <p:sldLayoutId id="2147483676" r:id="rId13"/>
    <p:sldLayoutId id="2147483677" r:id="rId14"/>
    <p:sldLayoutId id="2147483678" r:id="rId15"/>
    <p:sldLayoutId id="2147483679" r:id="rId16"/>
    <p:sldLayoutId id="2147483683" r:id="rId17"/>
    <p:sldLayoutId id="2147483682" r:id="rId18"/>
    <p:sldLayoutId id="2147483684" r:id="rId19"/>
    <p:sldLayoutId id="2147483685" r:id="rId20"/>
    <p:sldLayoutId id="2147483686" r:id="rId21"/>
    <p:sldLayoutId id="2147483700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1.xml"/><Relationship Id="rId4" Type="http://schemas.microsoft.com/office/2007/relationships/hdphoto" Target="../media/hdphoto5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gif"/><Relationship Id="rId3" Type="http://schemas.openxmlformats.org/officeDocument/2006/relationships/diagramLayout" Target="../diagrams/layout1.xml"/><Relationship Id="rId7" Type="http://schemas.openxmlformats.org/officeDocument/2006/relationships/image" Target="../media/image24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10" Type="http://schemas.openxmlformats.org/officeDocument/2006/relationships/image" Target="../media/image27.jpe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26.gi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jp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gif"/><Relationship Id="rId2" Type="http://schemas.openxmlformats.org/officeDocument/2006/relationships/image" Target="../media/image43.gi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 -1</a:t>
            </a:r>
            <a:b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Multidisciplinary Nature of </a:t>
            </a:r>
            <a:b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Environment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arjun.chavada@darshan.ac.in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8200802523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Civil Engineering Department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Arjun Chavada 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Environmental Studies</a:t>
            </a:r>
          </a:p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AE5B771-C95E-4C7D-B7C8-80590D136C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9597" y="5206976"/>
            <a:ext cx="1353600" cy="1353600"/>
          </a:xfrm>
          <a:prstGeom prst="ellipse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0041E39-B7E0-4FF8-B23A-FAD3AA7CC2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8150" b="96250" l="10000" r="90000">
                        <a14:foregroundMark x1="24450" y1="92250" x2="24450" y2="92250"/>
                        <a14:foregroundMark x1="26300" y1="93600" x2="26300" y2="93600"/>
                        <a14:foregroundMark x1="39400" y1="93600" x2="39400" y2="93600"/>
                        <a14:foregroundMark x1="67950" y1="92800" x2="67950" y2="92800"/>
                        <a14:foregroundMark x1="63950" y1="92550" x2="63950" y2="92550"/>
                        <a14:foregroundMark x1="71150" y1="92000" x2="71150" y2="92000"/>
                        <a14:foregroundMark x1="73300" y1="92250" x2="66350" y2="93350"/>
                        <a14:foregroundMark x1="65850" y1="92250" x2="62350" y2="93350"/>
                        <a14:foregroundMark x1="61300" y1="92250" x2="62600" y2="94650"/>
                        <a14:foregroundMark x1="46850" y1="96250" x2="46850" y2="96250"/>
                        <a14:foregroundMark x1="48450" y1="9750" x2="48450" y2="9750"/>
                        <a14:foregroundMark x1="70650" y1="8150" x2="70650" y2="8150"/>
                        <a14:foregroundMark x1="78350" y1="91200" x2="78350" y2="91200"/>
                        <a14:foregroundMark x1="82650" y1="90950" x2="82650" y2="90950"/>
                        <a14:foregroundMark x1="31650" y1="93050" x2="31650" y2="93050"/>
                        <a14:foregroundMark x1="19650" y1="92250" x2="19650" y2="92250"/>
                        <a14:foregroundMark x1="22550" y1="91200" x2="22550" y2="91200"/>
                        <a14:foregroundMark x1="15100" y1="90950" x2="15100" y2="90950"/>
                        <a14:foregroundMark x1="26300" y1="91750" x2="27100" y2="92000"/>
                        <a14:foregroundMark x1="29800" y1="93050" x2="29800" y2="93050"/>
                        <a14:foregroundMark x1="32700" y1="94650" x2="32700" y2="946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5477" y="1678017"/>
            <a:ext cx="3105149" cy="310514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F8C4FB9-7360-A0C5-CB74-A4C2F867219B}"/>
              </a:ext>
            </a:extLst>
          </p:cNvPr>
          <p:cNvSpPr txBox="1"/>
          <p:nvPr/>
        </p:nvSpPr>
        <p:spPr>
          <a:xfrm>
            <a:off x="661374" y="4528530"/>
            <a:ext cx="80254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CO1 - </a:t>
            </a:r>
            <a:r>
              <a:rPr lang="en-US" dirty="0"/>
              <a:t>explain multi-disciplinary nature of environment, its component and degradation.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0862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421735C-0FCE-4F70-9A4D-C9B024465E5B}"/>
              </a:ext>
            </a:extLst>
          </p:cNvPr>
          <p:cNvCxnSpPr>
            <a:cxnSpLocks/>
          </p:cNvCxnSpPr>
          <p:nvPr/>
        </p:nvCxnSpPr>
        <p:spPr>
          <a:xfrm>
            <a:off x="1191446" y="4820575"/>
            <a:ext cx="0" cy="140877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251982E-07F8-4221-A9E8-FDA4297B8EA9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B638942D-546C-46F9-AB1D-C061F3A835A0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BA275F-8730-4CBA-89C0-E60B591200A2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15FA939-361A-46C4-BF2A-5F742CD0EB1F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396494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B318E7D-0478-4B1B-8E74-8A9FE9CFDDAD}"/>
              </a:ext>
            </a:extLst>
          </p:cNvPr>
          <p:cNvSpPr txBox="1"/>
          <p:nvPr/>
        </p:nvSpPr>
        <p:spPr>
          <a:xfrm>
            <a:off x="1458964" y="731706"/>
            <a:ext cx="6817892" cy="52937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Topics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Multidisciplinary nature of environment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Scope of environment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Component of environment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Interaction between components of environment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Man &amp; environment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Impacts of Technology on Environment 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Environmental degradation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Environmental education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Role of environmental engineer</a:t>
            </a:r>
          </a:p>
        </p:txBody>
      </p:sp>
    </p:spTree>
    <p:extLst>
      <p:ext uri="{BB962C8B-B14F-4D97-AF65-F5344CB8AC3E}">
        <p14:creationId xmlns:p14="http://schemas.microsoft.com/office/powerpoint/2010/main" val="366770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2630C-EA39-3AF9-AD11-21498C9EC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Multidisciplinary Nature of Environment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312BAF-22BB-2193-63A6-7561BB2271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5109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Environment simply means </a:t>
            </a:r>
            <a:r>
              <a:rPr lang="en-US" dirty="0">
                <a:solidFill>
                  <a:srgbClr val="C00000"/>
                </a:solidFill>
              </a:rPr>
              <a:t>external surroundings and conditions, </a:t>
            </a:r>
            <a:r>
              <a:rPr lang="en-US" dirty="0"/>
              <a:t>which directly or indirectly affects living organisms (living thing).</a:t>
            </a:r>
          </a:p>
          <a:p>
            <a:r>
              <a:rPr lang="en-US" dirty="0"/>
              <a:t>The word environment is derived from, French word “</a:t>
            </a:r>
            <a:r>
              <a:rPr lang="en-US" dirty="0">
                <a:solidFill>
                  <a:srgbClr val="C00000"/>
                </a:solidFill>
              </a:rPr>
              <a:t>environner</a:t>
            </a:r>
            <a:r>
              <a:rPr lang="en-US" dirty="0"/>
              <a:t>” which means “</a:t>
            </a:r>
            <a:r>
              <a:rPr lang="en-US" dirty="0">
                <a:solidFill>
                  <a:srgbClr val="C00000"/>
                </a:solidFill>
              </a:rPr>
              <a:t>to encircle/surround</a:t>
            </a:r>
            <a:r>
              <a:rPr lang="en-US" dirty="0"/>
              <a:t>”.</a:t>
            </a:r>
          </a:p>
          <a:p>
            <a:r>
              <a:rPr lang="en-US" dirty="0"/>
              <a:t>Environment is usually comprised of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Biotic – living part</a:t>
            </a:r>
          </a:p>
          <a:p>
            <a:pPr marL="1247775" lvl="2" indent="-457200"/>
            <a:r>
              <a:rPr lang="en-US" dirty="0"/>
              <a:t>Human, animal, micro-organisms, etc.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Abiotic – Non-living part</a:t>
            </a:r>
          </a:p>
          <a:p>
            <a:pPr marL="1247775" lvl="2" indent="-457200"/>
            <a:r>
              <a:rPr lang="en-US" dirty="0"/>
              <a:t>Physical factors, climatic factors, etc.</a:t>
            </a:r>
          </a:p>
          <a:p>
            <a:pPr marL="1247775" lvl="2" indent="-457200"/>
            <a:r>
              <a:rPr lang="en-US" dirty="0"/>
              <a:t>Air, water, temperature etc.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5FD0E4-30A7-401C-99AB-E83BEE4AA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9614" y="2599132"/>
            <a:ext cx="5409932" cy="3606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97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Multidisciplinary Nature of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Environment science is the </a:t>
            </a:r>
            <a:r>
              <a:rPr lang="en-US" dirty="0">
                <a:solidFill>
                  <a:srgbClr val="C00000"/>
                </a:solidFill>
              </a:rPr>
              <a:t>study of earth, air, water, and living organisms</a:t>
            </a:r>
            <a:r>
              <a:rPr lang="en-US" dirty="0"/>
              <a:t>. </a:t>
            </a:r>
          </a:p>
          <a:p>
            <a:r>
              <a:rPr lang="en-US" dirty="0"/>
              <a:t>It is highly </a:t>
            </a:r>
            <a:r>
              <a:rPr lang="en-US" b="1" dirty="0"/>
              <a:t>Multidisciplinary</a:t>
            </a:r>
            <a:r>
              <a:rPr lang="en-US" dirty="0"/>
              <a:t>.</a:t>
            </a:r>
          </a:p>
          <a:p>
            <a:pPr lvl="1"/>
            <a:r>
              <a:rPr lang="en-IN" dirty="0">
                <a:solidFill>
                  <a:srgbClr val="212121"/>
                </a:solidFill>
              </a:rPr>
              <a:t>Involving of study different subjects in one activity.</a:t>
            </a:r>
          </a:p>
          <a:p>
            <a:r>
              <a:rPr lang="en-US" dirty="0"/>
              <a:t>It includes subjects like,</a:t>
            </a:r>
          </a:p>
          <a:p>
            <a:endParaRPr lang="en-IN" dirty="0">
              <a:solidFill>
                <a:srgbClr val="212121"/>
              </a:solidFill>
            </a:endParaRPr>
          </a:p>
          <a:p>
            <a:pPr lvl="1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6FD0107-EE8F-4FBF-9B21-1B690926FAEB}"/>
              </a:ext>
            </a:extLst>
          </p:cNvPr>
          <p:cNvGrpSpPr/>
          <p:nvPr/>
        </p:nvGrpSpPr>
        <p:grpSpPr>
          <a:xfrm>
            <a:off x="1917576" y="3593239"/>
            <a:ext cx="8460420" cy="1317088"/>
            <a:chOff x="1686924" y="2592742"/>
            <a:chExt cx="9741411" cy="1304663"/>
          </a:xfrm>
        </p:grpSpPr>
        <p:sp>
          <p:nvSpPr>
            <p:cNvPr id="5" name="Right Brace 4">
              <a:extLst>
                <a:ext uri="{FF2B5EF4-FFF2-40B4-BE49-F238E27FC236}">
                  <a16:creationId xmlns:a16="http://schemas.microsoft.com/office/drawing/2014/main" id="{EE2404EB-40FC-43FF-BE29-FE5880F2D73E}"/>
                </a:ext>
              </a:extLst>
            </p:cNvPr>
            <p:cNvSpPr/>
            <p:nvPr/>
          </p:nvSpPr>
          <p:spPr>
            <a:xfrm rot="5400000">
              <a:off x="6375638" y="-2095971"/>
              <a:ext cx="363984" cy="9741409"/>
            </a:xfrm>
            <a:prstGeom prst="righ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606ACF7-8374-40B7-9907-AA2EC8B9BF60}"/>
                </a:ext>
              </a:extLst>
            </p:cNvPr>
            <p:cNvSpPr txBox="1"/>
            <p:nvPr/>
          </p:nvSpPr>
          <p:spPr>
            <a:xfrm>
              <a:off x="1686924" y="3074247"/>
              <a:ext cx="9741411" cy="823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1"/>
              <a:r>
                <a:rPr lang="en-US" sz="2400" dirty="0"/>
                <a:t>To understand the chemical structure of abiotic components</a:t>
              </a:r>
            </a:p>
            <a:p>
              <a:pPr lvl="1"/>
              <a:r>
                <a:rPr lang="en-US" sz="2400" dirty="0"/>
                <a:t>To understand energy transfer &amp; its flow.</a:t>
              </a:r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B1FA92E8-7FAB-4A29-8370-73B7135AC1DB}"/>
              </a:ext>
            </a:extLst>
          </p:cNvPr>
          <p:cNvSpPr/>
          <p:nvPr/>
        </p:nvSpPr>
        <p:spPr>
          <a:xfrm>
            <a:off x="871493" y="2629550"/>
            <a:ext cx="2081770" cy="79763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Physical science</a:t>
            </a:r>
            <a:endParaRPr lang="en-IN" sz="2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E363CA2-869E-40FE-891E-0E8E0876E6BE}"/>
              </a:ext>
            </a:extLst>
          </p:cNvPr>
          <p:cNvSpPr/>
          <p:nvPr/>
        </p:nvSpPr>
        <p:spPr>
          <a:xfrm>
            <a:off x="3608404" y="2617348"/>
            <a:ext cx="2081770" cy="79763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Chemical science</a:t>
            </a:r>
            <a:endParaRPr lang="en-IN" sz="24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AEA6DD-3F18-481A-831D-C57D42B31CCE}"/>
              </a:ext>
            </a:extLst>
          </p:cNvPr>
          <p:cNvSpPr/>
          <p:nvPr/>
        </p:nvSpPr>
        <p:spPr>
          <a:xfrm>
            <a:off x="6345315" y="2638888"/>
            <a:ext cx="2263603" cy="79763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Biological  science</a:t>
            </a:r>
            <a:endParaRPr lang="en-IN" sz="24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F7FAE3-44F3-4A7A-8E6E-419E6673757A}"/>
              </a:ext>
            </a:extLst>
          </p:cNvPr>
          <p:cNvSpPr/>
          <p:nvPr/>
        </p:nvSpPr>
        <p:spPr>
          <a:xfrm>
            <a:off x="9265737" y="2638888"/>
            <a:ext cx="2081770" cy="79763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2400" dirty="0"/>
              <a:t>Geology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DBED5C5-89D8-4D56-B348-D8AA874D4F49}"/>
              </a:ext>
            </a:extLst>
          </p:cNvPr>
          <p:cNvGrpSpPr/>
          <p:nvPr/>
        </p:nvGrpSpPr>
        <p:grpSpPr>
          <a:xfrm>
            <a:off x="3685670" y="5266834"/>
            <a:ext cx="7705816" cy="830997"/>
            <a:chOff x="5753737" y="4012683"/>
            <a:chExt cx="9848760" cy="830997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78BF9CF0-F71A-48B8-8CEF-D2175D4A51DD}"/>
                </a:ext>
              </a:extLst>
            </p:cNvPr>
            <p:cNvCxnSpPr>
              <a:cxnSpLocks/>
            </p:cNvCxnSpPr>
            <p:nvPr/>
          </p:nvCxnSpPr>
          <p:spPr>
            <a:xfrm>
              <a:off x="5753737" y="4447714"/>
              <a:ext cx="132675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53A4EEC-F4FB-420B-BA25-6AA6B600E208}"/>
                </a:ext>
              </a:extLst>
            </p:cNvPr>
            <p:cNvSpPr txBox="1"/>
            <p:nvPr/>
          </p:nvSpPr>
          <p:spPr>
            <a:xfrm>
              <a:off x="7275252" y="4012683"/>
              <a:ext cx="8327245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1" algn="ctr"/>
              <a:r>
                <a:rPr lang="en-US" sz="2400" dirty="0">
                  <a:solidFill>
                    <a:schemeClr val="tx1"/>
                  </a:solidFill>
                </a:rPr>
                <a:t>Helps in understanding socio-economic aspects associated with development activity.</a:t>
              </a: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93D7682E-81CD-4F1D-9322-0F9E26405CF9}"/>
              </a:ext>
            </a:extLst>
          </p:cNvPr>
          <p:cNvSpPr/>
          <p:nvPr/>
        </p:nvSpPr>
        <p:spPr>
          <a:xfrm>
            <a:off x="1101530" y="5307718"/>
            <a:ext cx="1924309" cy="79011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Sociology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696031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animBg="1"/>
      <p:bldP spid="8" grpId="0" animBg="1"/>
      <p:bldP spid="9" grpId="0" animBg="1"/>
      <p:bldP spid="10" grpId="0" animBg="1"/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C616D-9D04-85DC-44E6-C7AD9DA4B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Scope of environment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A94047-6D10-9FD0-B26B-0545088DE7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9791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 of Environment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03DB1F-4043-4AA0-8D96-5D9DCF71A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4"/>
            <a:ext cx="5964820" cy="5590565"/>
          </a:xfrm>
        </p:spPr>
        <p:txBody>
          <a:bodyPr/>
          <a:lstStyle/>
          <a:p>
            <a:pPr marL="457200" lvl="0" indent="-457200">
              <a:buFont typeface="+mj-lt"/>
              <a:buAutoNum type="arabicPeriod"/>
            </a:pPr>
            <a:r>
              <a:rPr lang="en-US" dirty="0"/>
              <a:t>Natural Resources: </a:t>
            </a:r>
          </a:p>
          <a:p>
            <a:pPr lvl="1"/>
            <a:r>
              <a:rPr lang="en-US" dirty="0"/>
              <a:t>Their conservation &amp; management</a:t>
            </a:r>
            <a:endParaRPr lang="en-IN" dirty="0"/>
          </a:p>
          <a:p>
            <a:pPr marL="457200" lvl="0" indent="-457200">
              <a:buFont typeface="+mj-lt"/>
              <a:buAutoNum type="arabicPeriod"/>
            </a:pPr>
            <a:r>
              <a:rPr lang="en-US" dirty="0"/>
              <a:t>Ecology and Biodiversity:</a:t>
            </a:r>
          </a:p>
          <a:p>
            <a:pPr lvl="1"/>
            <a:r>
              <a:rPr lang="en-US" dirty="0"/>
              <a:t> Red data book </a:t>
            </a:r>
            <a:endParaRPr lang="en-IN" dirty="0"/>
          </a:p>
          <a:p>
            <a:pPr marL="457200" lvl="0" indent="-457200">
              <a:buFont typeface="+mj-lt"/>
              <a:buAutoNum type="arabicPeriod"/>
            </a:pPr>
            <a:r>
              <a:rPr lang="en-US" dirty="0"/>
              <a:t>Environmental Pollution and Control</a:t>
            </a:r>
            <a:endParaRPr lang="en-IN" dirty="0"/>
          </a:p>
          <a:p>
            <a:pPr marL="457200" lvl="0" indent="-457200">
              <a:buFont typeface="+mj-lt"/>
              <a:buAutoNum type="arabicPeriod"/>
            </a:pPr>
            <a:r>
              <a:rPr lang="en-US" dirty="0"/>
              <a:t>Social issues in relation to development and environment </a:t>
            </a:r>
          </a:p>
          <a:p>
            <a:pPr lvl="1"/>
            <a:r>
              <a:rPr lang="en-US" dirty="0"/>
              <a:t>Sustainable development </a:t>
            </a:r>
            <a:endParaRPr lang="en-IN" dirty="0"/>
          </a:p>
          <a:p>
            <a:pPr marL="457200" lvl="0" indent="-457200">
              <a:buFont typeface="+mj-lt"/>
              <a:buAutoNum type="arabicPeriod"/>
            </a:pPr>
            <a:r>
              <a:rPr lang="en-US" dirty="0"/>
              <a:t>Human population and environment: </a:t>
            </a:r>
          </a:p>
          <a:p>
            <a:pPr lvl="1"/>
            <a:r>
              <a:rPr lang="en-US" dirty="0"/>
              <a:t>Scarcity of resources and related environmental problems</a:t>
            </a:r>
            <a:endParaRPr lang="en-IN" dirty="0"/>
          </a:p>
          <a:p>
            <a:endParaRPr lang="en-IN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2228709-6DA2-46AE-8320-4353D3B1480E}"/>
              </a:ext>
            </a:extLst>
          </p:cNvPr>
          <p:cNvGrpSpPr/>
          <p:nvPr/>
        </p:nvGrpSpPr>
        <p:grpSpPr>
          <a:xfrm>
            <a:off x="6927895" y="1226293"/>
            <a:ext cx="4705847" cy="2129457"/>
            <a:chOff x="6927895" y="1226293"/>
            <a:chExt cx="4705847" cy="212945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D13B6F9-A33F-4458-970F-2EF3A61E56A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133" t="17144" r="3724" b="53170"/>
            <a:stretch/>
          </p:blipFill>
          <p:spPr>
            <a:xfrm>
              <a:off x="6982210" y="2078271"/>
              <a:ext cx="4597220" cy="814081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06E1216-8263-4C05-9112-9525533646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429" t="56967" r="3429" b="13347"/>
            <a:stretch/>
          </p:blipFill>
          <p:spPr>
            <a:xfrm>
              <a:off x="6982209" y="1226293"/>
              <a:ext cx="4597221" cy="814081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095A2DB-EC79-40B7-AF2C-04F6F50384D7}"/>
                </a:ext>
              </a:extLst>
            </p:cNvPr>
            <p:cNvSpPr txBox="1"/>
            <p:nvPr/>
          </p:nvSpPr>
          <p:spPr>
            <a:xfrm>
              <a:off x="6927895" y="2986418"/>
              <a:ext cx="470584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Natural Resources</a:t>
              </a:r>
              <a:endParaRPr lang="en-IN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D3F63E6-7B16-4AA6-8135-B69ADB812155}"/>
              </a:ext>
            </a:extLst>
          </p:cNvPr>
          <p:cNvGrpSpPr/>
          <p:nvPr/>
        </p:nvGrpSpPr>
        <p:grpSpPr>
          <a:xfrm>
            <a:off x="9715120" y="3615777"/>
            <a:ext cx="1864310" cy="2689216"/>
            <a:chOff x="9715120" y="3615777"/>
            <a:chExt cx="1864310" cy="2689216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59366D9-14B8-4FFE-BBE8-2337D1EE817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8276" r="7598" b="2172"/>
            <a:stretch/>
          </p:blipFill>
          <p:spPr>
            <a:xfrm>
              <a:off x="9715120" y="3615777"/>
              <a:ext cx="1864310" cy="1966765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E9B608C-D669-4C91-8A72-6E4C1C706472}"/>
                </a:ext>
              </a:extLst>
            </p:cNvPr>
            <p:cNvSpPr txBox="1"/>
            <p:nvPr/>
          </p:nvSpPr>
          <p:spPr>
            <a:xfrm>
              <a:off x="9715120" y="5658662"/>
              <a:ext cx="186431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Human population &amp; environment</a:t>
              </a:r>
              <a:endParaRPr lang="en-IN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C6DAB91-AE2B-43D8-B4F6-AD89906A9F98}"/>
              </a:ext>
            </a:extLst>
          </p:cNvPr>
          <p:cNvGrpSpPr/>
          <p:nvPr/>
        </p:nvGrpSpPr>
        <p:grpSpPr>
          <a:xfrm>
            <a:off x="6808474" y="3615777"/>
            <a:ext cx="2330660" cy="2545209"/>
            <a:chOff x="6701942" y="3615777"/>
            <a:chExt cx="2537242" cy="254520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1C2A04C-9EF1-4544-8035-67219CF8AC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01942" y="3615777"/>
              <a:ext cx="2407236" cy="1891949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D372F13-52DD-4D8E-97E9-53F26C8E3954}"/>
                </a:ext>
              </a:extLst>
            </p:cNvPr>
            <p:cNvSpPr txBox="1"/>
            <p:nvPr/>
          </p:nvSpPr>
          <p:spPr>
            <a:xfrm>
              <a:off x="6831948" y="5791654"/>
              <a:ext cx="240723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Unemployment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56070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AAEBF-20A1-42FF-CB52-B79AF8416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Component of environment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5ABA78-C3C5-7BAC-4E3D-0196182F1A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60059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Environment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A1207A2-E9B8-4E65-B2E8-725A031DE8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0461120"/>
              </p:ext>
            </p:extLst>
          </p:nvPr>
        </p:nvGraphicFramePr>
        <p:xfrm>
          <a:off x="131763" y="863600"/>
          <a:ext cx="11928475" cy="55911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60F355B4-8309-4A63-9F8A-44D619530FBD}"/>
              </a:ext>
            </a:extLst>
          </p:cNvPr>
          <p:cNvGrpSpPr/>
          <p:nvPr/>
        </p:nvGrpSpPr>
        <p:grpSpPr>
          <a:xfrm>
            <a:off x="503065" y="3845585"/>
            <a:ext cx="2578316" cy="2243354"/>
            <a:chOff x="503065" y="3845585"/>
            <a:chExt cx="2578316" cy="2243354"/>
          </a:xfrm>
        </p:grpSpPr>
        <p:pic>
          <p:nvPicPr>
            <p:cNvPr id="7" name="Picture 6" descr="A winding road through a canyon&#10;&#10;Description automatically generated">
              <a:extLst>
                <a:ext uri="{FF2B5EF4-FFF2-40B4-BE49-F238E27FC236}">
                  <a16:creationId xmlns:a16="http://schemas.microsoft.com/office/drawing/2014/main" id="{DB00F129-1782-4EA5-A277-D6F261C7029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03066" y="3845585"/>
              <a:ext cx="2578315" cy="1721623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7F7F956-5B2C-40C8-BE89-A0B57F105928}"/>
                </a:ext>
              </a:extLst>
            </p:cNvPr>
            <p:cNvSpPr txBox="1"/>
            <p:nvPr/>
          </p:nvSpPr>
          <p:spPr>
            <a:xfrm>
              <a:off x="503065" y="5719607"/>
              <a:ext cx="25783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b="1" dirty="0"/>
                <a:t>Relating to Ground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13943E0F-75BF-4403-AD9B-F10285371CF5}"/>
              </a:ext>
            </a:extLst>
          </p:cNvPr>
          <p:cNvGrpSpPr/>
          <p:nvPr/>
        </p:nvGrpSpPr>
        <p:grpSpPr>
          <a:xfrm>
            <a:off x="9040430" y="3845586"/>
            <a:ext cx="2553097" cy="2263498"/>
            <a:chOff x="9040430" y="3845586"/>
            <a:chExt cx="2553097" cy="2263498"/>
          </a:xfrm>
        </p:grpSpPr>
        <p:pic>
          <p:nvPicPr>
            <p:cNvPr id="1028" name="Picture 4" descr="Ms. Kelly at the Library: Science Storytimes Week #3: Fizz, Boom, Grow!">
              <a:extLst>
                <a:ext uri="{FF2B5EF4-FFF2-40B4-BE49-F238E27FC236}">
                  <a16:creationId xmlns:a16="http://schemas.microsoft.com/office/drawing/2014/main" id="{1F3754C6-4373-40EE-BB54-5DBEF6DF26FC}"/>
                </a:ext>
              </a:extLst>
            </p:cNvPr>
            <p:cNvPicPr>
              <a:picLocks noChangeAspect="1" noChangeArrowheads="1" noCrop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40430" y="3845586"/>
              <a:ext cx="2553097" cy="17216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020652F-08FE-4325-AF4F-A9BC7CF2015A}"/>
                </a:ext>
              </a:extLst>
            </p:cNvPr>
            <p:cNvSpPr txBox="1"/>
            <p:nvPr/>
          </p:nvSpPr>
          <p:spPr>
            <a:xfrm>
              <a:off x="9040430" y="5739752"/>
              <a:ext cx="25530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b="1" dirty="0"/>
                <a:t>Relating to Organism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D8F87299-4835-4278-9BEA-9EDDFD2FAB31}"/>
              </a:ext>
            </a:extLst>
          </p:cNvPr>
          <p:cNvGrpSpPr/>
          <p:nvPr/>
        </p:nvGrpSpPr>
        <p:grpSpPr>
          <a:xfrm>
            <a:off x="505931" y="1025070"/>
            <a:ext cx="2575451" cy="2520353"/>
            <a:chOff x="505931" y="1025070"/>
            <a:chExt cx="2575451" cy="2520353"/>
          </a:xfrm>
        </p:grpSpPr>
        <p:pic>
          <p:nvPicPr>
            <p:cNvPr id="1030" name="Picture 6" descr="animation space GIF by NASA - Find &amp; Share on GIPHY">
              <a:extLst>
                <a:ext uri="{FF2B5EF4-FFF2-40B4-BE49-F238E27FC236}">
                  <a16:creationId xmlns:a16="http://schemas.microsoft.com/office/drawing/2014/main" id="{6E1EFF3C-42AE-4721-8F08-8B08042406B5}"/>
                </a:ext>
              </a:extLst>
            </p:cNvPr>
            <p:cNvPicPr>
              <a:picLocks noChangeAspect="1" noChangeArrowheads="1" noCrop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931" y="1025070"/>
              <a:ext cx="2575450" cy="17216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AE17743-A70B-4F6B-B0BF-B8895B149EA7}"/>
                </a:ext>
              </a:extLst>
            </p:cNvPr>
            <p:cNvSpPr txBox="1"/>
            <p:nvPr/>
          </p:nvSpPr>
          <p:spPr>
            <a:xfrm>
              <a:off x="505932" y="2899092"/>
              <a:ext cx="257545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b="1" dirty="0"/>
                <a:t>Relating to Air </a:t>
              </a:r>
            </a:p>
            <a:p>
              <a:pPr algn="ctr"/>
              <a:r>
                <a:rPr lang="en-IN" b="1" dirty="0"/>
                <a:t>(light + gas)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681C8386-6996-44AE-836A-5E76279A9C37}"/>
              </a:ext>
            </a:extLst>
          </p:cNvPr>
          <p:cNvGrpSpPr/>
          <p:nvPr/>
        </p:nvGrpSpPr>
        <p:grpSpPr>
          <a:xfrm>
            <a:off x="9040430" y="1025071"/>
            <a:ext cx="2553097" cy="2266274"/>
            <a:chOff x="9040430" y="1025071"/>
            <a:chExt cx="2553097" cy="2266274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E4275B6-74D3-4B16-8B20-C39C9FA1B71F}"/>
                </a:ext>
              </a:extLst>
            </p:cNvPr>
            <p:cNvSpPr txBox="1"/>
            <p:nvPr/>
          </p:nvSpPr>
          <p:spPr>
            <a:xfrm>
              <a:off x="9040430" y="2922013"/>
              <a:ext cx="24535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b="1" dirty="0"/>
                <a:t>Relating to Water</a:t>
              </a:r>
            </a:p>
          </p:txBody>
        </p:sp>
        <p:pic>
          <p:nvPicPr>
            <p:cNvPr id="1026" name="Picture 2" descr="What Are The Five Biotic Factors Of An Aquatic Ecosystem? | Sciencing">
              <a:extLst>
                <a:ext uri="{FF2B5EF4-FFF2-40B4-BE49-F238E27FC236}">
                  <a16:creationId xmlns:a16="http://schemas.microsoft.com/office/drawing/2014/main" id="{7330CF73-993E-4050-8D23-FB4042F99A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40430" y="1025071"/>
              <a:ext cx="2553097" cy="17216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039629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DE27B3F-6E87-43DF-AF7D-CFA3C02D693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EB49B03-D246-4BDF-9A94-919355335E9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74D5D26-7CF9-4042-9F5C-3E27FE4AA35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B40530C-8BCD-48BD-96B8-7172D40F4FF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44712AC-656A-4BBB-813D-C2CBE88B6C6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 uiExpand="1">
        <p:bldSub>
          <a:bldDgm bld="one"/>
        </p:bldSub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Atmosphere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0" y="863444"/>
            <a:ext cx="5964821" cy="5590565"/>
          </a:xfrm>
        </p:spPr>
        <p:txBody>
          <a:bodyPr/>
          <a:lstStyle/>
          <a:p>
            <a:pPr marL="355600" marR="398780">
              <a:lnSpc>
                <a:spcPct val="103800"/>
              </a:lnSpc>
              <a:spcBef>
                <a:spcPts val="10"/>
              </a:spcBef>
            </a:pPr>
            <a:r>
              <a:rPr lang="en-US" spc="-5" dirty="0">
                <a:cs typeface="Calibri"/>
              </a:rPr>
              <a:t>The region surrounding the earth is known as the atmosphere. </a:t>
            </a:r>
          </a:p>
          <a:p>
            <a:pPr marL="355600" marR="398780">
              <a:lnSpc>
                <a:spcPct val="103800"/>
              </a:lnSpc>
              <a:spcBef>
                <a:spcPts val="10"/>
              </a:spcBef>
            </a:pPr>
            <a:r>
              <a:rPr lang="en-US" spc="-10" dirty="0">
                <a:cs typeface="Calibri"/>
              </a:rPr>
              <a:t>Atmosphere</a:t>
            </a:r>
            <a:r>
              <a:rPr lang="en-US" spc="-15" dirty="0">
                <a:cs typeface="Calibri"/>
              </a:rPr>
              <a:t> </a:t>
            </a:r>
            <a:r>
              <a:rPr lang="en-US" dirty="0">
                <a:cs typeface="Calibri"/>
              </a:rPr>
              <a:t>is</a:t>
            </a:r>
            <a:r>
              <a:rPr lang="en-US" spc="-5" dirty="0">
                <a:cs typeface="Calibri"/>
              </a:rPr>
              <a:t> </a:t>
            </a:r>
            <a:r>
              <a:rPr lang="en-US" spc="-10" dirty="0">
                <a:cs typeface="Calibri"/>
              </a:rPr>
              <a:t>generally</a:t>
            </a:r>
            <a:r>
              <a:rPr lang="en-US" spc="-20" dirty="0">
                <a:cs typeface="Calibri"/>
              </a:rPr>
              <a:t> </a:t>
            </a:r>
            <a:r>
              <a:rPr lang="en-US" dirty="0">
                <a:cs typeface="Calibri"/>
              </a:rPr>
              <a:t>a</a:t>
            </a:r>
            <a:r>
              <a:rPr lang="en-US" spc="-20" dirty="0">
                <a:cs typeface="Calibri"/>
              </a:rPr>
              <a:t> </a:t>
            </a:r>
            <a:r>
              <a:rPr lang="en-US" spc="-5" dirty="0">
                <a:solidFill>
                  <a:srgbClr val="C00000"/>
                </a:solidFill>
                <a:cs typeface="Calibri"/>
              </a:rPr>
              <a:t>mixture</a:t>
            </a:r>
            <a:r>
              <a:rPr lang="en-US" spc="-25" dirty="0">
                <a:solidFill>
                  <a:srgbClr val="C00000"/>
                </a:solidFill>
                <a:cs typeface="Calibri"/>
              </a:rPr>
              <a:t> </a:t>
            </a:r>
            <a:r>
              <a:rPr lang="en-US" spc="-5" dirty="0">
                <a:solidFill>
                  <a:srgbClr val="C00000"/>
                </a:solidFill>
                <a:cs typeface="Calibri"/>
              </a:rPr>
              <a:t>of </a:t>
            </a:r>
            <a:r>
              <a:rPr lang="en-US" spc="-10" dirty="0">
                <a:solidFill>
                  <a:srgbClr val="C00000"/>
                </a:solidFill>
                <a:cs typeface="Calibri"/>
              </a:rPr>
              <a:t>gases</a:t>
            </a:r>
            <a:r>
              <a:rPr lang="en-US" spc="-10" dirty="0">
                <a:cs typeface="Calibri"/>
              </a:rPr>
              <a:t> surrounding </a:t>
            </a:r>
            <a:r>
              <a:rPr lang="en-US" dirty="0">
                <a:cs typeface="Calibri"/>
              </a:rPr>
              <a:t>the Earth.</a:t>
            </a:r>
          </a:p>
          <a:p>
            <a:pPr marL="355600" marR="398780">
              <a:lnSpc>
                <a:spcPct val="103800"/>
              </a:lnSpc>
              <a:spcBef>
                <a:spcPts val="10"/>
              </a:spcBef>
            </a:pPr>
            <a:r>
              <a:rPr lang="en-US" dirty="0">
                <a:solidFill>
                  <a:srgbClr val="C00000"/>
                </a:solidFill>
                <a:cs typeface="Calibri"/>
              </a:rPr>
              <a:t>On the basis of temperature profile and other related phenomena</a:t>
            </a:r>
            <a:r>
              <a:rPr lang="en-US" dirty="0">
                <a:cs typeface="Calibri"/>
              </a:rPr>
              <a:t>, the atmosphere is divided into the following parts.</a:t>
            </a:r>
          </a:p>
          <a:p>
            <a:pPr marL="1092199" marR="398780" lvl="1" indent="-457200">
              <a:lnSpc>
                <a:spcPct val="103800"/>
              </a:lnSpc>
              <a:spcBef>
                <a:spcPts val="10"/>
              </a:spcBef>
              <a:buFont typeface="+mj-lt"/>
              <a:buAutoNum type="alphaLcParenR"/>
            </a:pPr>
            <a:r>
              <a:rPr lang="en-US" sz="2400" dirty="0">
                <a:cs typeface="Calibri"/>
              </a:rPr>
              <a:t>Troposphere</a:t>
            </a:r>
          </a:p>
          <a:p>
            <a:pPr marL="1092199" marR="398780" lvl="1" indent="-457200">
              <a:lnSpc>
                <a:spcPct val="103800"/>
              </a:lnSpc>
              <a:spcBef>
                <a:spcPts val="10"/>
              </a:spcBef>
              <a:buFont typeface="+mj-lt"/>
              <a:buAutoNum type="alphaLcParenR"/>
            </a:pPr>
            <a:r>
              <a:rPr lang="en-US" sz="2400" dirty="0">
                <a:cs typeface="Calibri"/>
              </a:rPr>
              <a:t>Stratosphere</a:t>
            </a:r>
          </a:p>
          <a:p>
            <a:pPr marL="1092199" marR="398780" lvl="1" indent="-457200">
              <a:lnSpc>
                <a:spcPct val="103800"/>
              </a:lnSpc>
              <a:spcBef>
                <a:spcPts val="10"/>
              </a:spcBef>
              <a:buFont typeface="+mj-lt"/>
              <a:buAutoNum type="alphaLcParenR"/>
            </a:pPr>
            <a:r>
              <a:rPr lang="en-US" sz="2400" dirty="0">
                <a:cs typeface="Calibri"/>
              </a:rPr>
              <a:t>Mesosphere</a:t>
            </a:r>
          </a:p>
          <a:p>
            <a:pPr marL="1092199" marR="398780" lvl="1" indent="-457200">
              <a:lnSpc>
                <a:spcPct val="103800"/>
              </a:lnSpc>
              <a:spcBef>
                <a:spcPts val="10"/>
              </a:spcBef>
              <a:buFont typeface="+mj-lt"/>
              <a:buAutoNum type="alphaLcParenR"/>
            </a:pPr>
            <a:r>
              <a:rPr lang="en-US" sz="2400" dirty="0">
                <a:cs typeface="Calibri"/>
              </a:rPr>
              <a:t>Thermosphere</a:t>
            </a:r>
          </a:p>
          <a:p>
            <a:pPr marL="547687" marR="398780" indent="-457200">
              <a:lnSpc>
                <a:spcPct val="103800"/>
              </a:lnSpc>
              <a:spcBef>
                <a:spcPts val="10"/>
              </a:spcBef>
              <a:buFont typeface="+mj-lt"/>
              <a:buAutoNum type="arabicPeriod"/>
            </a:pPr>
            <a:endParaRPr lang="en-US" dirty="0">
              <a:cs typeface="Calibri"/>
            </a:endParaRP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9C3969-900B-4D27-BB74-02579ED7359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481"/>
          <a:stretch/>
        </p:blipFill>
        <p:spPr>
          <a:xfrm>
            <a:off x="643176" y="863444"/>
            <a:ext cx="5145248" cy="5590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622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Layers of Atmosphere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a) Troposphere</a:t>
            </a:r>
          </a:p>
          <a:p>
            <a:pPr lvl="1"/>
            <a:r>
              <a:rPr lang="en-US" sz="2400" dirty="0"/>
              <a:t>First layer above the ground surface.</a:t>
            </a:r>
          </a:p>
          <a:p>
            <a:pPr lvl="1"/>
            <a:r>
              <a:rPr lang="en-US" sz="2400" dirty="0"/>
              <a:t>Extends up to </a:t>
            </a:r>
            <a:r>
              <a:rPr lang="en-US" sz="2400" dirty="0">
                <a:solidFill>
                  <a:srgbClr val="C00000"/>
                </a:solidFill>
              </a:rPr>
              <a:t>12 km</a:t>
            </a:r>
            <a:r>
              <a:rPr lang="en-US" sz="2400" dirty="0"/>
              <a:t>.</a:t>
            </a:r>
          </a:p>
          <a:p>
            <a:pPr lvl="1"/>
            <a:r>
              <a:rPr lang="en-US" sz="2400" dirty="0"/>
              <a:t>Contains most of the gases (75%).</a:t>
            </a:r>
          </a:p>
          <a:p>
            <a:pPr lvl="1"/>
            <a:r>
              <a:rPr lang="en-US" sz="2400" dirty="0"/>
              <a:t>Temperature here is moderate.</a:t>
            </a:r>
          </a:p>
          <a:p>
            <a:pPr lvl="1"/>
            <a:r>
              <a:rPr lang="en-US" sz="2400" dirty="0"/>
              <a:t>Major gases in pollution-free dry air are,</a:t>
            </a:r>
          </a:p>
          <a:p>
            <a:pPr lvl="2"/>
            <a:r>
              <a:rPr lang="en-US" sz="2200" dirty="0"/>
              <a:t>Nitrogen 78% (78.09%), </a:t>
            </a:r>
          </a:p>
          <a:p>
            <a:pPr lvl="2"/>
            <a:r>
              <a:rPr lang="en-US" sz="2200" dirty="0"/>
              <a:t>Oxygen 21% (20.95%), </a:t>
            </a:r>
          </a:p>
          <a:p>
            <a:pPr lvl="2"/>
            <a:r>
              <a:rPr lang="en-US" sz="2200" dirty="0"/>
              <a:t>Argon 1% (0.93%), </a:t>
            </a:r>
          </a:p>
          <a:p>
            <a:pPr lvl="2"/>
            <a:r>
              <a:rPr lang="en-US" sz="2200" dirty="0"/>
              <a:t>Carbon dioxide 0.04%. </a:t>
            </a:r>
          </a:p>
          <a:p>
            <a:endParaRPr lang="en-US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989273-094A-4D9C-BFDC-28F554528A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980" y="1533525"/>
            <a:ext cx="4791471" cy="3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514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Layers of Atmosphere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1" y="863444"/>
            <a:ext cx="5729892" cy="5590565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b) Stratosphere</a:t>
            </a:r>
          </a:p>
          <a:p>
            <a:pPr lvl="1"/>
            <a:r>
              <a:rPr lang="en-US" sz="2400" dirty="0"/>
              <a:t>Second layer.</a:t>
            </a:r>
          </a:p>
          <a:p>
            <a:pPr lvl="1"/>
            <a:r>
              <a:rPr lang="en-US" sz="2400" dirty="0"/>
              <a:t>Extend between</a:t>
            </a:r>
            <a:r>
              <a:rPr lang="en-US" sz="2400" dirty="0">
                <a:solidFill>
                  <a:srgbClr val="C00000"/>
                </a:solidFill>
              </a:rPr>
              <a:t>12 km to 50 km</a:t>
            </a:r>
            <a:r>
              <a:rPr lang="en-US" sz="2400" dirty="0">
                <a:solidFill>
                  <a:srgbClr val="FF0000"/>
                </a:solidFill>
              </a:rPr>
              <a:t>.</a:t>
            </a:r>
          </a:p>
          <a:p>
            <a:pPr lvl="1"/>
            <a:r>
              <a:rPr lang="en-US" sz="2400" dirty="0"/>
              <a:t>Contains </a:t>
            </a:r>
            <a:r>
              <a:rPr lang="en-US" sz="2400" dirty="0">
                <a:solidFill>
                  <a:srgbClr val="C00000"/>
                </a:solidFill>
              </a:rPr>
              <a:t>ozone layer, </a:t>
            </a:r>
          </a:p>
          <a:p>
            <a:pPr lvl="2"/>
            <a:r>
              <a:rPr lang="en-US" sz="2200" dirty="0"/>
              <a:t>Which protects the earth’s surface from UV radiation, thus increasing the temperature in the upper part.</a:t>
            </a:r>
          </a:p>
          <a:p>
            <a:pPr lvl="1"/>
            <a:r>
              <a:rPr lang="en-US" sz="2400" dirty="0"/>
              <a:t>Temperature in this layer increases with elevation.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53F051-9CFD-4CD2-B64F-E6AC8C4B3A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0929" y="1752600"/>
            <a:ext cx="5575321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053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Layers of Atmosphere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A0B78-33B9-4C50-A449-49A834D99B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5743409" cy="5590565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c) Mesosphere </a:t>
            </a:r>
          </a:p>
          <a:p>
            <a:pPr lvl="1"/>
            <a:r>
              <a:rPr lang="en-US" sz="2400" dirty="0"/>
              <a:t>Third layer.</a:t>
            </a:r>
          </a:p>
          <a:p>
            <a:pPr lvl="1"/>
            <a:r>
              <a:rPr lang="en-US" sz="2400" dirty="0"/>
              <a:t>Extends between </a:t>
            </a:r>
            <a:r>
              <a:rPr lang="en-US" sz="2400" dirty="0">
                <a:solidFill>
                  <a:srgbClr val="C00000"/>
                </a:solidFill>
              </a:rPr>
              <a:t>50 km to 80 km.</a:t>
            </a:r>
          </a:p>
          <a:p>
            <a:pPr lvl="1"/>
            <a:r>
              <a:rPr lang="en-US" sz="2400" dirty="0"/>
              <a:t>This layer protects the earth from </a:t>
            </a:r>
            <a:r>
              <a:rPr lang="en-US" sz="2400" dirty="0">
                <a:solidFill>
                  <a:srgbClr val="C00000"/>
                </a:solidFill>
              </a:rPr>
              <a:t>meteoroids</a:t>
            </a:r>
            <a:r>
              <a:rPr lang="en-US" sz="2400" dirty="0"/>
              <a:t>(Asteroid/</a:t>
            </a:r>
            <a:r>
              <a:rPr lang="gu-IN" dirty="0"/>
              <a:t>ઉલ્કા</a:t>
            </a:r>
            <a:r>
              <a:rPr lang="en-US" sz="2400" dirty="0"/>
              <a:t>)</a:t>
            </a:r>
            <a:r>
              <a:rPr lang="en-IN" sz="2400" dirty="0"/>
              <a:t>.</a:t>
            </a:r>
            <a:endParaRPr lang="en-US" sz="2400" dirty="0"/>
          </a:p>
          <a:p>
            <a:pPr lvl="1"/>
            <a:r>
              <a:rPr lang="en-US" sz="2400" dirty="0"/>
              <a:t>Meteoroids are burnt in this layer due to frictional resistance.</a:t>
            </a:r>
          </a:p>
          <a:p>
            <a:pPr lvl="1"/>
            <a:r>
              <a:rPr lang="en-US" sz="2400" dirty="0"/>
              <a:t>It is generally cold but temperature might increase due to meteoroids.</a:t>
            </a:r>
          </a:p>
          <a:p>
            <a:endParaRPr lang="en-IN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31162" y="756300"/>
            <a:ext cx="6460138" cy="56628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6BD28D-78B6-4CF5-888C-9D934CD50A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599" y="952499"/>
            <a:ext cx="3952875" cy="527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534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Layers of Atmosphere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A7C06-3E73-4A09-99A9-406A9B0968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3550" y="859910"/>
            <a:ext cx="6045693" cy="5590565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d) Thermosphere</a:t>
            </a:r>
          </a:p>
          <a:p>
            <a:pPr lvl="1"/>
            <a:r>
              <a:rPr lang="en-US" sz="2400" dirty="0"/>
              <a:t>Observed above 80 km and is further divided into 2 parts.</a:t>
            </a:r>
          </a:p>
          <a:p>
            <a:pPr lvl="1"/>
            <a:r>
              <a:rPr lang="en-US" sz="2400" dirty="0"/>
              <a:t> </a:t>
            </a:r>
            <a:r>
              <a:rPr lang="en-US" sz="2400" dirty="0">
                <a:solidFill>
                  <a:srgbClr val="C00000"/>
                </a:solidFill>
              </a:rPr>
              <a:t>Ionosphere, </a:t>
            </a:r>
            <a:r>
              <a:rPr lang="en-US" sz="2400" dirty="0"/>
              <a:t>which is the </a:t>
            </a:r>
            <a:r>
              <a:rPr lang="en-US" sz="2400" dirty="0">
                <a:solidFill>
                  <a:srgbClr val="C00000"/>
                </a:solidFill>
              </a:rPr>
              <a:t>lower part. </a:t>
            </a:r>
            <a:r>
              <a:rPr lang="en-US" sz="2400" dirty="0"/>
              <a:t>It extends from 80 km to 550 km.</a:t>
            </a:r>
          </a:p>
          <a:p>
            <a:pPr marL="1220787" lvl="2" indent="-342900"/>
            <a:r>
              <a:rPr lang="en-US" sz="2000" dirty="0"/>
              <a:t> It helps in </a:t>
            </a:r>
            <a:r>
              <a:rPr lang="en-US" sz="2000" dirty="0">
                <a:solidFill>
                  <a:srgbClr val="C00000"/>
                </a:solidFill>
              </a:rPr>
              <a:t>radio communication</a:t>
            </a:r>
            <a:r>
              <a:rPr lang="en-US" sz="2000" dirty="0"/>
              <a:t>.</a:t>
            </a:r>
          </a:p>
          <a:p>
            <a:pPr lvl="1"/>
            <a:r>
              <a:rPr lang="en-US" sz="2400" dirty="0">
                <a:solidFill>
                  <a:srgbClr val="C00000"/>
                </a:solidFill>
              </a:rPr>
              <a:t>Exosphere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is the </a:t>
            </a:r>
            <a:r>
              <a:rPr lang="en-US" sz="2400" dirty="0">
                <a:solidFill>
                  <a:srgbClr val="C00000"/>
                </a:solidFill>
              </a:rPr>
              <a:t>upper part</a:t>
            </a:r>
            <a:r>
              <a:rPr lang="en-US" sz="2400" dirty="0"/>
              <a:t>. </a:t>
            </a:r>
          </a:p>
          <a:p>
            <a:pPr marL="1220787" lvl="2" indent="-342900"/>
            <a:r>
              <a:rPr lang="en-US" sz="2000" dirty="0"/>
              <a:t>Air is very thin here and is the area where </a:t>
            </a:r>
            <a:r>
              <a:rPr lang="en-US" sz="2000" dirty="0">
                <a:solidFill>
                  <a:srgbClr val="C00000"/>
                </a:solidFill>
              </a:rPr>
              <a:t>satellite orbits </a:t>
            </a:r>
            <a:r>
              <a:rPr lang="en-US" sz="2000" dirty="0"/>
              <a:t>the Earth. </a:t>
            </a:r>
          </a:p>
          <a:p>
            <a:pPr lvl="1"/>
            <a:r>
              <a:rPr lang="en-US" sz="2200" dirty="0"/>
              <a:t>Temperature in this region is high.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096000" y="823744"/>
            <a:ext cx="5479477" cy="56628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0BC4F3-A801-4E75-B562-A714315F40A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28"/>
          <a:stretch/>
        </p:blipFill>
        <p:spPr>
          <a:xfrm>
            <a:off x="877719" y="1090997"/>
            <a:ext cx="4153667" cy="5128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668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4A8A0-9656-47D8-B6D0-BF652B4B835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423482" y="5895318"/>
            <a:ext cx="6830682" cy="514350"/>
          </a:xfrm>
        </p:spPr>
        <p:txBody>
          <a:bodyPr>
            <a:normAutofit/>
          </a:bodyPr>
          <a:lstStyle/>
          <a:p>
            <a:pPr algn="ctr"/>
            <a:r>
              <a:rPr lang="en-IN" sz="2800" dirty="0"/>
              <a:t>Temperature profile of atmosphere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A89C1A-35A0-4136-9CE8-7C537B4F24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482" y="245774"/>
            <a:ext cx="6830682" cy="5649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472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2. Hydrosphere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1" y="863444"/>
            <a:ext cx="5964820" cy="5590565"/>
          </a:xfrm>
        </p:spPr>
        <p:txBody>
          <a:bodyPr/>
          <a:lstStyle/>
          <a:p>
            <a:r>
              <a:rPr lang="en-US" dirty="0"/>
              <a:t>Hydrosphere covers the environment relating to water.</a:t>
            </a:r>
          </a:p>
          <a:p>
            <a:r>
              <a:rPr lang="en-US" dirty="0"/>
              <a:t>Movement of water in our environment is called the </a:t>
            </a:r>
            <a:r>
              <a:rPr lang="en-US" dirty="0">
                <a:solidFill>
                  <a:srgbClr val="C00000"/>
                </a:solidFill>
              </a:rPr>
              <a:t>hydrological cycle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Refer the figure given.</a:t>
            </a:r>
          </a:p>
          <a:p>
            <a:r>
              <a:rPr lang="en-US" dirty="0"/>
              <a:t>Around 75% of the earth’s surficial area is covered with water.</a:t>
            </a:r>
          </a:p>
          <a:p>
            <a:r>
              <a:rPr lang="en-US" dirty="0"/>
              <a:t>Water can be, either </a:t>
            </a:r>
            <a:r>
              <a:rPr lang="en-US" dirty="0">
                <a:solidFill>
                  <a:srgbClr val="C00000"/>
                </a:solidFill>
              </a:rPr>
              <a:t>fresh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(free from salts) or </a:t>
            </a:r>
            <a:r>
              <a:rPr lang="en-US" dirty="0">
                <a:solidFill>
                  <a:srgbClr val="C00000"/>
                </a:solidFill>
              </a:rPr>
              <a:t>saline </a:t>
            </a:r>
            <a:r>
              <a:rPr lang="en-US" dirty="0"/>
              <a:t>(Salt water) in nature.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3803" y="1669148"/>
            <a:ext cx="5088994" cy="3519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14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3. Lithosphere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1" y="863444"/>
            <a:ext cx="5964820" cy="5590565"/>
          </a:xfrm>
        </p:spPr>
        <p:txBody>
          <a:bodyPr/>
          <a:lstStyle/>
          <a:p>
            <a:r>
              <a:rPr lang="en-US" dirty="0"/>
              <a:t>Lithosphere is the uppermost part of the earth crust.</a:t>
            </a:r>
          </a:p>
          <a:p>
            <a:r>
              <a:rPr lang="en-US" dirty="0"/>
              <a:t>It contains of soil, rock , metal, minerals etc.</a:t>
            </a:r>
          </a:p>
          <a:p>
            <a:r>
              <a:rPr lang="en-US" dirty="0"/>
              <a:t>Lithosphere plays an important role in,</a:t>
            </a:r>
          </a:p>
          <a:p>
            <a:pPr lvl="1"/>
            <a:r>
              <a:rPr lang="en-US" dirty="0"/>
              <a:t>Producing food</a:t>
            </a:r>
          </a:p>
          <a:p>
            <a:pPr lvl="1"/>
            <a:r>
              <a:rPr lang="en-US" dirty="0"/>
              <a:t>Decomposition of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most of the organic waste.</a:t>
            </a:r>
          </a:p>
          <a:p>
            <a:r>
              <a:rPr lang="en-US" dirty="0"/>
              <a:t>This decomposition (</a:t>
            </a:r>
            <a:r>
              <a:rPr lang="gu-IN" sz="2000" dirty="0">
                <a:latin typeface="Shruti" panose="020B0502040204020203" pitchFamily="34" charset="0"/>
                <a:cs typeface="Shruti" panose="020B0502040204020203" pitchFamily="34" charset="0"/>
              </a:rPr>
              <a:t>વિઘટન</a:t>
            </a:r>
            <a:r>
              <a:rPr lang="en-US" dirty="0"/>
              <a:t>) is carried out by micro-organism.</a:t>
            </a:r>
          </a:p>
          <a:p>
            <a:pPr lvl="1"/>
            <a:r>
              <a:rPr lang="en-US" dirty="0"/>
              <a:t>Bacteria, virus, fungi, etc.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824FEA-AA47-4512-8B74-306A83C0B8F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6" t="7858" r="1776" b="6706"/>
          <a:stretch/>
        </p:blipFill>
        <p:spPr>
          <a:xfrm>
            <a:off x="6457953" y="1138237"/>
            <a:ext cx="5172076" cy="458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879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Biosphere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1" y="863444"/>
            <a:ext cx="5964820" cy="5590565"/>
          </a:xfrm>
        </p:spPr>
        <p:txBody>
          <a:bodyPr/>
          <a:lstStyle/>
          <a:p>
            <a:r>
              <a:rPr lang="en-US" dirty="0"/>
              <a:t>Biosphere is made up of </a:t>
            </a:r>
            <a:r>
              <a:rPr lang="en-US" dirty="0">
                <a:solidFill>
                  <a:srgbClr val="C00000"/>
                </a:solidFill>
              </a:rPr>
              <a:t>living organisms </a:t>
            </a:r>
            <a:r>
              <a:rPr lang="en-US" dirty="0"/>
              <a:t>&amp; the environmental constituents supporting the organisms.</a:t>
            </a:r>
          </a:p>
          <a:p>
            <a:r>
              <a:rPr lang="en-US" dirty="0"/>
              <a:t>“</a:t>
            </a:r>
            <a:r>
              <a:rPr lang="en-US" dirty="0">
                <a:solidFill>
                  <a:srgbClr val="C00000"/>
                </a:solidFill>
              </a:rPr>
              <a:t>The region of the earth where life exists is known as the biosphere</a:t>
            </a:r>
            <a:r>
              <a:rPr lang="en-US" dirty="0"/>
              <a:t>.”</a:t>
            </a:r>
          </a:p>
          <a:p>
            <a:r>
              <a:rPr lang="en-US" dirty="0"/>
              <a:t>It extends from lowest sea bed level to high in the atmosphere.</a:t>
            </a:r>
          </a:p>
          <a:p>
            <a:r>
              <a:rPr lang="en-US" dirty="0"/>
              <a:t>Favorable atmosphere conditions like water, sunlight exposure, temperature etc., determines the existence of life.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779" y="1563393"/>
            <a:ext cx="5322865" cy="3503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15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C23F3-139D-F7B8-1C81-B8DCCD21B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Interaction Between the Components of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5837C-7C55-6141-C89A-B66567020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841745" cy="5590565"/>
          </a:xfrm>
        </p:spPr>
        <p:txBody>
          <a:bodyPr/>
          <a:lstStyle/>
          <a:p>
            <a:r>
              <a:rPr lang="en-US" dirty="0"/>
              <a:t>Any change in one of the components effect other components also, </a:t>
            </a:r>
          </a:p>
          <a:p>
            <a:pPr lvl="1"/>
            <a:r>
              <a:rPr lang="en-US" dirty="0"/>
              <a:t>For example, changes in the temperature of atmosphere, cause changes in the rate of evaporation, humidity Leading to rainfall, it affects lithosphere as flood may occur causing erosion of earth. </a:t>
            </a:r>
          </a:p>
          <a:p>
            <a:pPr lvl="1"/>
            <a:r>
              <a:rPr lang="en-US" dirty="0"/>
              <a:t>This also affects the biosphere as different types of plants grow differently according to the amount of rainfall they receive. </a:t>
            </a:r>
          </a:p>
          <a:p>
            <a:pPr lvl="1"/>
            <a:r>
              <a:rPr lang="en-US" dirty="0"/>
              <a:t>Thus, there is a dynamic interaction among different components of environment. </a:t>
            </a:r>
          </a:p>
          <a:p>
            <a:r>
              <a:rPr lang="en-US" dirty="0"/>
              <a:t>Lithosphere is almost static component, while atmosphere &amp; hydrosphere are dynamic components of environment. </a:t>
            </a:r>
          </a:p>
          <a:p>
            <a:r>
              <a:rPr lang="en-US" dirty="0"/>
              <a:t>Different types of movements of air, due to wind &amp; storms, and movements of river water cause changes on the land surface and thus affect lithosphere. </a:t>
            </a:r>
          </a:p>
          <a:p>
            <a:r>
              <a:rPr lang="en-US" dirty="0"/>
              <a:t>Thus, all components of environment are interrelated and have capacity to change the structure and composition of other components of the environment.</a:t>
            </a:r>
            <a:endParaRPr lang="en-IN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21A44B5-320B-0D18-DA05-46BDDAFA0394}"/>
              </a:ext>
            </a:extLst>
          </p:cNvPr>
          <p:cNvSpPr txBox="1">
            <a:spLocks/>
          </p:cNvSpPr>
          <p:nvPr/>
        </p:nvSpPr>
        <p:spPr>
          <a:xfrm>
            <a:off x="146070" y="4321387"/>
            <a:ext cx="11826855" cy="17414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6615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82740-0477-F8E0-A024-AAA53369B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Interaction Between the Components of Environment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B08E33-10AC-92AE-71B5-05243657E3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96660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C23F3-139D-F7B8-1C81-B8DCCD21B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Interaction Between the Components of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5837C-7C55-6141-C89A-B66567020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5898239" cy="5590565"/>
          </a:xfrm>
        </p:spPr>
        <p:txBody>
          <a:bodyPr/>
          <a:lstStyle/>
          <a:p>
            <a:r>
              <a:rPr lang="en-IN" dirty="0"/>
              <a:t>All of the components of environment are </a:t>
            </a:r>
            <a:r>
              <a:rPr lang="en-IN" dirty="0">
                <a:solidFill>
                  <a:srgbClr val="C00000"/>
                </a:solidFill>
              </a:rPr>
              <a:t>interconnected and are continuously in contact of one another.</a:t>
            </a:r>
          </a:p>
          <a:p>
            <a:r>
              <a:rPr lang="en-IN" dirty="0"/>
              <a:t>A schematic representation of environmental components and their interrelationship is shown in the figure.</a:t>
            </a:r>
          </a:p>
          <a:p>
            <a:pPr lvl="1"/>
            <a:r>
              <a:rPr lang="en-IN" dirty="0"/>
              <a:t>Rectangles represents different spheres.</a:t>
            </a:r>
          </a:p>
          <a:p>
            <a:pPr lvl="1"/>
            <a:r>
              <a:rPr lang="en-IN" dirty="0"/>
              <a:t>The lines show the flow path of matter.</a:t>
            </a:r>
          </a:p>
          <a:p>
            <a:pPr lvl="1"/>
            <a:r>
              <a:rPr lang="en-IN" dirty="0"/>
              <a:t>There is </a:t>
            </a:r>
            <a:r>
              <a:rPr lang="en-IN" dirty="0">
                <a:solidFill>
                  <a:srgbClr val="C00000"/>
                </a:solidFill>
              </a:rPr>
              <a:t>closed, dynamic, inseparable interrelationship.</a:t>
            </a:r>
          </a:p>
          <a:p>
            <a:pPr lvl="1"/>
            <a:r>
              <a:rPr lang="en-IN" dirty="0"/>
              <a:t>If one linkage changes other components respond.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54C3FC-790D-4147-A9A8-7CD570610D5E}"/>
              </a:ext>
            </a:extLst>
          </p:cNvPr>
          <p:cNvSpPr/>
          <p:nvPr/>
        </p:nvSpPr>
        <p:spPr>
          <a:xfrm>
            <a:off x="6413017" y="1945505"/>
            <a:ext cx="1651247" cy="71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Atmosphere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7745CC-E7FE-494C-9E17-52E1A0B386CF}"/>
              </a:ext>
            </a:extLst>
          </p:cNvPr>
          <p:cNvSpPr/>
          <p:nvPr/>
        </p:nvSpPr>
        <p:spPr>
          <a:xfrm>
            <a:off x="10117964" y="1945505"/>
            <a:ext cx="1651247" cy="71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Hydrosphere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8810AD-A039-4ED5-BA5F-803A8DE9C81F}"/>
              </a:ext>
            </a:extLst>
          </p:cNvPr>
          <p:cNvSpPr/>
          <p:nvPr/>
        </p:nvSpPr>
        <p:spPr>
          <a:xfrm>
            <a:off x="10117964" y="5063539"/>
            <a:ext cx="1651247" cy="71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Lithosphere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AC7EBA-39EE-486B-87AE-16213D1423FE}"/>
              </a:ext>
            </a:extLst>
          </p:cNvPr>
          <p:cNvSpPr/>
          <p:nvPr/>
        </p:nvSpPr>
        <p:spPr>
          <a:xfrm>
            <a:off x="6413017" y="5063539"/>
            <a:ext cx="1651247" cy="71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Biosphere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0206719-FA4C-4973-8D56-268B9A819A2D}"/>
              </a:ext>
            </a:extLst>
          </p:cNvPr>
          <p:cNvCxnSpPr>
            <a:cxnSpLocks/>
          </p:cNvCxnSpPr>
          <p:nvPr/>
        </p:nvCxnSpPr>
        <p:spPr>
          <a:xfrm>
            <a:off x="10946545" y="2780006"/>
            <a:ext cx="0" cy="2148396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4338D77-62EA-4DA6-A40A-1BAC0ECE5A4D}"/>
              </a:ext>
            </a:extLst>
          </p:cNvPr>
          <p:cNvCxnSpPr>
            <a:cxnSpLocks/>
          </p:cNvCxnSpPr>
          <p:nvPr/>
        </p:nvCxnSpPr>
        <p:spPr>
          <a:xfrm>
            <a:off x="8275846" y="2780006"/>
            <a:ext cx="1688239" cy="2148396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E520F88-0FB0-4FE6-B34A-024D2745F6A1}"/>
              </a:ext>
            </a:extLst>
          </p:cNvPr>
          <p:cNvCxnSpPr>
            <a:cxnSpLocks/>
          </p:cNvCxnSpPr>
          <p:nvPr/>
        </p:nvCxnSpPr>
        <p:spPr>
          <a:xfrm flipH="1">
            <a:off x="8222578" y="2859905"/>
            <a:ext cx="1741507" cy="2068497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6A31AD3-5664-4F19-AD15-82D2FF58D2D1}"/>
              </a:ext>
            </a:extLst>
          </p:cNvPr>
          <p:cNvCxnSpPr>
            <a:cxnSpLocks/>
          </p:cNvCxnSpPr>
          <p:nvPr/>
        </p:nvCxnSpPr>
        <p:spPr>
          <a:xfrm>
            <a:off x="7248995" y="2780006"/>
            <a:ext cx="0" cy="2148396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A46E198-100E-4E91-943D-6F116F8F7E92}"/>
              </a:ext>
            </a:extLst>
          </p:cNvPr>
          <p:cNvCxnSpPr>
            <a:cxnSpLocks/>
          </p:cNvCxnSpPr>
          <p:nvPr/>
        </p:nvCxnSpPr>
        <p:spPr>
          <a:xfrm>
            <a:off x="8275846" y="2301105"/>
            <a:ext cx="1688239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AF73424-D8CA-4C97-8D15-011981031D12}"/>
              </a:ext>
            </a:extLst>
          </p:cNvPr>
          <p:cNvCxnSpPr>
            <a:cxnSpLocks/>
          </p:cNvCxnSpPr>
          <p:nvPr/>
        </p:nvCxnSpPr>
        <p:spPr>
          <a:xfrm>
            <a:off x="8222578" y="5419139"/>
            <a:ext cx="1722270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Arrow: Curved Down 25">
            <a:extLst>
              <a:ext uri="{FF2B5EF4-FFF2-40B4-BE49-F238E27FC236}">
                <a16:creationId xmlns:a16="http://schemas.microsoft.com/office/drawing/2014/main" id="{6103F371-2C7B-4B13-8092-3B3479637A57}"/>
              </a:ext>
            </a:extLst>
          </p:cNvPr>
          <p:cNvSpPr/>
          <p:nvPr/>
        </p:nvSpPr>
        <p:spPr>
          <a:xfrm>
            <a:off x="10658764" y="1506553"/>
            <a:ext cx="569648" cy="355107"/>
          </a:xfrm>
          <a:prstGeom prst="curved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8" name="Arrow: Curved Down 27">
            <a:extLst>
              <a:ext uri="{FF2B5EF4-FFF2-40B4-BE49-F238E27FC236}">
                <a16:creationId xmlns:a16="http://schemas.microsoft.com/office/drawing/2014/main" id="{35439BC3-9765-4C25-88AC-FD89C8FB3A15}"/>
              </a:ext>
            </a:extLst>
          </p:cNvPr>
          <p:cNvSpPr/>
          <p:nvPr/>
        </p:nvSpPr>
        <p:spPr>
          <a:xfrm rot="10800000">
            <a:off x="6964171" y="5854144"/>
            <a:ext cx="569648" cy="355107"/>
          </a:xfrm>
          <a:prstGeom prst="curved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1" name="Arrow: Curved Down 30">
            <a:extLst>
              <a:ext uri="{FF2B5EF4-FFF2-40B4-BE49-F238E27FC236}">
                <a16:creationId xmlns:a16="http://schemas.microsoft.com/office/drawing/2014/main" id="{04FBB69B-F7B6-4ADB-A5C8-8A9FD4664D8A}"/>
              </a:ext>
            </a:extLst>
          </p:cNvPr>
          <p:cNvSpPr/>
          <p:nvPr/>
        </p:nvSpPr>
        <p:spPr>
          <a:xfrm flipH="1">
            <a:off x="6953815" y="1506556"/>
            <a:ext cx="569649" cy="355105"/>
          </a:xfrm>
          <a:prstGeom prst="curved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2" name="Arrow: Curved Down 31">
            <a:extLst>
              <a:ext uri="{FF2B5EF4-FFF2-40B4-BE49-F238E27FC236}">
                <a16:creationId xmlns:a16="http://schemas.microsoft.com/office/drawing/2014/main" id="{44D53E9F-5128-4FFA-B3DA-2BE3E6ED6E1E}"/>
              </a:ext>
            </a:extLst>
          </p:cNvPr>
          <p:cNvSpPr/>
          <p:nvPr/>
        </p:nvSpPr>
        <p:spPr>
          <a:xfrm flipV="1">
            <a:off x="10658762" y="5854144"/>
            <a:ext cx="569650" cy="355108"/>
          </a:xfrm>
          <a:prstGeom prst="curved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5370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50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000"/>
                            </p:stCondLst>
                            <p:childTnLst>
                              <p:par>
                                <p:cTn id="5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500"/>
                            </p:stCondLst>
                            <p:childTnLst>
                              <p:par>
                                <p:cTn id="6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30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50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40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4500"/>
                            </p:stCondLst>
                            <p:childTnLst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7" grpId="0" animBg="1"/>
      <p:bldP spid="9" grpId="0" animBg="1"/>
      <p:bldP spid="10" grpId="0" animBg="1"/>
      <p:bldP spid="26" grpId="0" animBg="1"/>
      <p:bldP spid="28" grpId="0" animBg="1"/>
      <p:bldP spid="31" grpId="0" animBg="1"/>
      <p:bldP spid="3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C23F3-139D-F7B8-1C81-B8DCCD21B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Interaction Between the Components of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5837C-7C55-6141-C89A-B66567020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841745" cy="5590565"/>
          </a:xfrm>
        </p:spPr>
        <p:txBody>
          <a:bodyPr/>
          <a:lstStyle/>
          <a:p>
            <a:r>
              <a:rPr lang="en-IN" dirty="0"/>
              <a:t>Atmosphere acts as a transport media as it provides gases for respiratory purposes for all living organisms.</a:t>
            </a:r>
          </a:p>
          <a:p>
            <a:r>
              <a:rPr lang="en-IN" dirty="0"/>
              <a:t>Water is utilized by living organisms for growth and development. </a:t>
            </a:r>
          </a:p>
          <a:p>
            <a:r>
              <a:rPr lang="en-IN" dirty="0"/>
              <a:t>Lithosphere is a solid shell of inorganic matter on the surface of the earth.</a:t>
            </a:r>
          </a:p>
          <a:p>
            <a:r>
              <a:rPr lang="en-US" dirty="0"/>
              <a:t>The biosphere </a:t>
            </a:r>
            <a:r>
              <a:rPr lang="en-IN" dirty="0"/>
              <a:t>implies to </a:t>
            </a:r>
            <a:r>
              <a:rPr lang="en-US" dirty="0"/>
              <a:t>all living organisms.</a:t>
            </a:r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E24BEE-6583-F37B-20C1-DFA94449A1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7592" y="3117932"/>
            <a:ext cx="4572210" cy="3265864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21A44B5-320B-0D18-DA05-46BDDAFA0394}"/>
              </a:ext>
            </a:extLst>
          </p:cNvPr>
          <p:cNvSpPr txBox="1">
            <a:spLocks/>
          </p:cNvSpPr>
          <p:nvPr/>
        </p:nvSpPr>
        <p:spPr>
          <a:xfrm>
            <a:off x="146070" y="4321387"/>
            <a:ext cx="11826855" cy="17414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3847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FDE01-D293-E3D5-BE74-6DF68278E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Man &amp;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C2217-407F-274C-F033-7FBC822069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two words Man and environment are not new to human history and the </a:t>
            </a:r>
            <a:r>
              <a:rPr lang="en-US" dirty="0">
                <a:solidFill>
                  <a:srgbClr val="FF0000"/>
                </a:solidFill>
              </a:rPr>
              <a:t>interrelation between them is well established.</a:t>
            </a:r>
          </a:p>
          <a:p>
            <a:r>
              <a:rPr lang="en-US" dirty="0"/>
              <a:t>Worshipping of trees and rivers, animals, and birds was not based on superstition, but there was a hidden message about preserving and protecting the environment.</a:t>
            </a:r>
          </a:p>
          <a:p>
            <a:r>
              <a:rPr lang="en-US" dirty="0"/>
              <a:t>With the start of the industrial revolution the total scenario changed.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BFEA5D-E65D-9EA6-B2ED-99D75F3EBA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712" y="3429000"/>
            <a:ext cx="3274330" cy="21965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A86CEC-D7E1-AFC4-9708-28D8ACB7F5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9748" y="3429000"/>
            <a:ext cx="3376613" cy="22185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4EFF2D-3FBA-79B8-D907-A8BAAA35D2C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4067" y="3429000"/>
            <a:ext cx="3519141" cy="2196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556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C97C8-F9F0-DFAD-E7AD-A94EFEE3F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Impacts of Technology on Environment 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663596-3012-EB43-0D56-CD8978EE43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14347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21E42-945B-03E9-7E96-CE2E2AF35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Impacts of Technology on Environment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ADEB4C-6A2F-2CF5-E699-D3466C27DB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7592393" cy="5590565"/>
          </a:xfrm>
        </p:spPr>
        <p:txBody>
          <a:bodyPr/>
          <a:lstStyle/>
          <a:p>
            <a:r>
              <a:rPr lang="en-US" dirty="0"/>
              <a:t>Human is the only living organism, </a:t>
            </a:r>
            <a:r>
              <a:rPr lang="en-US" dirty="0">
                <a:solidFill>
                  <a:srgbClr val="FF0000"/>
                </a:solidFill>
              </a:rPr>
              <a:t>capable of modifying its surrounding environment, according to the need</a:t>
            </a:r>
            <a:r>
              <a:rPr lang="en-US" dirty="0"/>
              <a:t>. </a:t>
            </a:r>
          </a:p>
          <a:p>
            <a:r>
              <a:rPr lang="en-US" dirty="0"/>
              <a:t>Other animals change according to the environment.</a:t>
            </a:r>
          </a:p>
          <a:p>
            <a:r>
              <a:rPr lang="en-US" dirty="0"/>
              <a:t>Humans started hunting animals and cutting trees for their basic needs, </a:t>
            </a:r>
            <a:r>
              <a:rPr lang="en-US" dirty="0">
                <a:solidFill>
                  <a:srgbClr val="FF0000"/>
                </a:solidFill>
              </a:rPr>
              <a:t>gradually with time they started cutting forests and converting them into grasslands/agricultural fields</a:t>
            </a:r>
            <a:r>
              <a:rPr lang="en-US" dirty="0"/>
              <a:t>. </a:t>
            </a:r>
          </a:p>
          <a:p>
            <a:r>
              <a:rPr lang="en-US" dirty="0"/>
              <a:t>Quantity of carbon dioxide emission increased tremendously. </a:t>
            </a:r>
          </a:p>
          <a:p>
            <a:r>
              <a:rPr lang="en-US" dirty="0"/>
              <a:t>Major environmental issues arising due to human activities are global warming, acid rain, and ozone depletion.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9C7E8A-F60B-4D73-9007-221E0D3714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7900" y="3475895"/>
            <a:ext cx="3371850" cy="2247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31C8B5-1C49-4226-B56B-DB943D7DEBD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27" t="2816" r="627" b="7703"/>
          <a:stretch/>
        </p:blipFill>
        <p:spPr>
          <a:xfrm>
            <a:off x="8948695" y="795171"/>
            <a:ext cx="2670260" cy="258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876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Impacts of Technology on Environment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Technology helps ease human labour or may be used for one’s convenience.</a:t>
            </a:r>
          </a:p>
          <a:p>
            <a:r>
              <a:rPr lang="en-US" dirty="0"/>
              <a:t>No technology can be completely free of environmental impacts. </a:t>
            </a:r>
          </a:p>
          <a:p>
            <a:r>
              <a:rPr lang="en-US" dirty="0"/>
              <a:t>This statement simply says that the </a:t>
            </a:r>
            <a:r>
              <a:rPr lang="en-US" dirty="0">
                <a:solidFill>
                  <a:srgbClr val="C00000"/>
                </a:solidFill>
              </a:rPr>
              <a:t>development and use of any technology leads to environmental costs more than its benefits. </a:t>
            </a:r>
          </a:p>
          <a:p>
            <a:r>
              <a:rPr lang="en-US" dirty="0"/>
              <a:t>The impact of technology can be direct or indirect in nature.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C00000"/>
                </a:solidFill>
              </a:rPr>
              <a:t>Direct effects </a:t>
            </a:r>
            <a:r>
              <a:rPr lang="en-US" dirty="0"/>
              <a:t>includes </a:t>
            </a:r>
          </a:p>
          <a:p>
            <a:pPr lvl="1"/>
            <a:r>
              <a:rPr lang="en-US" dirty="0"/>
              <a:t>Exhaustion of natural resources.</a:t>
            </a:r>
          </a:p>
          <a:p>
            <a:pPr lvl="1"/>
            <a:r>
              <a:rPr lang="en-US" dirty="0"/>
              <a:t>Release of pollutants.</a:t>
            </a:r>
          </a:p>
          <a:p>
            <a:pPr lvl="1"/>
            <a:r>
              <a:rPr lang="en-US" dirty="0"/>
              <a:t>Accidents, etc.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C00000"/>
                </a:solidFill>
              </a:rPr>
              <a:t>Indirect effects: </a:t>
            </a:r>
            <a:r>
              <a:rPr lang="en-US" dirty="0"/>
              <a:t>it interfere with the </a:t>
            </a:r>
            <a:r>
              <a:rPr lang="en-US" b="1" dirty="0"/>
              <a:t>quality of vital services </a:t>
            </a:r>
            <a:r>
              <a:rPr lang="en-US" dirty="0"/>
              <a:t>supplied to living species by nature.</a:t>
            </a:r>
          </a:p>
          <a:p>
            <a:pPr lvl="1"/>
            <a:r>
              <a:rPr lang="en-US" dirty="0"/>
              <a:t>Life expectancy.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89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 of urbanization on environment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Impact on atmosphere,</a:t>
            </a:r>
          </a:p>
          <a:p>
            <a:pPr marL="457200" indent="-457200" algn="l" fontAlgn="ctr">
              <a:buFont typeface="+mj-lt"/>
              <a:buAutoNum type="arabicPeriod"/>
            </a:pPr>
            <a:r>
              <a:rPr lang="en-IN" dirty="0"/>
              <a:t>Increased release of CO</a:t>
            </a:r>
            <a:r>
              <a:rPr lang="en-IN" baseline="-25000" dirty="0"/>
              <a:t>2</a:t>
            </a:r>
            <a:r>
              <a:rPr lang="en-IN" dirty="0"/>
              <a:t>, Decreased O</a:t>
            </a:r>
            <a:r>
              <a:rPr lang="en-IN" baseline="-25000" dirty="0"/>
              <a:t>2</a:t>
            </a:r>
            <a:r>
              <a:rPr lang="en-IN" dirty="0"/>
              <a:t> production</a:t>
            </a:r>
          </a:p>
          <a:p>
            <a:pPr marL="1001712" lvl="1" indent="-457200" algn="l" fontAlgn="ctr"/>
            <a:r>
              <a:rPr lang="en-IN" dirty="0"/>
              <a:t>Due larger population</a:t>
            </a:r>
          </a:p>
          <a:p>
            <a:pPr marL="457200" indent="-457200" algn="l" fontAlgn="ctr">
              <a:buFont typeface="+mj-lt"/>
              <a:buAutoNum type="arabicPeriod"/>
            </a:pPr>
            <a:r>
              <a:rPr lang="en-IN" dirty="0"/>
              <a:t>Increased average temperature</a:t>
            </a:r>
          </a:p>
          <a:p>
            <a:pPr marL="1001712" lvl="1" indent="-457200" algn="l" fontAlgn="ctr"/>
            <a:r>
              <a:rPr lang="en-IN" dirty="0"/>
              <a:t>Due higher CO</a:t>
            </a:r>
            <a:r>
              <a:rPr lang="en-IN" baseline="-25000" dirty="0"/>
              <a:t>2</a:t>
            </a:r>
            <a:r>
              <a:rPr lang="en-IN" dirty="0"/>
              <a:t> and less vegetative cover</a:t>
            </a:r>
          </a:p>
          <a:p>
            <a:pPr marL="457200" indent="-457200" algn="l" fontAlgn="ctr">
              <a:buFont typeface="+mj-lt"/>
              <a:buAutoNum type="arabicPeriod"/>
            </a:pPr>
            <a:r>
              <a:rPr lang="en-IN" dirty="0"/>
              <a:t>Air pollution from combustion of fuels </a:t>
            </a:r>
          </a:p>
          <a:p>
            <a:pPr marL="1001712" lvl="1" indent="-457200" algn="l" fontAlgn="ctr"/>
            <a:r>
              <a:rPr lang="en-IN" dirty="0"/>
              <a:t>Due to vehicles</a:t>
            </a:r>
          </a:p>
          <a:p>
            <a:pPr marL="457200" indent="-457200" algn="l" fontAlgn="ctr">
              <a:buFont typeface="+mj-lt"/>
              <a:buAutoNum type="arabicPeriod"/>
            </a:pPr>
            <a:r>
              <a:rPr lang="en-IN" dirty="0"/>
              <a:t>Particulate matter and noxious fumes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26" name="Picture 2" descr="Find &amp; Share on GIPHY">
            <a:extLst>
              <a:ext uri="{FF2B5EF4-FFF2-40B4-BE49-F238E27FC236}">
                <a16:creationId xmlns:a16="http://schemas.microsoft.com/office/drawing/2014/main" id="{7B7DF50F-5B8A-4433-B286-81F6587F0294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4392" y="3429000"/>
            <a:ext cx="3591572" cy="2693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Weebz Mandiri">
            <a:extLst>
              <a:ext uri="{FF2B5EF4-FFF2-40B4-BE49-F238E27FC236}">
                <a16:creationId xmlns:a16="http://schemas.microsoft.com/office/drawing/2014/main" id="{2BE7F5B4-3C90-4E45-9701-3DC375B162C4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9277" y="1033402"/>
            <a:ext cx="4086687" cy="193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4694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 of urbanization on environment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1" y="863444"/>
            <a:ext cx="5887880" cy="5590565"/>
          </a:xfrm>
        </p:spPr>
        <p:txBody>
          <a:bodyPr/>
          <a:lstStyle/>
          <a:p>
            <a:r>
              <a:rPr lang="en-US" dirty="0"/>
              <a:t>Impact on hydrosphere,</a:t>
            </a:r>
          </a:p>
          <a:p>
            <a:pPr marL="457200" indent="-457200" fontAlgn="ctr">
              <a:buFont typeface="+mj-lt"/>
              <a:buAutoNum type="arabicPeriod"/>
            </a:pPr>
            <a:r>
              <a:rPr lang="en-IN" dirty="0"/>
              <a:t>Greater demand/scarcity of water resources</a:t>
            </a:r>
          </a:p>
          <a:p>
            <a:pPr marL="1001712" lvl="1" indent="-457200" fontAlgn="ctr"/>
            <a:r>
              <a:rPr lang="en-IN" dirty="0"/>
              <a:t>Due population and various industry and commercial activity</a:t>
            </a:r>
          </a:p>
          <a:p>
            <a:pPr marL="457200" indent="-457200" fontAlgn="ctr">
              <a:buFont typeface="+mj-lt"/>
              <a:buAutoNum type="arabicPeriod"/>
            </a:pPr>
            <a:r>
              <a:rPr lang="en-IN" dirty="0"/>
              <a:t>Because of high ground usage,</a:t>
            </a:r>
          </a:p>
          <a:p>
            <a:pPr marL="1001712" lvl="1" indent="-457200" fontAlgn="ctr"/>
            <a:r>
              <a:rPr lang="en-IN" dirty="0"/>
              <a:t>There is increase in pollution of water resources</a:t>
            </a:r>
          </a:p>
          <a:p>
            <a:pPr marL="1001712" lvl="1" indent="-457200" fontAlgn="ctr"/>
            <a:r>
              <a:rPr lang="en-IN" dirty="0"/>
              <a:t>Drainage patterns affected</a:t>
            </a:r>
          </a:p>
          <a:p>
            <a:pPr marL="457200" indent="-457200" fontAlgn="ctr">
              <a:buFont typeface="+mj-lt"/>
              <a:buAutoNum type="arabicPeriod"/>
            </a:pPr>
            <a:r>
              <a:rPr lang="en-IN" dirty="0"/>
              <a:t>Due to transportation Rain and surface water polluted with lead.</a:t>
            </a:r>
          </a:p>
          <a:p>
            <a:pPr marL="457200" indent="-457200" fontAlgn="ctr">
              <a:buFont typeface="+mj-lt"/>
              <a:buAutoNum type="arabicPeriod"/>
            </a:pPr>
            <a:r>
              <a:rPr lang="en-IN" dirty="0"/>
              <a:t>Leaching of pollutants from landfills reaches ground water reserves.</a:t>
            </a:r>
          </a:p>
          <a:p>
            <a:pPr marL="1001712" lvl="1" indent="-457200" fontAlgn="ctr"/>
            <a:r>
              <a:rPr lang="en-IN" dirty="0"/>
              <a:t>Due to chemicals from waste products.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A4719A-6D47-4170-A2C4-798D0859E35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47" t="8600" r="24991" b="5891"/>
          <a:stretch/>
        </p:blipFill>
        <p:spPr>
          <a:xfrm>
            <a:off x="6773663" y="1654484"/>
            <a:ext cx="4911580" cy="4280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798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 of urbanization on environment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1" y="863444"/>
            <a:ext cx="5621550" cy="5590565"/>
          </a:xfrm>
        </p:spPr>
        <p:txBody>
          <a:bodyPr/>
          <a:lstStyle/>
          <a:p>
            <a:r>
              <a:rPr lang="en-US" dirty="0"/>
              <a:t>Impact on </a:t>
            </a:r>
            <a:r>
              <a:rPr lang="en-IN" dirty="0"/>
              <a:t>lithosphere,</a:t>
            </a:r>
          </a:p>
          <a:p>
            <a:pPr marL="457200" indent="-457200" fontAlgn="ctr">
              <a:buFont typeface="+mj-lt"/>
              <a:buAutoNum type="arabicPeriod"/>
            </a:pPr>
            <a:r>
              <a:rPr lang="en-IN" dirty="0"/>
              <a:t>Increased land use for residing (living purpose) and decrease in agriculture land</a:t>
            </a:r>
          </a:p>
          <a:p>
            <a:pPr marL="457200" indent="-457200" fontAlgn="ctr">
              <a:buFont typeface="+mj-lt"/>
              <a:buAutoNum type="arabicPeriod"/>
            </a:pPr>
            <a:r>
              <a:rPr lang="en-IN" dirty="0"/>
              <a:t>Complete changes due to construction.</a:t>
            </a:r>
          </a:p>
          <a:p>
            <a:pPr marL="1001712" lvl="1" indent="-457200" fontAlgn="ctr"/>
            <a:r>
              <a:rPr lang="en-IN" dirty="0"/>
              <a:t>Natural land features affected.</a:t>
            </a:r>
          </a:p>
          <a:p>
            <a:pPr marL="457200" indent="-457200" fontAlgn="ctr">
              <a:buFont typeface="+mj-lt"/>
              <a:buAutoNum type="arabicPeriod"/>
            </a:pPr>
            <a:r>
              <a:rPr lang="en-IN" dirty="0"/>
              <a:t>Disruption or disfigurement of the landscape</a:t>
            </a:r>
          </a:p>
          <a:p>
            <a:pPr marL="1001712" lvl="1" indent="-457200" fontAlgn="ctr"/>
            <a:r>
              <a:rPr lang="en-IN" dirty="0"/>
              <a:t>Due to roadways and railway construction</a:t>
            </a:r>
          </a:p>
          <a:p>
            <a:pPr marL="457200" indent="-457200" fontAlgn="ctr">
              <a:buFont typeface="+mj-lt"/>
              <a:buAutoNum type="arabicPeriod"/>
            </a:pPr>
            <a:r>
              <a:rPr lang="en-IN" dirty="0"/>
              <a:t>Urban waste disposal disturbs lithosphere quality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1CE1EA-6EF1-417A-AA5D-3A8E772F3F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7496" y="1200795"/>
            <a:ext cx="5773323" cy="43299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C4FE9FA-D217-4F6E-90B1-85B69C91896F}"/>
              </a:ext>
            </a:extLst>
          </p:cNvPr>
          <p:cNvSpPr txBox="1"/>
          <p:nvPr/>
        </p:nvSpPr>
        <p:spPr>
          <a:xfrm>
            <a:off x="6287496" y="5657205"/>
            <a:ext cx="57733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/>
              <a:t>Leaching</a:t>
            </a:r>
          </a:p>
        </p:txBody>
      </p:sp>
    </p:spTree>
    <p:extLst>
      <p:ext uri="{BB962C8B-B14F-4D97-AF65-F5344CB8AC3E}">
        <p14:creationId xmlns:p14="http://schemas.microsoft.com/office/powerpoint/2010/main" val="3630438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118ECAF6-60A1-40E8-BCCA-7E1932B31A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1620832"/>
              </p:ext>
            </p:extLst>
          </p:nvPr>
        </p:nvGraphicFramePr>
        <p:xfrm>
          <a:off x="405414" y="1034221"/>
          <a:ext cx="11381172" cy="53488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51684">
                  <a:extLst>
                    <a:ext uri="{9D8B030D-6E8A-4147-A177-3AD203B41FA5}">
                      <a16:colId xmlns:a16="http://schemas.microsoft.com/office/drawing/2014/main" val="321341938"/>
                    </a:ext>
                  </a:extLst>
                </a:gridCol>
                <a:gridCol w="2578456">
                  <a:extLst>
                    <a:ext uri="{9D8B030D-6E8A-4147-A177-3AD203B41FA5}">
                      <a16:colId xmlns:a16="http://schemas.microsoft.com/office/drawing/2014/main" val="3246600101"/>
                    </a:ext>
                  </a:extLst>
                </a:gridCol>
                <a:gridCol w="2350344">
                  <a:extLst>
                    <a:ext uri="{9D8B030D-6E8A-4147-A177-3AD203B41FA5}">
                      <a16:colId xmlns:a16="http://schemas.microsoft.com/office/drawing/2014/main" val="2403487179"/>
                    </a:ext>
                  </a:extLst>
                </a:gridCol>
                <a:gridCol w="2350344">
                  <a:extLst>
                    <a:ext uri="{9D8B030D-6E8A-4147-A177-3AD203B41FA5}">
                      <a16:colId xmlns:a16="http://schemas.microsoft.com/office/drawing/2014/main" val="3055374303"/>
                    </a:ext>
                  </a:extLst>
                </a:gridCol>
                <a:gridCol w="2350344">
                  <a:extLst>
                    <a:ext uri="{9D8B030D-6E8A-4147-A177-3AD203B41FA5}">
                      <a16:colId xmlns:a16="http://schemas.microsoft.com/office/drawing/2014/main" val="2176110561"/>
                    </a:ext>
                  </a:extLst>
                </a:gridCol>
              </a:tblGrid>
              <a:tr h="764118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Environmental 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Population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Land use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Transportation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Services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9676551"/>
                  </a:ext>
                </a:extLst>
              </a:tr>
              <a:tr h="1419076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Atmosphere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Increased release of CO</a:t>
                      </a:r>
                      <a:r>
                        <a:rPr lang="en-IN" sz="2000" baseline="-25000" dirty="0"/>
                        <a:t>2</a:t>
                      </a:r>
                      <a:r>
                        <a:rPr lang="en-IN" sz="2000" dirty="0"/>
                        <a:t>, Decreased O</a:t>
                      </a:r>
                      <a:r>
                        <a:rPr lang="en-IN" sz="2000" baseline="-25000" dirty="0"/>
                        <a:t>2 </a:t>
                      </a:r>
                      <a:r>
                        <a:rPr lang="en-IN" sz="2000" dirty="0"/>
                        <a:t>production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Increased average temperature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Air pollution from combustion of fuels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Particulate matter and noxious fumes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6386785"/>
                  </a:ext>
                </a:extLst>
              </a:tr>
              <a:tr h="1746554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Hydrosphere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Greater demand of water resources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Increased pollution in most of the resources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Rain and surface water polluted with lead, drainage pattern change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Leaching of pollutants from landfills reaches ground water reserves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1984406"/>
                  </a:ext>
                </a:extLst>
              </a:tr>
              <a:tr h="1419076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Lithosphere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Increased land use for residing and decrease in agriculture land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Complete changes due to construction and landscape.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Disruption or disfigurement of the landscape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Urban waste disposal disturbs the landscape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937445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97574CE-3C47-463A-A083-51D3A6879030}"/>
              </a:ext>
            </a:extLst>
          </p:cNvPr>
          <p:cNvSpPr txBox="1"/>
          <p:nvPr/>
        </p:nvSpPr>
        <p:spPr>
          <a:xfrm>
            <a:off x="405415" y="328474"/>
            <a:ext cx="113811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u="sng" dirty="0"/>
              <a:t>Impact of urbanization on environment </a:t>
            </a:r>
          </a:p>
        </p:txBody>
      </p:sp>
    </p:spTree>
    <p:extLst>
      <p:ext uri="{BB962C8B-B14F-4D97-AF65-F5344CB8AC3E}">
        <p14:creationId xmlns:p14="http://schemas.microsoft.com/office/powerpoint/2010/main" val="10390741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Advances Towards Environmental Conservation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28EDCEC-D656-4BA7-B77C-9851803912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Concept like green building and vertical growth helps easing the adverse effect technology has on environment.</a:t>
            </a: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749" y="1955844"/>
            <a:ext cx="4755889" cy="381015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805" y="1955844"/>
            <a:ext cx="4550420" cy="38127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3C7942F-90DB-42DA-8139-C69B7C37AFB6}"/>
              </a:ext>
            </a:extLst>
          </p:cNvPr>
          <p:cNvSpPr txBox="1"/>
          <p:nvPr/>
        </p:nvSpPr>
        <p:spPr>
          <a:xfrm>
            <a:off x="2303310" y="5938293"/>
            <a:ext cx="19874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vertical growth</a:t>
            </a:r>
            <a:endParaRPr lang="en-IN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08CBA4-ECEA-46DF-AA3B-B3689D03B1DC}"/>
              </a:ext>
            </a:extLst>
          </p:cNvPr>
          <p:cNvSpPr txBox="1"/>
          <p:nvPr/>
        </p:nvSpPr>
        <p:spPr>
          <a:xfrm>
            <a:off x="7634378" y="5938293"/>
            <a:ext cx="30886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Green building concept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660518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6" grpId="0"/>
      <p:bldP spid="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20524-A0AF-F40C-0FC5-2AD8C4F29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Environmental degradation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E1C19C-4CBE-8CB4-0D70-428A28C55C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68683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Environmental Degradation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Environment degradation can be defined as “</a:t>
            </a:r>
            <a:r>
              <a:rPr lang="en-US" dirty="0">
                <a:solidFill>
                  <a:srgbClr val="C00000"/>
                </a:solidFill>
              </a:rPr>
              <a:t>The overall lowering of environmental qualities due to damage caused by both, natural and human activities</a:t>
            </a:r>
            <a:r>
              <a:rPr lang="en-US" dirty="0"/>
              <a:t>.”</a:t>
            </a:r>
          </a:p>
          <a:p>
            <a:r>
              <a:rPr lang="en-US" dirty="0"/>
              <a:t>It is </a:t>
            </a:r>
            <a:r>
              <a:rPr lang="en-US" dirty="0">
                <a:solidFill>
                  <a:srgbClr val="C00000"/>
                </a:solidFill>
              </a:rPr>
              <a:t>the direct and indirect deterioration of the environmental quality </a:t>
            </a:r>
            <a:r>
              <a:rPr lang="en-US" dirty="0"/>
              <a:t>due to different activities that pollute key elements like air, water, and soil.</a:t>
            </a:r>
          </a:p>
          <a:p>
            <a:r>
              <a:rPr lang="en-US" dirty="0"/>
              <a:t>It can be:</a:t>
            </a:r>
          </a:p>
          <a:p>
            <a:pPr lvl="1"/>
            <a:r>
              <a:rPr lang="en-US" dirty="0"/>
              <a:t>Natural</a:t>
            </a:r>
          </a:p>
          <a:p>
            <a:pPr lvl="2"/>
            <a:r>
              <a:rPr lang="en-US" dirty="0"/>
              <a:t>Droughts, </a:t>
            </a:r>
          </a:p>
          <a:p>
            <a:pPr lvl="2"/>
            <a:r>
              <a:rPr lang="en-US" dirty="0"/>
              <a:t>Storms and floods, </a:t>
            </a:r>
          </a:p>
          <a:p>
            <a:pPr lvl="2"/>
            <a:r>
              <a:rPr lang="en-US" dirty="0"/>
              <a:t>Earthquakes, </a:t>
            </a:r>
          </a:p>
          <a:p>
            <a:pPr lvl="2"/>
            <a:r>
              <a:rPr lang="en-US" dirty="0"/>
              <a:t>Tsunamis, </a:t>
            </a:r>
          </a:p>
          <a:p>
            <a:pPr lvl="2"/>
            <a:r>
              <a:rPr lang="en-US" dirty="0"/>
              <a:t>Volcanic eruptions.</a:t>
            </a:r>
          </a:p>
          <a:p>
            <a:pPr lvl="1"/>
            <a:r>
              <a:rPr lang="en-US" dirty="0"/>
              <a:t>Man-made</a:t>
            </a:r>
          </a:p>
          <a:p>
            <a:pPr lvl="2"/>
            <a:r>
              <a:rPr lang="en-US" dirty="0"/>
              <a:t>Deforestation, </a:t>
            </a:r>
          </a:p>
          <a:p>
            <a:pPr lvl="2"/>
            <a:r>
              <a:rPr lang="en-US" dirty="0"/>
              <a:t>Industrialization, </a:t>
            </a:r>
          </a:p>
          <a:p>
            <a:pPr lvl="2"/>
            <a:r>
              <a:rPr lang="en-US" dirty="0"/>
              <a:t>Urbanization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B8C0F9-8F9F-4D06-8CF7-41B314767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680" y="2649843"/>
            <a:ext cx="2651760" cy="17607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07EDE41-F867-43CE-B6FF-4B5AAA222B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2630" y="2649843"/>
            <a:ext cx="2621349" cy="17607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9A5596-8389-4D5E-BD2A-CDE078067A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2370" y="4547137"/>
            <a:ext cx="3130140" cy="17607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8F94025-9E08-4D35-AEF6-D959AC1B5E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6824" y="4538321"/>
            <a:ext cx="3130256" cy="17607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89AA3A8-3D34-4A3D-9CA4-DC2AE392ED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9169" y="2649843"/>
            <a:ext cx="2668587" cy="175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364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5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500"/>
                            </p:stCondLst>
                            <p:childTnLst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Environmental Degradation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Alarming rate (speed) of population growth has put excessive pressure on all of the natural resources.</a:t>
            </a:r>
          </a:p>
          <a:p>
            <a:r>
              <a:rPr lang="en-US" dirty="0"/>
              <a:t>Total environmental degradation &amp; pollution, arise mainly due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solidFill>
                  <a:srgbClr val="C00000"/>
                </a:solidFill>
              </a:rPr>
              <a:t>Consumption of natural resources by overpopulation </a:t>
            </a:r>
            <a:r>
              <a:rPr lang="en-US" dirty="0"/>
              <a:t>of developing countries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solidFill>
                  <a:srgbClr val="C00000"/>
                </a:solidFill>
              </a:rPr>
              <a:t>Wasteful overconsumption of natural resources </a:t>
            </a:r>
            <a:r>
              <a:rPr lang="en-US" dirty="0"/>
              <a:t>in developed countries.</a:t>
            </a:r>
          </a:p>
          <a:p>
            <a:r>
              <a:rPr lang="en-US" dirty="0"/>
              <a:t>In developing countries 3 Ps are key factors for rapid environmental degradation.</a:t>
            </a:r>
          </a:p>
          <a:p>
            <a:pPr lvl="1"/>
            <a:r>
              <a:rPr lang="en-US" dirty="0"/>
              <a:t>Population</a:t>
            </a:r>
          </a:p>
          <a:p>
            <a:pPr lvl="1"/>
            <a:r>
              <a:rPr lang="en-US" dirty="0"/>
              <a:t>Poverty</a:t>
            </a:r>
          </a:p>
          <a:p>
            <a:pPr lvl="1"/>
            <a:r>
              <a:rPr lang="en-US" dirty="0"/>
              <a:t>Pollution</a:t>
            </a:r>
          </a:p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EB1AE66-23BF-48AB-927E-43F998CE7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230" y="4347910"/>
            <a:ext cx="3288996" cy="164449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9C611CC-B5F7-4BB9-AEFB-43A65C871D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529" y="4347910"/>
            <a:ext cx="2924923" cy="164449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21A7DC4-DDBE-4DCB-B53D-1F6FBAFA8B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004" y="4347910"/>
            <a:ext cx="2924922" cy="1646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422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094087" y="80755"/>
            <a:ext cx="9898408" cy="582613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Environmental Degradation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5431F9E-D33C-45D4-A163-0DDFDF24C664}"/>
              </a:ext>
            </a:extLst>
          </p:cNvPr>
          <p:cNvGrpSpPr/>
          <p:nvPr/>
        </p:nvGrpSpPr>
        <p:grpSpPr>
          <a:xfrm>
            <a:off x="1196224" y="733770"/>
            <a:ext cx="9977907" cy="5692301"/>
            <a:chOff x="917698" y="711200"/>
            <a:chExt cx="9977907" cy="5692301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EA47F53A-78FB-4D14-83AC-D00BA349D3EB}"/>
                </a:ext>
              </a:extLst>
            </p:cNvPr>
            <p:cNvGrpSpPr/>
            <p:nvPr/>
          </p:nvGrpSpPr>
          <p:grpSpPr>
            <a:xfrm>
              <a:off x="997196" y="711200"/>
              <a:ext cx="9898409" cy="5692301"/>
              <a:chOff x="692396" y="735211"/>
              <a:chExt cx="9898409" cy="5692301"/>
            </a:xfrm>
          </p:grpSpPr>
          <p:pic>
            <p:nvPicPr>
              <p:cNvPr id="4" name="Picture 3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679443" y="735211"/>
                <a:ext cx="4911362" cy="2849563"/>
              </a:xfrm>
              <a:prstGeom prst="rect">
                <a:avLst/>
              </a:prstGeom>
            </p:spPr>
          </p:pic>
          <p:pic>
            <p:nvPicPr>
              <p:cNvPr id="5" name="Picture 4"/>
              <p:cNvPicPr>
                <a:picLocks noChangeAspect="1"/>
              </p:cNvPicPr>
              <p:nvPr/>
            </p:nvPicPr>
            <p:blipFill rotWithShape="1">
              <a:blip r:embed="rId3"/>
              <a:srcRect r="10456"/>
              <a:stretch/>
            </p:blipFill>
            <p:spPr>
              <a:xfrm>
                <a:off x="692396" y="790478"/>
                <a:ext cx="4911363" cy="2794296"/>
              </a:xfrm>
              <a:prstGeom prst="rect">
                <a:avLst/>
              </a:prstGeom>
            </p:spPr>
          </p:pic>
          <p:pic>
            <p:nvPicPr>
              <p:cNvPr id="6" name="Picture 5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79443" y="3664053"/>
                <a:ext cx="4911362" cy="2763459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77728567-A67B-4988-A85C-9FFA564F1A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92396" y="3664052"/>
                <a:ext cx="4911362" cy="2763460"/>
              </a:xfrm>
              <a:prstGeom prst="rect">
                <a:avLst/>
              </a:prstGeom>
            </p:spPr>
          </p:pic>
        </p:grp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6B07159-3613-4F52-AA18-16239BC4FA1C}"/>
                </a:ext>
              </a:extLst>
            </p:cNvPr>
            <p:cNvSpPr/>
            <p:nvPr/>
          </p:nvSpPr>
          <p:spPr>
            <a:xfrm>
              <a:off x="921511" y="3101878"/>
              <a:ext cx="1476248" cy="32512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Deforestation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C0E5893-65F8-4567-BF6A-4C1D0CFF3624}"/>
                </a:ext>
              </a:extLst>
            </p:cNvPr>
            <p:cNvSpPr/>
            <p:nvPr/>
          </p:nvSpPr>
          <p:spPr>
            <a:xfrm>
              <a:off x="5933441" y="5955792"/>
              <a:ext cx="2712720" cy="304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Unsatisfactory water quality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C79C7C0-E628-45C1-9448-BE171CCD760D}"/>
                </a:ext>
              </a:extLst>
            </p:cNvPr>
            <p:cNvSpPr/>
            <p:nvPr/>
          </p:nvSpPr>
          <p:spPr>
            <a:xfrm>
              <a:off x="5933441" y="3101878"/>
              <a:ext cx="1280159" cy="304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Soil Erosion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6598489-488E-4DE0-8B50-17EC6E63B190}"/>
                </a:ext>
              </a:extLst>
            </p:cNvPr>
            <p:cNvSpPr/>
            <p:nvPr/>
          </p:nvSpPr>
          <p:spPr>
            <a:xfrm>
              <a:off x="917698" y="5935472"/>
              <a:ext cx="1740409" cy="32512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Urban Air Quality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51576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FC943AB-043D-40E3-8E87-C98152822AC7}"/>
              </a:ext>
            </a:extLst>
          </p:cNvPr>
          <p:cNvGrpSpPr/>
          <p:nvPr/>
        </p:nvGrpSpPr>
        <p:grpSpPr>
          <a:xfrm>
            <a:off x="1131196" y="747903"/>
            <a:ext cx="10161598" cy="5692196"/>
            <a:chOff x="1027931" y="570349"/>
            <a:chExt cx="10161598" cy="5692196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94C0E7B8-9D52-4436-8163-18114BF57C26}"/>
                </a:ext>
              </a:extLst>
            </p:cNvPr>
            <p:cNvGrpSpPr/>
            <p:nvPr/>
          </p:nvGrpSpPr>
          <p:grpSpPr>
            <a:xfrm>
              <a:off x="1027931" y="570349"/>
              <a:ext cx="10161598" cy="5692196"/>
              <a:chOff x="842072" y="638114"/>
              <a:chExt cx="10161598" cy="5692196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1D714F19-500F-47C1-BBC7-0C77DA77ECCA}"/>
                  </a:ext>
                </a:extLst>
              </p:cNvPr>
              <p:cNvGrpSpPr/>
              <p:nvPr/>
            </p:nvGrpSpPr>
            <p:grpSpPr>
              <a:xfrm>
                <a:off x="842072" y="638114"/>
                <a:ext cx="5124819" cy="2790885"/>
                <a:chOff x="871919" y="905045"/>
                <a:chExt cx="5124819" cy="2790885"/>
              </a:xfrm>
            </p:grpSpPr>
            <p:pic>
              <p:nvPicPr>
                <p:cNvPr id="6" name="Picture 5"/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4484" t="1662" r="11448" b="7470"/>
                <a:stretch/>
              </p:blipFill>
              <p:spPr>
                <a:xfrm>
                  <a:off x="972453" y="905045"/>
                  <a:ext cx="5024285" cy="2790885"/>
                </a:xfrm>
                <a:prstGeom prst="rect">
                  <a:avLst/>
                </a:prstGeom>
              </p:spPr>
            </p:pic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FBB73A93-11C6-4413-A0CB-4BA95737EA03}"/>
                    </a:ext>
                  </a:extLst>
                </p:cNvPr>
                <p:cNvSpPr/>
                <p:nvPr/>
              </p:nvSpPr>
              <p:spPr>
                <a:xfrm>
                  <a:off x="871919" y="3259543"/>
                  <a:ext cx="3317116" cy="32512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dirty="0"/>
                    <a:t>Reservoir are filled with sediments</a:t>
                  </a:r>
                  <a:endParaRPr lang="en-IN" dirty="0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DF4F8C48-FD1E-4ACC-A1B2-7D7AD826CA6C}"/>
                  </a:ext>
                </a:extLst>
              </p:cNvPr>
              <p:cNvGrpSpPr/>
              <p:nvPr/>
            </p:nvGrpSpPr>
            <p:grpSpPr>
              <a:xfrm>
                <a:off x="6016668" y="638114"/>
                <a:ext cx="4987002" cy="2790885"/>
                <a:chOff x="6576572" y="905045"/>
                <a:chExt cx="4987002" cy="2790885"/>
              </a:xfrm>
            </p:grpSpPr>
            <p:pic>
              <p:nvPicPr>
                <p:cNvPr id="10" name="Picture 9">
                  <a:extLst>
                    <a:ext uri="{FF2B5EF4-FFF2-40B4-BE49-F238E27FC236}">
                      <a16:creationId xmlns:a16="http://schemas.microsoft.com/office/drawing/2014/main" id="{FF5A053D-2D3D-4124-BBD9-E32A1558C04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627329" y="905045"/>
                  <a:ext cx="4936245" cy="2790885"/>
                </a:xfrm>
                <a:prstGeom prst="rect">
                  <a:avLst/>
                </a:prstGeom>
              </p:spPr>
            </p:pic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DA5A4164-5C5A-4D9A-9E0B-D2F2464B64CD}"/>
                    </a:ext>
                  </a:extLst>
                </p:cNvPr>
                <p:cNvSpPr/>
                <p:nvPr/>
              </p:nvSpPr>
              <p:spPr>
                <a:xfrm>
                  <a:off x="6576572" y="3277072"/>
                  <a:ext cx="3802893" cy="32512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dirty="0"/>
                    <a:t>Watershed are losing storage capacity</a:t>
                  </a:r>
                  <a:endParaRPr lang="en-IN" dirty="0"/>
                </a:p>
              </p:txBody>
            </p:sp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64E31EB0-9BB2-4942-930D-3A73498877C7}"/>
                  </a:ext>
                </a:extLst>
              </p:cNvPr>
              <p:cNvGrpSpPr/>
              <p:nvPr/>
            </p:nvGrpSpPr>
            <p:grpSpPr>
              <a:xfrm>
                <a:off x="6018159" y="3539425"/>
                <a:ext cx="4985511" cy="2790885"/>
                <a:chOff x="6018159" y="3539425"/>
                <a:chExt cx="4985511" cy="2790885"/>
              </a:xfrm>
            </p:grpSpPr>
            <p:pic>
              <p:nvPicPr>
                <p:cNvPr id="15" name="Picture 14">
                  <a:extLst>
                    <a:ext uri="{FF2B5EF4-FFF2-40B4-BE49-F238E27FC236}">
                      <a16:creationId xmlns:a16="http://schemas.microsoft.com/office/drawing/2014/main" id="{5B111359-4AB0-4D3A-9CF1-3111029B9E0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"/>
                <a:srcRect b="9607"/>
                <a:stretch/>
              </p:blipFill>
              <p:spPr>
                <a:xfrm>
                  <a:off x="6067425" y="3539425"/>
                  <a:ext cx="4936245" cy="2790885"/>
                </a:xfrm>
                <a:prstGeom prst="rect">
                  <a:avLst/>
                </a:prstGeom>
              </p:spPr>
            </p:pic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0E6FFDCE-045F-4348-B1F9-05083719D7AD}"/>
                    </a:ext>
                  </a:extLst>
                </p:cNvPr>
                <p:cNvSpPr/>
                <p:nvPr/>
              </p:nvSpPr>
              <p:spPr>
                <a:xfrm>
                  <a:off x="6018159" y="5871138"/>
                  <a:ext cx="1905347" cy="32512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dirty="0"/>
                    <a:t>Solid waste pile up</a:t>
                  </a:r>
                  <a:endParaRPr lang="en-IN" dirty="0"/>
                </a:p>
              </p:txBody>
            </p:sp>
          </p:grpSp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92AB1870-64C3-4135-A89E-C31D545153C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t="16272"/>
              <a:stretch/>
            </p:blipFill>
            <p:spPr>
              <a:xfrm>
                <a:off x="942607" y="3539425"/>
                <a:ext cx="5024285" cy="2790885"/>
              </a:xfrm>
              <a:prstGeom prst="rect">
                <a:avLst/>
              </a:prstGeom>
            </p:spPr>
          </p:pic>
        </p:grp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AA364FF-97C7-45B7-B9E6-29D05EC041FD}"/>
                </a:ext>
              </a:extLst>
            </p:cNvPr>
            <p:cNvSpPr/>
            <p:nvPr/>
          </p:nvSpPr>
          <p:spPr>
            <a:xfrm>
              <a:off x="1027933" y="5813107"/>
              <a:ext cx="3059453" cy="32512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indent="0">
                <a:buNone/>
              </a:pPr>
              <a:endParaRPr lang="en-US" dirty="0"/>
            </a:p>
            <a:p>
              <a:r>
                <a:rPr lang="en-US" dirty="0"/>
                <a:t>Wildlife habitats are eliminated</a:t>
              </a:r>
            </a:p>
            <a:p>
              <a:pPr marL="0" indent="0">
                <a:buNone/>
              </a:pPr>
              <a:endParaRPr lang="en-US" dirty="0"/>
            </a:p>
          </p:txBody>
        </p:sp>
      </p:grpSp>
      <p:sp>
        <p:nvSpPr>
          <p:cNvPr id="21" name="Title 1">
            <a:extLst>
              <a:ext uri="{FF2B5EF4-FFF2-40B4-BE49-F238E27FC236}">
                <a16:creationId xmlns:a16="http://schemas.microsoft.com/office/drawing/2014/main" id="{79591A80-DAE5-4D54-9DA4-7ECD06AC50F7}"/>
              </a:ext>
            </a:extLst>
          </p:cNvPr>
          <p:cNvSpPr txBox="1">
            <a:spLocks/>
          </p:cNvSpPr>
          <p:nvPr/>
        </p:nvSpPr>
        <p:spPr>
          <a:xfrm>
            <a:off x="1104825" y="54628"/>
            <a:ext cx="10084704" cy="5828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/>
              <a:t>Environmental Degradation</a:t>
            </a:r>
          </a:p>
        </p:txBody>
      </p:sp>
    </p:spTree>
    <p:extLst>
      <p:ext uri="{BB962C8B-B14F-4D97-AF65-F5344CB8AC3E}">
        <p14:creationId xmlns:p14="http://schemas.microsoft.com/office/powerpoint/2010/main" val="2513183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5BA1D-C4CC-66C9-FCFE-BAED046DB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Environmental Education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CB9878-A5B9-0D51-A0C6-5DE5297B8E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05547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Environmental Education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Environmental education is an integral process, which deals with man’s interrelationship with his natural and manmade surroundings, Including,</a:t>
            </a:r>
          </a:p>
          <a:p>
            <a:pPr lvl="1"/>
            <a:r>
              <a:rPr lang="en-US" dirty="0"/>
              <a:t>The relation of population growth, pollution.</a:t>
            </a:r>
          </a:p>
          <a:p>
            <a:pPr lvl="1"/>
            <a:r>
              <a:rPr lang="en-US" dirty="0"/>
              <a:t>Resource allocation, depletion, conservation technology.</a:t>
            </a:r>
          </a:p>
          <a:p>
            <a:pPr lvl="1"/>
            <a:r>
              <a:rPr lang="en-US" dirty="0"/>
              <a:t>Urban and rural planning to the total human environment.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8370" y="2832552"/>
            <a:ext cx="4627007" cy="3230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85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Importance of Environmental Education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objective of environmental education is to </a:t>
            </a:r>
            <a:r>
              <a:rPr lang="en-US" dirty="0">
                <a:solidFill>
                  <a:srgbClr val="C00000"/>
                </a:solidFill>
              </a:rPr>
              <a:t>make the public aware of the environmental problems, the importance of environment protection</a:t>
            </a:r>
            <a:r>
              <a:rPr lang="en-US" dirty="0"/>
              <a:t>.</a:t>
            </a:r>
          </a:p>
          <a:p>
            <a:r>
              <a:rPr lang="en-US" dirty="0"/>
              <a:t>It gives a basic understanding of various environmental aspects and associated problems.</a:t>
            </a:r>
          </a:p>
          <a:p>
            <a:r>
              <a:rPr lang="en-US" dirty="0"/>
              <a:t>It teaches us the concepts of </a:t>
            </a:r>
            <a:r>
              <a:rPr lang="en-US" dirty="0">
                <a:solidFill>
                  <a:srgbClr val="C00000"/>
                </a:solidFill>
              </a:rPr>
              <a:t>sustainable development </a:t>
            </a:r>
            <a:r>
              <a:rPr lang="en-US" dirty="0"/>
              <a:t>and idea about the use of natural resource without damaging it much.</a:t>
            </a:r>
          </a:p>
          <a:p>
            <a:r>
              <a:rPr lang="en-US" dirty="0"/>
              <a:t>It teaches us how to </a:t>
            </a:r>
            <a:r>
              <a:rPr lang="en-US" dirty="0">
                <a:solidFill>
                  <a:srgbClr val="C00000"/>
                </a:solidFill>
              </a:rPr>
              <a:t>conserve energy and save our planet</a:t>
            </a:r>
            <a:r>
              <a:rPr lang="en-US" dirty="0"/>
              <a:t>.</a:t>
            </a:r>
          </a:p>
          <a:p>
            <a:r>
              <a:rPr lang="en-US" dirty="0"/>
              <a:t>It develops skills to </a:t>
            </a:r>
            <a:r>
              <a:rPr lang="en-US" dirty="0">
                <a:solidFill>
                  <a:srgbClr val="C00000"/>
                </a:solidFill>
              </a:rPr>
              <a:t>identify and find remedial measures to overcome the problems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945107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of Environmental Education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1" y="863444"/>
            <a:ext cx="5964820" cy="5590565"/>
          </a:xfrm>
        </p:spPr>
        <p:txBody>
          <a:bodyPr/>
          <a:lstStyle/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Increase awareness of the total environment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Increase the knowledge of the environment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Improve attitude towards the environment 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Provide motivation towards environmental protection.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Increase participation and develop sense of responsibility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6462" y="997191"/>
            <a:ext cx="4578719" cy="4578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152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04D30-11CA-438C-BE7E-7CAD539BB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Principles of Environmental Education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FEF04-3D16-4D00-BF42-CD30009CD3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6092067" cy="5590565"/>
          </a:xfrm>
        </p:spPr>
        <p:txBody>
          <a:bodyPr/>
          <a:lstStyle/>
          <a:p>
            <a:r>
              <a:rPr lang="en-IN" dirty="0"/>
              <a:t>Environment education considers environment in totality.</a:t>
            </a:r>
          </a:p>
          <a:p>
            <a:r>
              <a:rPr lang="en-IN" dirty="0"/>
              <a:t>It’s a holistic approach toward sustainable development.</a:t>
            </a:r>
          </a:p>
          <a:p>
            <a:r>
              <a:rPr lang="en-IN" dirty="0"/>
              <a:t>Environmental hazards are controllable and every citizen has a moral obligation towards it.</a:t>
            </a:r>
          </a:p>
          <a:p>
            <a:r>
              <a:rPr lang="en-IN" dirty="0"/>
              <a:t>Put value and necessity of cooperation at personal, local, and national levels in the prevention of problems and solutions for them.</a:t>
            </a:r>
          </a:p>
          <a:p>
            <a:r>
              <a:rPr lang="en-IN" dirty="0"/>
              <a:t>Concerns about the environment are everyone’s.</a:t>
            </a:r>
          </a:p>
          <a:p>
            <a:pPr lvl="1"/>
            <a:r>
              <a:rPr lang="en-IN" dirty="0"/>
              <a:t>Everyone should work together.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6B58B4-4B00-4135-940C-E9B3F3CDB0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2867"/>
          <a:stretch/>
        </p:blipFill>
        <p:spPr>
          <a:xfrm>
            <a:off x="6515099" y="1767499"/>
            <a:ext cx="5381625" cy="3128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849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C3EBA-175E-DA7E-EB62-3AF64B7F5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Role of Environmental Engineer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E41771-FF63-91A4-9555-D6330C36AD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524217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9C979-81A2-4381-85CA-E30537734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Role of Environmental Engineer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46ECD-93BE-484E-A502-ADC2EFD151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Environmental engineers work in the industrial and research sectors to implement various solutions to control pollution and maximize the planet’s energy resources.</a:t>
            </a:r>
          </a:p>
          <a:p>
            <a:r>
              <a:rPr lang="en-IN" dirty="0"/>
              <a:t>Environmental engineers can have specialization in the following areas;</a:t>
            </a:r>
          </a:p>
          <a:p>
            <a:pPr lvl="1"/>
            <a:r>
              <a:rPr lang="en-IN" dirty="0"/>
              <a:t>Waste management</a:t>
            </a:r>
          </a:p>
          <a:p>
            <a:pPr lvl="1"/>
            <a:r>
              <a:rPr lang="en-IN" dirty="0"/>
              <a:t>Toxic material control</a:t>
            </a:r>
          </a:p>
          <a:p>
            <a:pPr lvl="1"/>
            <a:r>
              <a:rPr lang="en-IN" dirty="0"/>
              <a:t>Water supply</a:t>
            </a:r>
          </a:p>
          <a:p>
            <a:pPr lvl="1"/>
            <a:r>
              <a:rPr lang="en-IN" dirty="0"/>
              <a:t>Solid waste management</a:t>
            </a:r>
          </a:p>
          <a:p>
            <a:pPr marL="457200" lvl="1" indent="0">
              <a:buNone/>
            </a:pPr>
            <a:endParaRPr lang="en-IN" dirty="0"/>
          </a:p>
          <a:p>
            <a:pPr lvl="1"/>
            <a:endParaRPr lang="en-IN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C71320-868D-4D5D-98FB-1EAD137A8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423" y="3728871"/>
            <a:ext cx="2992026" cy="18049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4F18FF7-1FBF-45AF-81CC-0563341D9EB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665"/>
          <a:stretch/>
        </p:blipFill>
        <p:spPr>
          <a:xfrm>
            <a:off x="4513674" y="3728870"/>
            <a:ext cx="2992027" cy="18049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76DBDB-4148-4F8C-8A43-A9874BD545F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304"/>
          <a:stretch/>
        </p:blipFill>
        <p:spPr>
          <a:xfrm>
            <a:off x="8037926" y="3694566"/>
            <a:ext cx="2992026" cy="1804987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28706E6-F0E9-49CA-AEDE-39FAFAA86A31}"/>
              </a:ext>
            </a:extLst>
          </p:cNvPr>
          <p:cNvSpPr txBox="1">
            <a:spLocks/>
          </p:cNvSpPr>
          <p:nvPr/>
        </p:nvSpPr>
        <p:spPr>
          <a:xfrm>
            <a:off x="5494162" y="1938049"/>
            <a:ext cx="2992027" cy="24956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4CCAC59-4603-458C-A067-8A0C15B40B3C}"/>
              </a:ext>
            </a:extLst>
          </p:cNvPr>
          <p:cNvSpPr txBox="1">
            <a:spLocks/>
          </p:cNvSpPr>
          <p:nvPr/>
        </p:nvSpPr>
        <p:spPr>
          <a:xfrm>
            <a:off x="4608924" y="2040700"/>
            <a:ext cx="7583076" cy="14674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IN" dirty="0"/>
              <a:t>Public health &amp; safety</a:t>
            </a:r>
          </a:p>
          <a:p>
            <a:pPr lvl="1"/>
            <a:r>
              <a:rPr lang="en-IN" dirty="0"/>
              <a:t>Land management</a:t>
            </a:r>
          </a:p>
          <a:p>
            <a:pPr lvl="1"/>
            <a:r>
              <a:rPr lang="en-IN" dirty="0"/>
              <a:t>Air pollution and air quality control</a:t>
            </a:r>
          </a:p>
          <a:p>
            <a:pPr lvl="1"/>
            <a:r>
              <a:rPr lang="en-IN" dirty="0"/>
              <a:t>Industrial Hygiene</a:t>
            </a:r>
          </a:p>
        </p:txBody>
      </p:sp>
    </p:spTree>
    <p:extLst>
      <p:ext uri="{BB962C8B-B14F-4D97-AF65-F5344CB8AC3E}">
        <p14:creationId xmlns:p14="http://schemas.microsoft.com/office/powerpoint/2010/main" val="3994951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0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42CB6E6-02E9-4F0C-9385-1DB78871CB8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IN" dirty="0"/>
              <a:t>Environmental Studies (ES)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9C94DA6-3F72-487C-BA01-414DD612470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80943" y="6285358"/>
            <a:ext cx="3735998" cy="290081"/>
          </a:xfrm>
        </p:spPr>
        <p:txBody>
          <a:bodyPr/>
          <a:lstStyle/>
          <a:p>
            <a:r>
              <a:rPr lang="en-US" dirty="0"/>
              <a:t>arjun.chavada@darshan.ac.in</a:t>
            </a:r>
          </a:p>
          <a:p>
            <a:endParaRPr lang="en-US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E391087-E7CD-40CA-A8D8-018E84C3286E}"/>
              </a:ext>
            </a:extLst>
          </p:cNvPr>
          <p:cNvSpPr txBox="1">
            <a:spLocks/>
          </p:cNvSpPr>
          <p:nvPr/>
        </p:nvSpPr>
        <p:spPr>
          <a:xfrm>
            <a:off x="2180943" y="6567919"/>
            <a:ext cx="3735998" cy="2900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8200802523</a:t>
            </a:r>
          </a:p>
          <a:p>
            <a:endParaRPr lang="en-IN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16FA97FD-A8C4-4242-8F24-B82F4295BA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40112" y="5585069"/>
            <a:ext cx="3735998" cy="290081"/>
          </a:xfrm>
        </p:spPr>
        <p:txBody>
          <a:bodyPr/>
          <a:lstStyle/>
          <a:p>
            <a:r>
              <a:rPr lang="en-US" dirty="0"/>
              <a:t>Civil Engineering Department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A9905D5-596B-4AAF-A682-AE09F7A525F8}"/>
              </a:ext>
            </a:extLst>
          </p:cNvPr>
          <p:cNvSpPr txBox="1">
            <a:spLocks/>
          </p:cNvSpPr>
          <p:nvPr/>
        </p:nvSpPr>
        <p:spPr>
          <a:xfrm>
            <a:off x="1840112" y="5342613"/>
            <a:ext cx="5581039" cy="2900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solidFill>
                  <a:srgbClr val="1D3064"/>
                </a:solidFill>
              </a:rPr>
              <a:t>Prof. Arjun Chavada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D38D36-12AA-C9B2-AC6A-398AC3EF5A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9597" y="5198350"/>
            <a:ext cx="1353600" cy="13536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1153038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13423</TotalTime>
  <Words>2121</Words>
  <Application>Microsoft Office PowerPoint</Application>
  <PresentationFormat>Widescreen</PresentationFormat>
  <Paragraphs>309</Paragraphs>
  <Slides>44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3" baseType="lpstr">
      <vt:lpstr>Roboto Condensed</vt:lpstr>
      <vt:lpstr>Roboto Condensed Light</vt:lpstr>
      <vt:lpstr>Shruti</vt:lpstr>
      <vt:lpstr>Wingdings 2</vt:lpstr>
      <vt:lpstr>Arial</vt:lpstr>
      <vt:lpstr>Calibri</vt:lpstr>
      <vt:lpstr>Wingdings</vt:lpstr>
      <vt:lpstr>Wingdings 3</vt:lpstr>
      <vt:lpstr>Office Theme</vt:lpstr>
      <vt:lpstr>Unit -1 Multidisciplinary Nature of  Environment</vt:lpstr>
      <vt:lpstr>PowerPoint Presentation</vt:lpstr>
      <vt:lpstr>Multidisciplinary Nature of Environment</vt:lpstr>
      <vt:lpstr>Introduction </vt:lpstr>
      <vt:lpstr>Multidisciplinary Nature of Environment</vt:lpstr>
      <vt:lpstr>Scope of environment</vt:lpstr>
      <vt:lpstr>Scope of Environment</vt:lpstr>
      <vt:lpstr>Component of environment</vt:lpstr>
      <vt:lpstr>Components of Environment</vt:lpstr>
      <vt:lpstr>1. Atmosphere</vt:lpstr>
      <vt:lpstr>Layers of Atmosphere</vt:lpstr>
      <vt:lpstr>Layers of Atmosphere</vt:lpstr>
      <vt:lpstr>Layers of Atmosphere</vt:lpstr>
      <vt:lpstr>Layers of Atmosphere</vt:lpstr>
      <vt:lpstr>Temperature profile of atmosphere</vt:lpstr>
      <vt:lpstr>2. Hydrosphere</vt:lpstr>
      <vt:lpstr>3. Lithosphere</vt:lpstr>
      <vt:lpstr>4. Biosphere</vt:lpstr>
      <vt:lpstr>Interaction Between the Components of Environment</vt:lpstr>
      <vt:lpstr>Interaction Between the Components of Environment</vt:lpstr>
      <vt:lpstr>Interaction Between the Components of Environment</vt:lpstr>
      <vt:lpstr>Interaction Between the Components of Environment</vt:lpstr>
      <vt:lpstr>Man &amp; Environment</vt:lpstr>
      <vt:lpstr>Impacts of Technology on Environment </vt:lpstr>
      <vt:lpstr>Impacts of Technology on Environment </vt:lpstr>
      <vt:lpstr>Impacts of Technology on Environment </vt:lpstr>
      <vt:lpstr>Impact of urbanization on environment </vt:lpstr>
      <vt:lpstr>Impact of urbanization on environment </vt:lpstr>
      <vt:lpstr>Impact of urbanization on environment </vt:lpstr>
      <vt:lpstr>PowerPoint Presentation</vt:lpstr>
      <vt:lpstr>Advances Towards Environmental Conservation</vt:lpstr>
      <vt:lpstr>Environmental degradation</vt:lpstr>
      <vt:lpstr>Environmental Degradation</vt:lpstr>
      <vt:lpstr>Environmental Degradation</vt:lpstr>
      <vt:lpstr>Environmental Degradation</vt:lpstr>
      <vt:lpstr>PowerPoint Presentation</vt:lpstr>
      <vt:lpstr>Environmental Education</vt:lpstr>
      <vt:lpstr>Environmental Education</vt:lpstr>
      <vt:lpstr>Importance of Environmental Education</vt:lpstr>
      <vt:lpstr>Objectives of Environmental Education</vt:lpstr>
      <vt:lpstr>Principles of Environmental Education</vt:lpstr>
      <vt:lpstr>Role of Environmental Engineer</vt:lpstr>
      <vt:lpstr>Role of Environmental Engineer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Arjun Chavada</cp:lastModifiedBy>
  <cp:revision>488</cp:revision>
  <cp:lastPrinted>2026-05-08T09:52:35Z</cp:lastPrinted>
  <dcterms:created xsi:type="dcterms:W3CDTF">2020-05-01T05:09:15Z</dcterms:created>
  <dcterms:modified xsi:type="dcterms:W3CDTF">2026-07-23T07:06:49Z</dcterms:modified>
  <cp:contentStatus/>
</cp:coreProperties>
</file>