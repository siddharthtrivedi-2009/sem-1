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2"/>
  </p:notesMasterIdLst>
  <p:sldIdLst>
    <p:sldId id="308" r:id="rId2"/>
    <p:sldId id="352" r:id="rId3"/>
    <p:sldId id="374" r:id="rId4"/>
    <p:sldId id="344" r:id="rId5"/>
    <p:sldId id="259" r:id="rId6"/>
    <p:sldId id="310" r:id="rId7"/>
    <p:sldId id="261" r:id="rId8"/>
    <p:sldId id="312" r:id="rId9"/>
    <p:sldId id="313" r:id="rId10"/>
    <p:sldId id="371" r:id="rId11"/>
    <p:sldId id="354" r:id="rId12"/>
    <p:sldId id="355" r:id="rId13"/>
    <p:sldId id="372" r:id="rId14"/>
    <p:sldId id="356" r:id="rId15"/>
    <p:sldId id="357"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3" r:id="rId29"/>
    <p:sldId id="311" r:id="rId30"/>
    <p:sldId id="375" r:id="rId31"/>
    <p:sldId id="376" r:id="rId32"/>
    <p:sldId id="314" r:id="rId33"/>
    <p:sldId id="315" r:id="rId34"/>
    <p:sldId id="316" r:id="rId35"/>
    <p:sldId id="317" r:id="rId36"/>
    <p:sldId id="318" r:id="rId37"/>
    <p:sldId id="319" r:id="rId38"/>
    <p:sldId id="320" r:id="rId39"/>
    <p:sldId id="321" r:id="rId40"/>
    <p:sldId id="322" r:id="rId41"/>
    <p:sldId id="336" r:id="rId42"/>
    <p:sldId id="323" r:id="rId43"/>
    <p:sldId id="324" r:id="rId44"/>
    <p:sldId id="325" r:id="rId45"/>
    <p:sldId id="331" r:id="rId46"/>
    <p:sldId id="332" r:id="rId47"/>
    <p:sldId id="338" r:id="rId48"/>
    <p:sldId id="326" r:id="rId49"/>
    <p:sldId id="327" r:id="rId50"/>
    <p:sldId id="328" r:id="rId51"/>
    <p:sldId id="339" r:id="rId52"/>
    <p:sldId id="340" r:id="rId53"/>
    <p:sldId id="329" r:id="rId54"/>
    <p:sldId id="330" r:id="rId55"/>
    <p:sldId id="341" r:id="rId56"/>
    <p:sldId id="333" r:id="rId57"/>
    <p:sldId id="334" r:id="rId58"/>
    <p:sldId id="335" r:id="rId59"/>
    <p:sldId id="420" r:id="rId60"/>
    <p:sldId id="358" r:id="rId61"/>
  </p:sldIdLst>
  <p:sldSz cx="12192000" cy="6858000"/>
  <p:notesSz cx="6858000" cy="9144000"/>
  <p:embeddedFontLst>
    <p:embeddedFont>
      <p:font typeface="Corbel" panose="020B0503020204020204" pitchFamily="34" charset="0"/>
      <p:regular r:id="rId63"/>
      <p:bold r:id="rId64"/>
      <p:italic r:id="rId65"/>
      <p:boldItalic r:id="rId66"/>
    </p:embeddedFont>
    <p:embeddedFont>
      <p:font typeface="Trebuchet MS" panose="020B0603020202020204" pitchFamily="34" charset="0"/>
      <p:regular r:id="rId67"/>
      <p:bold r:id="rId68"/>
      <p:italic r:id="rId69"/>
      <p:boldItalic r:id="rId70"/>
    </p:embeddedFont>
    <p:embeddedFont>
      <p:font typeface="Roboto Condensed" panose="02000000000000000000" pitchFamily="2" charset="0"/>
      <p:regular r:id="rId71"/>
      <p:bold r:id="rId72"/>
      <p:italic r:id="rId73"/>
      <p:boldItalic r:id="rId74"/>
    </p:embeddedFont>
    <p:embeddedFont>
      <p:font typeface="Calibri" panose="020F0502020204030204" pitchFamily="34" charset="0"/>
      <p:regular r:id="rId75"/>
      <p:bold r:id="rId76"/>
      <p:italic r:id="rId77"/>
      <p:boldItalic r:id="rId78"/>
    </p:embeddedFont>
    <p:embeddedFont>
      <p:font typeface="Consolas" panose="020B0609020204030204" pitchFamily="49" charset="0"/>
      <p:regular r:id="rId79"/>
      <p:bold r:id="rId80"/>
      <p:italic r:id="rId81"/>
      <p:boldItalic r:id="rId82"/>
    </p:embeddedFont>
    <p:embeddedFont>
      <p:font typeface="Segoe UI Black" panose="020B0A02040204020203" pitchFamily="34" charset="0"/>
      <p:bold r:id="rId83"/>
      <p:boldItalic r:id="rId84"/>
    </p:embeddedFont>
    <p:embeddedFont>
      <p:font typeface="Wingdings 3" panose="05040102010807070707" pitchFamily="18" charset="2"/>
      <p:regular r:id="rId85"/>
    </p:embeddedFont>
    <p:embeddedFont>
      <p:font typeface="Roboto Condensed Light" panose="02000000000000000000" pitchFamily="2" charset="0"/>
      <p:regular r:id="rId86"/>
      <p:italic r:id="rId87"/>
    </p:embeddedFont>
    <p:embeddedFont>
      <p:font typeface="Noto Sans Symbols" panose="020B0604020202020204" charset="0"/>
      <p:regular r:id="rId88"/>
      <p:bold r:id="rId89"/>
    </p:embeddedFont>
    <p:embeddedFont>
      <p:font typeface="SimSun" panose="02010600030101010101" pitchFamily="2" charset="-122"/>
      <p:regular r:id="rId90"/>
    </p:embeddedFont>
    <p:embeddedFont>
      <p:font typeface="Wingdings 2" panose="05020102010507070707" pitchFamily="18" charset="2"/>
      <p:regular r:id="rId9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AxjwnUdUK7mILKn5Mk7esQ==" hashData="MyZH/2Lp0Emc/w+lHyHOR+JBbE9eU4+kTeP0DLYAkK1GTKvytuyJoxlaJiBZhUKzchFqOA9nKH3tmEuVoU/itA=="/>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524F"/>
    <a:srgbClr val="301B92"/>
    <a:srgbClr val="673BB7"/>
    <a:srgbClr val="607D8B"/>
    <a:srgbClr val="B71B1C"/>
    <a:srgbClr val="F54337"/>
    <a:srgbClr val="D81A60"/>
    <a:srgbClr val="890E4F"/>
    <a:srgbClr val="EA1E63"/>
    <a:srgbClr val="C628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83" d="100"/>
          <a:sy n="83" d="100"/>
        </p:scale>
        <p:origin x="475" y="7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fntdata"/><Relationship Id="rId68" Type="http://schemas.openxmlformats.org/officeDocument/2006/relationships/font" Target="fonts/font6.fntdata"/><Relationship Id="rId84" Type="http://schemas.openxmlformats.org/officeDocument/2006/relationships/font" Target="fonts/font22.fntdata"/><Relationship Id="rId89" Type="http://schemas.openxmlformats.org/officeDocument/2006/relationships/font" Target="fonts/font2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12.fntdata"/><Relationship Id="rId79" Type="http://schemas.openxmlformats.org/officeDocument/2006/relationships/font" Target="fonts/font17.fntdata"/><Relationship Id="rId5" Type="http://schemas.openxmlformats.org/officeDocument/2006/relationships/slide" Target="slides/slide4.xml"/><Relationship Id="rId90" Type="http://schemas.openxmlformats.org/officeDocument/2006/relationships/font" Target="fonts/font28.fntdata"/><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font" Target="fonts/font2.fntdata"/><Relationship Id="rId69" Type="http://schemas.openxmlformats.org/officeDocument/2006/relationships/font" Target="fonts/font7.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0.fntdata"/><Relationship Id="rId80" Type="http://schemas.openxmlformats.org/officeDocument/2006/relationships/font" Target="fonts/font18.fntdata"/><Relationship Id="rId85" Type="http://schemas.openxmlformats.org/officeDocument/2006/relationships/font" Target="fonts/font23.fntdata"/><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font" Target="fonts/font8.fntdata"/><Relationship Id="rId75" Type="http://schemas.openxmlformats.org/officeDocument/2006/relationships/font" Target="fonts/font13.fntdata"/><Relationship Id="rId83" Type="http://schemas.openxmlformats.org/officeDocument/2006/relationships/font" Target="fonts/font21.fntdata"/><Relationship Id="rId88" Type="http://schemas.openxmlformats.org/officeDocument/2006/relationships/font" Target="fonts/font26.fntdata"/><Relationship Id="rId91" Type="http://schemas.openxmlformats.org/officeDocument/2006/relationships/font" Target="fonts/font2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73" Type="http://schemas.openxmlformats.org/officeDocument/2006/relationships/font" Target="fonts/font11.fntdata"/><Relationship Id="rId78" Type="http://schemas.openxmlformats.org/officeDocument/2006/relationships/font" Target="fonts/font16.fntdata"/><Relationship Id="rId81" Type="http://schemas.openxmlformats.org/officeDocument/2006/relationships/font" Target="fonts/font19.fntdata"/><Relationship Id="rId86" Type="http://schemas.openxmlformats.org/officeDocument/2006/relationships/font" Target="fonts/font24.fntdata"/><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4.fntdata"/><Relationship Id="rId7" Type="http://schemas.openxmlformats.org/officeDocument/2006/relationships/slide" Target="slides/slide6.xml"/><Relationship Id="rId71" Type="http://schemas.openxmlformats.org/officeDocument/2006/relationships/font" Target="fonts/font9.fntdata"/><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font" Target="fonts/font4.fntdata"/><Relationship Id="rId87" Type="http://schemas.openxmlformats.org/officeDocument/2006/relationships/font" Target="fonts/font25.fntdata"/><Relationship Id="rId61" Type="http://schemas.openxmlformats.org/officeDocument/2006/relationships/slide" Target="slides/slide60.xml"/><Relationship Id="rId82" Type="http://schemas.openxmlformats.org/officeDocument/2006/relationships/font" Target="fonts/font20.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pPr/>
              <a:t>8/1/2026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pPr/>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3f24d149424_0_1117: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6" name="Google Shape;736;g3f24d149424_0_1117: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737" name="Google Shape;737;g3f24d149424_0_1117: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738" name="Google Shape;738;g3f24d149424_0_11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9" name="Google Shape;739;g3f24d149424_0_1117: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740" name="Google Shape;740;g3f24d149424_0_11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5"/>
        <p:cNvGrpSpPr/>
        <p:nvPr/>
      </p:nvGrpSpPr>
      <p:grpSpPr>
        <a:xfrm>
          <a:off x="0" y="0"/>
          <a:ext cx="0" cy="0"/>
          <a:chOff x="0" y="0"/>
          <a:chExt cx="0" cy="0"/>
        </a:xfrm>
      </p:grpSpPr>
      <p:sp>
        <p:nvSpPr>
          <p:cNvPr id="766" name="Google Shape;766;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7" name="Google Shape;76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7"/>
        <p:cNvGrpSpPr/>
        <p:nvPr/>
      </p:nvGrpSpPr>
      <p:grpSpPr>
        <a:xfrm>
          <a:off x="0" y="0"/>
          <a:ext cx="0" cy="0"/>
          <a:chOff x="0" y="0"/>
          <a:chExt cx="0" cy="0"/>
        </a:xfrm>
      </p:grpSpPr>
      <p:sp>
        <p:nvSpPr>
          <p:cNvPr id="1598" name="Google Shape;1598;g3f25f4df594_0_8371:notes"/>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9" name="Google Shape;1599;g3f25f4df594_0_8371:notes"/>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endParaRPr/>
          </a:p>
        </p:txBody>
      </p:sp>
      <p:sp>
        <p:nvSpPr>
          <p:cNvPr id="1600" name="Google Shape;1600;g3f25f4df594_0_8371:notes"/>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1601" name="Google Shape;1601;g3f25f4df594_0_837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2" name="Google Shape;1602;g3f25f4df594_0_8371: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603" name="Google Shape;1603;g3f25f4df594_0_837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13.jpe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9.jpe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2.png"/><Relationship Id="rId7"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0">
                      <a:srgbClr val="1D3064"/>
                    </a:gs>
                    <a:gs pos="100000">
                      <a:schemeClr val="tx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10" cstate="print">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id="{3C805A05-DDF6-4BA6-8EDB-D97128A43BFF}"/>
              </a:ext>
            </a:extLst>
          </p:cNvPr>
          <p:cNvPicPr>
            <a:picLocks noChangeAspect="1" noChangeArrowheads="1"/>
          </p:cNvPicPr>
          <p:nvPr userDrawn="1"/>
        </p:nvPicPr>
        <p:blipFill>
          <a:blip r:embed="rId11"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a:t>
            </a:r>
            <a:r>
              <a:rPr lang="en-US" dirty="0" err="1">
                <a:solidFill>
                  <a:schemeClr val="tx1">
                    <a:lumMod val="90000"/>
                    <a:lumOff val="10000"/>
                  </a:schemeClr>
                </a:solidFill>
                <a:latin typeface="Roboto Condensed Light" panose="02000000000000000000" pitchFamily="2" charset="0"/>
                <a:ea typeface="Roboto Condensed Light" panose="02000000000000000000" pitchFamily="2" charset="0"/>
              </a:rPr>
              <a:t>Dharmik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Vasiyani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ooter Placeholder 2">
            <a:extLst>
              <a:ext uri="{FF2B5EF4-FFF2-40B4-BE49-F238E27FC236}">
                <a16:creationId xmlns:a16="http://schemas.microsoft.com/office/drawing/2014/main" id="{BF2BE79E-EA17-4AB9-8CB5-714A52A6B2F5}"/>
              </a:ext>
            </a:extLst>
          </p:cNvPr>
          <p:cNvSpPr txBox="1">
            <a:spLocks/>
          </p:cNvSpPr>
          <p:nvPr userDrawn="1"/>
        </p:nvSpPr>
        <p:spPr>
          <a:xfrm>
            <a:off x="3443817" y="6604000"/>
            <a:ext cx="5304366"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IN" dirty="0"/>
              <a:t>2601CS102</a:t>
            </a:r>
            <a:r>
              <a:rPr lang="en-US" dirty="0">
                <a:solidFill>
                  <a:schemeClr val="tx1"/>
                </a:solidFill>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(WD)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HTML</a:t>
            </a:r>
          </a:p>
        </p:txBody>
      </p:sp>
    </p:spTree>
    <p:extLst>
      <p:ext uri="{BB962C8B-B14F-4D97-AF65-F5344CB8AC3E}">
        <p14:creationId xmlns:p14="http://schemas.microsoft.com/office/powerpoint/2010/main" val="34666333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Dharmik</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P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Vasiyani</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id="{BF2BE79E-EA17-4AB9-8CB5-714A52A6B2F5}"/>
              </a:ext>
            </a:extLst>
          </p:cNvPr>
          <p:cNvSpPr txBox="1">
            <a:spLocks/>
          </p:cNvSpPr>
          <p:nvPr userDrawn="1"/>
        </p:nvSpPr>
        <p:spPr>
          <a:xfrm>
            <a:off x="3443817" y="6604000"/>
            <a:ext cx="5304366"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IN" b="1" dirty="0"/>
              <a:t>2601CS102</a:t>
            </a:r>
            <a:r>
              <a:rPr lang="en-US" dirty="0">
                <a:solidFill>
                  <a:schemeClr val="tx1"/>
                </a:solidFill>
              </a:rPr>
              <a:t> </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(WD)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HTML</a:t>
            </a: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60475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027612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id="{CA463A36-7025-4394-9467-8A3EC3425B00}"/>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id="{ACB01872-4321-4181-A609-1C503C074C10}"/>
              </a:ext>
            </a:extLst>
          </p:cNvPr>
          <p:cNvPicPr preferRelativeResize="0"/>
          <p:nvPr userDrawn="1"/>
        </p:nvPicPr>
        <p:blipFill rotWithShape="1">
          <a:blip r:embed="rId2" cstate="print">
            <a:alphaModFix/>
          </a:blip>
          <a:srcRect t="86739" r="1768" b="3535"/>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07092" y="863445"/>
            <a:ext cx="11953729" cy="558678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43182"/>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21" name="Rectangle 20">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Footer Placeholder 2">
            <a:extLst>
              <a:ext uri="{FF2B5EF4-FFF2-40B4-BE49-F238E27FC236}">
                <a16:creationId xmlns:a16="http://schemas.microsoft.com/office/drawing/2014/main" id="{BF2BE79E-EA17-4AB9-8CB5-714A52A6B2F5}"/>
              </a:ext>
            </a:extLst>
          </p:cNvPr>
          <p:cNvSpPr txBox="1">
            <a:spLocks/>
          </p:cNvSpPr>
          <p:nvPr userDrawn="1"/>
        </p:nvSpPr>
        <p:spPr>
          <a:xfrm>
            <a:off x="3443817" y="6604000"/>
            <a:ext cx="5304366"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Web Technology &amp; Web Designing</a:t>
            </a:r>
          </a:p>
        </p:txBody>
      </p:sp>
    </p:spTree>
    <p:extLst>
      <p:ext uri="{BB962C8B-B14F-4D97-AF65-F5344CB8AC3E}">
        <p14:creationId xmlns:p14="http://schemas.microsoft.com/office/powerpoint/2010/main" val="346862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07171932-FFF4-4D27-9425-8CB5D27A92F2}"/>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r="11581" b="21180"/>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id="{1639DF2A-5426-428D-B32D-78E9191D8A0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79646" t="18062" r="2731" b="17724"/>
          <a:stretch/>
        </p:blipFill>
        <p:spPr>
          <a:xfrm>
            <a:off x="0" y="401568"/>
            <a:ext cx="543946" cy="772151"/>
          </a:xfrm>
          <a:prstGeom prst="rect">
            <a:avLst/>
          </a:prstGeom>
        </p:spPr>
      </p:pic>
      <p:sp>
        <p:nvSpPr>
          <p:cNvPr id="2" name="Title 1">
            <a:extLst>
              <a:ext uri="{FF2B5EF4-FFF2-40B4-BE49-F238E27FC236}">
                <a16:creationId xmlns:a16="http://schemas.microsoft.com/office/drawing/2014/main"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dirty="0">
                <a:gradFill flip="none" rotWithShape="1">
                  <a:gsLst>
                    <a:gs pos="0">
                      <a:srgbClr val="1D3064"/>
                    </a:gs>
                    <a:gs pos="100000">
                      <a:schemeClr val="tx2"/>
                    </a:gs>
                  </a:gsLst>
                  <a:lin ang="0" scaled="1"/>
                  <a:tileRect/>
                </a:gradFill>
                <a:effectLst/>
                <a:latin typeface="+mn-lt"/>
                <a:ea typeface="+mn-ea"/>
                <a:cs typeface="+mn-cs"/>
              </a:defRPr>
            </a:lvl1pPr>
          </a:lstStyle>
          <a:p>
            <a:r>
              <a:rPr lang="en-US" dirty="0"/>
              <a:t>Write here Section Title</a:t>
            </a:r>
          </a:p>
        </p:txBody>
      </p:sp>
      <p:sp>
        <p:nvSpPr>
          <p:cNvPr id="3" name="Text Placeholder 2">
            <a:extLst>
              <a:ext uri="{FF2B5EF4-FFF2-40B4-BE49-F238E27FC236}">
                <a16:creationId xmlns:a16="http://schemas.microsoft.com/office/drawing/2014/main"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Write here Section Subtitle</a:t>
            </a:r>
          </a:p>
        </p:txBody>
      </p:sp>
      <p:sp>
        <p:nvSpPr>
          <p:cNvPr id="8" name="Freeform 17">
            <a:extLst>
              <a:ext uri="{FF2B5EF4-FFF2-40B4-BE49-F238E27FC236}">
                <a16:creationId xmlns:a16="http://schemas.microsoft.com/office/drawing/2014/main" id="{910DC0DC-3FC7-402D-8C9F-62D3ACC8DC86}"/>
              </a:ext>
            </a:extLst>
          </p:cNvPr>
          <p:cNvSpPr>
            <a:spLocks/>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pic>
        <p:nvPicPr>
          <p:cNvPr id="10" name="Picture 9">
            <a:extLst>
              <a:ext uri="{FF2B5EF4-FFF2-40B4-BE49-F238E27FC236}">
                <a16:creationId xmlns:a16="http://schemas.microsoft.com/office/drawing/2014/main" id="{E75253BA-841C-4898-BAAF-3A16D7F9433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925557" y="5664170"/>
            <a:ext cx="2976891" cy="904935"/>
          </a:xfrm>
          <a:prstGeom prst="rect">
            <a:avLst/>
          </a:prstGeom>
        </p:spPr>
      </p:pic>
    </p:spTree>
    <p:extLst>
      <p:ext uri="{BB962C8B-B14F-4D97-AF65-F5344CB8AC3E}">
        <p14:creationId xmlns:p14="http://schemas.microsoft.com/office/powerpoint/2010/main" val="20016929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19392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443817" y="6604000"/>
            <a:ext cx="5304366"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Web Technology &amp; Web Designing</a:t>
            </a:r>
          </a:p>
        </p:txBody>
      </p:sp>
    </p:spTree>
    <p:extLst>
      <p:ext uri="{BB962C8B-B14F-4D97-AF65-F5344CB8AC3E}">
        <p14:creationId xmlns:p14="http://schemas.microsoft.com/office/powerpoint/2010/main" val="2971972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7" name="Footer Placeholder 2">
            <a:extLst>
              <a:ext uri="{FF2B5EF4-FFF2-40B4-BE49-F238E27FC236}">
                <a16:creationId xmlns:a16="http://schemas.microsoft.com/office/drawing/2014/main" id="{59055D82-7978-44A5-82D1-0A4E00B382BF}"/>
              </a:ext>
            </a:extLst>
          </p:cNvPr>
          <p:cNvSpPr txBox="1">
            <a:spLocks/>
          </p:cNvSpPr>
          <p:nvPr userDrawn="1"/>
        </p:nvSpPr>
        <p:spPr>
          <a:xfrm>
            <a:off x="3484034" y="6604000"/>
            <a:ext cx="5223933"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21CS01107</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WEB</a:t>
            </a: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0684288" y="5992307"/>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oter Placeholder 2">
            <a:extLst>
              <a:ext uri="{FF2B5EF4-FFF2-40B4-BE49-F238E27FC236}">
                <a16:creationId xmlns:a16="http://schemas.microsoft.com/office/drawing/2014/main" id="{BF2BE79E-EA17-4AB9-8CB5-714A52A6B2F5}"/>
              </a:ext>
            </a:extLst>
          </p:cNvPr>
          <p:cNvSpPr txBox="1">
            <a:spLocks/>
          </p:cNvSpPr>
          <p:nvPr userDrawn="1"/>
        </p:nvSpPr>
        <p:spPr>
          <a:xfrm>
            <a:off x="3443817" y="6604000"/>
            <a:ext cx="5304366"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Web Technology &amp; Web Designing</a:t>
            </a:r>
          </a:p>
        </p:txBody>
      </p:sp>
    </p:spTree>
    <p:extLst>
      <p:ext uri="{BB962C8B-B14F-4D97-AF65-F5344CB8AC3E}">
        <p14:creationId xmlns:p14="http://schemas.microsoft.com/office/powerpoint/2010/main" val="320624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id="{F2FD45BD-9964-4102-8DE9-72CDDDD20A49}"/>
              </a:ext>
            </a:extLst>
          </p:cNvPr>
          <p:cNvSpPr txBox="1">
            <a:spLocks/>
          </p:cNvSpPr>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Prof. Vijay</a:t>
            </a:r>
            <a:r>
              <a:rPr lang="en-US" baseline="0" dirty="0">
                <a:solidFill>
                  <a:schemeClr val="tx1">
                    <a:lumMod val="90000"/>
                    <a:lumOff val="10000"/>
                  </a:schemeClr>
                </a:solidFill>
                <a:latin typeface="Roboto Condensed Light" panose="02000000000000000000" pitchFamily="2" charset="0"/>
                <a:ea typeface="Roboto Condensed Light" panose="02000000000000000000" pitchFamily="2" charset="0"/>
              </a:rPr>
              <a:t> M </a:t>
            </a:r>
            <a:r>
              <a:rPr lang="en-US" baseline="0" dirty="0" err="1">
                <a:solidFill>
                  <a:schemeClr val="tx1">
                    <a:lumMod val="90000"/>
                    <a:lumOff val="10000"/>
                  </a:schemeClr>
                </a:solidFill>
                <a:latin typeface="Roboto Condensed Light" panose="02000000000000000000" pitchFamily="2" charset="0"/>
                <a:ea typeface="Roboto Condensed Light" panose="02000000000000000000" pitchFamily="2" charset="0"/>
              </a:rPr>
              <a:t>Shekhat</a:t>
            </a:r>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18" name="Slide Number Placeholder 3">
            <a:extLst>
              <a:ext uri="{FF2B5EF4-FFF2-40B4-BE49-F238E27FC236}">
                <a16:creationId xmlns:a16="http://schemas.microsoft.com/office/drawing/2014/main" id="{32768103-D8F5-4649-8107-E4B3B8C554BB}"/>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619E228D-B2BD-4EFA-9FE9-86D81DDC600E}"/>
              </a:ext>
            </a:extLst>
          </p:cNvPr>
          <p:cNvGrpSpPr/>
          <p:nvPr userDrawn="1"/>
        </p:nvGrpSpPr>
        <p:grpSpPr>
          <a:xfrm>
            <a:off x="168688" y="6051030"/>
            <a:ext cx="1339023" cy="407045"/>
            <a:chOff x="10721798" y="852808"/>
            <a:chExt cx="1339023" cy="407045"/>
          </a:xfrm>
        </p:grpSpPr>
        <p:pic>
          <p:nvPicPr>
            <p:cNvPr id="15" name="Picture 14">
              <a:extLst>
                <a:ext uri="{FF2B5EF4-FFF2-40B4-BE49-F238E27FC236}">
                  <a16:creationId xmlns:a16="http://schemas.microsoft.com/office/drawing/2014/main" id="{60ED7292-9BDD-4D31-8064-11177842F8C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721798" y="852808"/>
              <a:ext cx="1339022" cy="407045"/>
            </a:xfrm>
            <a:prstGeom prst="rect">
              <a:avLst/>
            </a:prstGeom>
          </p:spPr>
        </p:pic>
        <p:sp>
          <p:nvSpPr>
            <p:cNvPr id="19" name="Rectangle 18">
              <a:extLst>
                <a:ext uri="{FF2B5EF4-FFF2-40B4-BE49-F238E27FC236}">
                  <a16:creationId xmlns:a16="http://schemas.microsoft.com/office/drawing/2014/main" id="{1F0757EE-ABB9-45D2-B479-D5AB8FB14DF1}"/>
                </a:ext>
              </a:extLst>
            </p:cNvPr>
            <p:cNvSpPr/>
            <p:nvPr userDrawn="1"/>
          </p:nvSpPr>
          <p:spPr>
            <a:xfrm>
              <a:off x="10721799" y="852808"/>
              <a:ext cx="1339022" cy="407044"/>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Footer Placeholder 2">
            <a:extLst>
              <a:ext uri="{FF2B5EF4-FFF2-40B4-BE49-F238E27FC236}">
                <a16:creationId xmlns:a16="http://schemas.microsoft.com/office/drawing/2014/main" id="{BF2BE79E-EA17-4AB9-8CB5-714A52A6B2F5}"/>
              </a:ext>
            </a:extLst>
          </p:cNvPr>
          <p:cNvSpPr txBox="1">
            <a:spLocks/>
          </p:cNvSpPr>
          <p:nvPr userDrawn="1"/>
        </p:nvSpPr>
        <p:spPr>
          <a:xfrm>
            <a:off x="3443817" y="6604000"/>
            <a:ext cx="5304366" cy="254000"/>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a:t>
            </a:r>
            <a:r>
              <a:rPr lang="en-US" dirty="0">
                <a:solidFill>
                  <a:schemeClr val="tx1"/>
                </a:solidFill>
              </a:rPr>
              <a:t>2104CS204</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(WD)   </a:t>
            </a:r>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01 – Introduction to Web Technology &amp; Web Designing</a:t>
            </a:r>
          </a:p>
        </p:txBody>
      </p:sp>
    </p:spTree>
    <p:extLst>
      <p:ext uri="{BB962C8B-B14F-4D97-AF65-F5344CB8AC3E}">
        <p14:creationId xmlns:p14="http://schemas.microsoft.com/office/powerpoint/2010/main" val="42433145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dirty="0">
                <a:solidFill>
                  <a:srgbClr val="FF0000"/>
                </a:solidFill>
              </a:rPr>
              <a:t>How to Crop Circular Photo?</a:t>
            </a:r>
          </a:p>
        </p:txBody>
      </p:sp>
      <p:sp>
        <p:nvSpPr>
          <p:cNvPr id="11" name="Picture Placeholder 10">
            <a:extLst>
              <a:ext uri="{FF2B5EF4-FFF2-40B4-BE49-F238E27FC236}">
                <a16:creationId xmlns:a16="http://schemas.microsoft.com/office/drawing/2014/main"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4">
                        <a:lumMod val="50000"/>
                      </a:schemeClr>
                    </a:gs>
                    <a:gs pos="100000">
                      <a:srgbClr val="009788"/>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descr="User icon Royalty Free Vector Image - VectorStock">
            <a:extLst>
              <a:ext uri="{FF2B5EF4-FFF2-40B4-BE49-F238E27FC236}">
                <a16:creationId xmlns:a16="http://schemas.microsoft.com/office/drawing/2014/main" id="{4A8E0F54-DC01-449D-B951-DC7CBAFD9546}"/>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2">
                        <a:lumMod val="50000"/>
                      </a:schemeClr>
                    </a:gs>
                    <a:gs pos="100000">
                      <a:schemeClr val="accent2"/>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0" name="Picture 29" descr="User icon Royalty Free Vector Image - VectorStock">
            <a:extLst>
              <a:ext uri="{FF2B5EF4-FFF2-40B4-BE49-F238E27FC236}">
                <a16:creationId xmlns:a16="http://schemas.microsoft.com/office/drawing/2014/main" id="{5F55812D-505A-4B1A-9EB5-16DCD08F2B8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3">
                        <a:lumMod val="50000"/>
                      </a:schemeClr>
                    </a:gs>
                    <a:gs pos="100000">
                      <a:schemeClr val="accent3"/>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6570A8-081D-45CE-A0DD-F78F5EDB0F9B}"/>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7"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Tree>
    <p:extLst>
      <p:ext uri="{BB962C8B-B14F-4D97-AF65-F5344CB8AC3E}">
        <p14:creationId xmlns:p14="http://schemas.microsoft.com/office/powerpoint/2010/main" val="6158597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6">
                        <a:lumMod val="50000"/>
                      </a:schemeClr>
                    </a:gs>
                    <a:gs pos="100000">
                      <a:schemeClr val="accent6"/>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80BF4AFD-B365-46D4-AAC5-485DFA5A7D42}"/>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31625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273238"/>
                    </a:gs>
                    <a:gs pos="100000">
                      <a:srgbClr val="607D8B"/>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EB45C91-0DA6-4973-9AEA-FF1388508ACC}"/>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E2622"/>
                    </a:gs>
                    <a:gs pos="100000">
                      <a:srgbClr val="79554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7E386D9D-B92A-4F40-9089-A1FD00CD387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301B92"/>
                    </a:gs>
                    <a:gs pos="100000">
                      <a:srgbClr val="673BB7"/>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BE300026-40E8-4FB1-998A-9CEB5F7A1B8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0E47A1"/>
                    </a:gs>
                    <a:gs pos="100000">
                      <a:srgbClr val="03A9F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C3A13D11-EC6C-4E81-AD83-7AC73D273FD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B71B1C"/>
                    </a:gs>
                    <a:gs pos="100000">
                      <a:srgbClr val="ED524F"/>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31" name="Picture 30">
            <a:extLst>
              <a:ext uri="{FF2B5EF4-FFF2-40B4-BE49-F238E27FC236}">
                <a16:creationId xmlns:a16="http://schemas.microsoft.com/office/drawing/2014/main" id="{77B7B864-C091-4493-B14B-F5B61B586EED}"/>
              </a:ext>
            </a:extLst>
          </p:cNvPr>
          <p:cNvPicPr>
            <a:picLocks noChangeAspect="1"/>
          </p:cNvPicPr>
          <p:nvPr userDrawn="1"/>
        </p:nvPicPr>
        <p:blipFill>
          <a:blip r:embed="rId9" cstate="print">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id="{177B86E9-222D-4757-BE64-59540DB794E6}"/>
              </a:ext>
            </a:extLst>
          </p:cNvPr>
          <p:cNvPicPr>
            <a:picLocks noChangeAspect="1" noChangeArrowheads="1"/>
          </p:cNvPicPr>
          <p:nvPr userDrawn="1"/>
        </p:nvPicPr>
        <p:blipFill>
          <a:blip r:embed="rId10"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dirty="0"/>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id="{3CAA64A4-91BA-448F-9474-7895F9C6DBD1}"/>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rgbClr val="890E4F"/>
                    </a:gs>
                    <a:gs pos="100000">
                      <a:srgbClr val="D81A60"/>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4" name="Picture 53">
            <a:extLst>
              <a:ext uri="{FF2B5EF4-FFF2-40B4-BE49-F238E27FC236}">
                <a16:creationId xmlns:a16="http://schemas.microsoft.com/office/drawing/2014/main"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8" cstate="print">
            <a:extLs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A2F1AAAC-C051-4A31-837B-4A9977722A44}"/>
              </a:ext>
            </a:extLst>
          </p:cNvPr>
          <p:cNvPicPr>
            <a:picLocks noChangeAspect="1" noChangeArrowheads="1"/>
          </p:cNvPicPr>
          <p:nvPr userDrawn="1"/>
        </p:nvPicPr>
        <p:blipFill>
          <a:blip r:embed="rId9"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292D9CA8-FA74-4E19-A847-B04F90FC15AC}"/>
              </a:ext>
            </a:extLst>
          </p:cNvPr>
          <p:cNvPicPr>
            <a:picLocks noChangeAspect="1"/>
          </p:cNvPicPr>
          <p:nvPr userDrawn="1"/>
        </p:nvPicPr>
        <p:blipFill rotWithShape="1">
          <a:blip r:embed="rId2" cstate="print">
            <a:duotone>
              <a:schemeClr val="accent1">
                <a:shade val="45000"/>
                <a:satMod val="135000"/>
              </a:schemeClr>
              <a:prstClr val="white"/>
            </a:duotone>
            <a:extLst>
              <a:ext uri="{28A0092B-C50C-407E-A947-70E740481C1C}">
                <a14:useLocalDpi xmlns:a14="http://schemas.microsoft.com/office/drawing/2010/main" val="0"/>
              </a:ext>
            </a:extLst>
          </a:blip>
          <a:srcRect t="18750" b="25000"/>
          <a:stretch/>
        </p:blipFill>
        <p:spPr>
          <a:xfrm>
            <a:off x="0" y="0"/>
            <a:ext cx="12192000" cy="6858000"/>
          </a:xfrm>
          <a:prstGeom prst="rect">
            <a:avLst/>
          </a:prstGeom>
        </p:spPr>
      </p:pic>
      <p:sp>
        <p:nvSpPr>
          <p:cNvPr id="3" name="TextBox 2">
            <a:extLst>
              <a:ext uri="{FF2B5EF4-FFF2-40B4-BE49-F238E27FC236}">
                <a16:creationId xmlns:a16="http://schemas.microsoft.com/office/drawing/2014/main"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dirty="0"/>
              <a:t>Darshan Institute of Engineering &amp; Technology, Rajkot</a:t>
            </a:r>
          </a:p>
        </p:txBody>
      </p:sp>
      <p:sp>
        <p:nvSpPr>
          <p:cNvPr id="22" name="Freeform 13">
            <a:extLst>
              <a:ext uri="{FF2B5EF4-FFF2-40B4-BE49-F238E27FC236}">
                <a16:creationId xmlns:a16="http://schemas.microsoft.com/office/drawing/2014/main" id="{EB889181-F145-4E62-A282-E5B77978D1F3}"/>
              </a:ext>
            </a:extLst>
          </p:cNvPr>
          <p:cNvSpPr>
            <a:spLocks/>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id="{5E9DA42E-B221-4BBE-B651-F7171591BCD7}"/>
              </a:ext>
            </a:extLst>
          </p:cNvPr>
          <p:cNvSpPr>
            <a:spLocks/>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id="{73D6466C-3EE8-434C-B5AB-98205AEEA67D}"/>
              </a:ext>
            </a:extLst>
          </p:cNvPr>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9812EDA6-C656-492A-A9CA-44B03C639132}"/>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id="{627AEF91-6492-4B0C-A844-2296473B58DE}"/>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Email Address</a:t>
            </a:r>
          </a:p>
        </p:txBody>
      </p:sp>
      <p:sp>
        <p:nvSpPr>
          <p:cNvPr id="29" name="Text Placeholder 2">
            <a:extLst>
              <a:ext uri="{FF2B5EF4-FFF2-40B4-BE49-F238E27FC236}">
                <a16:creationId xmlns:a16="http://schemas.microsoft.com/office/drawing/2014/main"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dirty="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dirty="0"/>
              <a:t>Click to edit Phone No.</a:t>
            </a:r>
          </a:p>
        </p:txBody>
      </p:sp>
      <p:sp>
        <p:nvSpPr>
          <p:cNvPr id="40" name="Text Placeholder 2">
            <a:extLst>
              <a:ext uri="{FF2B5EF4-FFF2-40B4-BE49-F238E27FC236}">
                <a16:creationId xmlns:a16="http://schemas.microsoft.com/office/drawing/2014/main"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dirty="0">
                <a:solidFill>
                  <a:schemeClr val="tx1"/>
                </a:solidFill>
                <a:latin typeface="+mn-lt"/>
                <a:ea typeface="+mn-ea"/>
                <a:cs typeface="+mn-cs"/>
              </a:defRPr>
            </a:lvl1pPr>
          </a:lstStyle>
          <a:p>
            <a:pPr lvl="0"/>
            <a:r>
              <a:rPr lang="en-US" dirty="0"/>
              <a:t>Write here Department Name</a:t>
            </a:r>
          </a:p>
        </p:txBody>
      </p:sp>
      <p:sp>
        <p:nvSpPr>
          <p:cNvPr id="53" name="Text Placeholder 2">
            <a:extLst>
              <a:ext uri="{FF2B5EF4-FFF2-40B4-BE49-F238E27FC236}">
                <a16:creationId xmlns:a16="http://schemas.microsoft.com/office/drawing/2014/main"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dirty="0">
                <a:gradFill flip="none" rotWithShape="1">
                  <a:gsLst>
                    <a:gs pos="10000">
                      <a:schemeClr val="accent5">
                        <a:lumMod val="75000"/>
                      </a:schemeClr>
                    </a:gs>
                    <a:gs pos="100000">
                      <a:schemeClr val="accent5"/>
                    </a:gs>
                  </a:gsLst>
                  <a:lin ang="0" scaled="1"/>
                  <a:tileRect/>
                </a:gradFill>
                <a:effectLst/>
                <a:latin typeface="+mn-lt"/>
                <a:ea typeface="+mn-ea"/>
                <a:cs typeface="+mn-cs"/>
              </a:defRPr>
            </a:lvl1pPr>
          </a:lstStyle>
          <a:p>
            <a:pPr lvl="0"/>
            <a:r>
              <a:rPr lang="en-US" dirty="0"/>
              <a:t>Write here your Author Name (i.e. Prof. Jay R </a:t>
            </a:r>
            <a:r>
              <a:rPr lang="en-US" dirty="0" err="1"/>
              <a:t>Dhamsaniya</a:t>
            </a:r>
            <a:r>
              <a:rPr lang="en-US" dirty="0"/>
              <a:t>)</a:t>
            </a:r>
          </a:p>
        </p:txBody>
      </p:sp>
      <p:pic>
        <p:nvPicPr>
          <p:cNvPr id="55" name="Picture 54">
            <a:extLst>
              <a:ext uri="{FF2B5EF4-FFF2-40B4-BE49-F238E27FC236}">
                <a16:creationId xmlns:a16="http://schemas.microsoft.com/office/drawing/2014/main" id="{34C1356C-E4AA-4B27-A93C-BE84F5D9C601}"/>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1" name="Picture 20" descr="User icon Royalty Free Vector Image - VectorStock">
            <a:extLst>
              <a:ext uri="{FF2B5EF4-FFF2-40B4-BE49-F238E27FC236}">
                <a16:creationId xmlns:a16="http://schemas.microsoft.com/office/drawing/2014/main" id="{00C9ED70-1CC8-4EF2-BE10-AAFE24AAC5D7}"/>
              </a:ext>
            </a:extLst>
          </p:cNvPr>
          <p:cNvPicPr>
            <a:picLocks noChangeAspect="1" noChangeArrowheads="1"/>
          </p:cNvPicPr>
          <p:nvPr userDrawn="1"/>
        </p:nvPicPr>
        <p:blipFill>
          <a:blip r:embed="rId8" cstate="print">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pic>
        <p:nvPicPr>
          <p:cNvPr id="31" name="Picture 30">
            <a:extLst>
              <a:ext uri="{FF2B5EF4-FFF2-40B4-BE49-F238E27FC236}">
                <a16:creationId xmlns:a16="http://schemas.microsoft.com/office/drawing/2014/main" id="{E75253BA-841C-4898-BAAF-3A16D7F9433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8885249" y="320499"/>
            <a:ext cx="2976891" cy="904935"/>
          </a:xfrm>
          <a:prstGeom prst="rect">
            <a:avLst/>
          </a:prstGeom>
        </p:spPr>
      </p:pic>
      <p:sp>
        <p:nvSpPr>
          <p:cNvPr id="20" name="Hexagon 19"/>
          <p:cNvSpPr/>
          <p:nvPr userDrawn="1"/>
        </p:nvSpPr>
        <p:spPr>
          <a:xfrm rot="5400000">
            <a:off x="4309292" y="1717040"/>
            <a:ext cx="3461658" cy="2984188"/>
          </a:xfrm>
          <a:prstGeom prst="hexagon">
            <a:avLst/>
          </a:prstGeom>
          <a:solidFill>
            <a:schemeClr val="bg1">
              <a:lumMod val="95000"/>
            </a:schemeClr>
          </a:solidFill>
          <a:ln w="57150">
            <a:solidFill>
              <a:srgbClr val="7D5008"/>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3" name="Rectangle 32"/>
          <p:cNvSpPr/>
          <p:nvPr userDrawn="1"/>
        </p:nvSpPr>
        <p:spPr>
          <a:xfrm>
            <a:off x="7678346" y="2221532"/>
            <a:ext cx="4513654"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4" name="Rectangle 33"/>
          <p:cNvSpPr/>
          <p:nvPr userDrawn="1"/>
        </p:nvSpPr>
        <p:spPr>
          <a:xfrm>
            <a:off x="0" y="2221532"/>
            <a:ext cx="4402106" cy="1951692"/>
          </a:xfrm>
          <a:prstGeom prst="rect">
            <a:avLst/>
          </a:prstGeom>
          <a:solidFill>
            <a:srgbClr val="7D5008"/>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35" name="TextBox 34"/>
          <p:cNvSpPr txBox="1"/>
          <p:nvPr userDrawn="1"/>
        </p:nvSpPr>
        <p:spPr>
          <a:xfrm>
            <a:off x="5014038" y="2239638"/>
            <a:ext cx="2052165" cy="1938992"/>
          </a:xfrm>
          <a:prstGeom prst="rect">
            <a:avLst/>
          </a:prstGeom>
          <a:noFill/>
        </p:spPr>
        <p:txBody>
          <a:bodyPr wrap="none" rtlCol="0">
            <a:spAutoFit/>
          </a:bodyPr>
          <a:lstStyle/>
          <a:p>
            <a:pPr algn="ctr"/>
            <a:r>
              <a:rPr lang="en-US" sz="6000" b="1" i="1" dirty="0"/>
              <a:t>Thank</a:t>
            </a:r>
          </a:p>
          <a:p>
            <a:pPr algn="ctr"/>
            <a:r>
              <a:rPr lang="en-US" sz="6000" b="1" i="1" dirty="0"/>
              <a:t>You</a:t>
            </a:r>
          </a:p>
        </p:txBody>
      </p:sp>
    </p:spTree>
    <p:extLst>
      <p:ext uri="{BB962C8B-B14F-4D97-AF65-F5344CB8AC3E}">
        <p14:creationId xmlns:p14="http://schemas.microsoft.com/office/powerpoint/2010/main" val="346608028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ontent - Logo on BR">
  <p:cSld name="1_Title and Content - Logo on BR">
    <p:spTree>
      <p:nvGrpSpPr>
        <p:cNvPr id="1" name="Shape 387"/>
        <p:cNvGrpSpPr/>
        <p:nvPr/>
      </p:nvGrpSpPr>
      <p:grpSpPr>
        <a:xfrm>
          <a:off x="0" y="0"/>
          <a:ext cx="0" cy="0"/>
          <a:chOff x="0" y="0"/>
          <a:chExt cx="0" cy="0"/>
        </a:xfrm>
      </p:grpSpPr>
      <p:sp>
        <p:nvSpPr>
          <p:cNvPr id="388" name="Google Shape;388;g3f25f4df594_0_9855"/>
          <p:cNvSpPr/>
          <p:nvPr/>
        </p:nvSpPr>
        <p:spPr>
          <a:xfrm>
            <a:off x="0" y="6604000"/>
            <a:ext cx="12192000" cy="254100"/>
          </a:xfrm>
          <a:prstGeom prst="roundRect">
            <a:avLst>
              <a:gd name="adj" fmla="val 0"/>
            </a:avLst>
          </a:prstGeom>
          <a:solidFill>
            <a:srgbClr val="DFDFD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sp>
        <p:nvSpPr>
          <p:cNvPr id="389" name="Google Shape;389;g3f25f4df594_0_9855"/>
          <p:cNvSpPr txBox="1"/>
          <p:nvPr/>
        </p:nvSpPr>
        <p:spPr>
          <a:xfrm>
            <a:off x="838200" y="6604000"/>
            <a:ext cx="2743200" cy="2550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a:solidFill>
                  <a:srgbClr val="363636"/>
                </a:solidFill>
                <a:latin typeface="Roboto Condensed Light"/>
                <a:ea typeface="Roboto Condensed Light"/>
                <a:cs typeface="Roboto Condensed Light"/>
                <a:sym typeface="Roboto Condensed Light"/>
              </a:rPr>
              <a:t>Prof. Dharmik P Vasiyani</a:t>
            </a:r>
            <a:endParaRPr sz="1200">
              <a:solidFill>
                <a:srgbClr val="363636"/>
              </a:solidFill>
              <a:latin typeface="Roboto Condensed Light"/>
              <a:ea typeface="Roboto Condensed Light"/>
              <a:cs typeface="Roboto Condensed Light"/>
              <a:sym typeface="Roboto Condensed Light"/>
            </a:endParaRPr>
          </a:p>
        </p:txBody>
      </p:sp>
      <p:sp>
        <p:nvSpPr>
          <p:cNvPr id="390" name="Google Shape;390;g3f25f4df594_0_9855"/>
          <p:cNvSpPr txBox="1"/>
          <p:nvPr/>
        </p:nvSpPr>
        <p:spPr>
          <a:xfrm>
            <a:off x="3653367" y="6604000"/>
            <a:ext cx="4885200" cy="255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dirty="0">
                <a:solidFill>
                  <a:srgbClr val="363636"/>
                </a:solidFill>
                <a:latin typeface="Roboto Condensed Light"/>
                <a:ea typeface="Roboto Condensed Light"/>
                <a:cs typeface="Roboto Condensed Light"/>
                <a:sym typeface="Roboto Condensed Light"/>
              </a:rPr>
              <a:t>#</a:t>
            </a:r>
            <a:r>
              <a:rPr lang="en-IN" sz="1200" dirty="0"/>
              <a:t>2601CS102</a:t>
            </a:r>
            <a:r>
              <a:rPr lang="en-US" sz="1200" dirty="0">
                <a:solidFill>
                  <a:srgbClr val="363636"/>
                </a:solidFill>
                <a:latin typeface="Roboto Condensed Light"/>
                <a:ea typeface="Roboto Condensed Light"/>
                <a:cs typeface="Roboto Condensed Light"/>
                <a:sym typeface="Roboto Condensed Light"/>
              </a:rPr>
              <a:t> (WD)   </a:t>
            </a:r>
            <a:r>
              <a:rPr lang="en-US" sz="1200" dirty="0">
                <a:solidFill>
                  <a:srgbClr val="363636"/>
                </a:solidFill>
                <a:latin typeface="Noto Sans Symbols"/>
                <a:ea typeface="Noto Sans Symbols"/>
                <a:cs typeface="Noto Sans Symbols"/>
                <a:sym typeface="Noto Sans Symbols"/>
              </a:rPr>
              <a:t>⬥</a:t>
            </a:r>
            <a:r>
              <a:rPr lang="en-US" sz="1200" dirty="0">
                <a:solidFill>
                  <a:srgbClr val="363636"/>
                </a:solidFill>
                <a:latin typeface="Roboto Condensed Light"/>
                <a:ea typeface="Roboto Condensed Light"/>
                <a:cs typeface="Roboto Condensed Light"/>
                <a:sym typeface="Roboto Condensed Light"/>
              </a:rPr>
              <a:t>   Unit 01 – HTML</a:t>
            </a:r>
            <a:endParaRPr sz="1200" dirty="0">
              <a:solidFill>
                <a:srgbClr val="363636"/>
              </a:solidFill>
              <a:latin typeface="Roboto Condensed Light"/>
              <a:ea typeface="Roboto Condensed Light"/>
              <a:cs typeface="Roboto Condensed Light"/>
              <a:sym typeface="Roboto Condensed Light"/>
            </a:endParaRPr>
          </a:p>
        </p:txBody>
      </p:sp>
      <p:sp>
        <p:nvSpPr>
          <p:cNvPr id="391" name="Google Shape;391;g3f25f4df594_0_9855"/>
          <p:cNvSpPr txBox="1"/>
          <p:nvPr/>
        </p:nvSpPr>
        <p:spPr>
          <a:xfrm>
            <a:off x="8610600" y="6604000"/>
            <a:ext cx="2743200" cy="2550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200" b="1">
                <a:solidFill>
                  <a:srgbClr val="363636"/>
                </a:solidFill>
                <a:latin typeface="Roboto Condensed"/>
                <a:ea typeface="Roboto Condensed"/>
                <a:cs typeface="Roboto Condensed"/>
                <a:sym typeface="Roboto Condensed"/>
              </a:rPr>
              <a:t>‹#›</a:t>
            </a:fld>
            <a:endParaRPr sz="1200" b="1">
              <a:solidFill>
                <a:srgbClr val="363636"/>
              </a:solidFill>
              <a:latin typeface="Roboto Condensed"/>
              <a:ea typeface="Roboto Condensed"/>
              <a:cs typeface="Roboto Condensed"/>
              <a:sym typeface="Roboto Condensed"/>
            </a:endParaRPr>
          </a:p>
        </p:txBody>
      </p:sp>
      <p:pic>
        <p:nvPicPr>
          <p:cNvPr id="392" name="Google Shape;392;g3f25f4df594_0_9855"/>
          <p:cNvPicPr preferRelativeResize="0"/>
          <p:nvPr/>
        </p:nvPicPr>
        <p:blipFill rotWithShape="1">
          <a:blip r:embed="rId2">
            <a:alphaModFix/>
          </a:blip>
          <a:srcRect t="86739" r="1768" b="3535"/>
          <a:stretch/>
        </p:blipFill>
        <p:spPr>
          <a:xfrm>
            <a:off x="0" y="0"/>
            <a:ext cx="12192001" cy="711200"/>
          </a:xfrm>
          <a:prstGeom prst="rect">
            <a:avLst/>
          </a:prstGeom>
          <a:noFill/>
          <a:ln>
            <a:noFill/>
          </a:ln>
        </p:spPr>
      </p:pic>
      <p:sp>
        <p:nvSpPr>
          <p:cNvPr id="393" name="Google Shape;393;g3f25f4df594_0_9855"/>
          <p:cNvSpPr txBox="1">
            <a:spLocks noGrp="1"/>
          </p:cNvSpPr>
          <p:nvPr>
            <p:ph type="title"/>
          </p:nvPr>
        </p:nvSpPr>
        <p:spPr>
          <a:xfrm>
            <a:off x="0" y="1"/>
            <a:ext cx="12192000" cy="711300"/>
          </a:xfrm>
          <a:prstGeom prst="rect">
            <a:avLst/>
          </a:prstGeom>
          <a:solidFill>
            <a:srgbClr val="C0C0C0">
              <a:alpha val="50196"/>
            </a:srgbClr>
          </a:solidFill>
          <a:ln>
            <a:noFill/>
          </a:ln>
        </p:spPr>
        <p:txBody>
          <a:bodyPr spcFirstLastPara="1" wrap="square" lIns="216000" tIns="108000" rIns="216000" bIns="108000" anchor="ctr" anchorCtr="0">
            <a:normAutofit/>
          </a:bodyPr>
          <a:lstStyle>
            <a:lvl1pPr lvl="0" algn="l">
              <a:lnSpc>
                <a:spcPct val="90000"/>
              </a:lnSpc>
              <a:spcBef>
                <a:spcPts val="0"/>
              </a:spcBef>
              <a:spcAft>
                <a:spcPts val="0"/>
              </a:spcAft>
              <a:buClr>
                <a:srgbClr val="363636"/>
              </a:buClr>
              <a:buSzPts val="3400"/>
              <a:buFont typeface="Roboto Condensed"/>
              <a:buNone/>
              <a:defRPr sz="3400" b="1">
                <a:solidFill>
                  <a:srgbClr val="363636"/>
                </a:solidFill>
                <a:latin typeface="Roboto Condensed"/>
                <a:ea typeface="Roboto Condensed"/>
                <a:cs typeface="Roboto Condensed"/>
                <a:sym typeface="Roboto Condense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4" name="Google Shape;394;g3f25f4df594_0_9855"/>
          <p:cNvSpPr txBox="1">
            <a:spLocks noGrp="1"/>
          </p:cNvSpPr>
          <p:nvPr>
            <p:ph type="body" idx="1"/>
          </p:nvPr>
        </p:nvSpPr>
        <p:spPr>
          <a:xfrm>
            <a:off x="131180" y="863444"/>
            <a:ext cx="11929500" cy="5590500"/>
          </a:xfrm>
          <a:prstGeom prst="rect">
            <a:avLst/>
          </a:prstGeom>
          <a:noFill/>
          <a:ln>
            <a:noFill/>
          </a:ln>
        </p:spPr>
        <p:txBody>
          <a:bodyPr spcFirstLastPara="1" wrap="square" lIns="91425" tIns="45700" rIns="91425" bIns="45700" anchor="t" anchorCtr="0">
            <a:noAutofit/>
          </a:bodyPr>
          <a:lstStyle>
            <a:lvl1pPr marL="457200" lvl="0" indent="-381000" algn="just">
              <a:lnSpc>
                <a:spcPct val="90000"/>
              </a:lnSpc>
              <a:spcBef>
                <a:spcPts val="1000"/>
              </a:spcBef>
              <a:spcAft>
                <a:spcPts val="0"/>
              </a:spcAft>
              <a:buClr>
                <a:schemeClr val="accent6"/>
              </a:buClr>
              <a:buSzPts val="2400"/>
              <a:buFont typeface="Noto Sans Symbols"/>
              <a:buChar char="🞂"/>
              <a:defRPr sz="2400">
                <a:solidFill>
                  <a:schemeClr val="dk1"/>
                </a:solidFill>
              </a:defRPr>
            </a:lvl1pPr>
            <a:lvl2pPr marL="914400" lvl="1" indent="-355600" algn="just">
              <a:lnSpc>
                <a:spcPct val="90000"/>
              </a:lnSpc>
              <a:spcBef>
                <a:spcPts val="500"/>
              </a:spcBef>
              <a:spcAft>
                <a:spcPts val="0"/>
              </a:spcAft>
              <a:buClr>
                <a:schemeClr val="accent6"/>
              </a:buClr>
              <a:buSzPts val="2000"/>
              <a:buFont typeface="Noto Sans Symbols"/>
              <a:buChar char="⮩"/>
              <a:defRPr sz="2000">
                <a:solidFill>
                  <a:schemeClr val="dk1"/>
                </a:solidFill>
              </a:defRPr>
            </a:lvl2pPr>
            <a:lvl3pPr marL="1371600" lvl="2" indent="-342900" algn="just">
              <a:lnSpc>
                <a:spcPct val="90000"/>
              </a:lnSpc>
              <a:spcBef>
                <a:spcPts val="500"/>
              </a:spcBef>
              <a:spcAft>
                <a:spcPts val="0"/>
              </a:spcAft>
              <a:buClr>
                <a:schemeClr val="accent6"/>
              </a:buClr>
              <a:buSzPts val="1800"/>
              <a:buFont typeface="Noto Sans Symbols"/>
              <a:buChar char="▪"/>
              <a:defRPr sz="1800">
                <a:solidFill>
                  <a:schemeClr val="dk1"/>
                </a:solidFill>
              </a:defRPr>
            </a:lvl3pPr>
            <a:lvl4pPr marL="1828800" lvl="3" indent="-330200" algn="just">
              <a:lnSpc>
                <a:spcPct val="90000"/>
              </a:lnSpc>
              <a:spcBef>
                <a:spcPts val="500"/>
              </a:spcBef>
              <a:spcAft>
                <a:spcPts val="0"/>
              </a:spcAft>
              <a:buClr>
                <a:schemeClr val="accent6"/>
              </a:buClr>
              <a:buSzPts val="1600"/>
              <a:buChar char="•"/>
              <a:defRPr sz="1600">
                <a:solidFill>
                  <a:schemeClr val="dk1"/>
                </a:solidFill>
              </a:defRPr>
            </a:lvl4pPr>
            <a:lvl5pPr marL="2286000" lvl="4" indent="-330200" algn="just">
              <a:lnSpc>
                <a:spcPct val="90000"/>
              </a:lnSpc>
              <a:spcBef>
                <a:spcPts val="500"/>
              </a:spcBef>
              <a:spcAft>
                <a:spcPts val="0"/>
              </a:spcAft>
              <a:buClr>
                <a:schemeClr val="accent6"/>
              </a:buClr>
              <a:buSzPts val="1600"/>
              <a:buChar char="•"/>
              <a:defRPr sz="1600">
                <a:solidFill>
                  <a:schemeClr val="dk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cxnSp>
        <p:nvCxnSpPr>
          <p:cNvPr id="395" name="Google Shape;395;g3f25f4df594_0_9855"/>
          <p:cNvCxnSpPr/>
          <p:nvPr/>
        </p:nvCxnSpPr>
        <p:spPr>
          <a:xfrm>
            <a:off x="0" y="711201"/>
            <a:ext cx="12192000" cy="0"/>
          </a:xfrm>
          <a:prstGeom prst="straightConnector1">
            <a:avLst/>
          </a:prstGeom>
          <a:noFill/>
          <a:ln w="12700" cap="flat" cmpd="sng">
            <a:solidFill>
              <a:srgbClr val="D8D8D8"/>
            </a:solidFill>
            <a:prstDash val="solid"/>
            <a:miter lim="8000"/>
            <a:headEnd type="none" w="sm" len="sm"/>
            <a:tailEnd type="none" w="sm" len="sm"/>
          </a:ln>
        </p:spPr>
      </p:cxnSp>
      <p:cxnSp>
        <p:nvCxnSpPr>
          <p:cNvPr id="396" name="Google Shape;396;g3f25f4df594_0_9855"/>
          <p:cNvCxnSpPr/>
          <p:nvPr/>
        </p:nvCxnSpPr>
        <p:spPr>
          <a:xfrm>
            <a:off x="-168690" y="6604000"/>
            <a:ext cx="12192000" cy="0"/>
          </a:xfrm>
          <a:prstGeom prst="straightConnector1">
            <a:avLst/>
          </a:prstGeom>
          <a:noFill/>
          <a:ln w="12700" cap="flat" cmpd="sng">
            <a:solidFill>
              <a:srgbClr val="BFBFBF">
                <a:alpha val="70196"/>
              </a:srgbClr>
            </a:solidFill>
            <a:prstDash val="solid"/>
            <a:miter lim="8000"/>
            <a:headEnd type="none" w="sm" len="sm"/>
            <a:tailEnd type="none" w="sm" len="sm"/>
          </a:ln>
        </p:spPr>
      </p:cxnSp>
      <p:grpSp>
        <p:nvGrpSpPr>
          <p:cNvPr id="397" name="Google Shape;397;g3f25f4df594_0_9855"/>
          <p:cNvGrpSpPr/>
          <p:nvPr/>
        </p:nvGrpSpPr>
        <p:grpSpPr>
          <a:xfrm>
            <a:off x="10684288" y="6047527"/>
            <a:ext cx="1339023" cy="407100"/>
            <a:chOff x="10721798" y="852808"/>
            <a:chExt cx="1339023" cy="407100"/>
          </a:xfrm>
        </p:grpSpPr>
        <p:pic>
          <p:nvPicPr>
            <p:cNvPr id="398" name="Google Shape;398;g3f25f4df594_0_9855"/>
            <p:cNvPicPr preferRelativeResize="0"/>
            <p:nvPr/>
          </p:nvPicPr>
          <p:blipFill rotWithShape="1">
            <a:blip r:embed="rId3">
              <a:alphaModFix/>
            </a:blip>
            <a:srcRect/>
            <a:stretch/>
          </p:blipFill>
          <p:spPr>
            <a:xfrm>
              <a:off x="10721798" y="852808"/>
              <a:ext cx="1339023" cy="407045"/>
            </a:xfrm>
            <a:prstGeom prst="rect">
              <a:avLst/>
            </a:prstGeom>
            <a:noFill/>
            <a:ln>
              <a:noFill/>
            </a:ln>
          </p:spPr>
        </p:pic>
        <p:sp>
          <p:nvSpPr>
            <p:cNvPr id="399" name="Google Shape;399;g3f25f4df594_0_9855"/>
            <p:cNvSpPr/>
            <p:nvPr/>
          </p:nvSpPr>
          <p:spPr>
            <a:xfrm>
              <a:off x="10721799" y="852808"/>
              <a:ext cx="1338900" cy="407100"/>
            </a:xfrm>
            <a:prstGeom prst="rect">
              <a:avLst/>
            </a:prstGeom>
            <a:solidFill>
              <a:schemeClr val="lt1">
                <a:alpha val="6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Roboto Condensed"/>
                <a:ea typeface="Roboto Condensed"/>
                <a:cs typeface="Roboto Condensed"/>
                <a:sym typeface="Roboto Condensed"/>
              </a:endParaRPr>
            </a:p>
          </p:txBody>
        </p:sp>
      </p:grpSp>
    </p:spTree>
    <p:extLst>
      <p:ext uri="{BB962C8B-B14F-4D97-AF65-F5344CB8AC3E}">
        <p14:creationId xmlns:p14="http://schemas.microsoft.com/office/powerpoint/2010/main" val="1430208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pPr/>
              <a:t>8/1/2026</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pPr/>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1" r:id="rId10"/>
    <p:sldLayoutId id="2147483674" r:id="rId11"/>
    <p:sldLayoutId id="2147483676" r:id="rId12"/>
    <p:sldLayoutId id="2147483677" r:id="rId13"/>
    <p:sldLayoutId id="2147483678" r:id="rId14"/>
    <p:sldLayoutId id="2147483679" r:id="rId15"/>
    <p:sldLayoutId id="2147483681" r:id="rId16"/>
    <p:sldLayoutId id="2147483683" r:id="rId17"/>
    <p:sldLayoutId id="2147483682" r:id="rId18"/>
    <p:sldLayoutId id="2147483684" r:id="rId19"/>
    <p:sldLayoutId id="2147483685" r:id="rId20"/>
    <p:sldLayoutId id="2147483686" r:id="rId21"/>
    <p:sldLayoutId id="2147483692" r:id="rId22"/>
    <p:sldLayoutId id="2147483693" r:id="rId2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info.cern.ch/" TargetMode="External"/><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www.w3.org/Protocols/rfc2616/rfc2616-sec6.html" TargetMode="External"/><Relationship Id="rId3" Type="http://schemas.openxmlformats.org/officeDocument/2006/relationships/image" Target="../media/image22.jpeg"/><Relationship Id="rId7" Type="http://schemas.openxmlformats.org/officeDocument/2006/relationships/image" Target="../media/image26.jpeg"/><Relationship Id="rId2" Type="http://schemas.openxmlformats.org/officeDocument/2006/relationships/image" Target="../media/image21.jpeg"/><Relationship Id="rId1" Type="http://schemas.openxmlformats.org/officeDocument/2006/relationships/slideLayout" Target="../slideLayouts/slideLayout3.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6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C137D2E-F7D0-465C-8541-F4CFBBD6738F}"/>
              </a:ext>
            </a:extLst>
          </p:cNvPr>
          <p:cNvSpPr>
            <a:spLocks noGrp="1"/>
          </p:cNvSpPr>
          <p:nvPr>
            <p:ph type="body" sz="quarter" idx="11"/>
          </p:nvPr>
        </p:nvSpPr>
        <p:spPr/>
        <p:txBody>
          <a:bodyPr/>
          <a:lstStyle/>
          <a:p>
            <a:r>
              <a:rPr lang="en-IN" dirty="0"/>
              <a:t>dharmik.vasiyani@darshan.ac.in</a:t>
            </a:r>
            <a:endParaRPr lang="en-US" dirty="0"/>
          </a:p>
        </p:txBody>
      </p:sp>
      <p:sp>
        <p:nvSpPr>
          <p:cNvPr id="11" name="Text Placeholder 10">
            <a:extLst>
              <a:ext uri="{FF2B5EF4-FFF2-40B4-BE49-F238E27FC236}">
                <a16:creationId xmlns:a16="http://schemas.microsoft.com/office/drawing/2014/main" id="{527C5C63-5136-498D-B5D5-B1F6385ED37C}"/>
              </a:ext>
            </a:extLst>
          </p:cNvPr>
          <p:cNvSpPr>
            <a:spLocks noGrp="1"/>
          </p:cNvSpPr>
          <p:nvPr>
            <p:ph type="body" sz="quarter" idx="12"/>
          </p:nvPr>
        </p:nvSpPr>
        <p:spPr/>
        <p:txBody>
          <a:bodyPr/>
          <a:lstStyle/>
          <a:p>
            <a:r>
              <a:rPr lang="en-IN" dirty="0"/>
              <a:t>9924664064</a:t>
            </a:r>
            <a:endParaRPr lang="en-US" dirty="0"/>
          </a:p>
        </p:txBody>
      </p:sp>
      <p:sp>
        <p:nvSpPr>
          <p:cNvPr id="12" name="Text Placeholder 11">
            <a:extLst>
              <a:ext uri="{FF2B5EF4-FFF2-40B4-BE49-F238E27FC236}">
                <a16:creationId xmlns:a16="http://schemas.microsoft.com/office/drawing/2014/main" id="{C4FACC96-BA70-4FDA-AB13-3B133AD498A5}"/>
              </a:ext>
            </a:extLst>
          </p:cNvPr>
          <p:cNvSpPr>
            <a:spLocks noGrp="1"/>
          </p:cNvSpPr>
          <p:nvPr>
            <p:ph type="body" sz="quarter" idx="13"/>
          </p:nvPr>
        </p:nvSpPr>
        <p:spPr/>
        <p:txBody>
          <a:bodyPr/>
          <a:lstStyle/>
          <a:p>
            <a:r>
              <a:rPr lang="en-IN" dirty="0"/>
              <a:t>Computer Engineering Department</a:t>
            </a:r>
            <a:endParaRPr lang="en-US" dirty="0"/>
          </a:p>
        </p:txBody>
      </p:sp>
      <p:sp>
        <p:nvSpPr>
          <p:cNvPr id="13" name="Text Placeholder 12">
            <a:extLst>
              <a:ext uri="{FF2B5EF4-FFF2-40B4-BE49-F238E27FC236}">
                <a16:creationId xmlns:a16="http://schemas.microsoft.com/office/drawing/2014/main" id="{03A79D48-3C85-46E3-9CAE-59240F299A25}"/>
              </a:ext>
            </a:extLst>
          </p:cNvPr>
          <p:cNvSpPr>
            <a:spLocks noGrp="1"/>
          </p:cNvSpPr>
          <p:nvPr>
            <p:ph type="body" sz="quarter" idx="14"/>
          </p:nvPr>
        </p:nvSpPr>
        <p:spPr/>
        <p:txBody>
          <a:bodyPr/>
          <a:lstStyle/>
          <a:p>
            <a:r>
              <a:rPr lang="en-IN" dirty="0" err="1"/>
              <a:t>Prof.</a:t>
            </a:r>
            <a:r>
              <a:rPr lang="en-IN" dirty="0"/>
              <a:t> </a:t>
            </a:r>
            <a:r>
              <a:rPr lang="en-IN" dirty="0" err="1"/>
              <a:t>Dharmik</a:t>
            </a:r>
            <a:r>
              <a:rPr lang="en-IN" dirty="0"/>
              <a:t> P </a:t>
            </a:r>
            <a:r>
              <a:rPr lang="en-IN" dirty="0" err="1"/>
              <a:t>Vasiyani</a:t>
            </a:r>
            <a:endParaRPr lang="en-US" dirty="0"/>
          </a:p>
        </p:txBody>
      </p:sp>
      <p:sp>
        <p:nvSpPr>
          <p:cNvPr id="14" name="Text Placeholder 13">
            <a:extLst>
              <a:ext uri="{FF2B5EF4-FFF2-40B4-BE49-F238E27FC236}">
                <a16:creationId xmlns:a16="http://schemas.microsoft.com/office/drawing/2014/main" id="{062CA4D6-180D-44EB-978C-EAE6FB447DCE}"/>
              </a:ext>
            </a:extLst>
          </p:cNvPr>
          <p:cNvSpPr>
            <a:spLocks noGrp="1"/>
          </p:cNvSpPr>
          <p:nvPr>
            <p:ph type="body" sz="quarter" idx="16"/>
          </p:nvPr>
        </p:nvSpPr>
        <p:spPr/>
        <p:txBody>
          <a:bodyPr/>
          <a:lstStyle/>
          <a:p>
            <a:r>
              <a:rPr lang="en-IN" dirty="0"/>
              <a:t>Web Designing</a:t>
            </a:r>
          </a:p>
          <a:p>
            <a:r>
              <a:rPr lang="en-IN" dirty="0"/>
              <a:t> DU#</a:t>
            </a:r>
            <a:r>
              <a:rPr lang="en-US" dirty="0"/>
              <a:t>2601CS102</a:t>
            </a:r>
          </a:p>
        </p:txBody>
      </p:sp>
      <p:pic>
        <p:nvPicPr>
          <p:cNvPr id="16" name="Picture Placeholder 15"/>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3085" y="5184475"/>
            <a:ext cx="1367073" cy="1380227"/>
          </a:xfrm>
        </p:spPr>
      </p:pic>
      <p:sp>
        <p:nvSpPr>
          <p:cNvPr id="15"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35300" cy="2578780"/>
          </a:xfrm>
        </p:spPr>
        <p:txBody>
          <a:bodyPr/>
          <a:lstStyle/>
          <a:p>
            <a:r>
              <a:rPr lang="en-US" sz="4800" b="0" dirty="0">
                <a:latin typeface="Roboto Condensed Light" panose="02000000000000000000" pitchFamily="2" charset="0"/>
                <a:ea typeface="Roboto Condensed Light" panose="02000000000000000000" pitchFamily="2" charset="0"/>
              </a:rPr>
              <a:t>Unit-01</a:t>
            </a:r>
            <a:r>
              <a:rPr lang="en-US" dirty="0"/>
              <a:t> </a:t>
            </a:r>
            <a:br>
              <a:rPr lang="en-US" dirty="0"/>
            </a:br>
            <a:r>
              <a:rPr lang="en-US" dirty="0"/>
              <a:t>HTML</a:t>
            </a:r>
          </a:p>
        </p:txBody>
      </p:sp>
      <p:pic>
        <p:nvPicPr>
          <p:cNvPr id="2056" name="Picture 8" descr="professional-web-design-social-ink-professional-web-design-png-1000_813 -  Norderberg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8716" y="1888402"/>
            <a:ext cx="3763634" cy="305983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389382" y="4792036"/>
            <a:ext cx="5712911" cy="400110"/>
          </a:xfrm>
          <a:prstGeom prst="rect">
            <a:avLst/>
          </a:prstGeom>
          <a:noFill/>
        </p:spPr>
        <p:txBody>
          <a:bodyPr wrap="none" rtlCol="0">
            <a:spAutoFit/>
          </a:bodyPr>
          <a:lstStyle/>
          <a:p>
            <a:r>
              <a:rPr lang="en-US" sz="2000" b="1" dirty="0"/>
              <a:t>CO : </a:t>
            </a:r>
            <a:r>
              <a:rPr lang="en-US" dirty="0">
                <a:solidFill>
                  <a:srgbClr val="C00000"/>
                </a:solidFill>
              </a:rPr>
              <a:t>describe </a:t>
            </a:r>
            <a:r>
              <a:rPr lang="en-US" dirty="0"/>
              <a:t>the basics of Internet, Web and Web Designing.</a:t>
            </a:r>
            <a:endParaRPr lang="en-IN" dirty="0"/>
          </a:p>
        </p:txBody>
      </p:sp>
    </p:spTree>
    <p:extLst>
      <p:ext uri="{BB962C8B-B14F-4D97-AF65-F5344CB8AC3E}">
        <p14:creationId xmlns:p14="http://schemas.microsoft.com/office/powerpoint/2010/main" val="243652001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9EBF344-4A7B-4C4A-AF6D-6441BD040AB3}"/>
              </a:ext>
            </a:extLst>
          </p:cNvPr>
          <p:cNvCxnSpPr>
            <a:cxnSpLocks/>
            <a:endCxn id="6" idx="0"/>
          </p:cNvCxnSpPr>
          <p:nvPr/>
        </p:nvCxnSpPr>
        <p:spPr>
          <a:xfrm>
            <a:off x="1191446" y="0"/>
            <a:ext cx="0" cy="682906"/>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CA925EF2-D58F-4AC0-ACED-F747CC08D69F}"/>
              </a:ext>
            </a:extLst>
          </p:cNvPr>
          <p:cNvCxnSpPr>
            <a:cxnSpLocks/>
          </p:cNvCxnSpPr>
          <p:nvPr/>
        </p:nvCxnSpPr>
        <p:spPr>
          <a:xfrm>
            <a:off x="1191446" y="5063613"/>
            <a:ext cx="0" cy="1794387"/>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4BD1E24D-7739-4C4F-8234-2614FB54ADBC}"/>
              </a:ext>
            </a:extLst>
          </p:cNvPr>
          <p:cNvSpPr/>
          <p:nvPr/>
        </p:nvSpPr>
        <p:spPr>
          <a:xfrm>
            <a:off x="954165" y="682906"/>
            <a:ext cx="474562" cy="474562"/>
          </a:xfrm>
          <a:prstGeom prst="ellipse">
            <a:avLst/>
          </a:prstGeom>
          <a:ln>
            <a:solidFill>
              <a:schemeClr val="bg1">
                <a:lumMod val="65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a:sym typeface="Wingdings 2" panose="05020102010507070707" pitchFamily="18" charset="2"/>
              </a:rPr>
              <a:t></a:t>
            </a:r>
            <a:endParaRPr lang="en-US" sz="2800" dirty="0"/>
          </a:p>
        </p:txBody>
      </p:sp>
      <p:sp>
        <p:nvSpPr>
          <p:cNvPr id="7" name="TextBox 6">
            <a:extLst>
              <a:ext uri="{FF2B5EF4-FFF2-40B4-BE49-F238E27FC236}">
                <a16:creationId xmlns:a16="http://schemas.microsoft.com/office/drawing/2014/main" id="{00F422F9-3B3A-4A97-ADB3-F83B13E11C16}"/>
              </a:ext>
            </a:extLst>
          </p:cNvPr>
          <p:cNvSpPr txBox="1"/>
          <p:nvPr/>
        </p:nvSpPr>
        <p:spPr>
          <a:xfrm>
            <a:off x="1527893" y="720132"/>
            <a:ext cx="1175322" cy="400110"/>
          </a:xfrm>
          <a:prstGeom prst="rect">
            <a:avLst/>
          </a:prstGeom>
          <a:noFill/>
        </p:spPr>
        <p:txBody>
          <a:bodyPr wrap="none" rtlCol="0">
            <a:spAutoFit/>
          </a:bodyPr>
          <a:lstStyle/>
          <a:p>
            <a:r>
              <a:rPr lang="en-US" sz="2000" b="1" dirty="0">
                <a:solidFill>
                  <a:schemeClr val="bg1"/>
                </a:solidFill>
              </a:rPr>
              <a:t>Looping</a:t>
            </a:r>
          </a:p>
        </p:txBody>
      </p:sp>
      <p:cxnSp>
        <p:nvCxnSpPr>
          <p:cNvPr id="8" name="Straight Connector 7">
            <a:extLst>
              <a:ext uri="{FF2B5EF4-FFF2-40B4-BE49-F238E27FC236}">
                <a16:creationId xmlns:a16="http://schemas.microsoft.com/office/drawing/2014/main" id="{F34260FD-CAA3-43A0-977C-7E4B57013872}"/>
              </a:ext>
            </a:extLst>
          </p:cNvPr>
          <p:cNvCxnSpPr>
            <a:cxnSpLocks/>
          </p:cNvCxnSpPr>
          <p:nvPr/>
        </p:nvCxnSpPr>
        <p:spPr>
          <a:xfrm>
            <a:off x="1191446" y="1157468"/>
            <a:ext cx="0" cy="246540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BDA2F9A4-6988-4274-8384-12496EC9D59D}"/>
              </a:ext>
            </a:extLst>
          </p:cNvPr>
          <p:cNvSpPr txBox="1"/>
          <p:nvPr/>
        </p:nvSpPr>
        <p:spPr>
          <a:xfrm>
            <a:off x="1458964" y="712385"/>
            <a:ext cx="4909938" cy="5355312"/>
          </a:xfrm>
          <a:prstGeom prst="rect">
            <a:avLst/>
          </a:prstGeom>
          <a:noFill/>
        </p:spPr>
        <p:txBody>
          <a:bodyPr wrap="square" rtlCol="0">
            <a:spAutoFit/>
          </a:bodyPr>
          <a:lstStyle/>
          <a:p>
            <a:r>
              <a:rPr lang="en-IN" sz="2400" b="1" dirty="0"/>
              <a:t>Outline</a:t>
            </a:r>
            <a:endParaRPr lang="en-US" b="1" dirty="0"/>
          </a:p>
          <a:p>
            <a:endParaRPr lang="en-US" b="1" dirty="0"/>
          </a:p>
          <a:p>
            <a:pPr indent="446088">
              <a:buFont typeface="Wingdings" pitchFamily="2" charset="2"/>
              <a:buChar char="ü"/>
            </a:pPr>
            <a:r>
              <a:rPr lang="en-US" sz="2000" dirty="0"/>
              <a:t>Introduction to WEB</a:t>
            </a:r>
          </a:p>
          <a:p>
            <a:pPr lvl="1" indent="446088">
              <a:buFont typeface="Wingdings" pitchFamily="2" charset="2"/>
              <a:buChar char="ü"/>
            </a:pPr>
            <a:r>
              <a:rPr lang="en-US" sz="2000" dirty="0"/>
              <a:t>What is Internet?</a:t>
            </a:r>
          </a:p>
          <a:p>
            <a:pPr lvl="1" indent="446088">
              <a:buFont typeface="Wingdings" pitchFamily="2" charset="2"/>
              <a:buChar char="ü"/>
            </a:pPr>
            <a:r>
              <a:rPr lang="en-US" sz="2000" dirty="0"/>
              <a:t>What is WWW?</a:t>
            </a:r>
          </a:p>
          <a:p>
            <a:pPr indent="446088">
              <a:buFont typeface="Wingdings" pitchFamily="2" charset="2"/>
              <a:buChar char="ü"/>
            </a:pPr>
            <a:r>
              <a:rPr lang="en-US" sz="2000" dirty="0"/>
              <a:t>How the WEB works?</a:t>
            </a:r>
          </a:p>
          <a:p>
            <a:pPr indent="446088">
              <a:buFont typeface="Wingdings" pitchFamily="2" charset="2"/>
              <a:buChar char="ü"/>
            </a:pPr>
            <a:r>
              <a:rPr lang="en-US" sz="2000" dirty="0"/>
              <a:t>HTTP Protocol</a:t>
            </a:r>
          </a:p>
          <a:p>
            <a:pPr indent="446088">
              <a:buFont typeface="Wingdings" pitchFamily="2" charset="2"/>
              <a:buChar char="ü"/>
            </a:pPr>
            <a:r>
              <a:rPr lang="en-US" sz="2000" dirty="0"/>
              <a:t>Introduction to Web Technologies</a:t>
            </a:r>
          </a:p>
          <a:p>
            <a:pPr lvl="1" indent="446088">
              <a:buFont typeface="Wingdings" pitchFamily="2" charset="2"/>
              <a:buChar char="ü"/>
            </a:pPr>
            <a:r>
              <a:rPr lang="en-US" sz="2000" dirty="0"/>
              <a:t>HTML</a:t>
            </a:r>
          </a:p>
          <a:p>
            <a:pPr lvl="1" indent="446088">
              <a:buFont typeface="Wingdings" pitchFamily="2" charset="2"/>
              <a:buChar char="ü"/>
            </a:pPr>
            <a:r>
              <a:rPr lang="en-US" sz="2000" dirty="0"/>
              <a:t>CSS</a:t>
            </a:r>
          </a:p>
          <a:p>
            <a:pPr lvl="1" indent="446088">
              <a:buFont typeface="Wingdings" pitchFamily="2" charset="2"/>
              <a:buChar char="ü"/>
            </a:pPr>
            <a:r>
              <a:rPr lang="en-US" sz="2000" dirty="0"/>
              <a:t>JavaScript</a:t>
            </a:r>
          </a:p>
          <a:p>
            <a:pPr lvl="1" indent="446088">
              <a:buFont typeface="Wingdings" pitchFamily="2" charset="2"/>
              <a:buChar char="ü"/>
            </a:pPr>
            <a:r>
              <a:rPr lang="en-US" sz="2000" dirty="0"/>
              <a:t>Bootstrap</a:t>
            </a:r>
          </a:p>
          <a:p>
            <a:pPr lvl="1" indent="446088">
              <a:buFont typeface="Wingdings" pitchFamily="2" charset="2"/>
              <a:buChar char="ü"/>
            </a:pPr>
            <a:r>
              <a:rPr lang="en-US" sz="2000" dirty="0"/>
              <a:t>Material Design</a:t>
            </a:r>
          </a:p>
          <a:p>
            <a:pPr indent="446088">
              <a:buFont typeface="Wingdings" pitchFamily="2" charset="2"/>
              <a:buChar char="ü"/>
            </a:pPr>
            <a:r>
              <a:rPr lang="en-US" sz="2000" dirty="0"/>
              <a:t>Concepts of Effective Web Design </a:t>
            </a:r>
          </a:p>
          <a:p>
            <a:pPr indent="446088">
              <a:buFont typeface="Wingdings" pitchFamily="2" charset="2"/>
              <a:buChar char="ü"/>
            </a:pPr>
            <a:r>
              <a:rPr lang="en-US" sz="2000" dirty="0"/>
              <a:t>Web Design Issues</a:t>
            </a:r>
          </a:p>
          <a:p>
            <a:pPr indent="446088">
              <a:buFont typeface="Wingdings" pitchFamily="2" charset="2"/>
              <a:buChar char="ü"/>
            </a:pPr>
            <a:r>
              <a:rPr lang="en-US" sz="2000" dirty="0"/>
              <a:t>Planning a website</a:t>
            </a:r>
          </a:p>
          <a:p>
            <a:pPr indent="446088">
              <a:buFont typeface="Wingdings" pitchFamily="2" charset="2"/>
              <a:buChar char="ü"/>
            </a:pPr>
            <a:r>
              <a:rPr lang="en-US" sz="2000" dirty="0"/>
              <a:t>Effective Navigation</a:t>
            </a:r>
            <a:endParaRPr lang="en-US" sz="2000" dirty="0">
              <a:solidFill>
                <a:schemeClr val="bg1">
                  <a:lumMod val="50000"/>
                </a:schemeClr>
              </a:solidFill>
            </a:endParaRPr>
          </a:p>
        </p:txBody>
      </p:sp>
    </p:spTree>
    <p:extLst>
      <p:ext uri="{BB962C8B-B14F-4D97-AF65-F5344CB8AC3E}">
        <p14:creationId xmlns:p14="http://schemas.microsoft.com/office/powerpoint/2010/main" val="4216305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p:cTn id="11" dur="500" fill="hold"/>
                                        <p:tgtEl>
                                          <p:spTgt spid="6"/>
                                        </p:tgtEl>
                                        <p:attrNameLst>
                                          <p:attrName>ppt_w</p:attrName>
                                        </p:attrNameLst>
                                      </p:cBhvr>
                                      <p:tavLst>
                                        <p:tav tm="0">
                                          <p:val>
                                            <p:fltVal val="0"/>
                                          </p:val>
                                        </p:tav>
                                        <p:tav tm="100000">
                                          <p:val>
                                            <p:strVal val="#ppt_w"/>
                                          </p:val>
                                        </p:tav>
                                      </p:tavLst>
                                    </p:anim>
                                    <p:anim calcmode="lin" valueType="num">
                                      <p:cBhvr>
                                        <p:cTn id="12" dur="500" fill="hold"/>
                                        <p:tgtEl>
                                          <p:spTgt spid="6"/>
                                        </p:tgtEl>
                                        <p:attrNameLst>
                                          <p:attrName>ppt_h</p:attrName>
                                        </p:attrNameLst>
                                      </p:cBhvr>
                                      <p:tavLst>
                                        <p:tav tm="0">
                                          <p:val>
                                            <p:fltVal val="0"/>
                                          </p:val>
                                        </p:tav>
                                        <p:tav tm="100000">
                                          <p:val>
                                            <p:strVal val="#ppt_h"/>
                                          </p:val>
                                        </p:tav>
                                      </p:tavLst>
                                    </p:anim>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par>
                          <p:cTn id="20" fill="hold">
                            <p:stCondLst>
                              <p:cond delay="1000"/>
                            </p:stCondLst>
                            <p:childTnLst>
                              <p:par>
                                <p:cTn id="21" presetID="22" presetClass="entr" presetSubtype="1"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wipe(up)">
                                      <p:cBhvr>
                                        <p:cTn id="23" dur="500"/>
                                        <p:tgtEl>
                                          <p:spTgt spid="8"/>
                                        </p:tgtEl>
                                      </p:cBhvr>
                                    </p:animEffect>
                                  </p:childTnLst>
                                </p:cTn>
                              </p:par>
                            </p:childTnLst>
                          </p:cTn>
                        </p:par>
                        <p:par>
                          <p:cTn id="24" fill="hold">
                            <p:stCondLst>
                              <p:cond delay="1500"/>
                            </p:stCondLst>
                            <p:childTnLst>
                              <p:par>
                                <p:cTn id="25" presetID="22" presetClass="entr" presetSubtype="1" fill="hold" nodeType="after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up)">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Course Outcomes</a:t>
            </a:r>
          </a:p>
        </p:txBody>
      </p:sp>
      <p:sp>
        <p:nvSpPr>
          <p:cNvPr id="3" name="Content Placeholder 2"/>
          <p:cNvSpPr>
            <a:spLocks noGrp="1"/>
          </p:cNvSpPr>
          <p:nvPr>
            <p:ph idx="1"/>
          </p:nvPr>
        </p:nvSpPr>
        <p:spPr/>
        <p:txBody>
          <a:bodyPr/>
          <a:lstStyle/>
          <a:p>
            <a:r>
              <a:rPr lang="en-IN" dirty="0"/>
              <a:t>CO1: Describe the basics of the Internet, Web, and Web Designing.</a:t>
            </a:r>
          </a:p>
          <a:p>
            <a:r>
              <a:rPr lang="en-IN" dirty="0"/>
              <a:t>CO2: Use HTML to design static web pages.</a:t>
            </a:r>
          </a:p>
          <a:p>
            <a:r>
              <a:rPr lang="en-IN" dirty="0"/>
              <a:t>CO3: Apply basic styling to web pages using CSS.</a:t>
            </a:r>
          </a:p>
          <a:p>
            <a:r>
              <a:rPr lang="en-IN" dirty="0"/>
              <a:t>CO4: Implement advanced CSS3 properties to enhance web pages.</a:t>
            </a:r>
          </a:p>
          <a:p>
            <a:r>
              <a:rPr lang="en-IN" dirty="0"/>
              <a:t>CO5: Design elegant and responsive web pages using Bootstrap.</a:t>
            </a:r>
          </a:p>
        </p:txBody>
      </p:sp>
    </p:spTree>
    <p:extLst>
      <p:ext uri="{BB962C8B-B14F-4D97-AF65-F5344CB8AC3E}">
        <p14:creationId xmlns:p14="http://schemas.microsoft.com/office/powerpoint/2010/main" val="1966474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Internet?</a:t>
            </a:r>
            <a:endParaRPr lang="en-US" dirty="0"/>
          </a:p>
        </p:txBody>
      </p:sp>
      <p:sp>
        <p:nvSpPr>
          <p:cNvPr id="3" name="Content Placeholder 2"/>
          <p:cNvSpPr>
            <a:spLocks noGrp="1"/>
          </p:cNvSpPr>
          <p:nvPr>
            <p:ph idx="1"/>
          </p:nvPr>
        </p:nvSpPr>
        <p:spPr/>
        <p:txBody>
          <a:bodyPr/>
          <a:lstStyle/>
          <a:p>
            <a:r>
              <a:rPr lang="en-US" dirty="0"/>
              <a:t>The Internet is a massive </a:t>
            </a:r>
            <a:r>
              <a:rPr lang="en-US" b="1" dirty="0"/>
              <a:t>network of networks</a:t>
            </a:r>
            <a:r>
              <a:rPr lang="en-US" dirty="0"/>
              <a:t>, a networking infrastructure.</a:t>
            </a:r>
          </a:p>
          <a:p>
            <a:r>
              <a:rPr lang="en-US" dirty="0"/>
              <a:t>1969: The launch of ARPANET connected computers at four universities in the United States, proving that machines could communicate over distances.</a:t>
            </a:r>
          </a:p>
          <a:p>
            <a:r>
              <a:rPr lang="en-US" dirty="0"/>
              <a:t>It connects millions of computers together globally, forming a network in which any computer can communicate with any other computer as long as they are both connected to the Internet.</a:t>
            </a:r>
          </a:p>
          <a:p>
            <a:r>
              <a:rPr lang="en-US" dirty="0"/>
              <a:t>Information that travels over the Internet uses many different set of rules which are known as </a:t>
            </a:r>
            <a:r>
              <a:rPr lang="en-US" b="1" dirty="0"/>
              <a:t>protocols(TCP/IP,</a:t>
            </a:r>
            <a:r>
              <a:rPr lang="en-IN" dirty="0"/>
              <a:t> </a:t>
            </a:r>
            <a:r>
              <a:rPr lang="en-IN" b="1" dirty="0"/>
              <a:t>SMTP, FTP , etc…</a:t>
            </a:r>
            <a:r>
              <a:rPr lang="en-US" b="1" dirty="0"/>
              <a:t>)</a:t>
            </a:r>
            <a:r>
              <a:rPr lang="en-US" dirty="0"/>
              <a:t>.</a:t>
            </a:r>
          </a:p>
        </p:txBody>
      </p:sp>
      <p:pic>
        <p:nvPicPr>
          <p:cNvPr id="1026" name="Picture 2" descr="Image result for network of 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3686" y="3276036"/>
            <a:ext cx="3972465" cy="3177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1103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2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g3f24d149424_0_1117"/>
          <p:cNvSpPr/>
          <p:nvPr/>
        </p:nvSpPr>
        <p:spPr>
          <a:xfrm>
            <a:off x="0" y="0"/>
            <a:ext cx="12192000" cy="68580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3" name="Google Shape;743;g3f24d149424_0_1117"/>
          <p:cNvSpPr/>
          <p:nvPr/>
        </p:nvSpPr>
        <p:spPr>
          <a:xfrm>
            <a:off x="0" y="0"/>
            <a:ext cx="12192000" cy="714300"/>
          </a:xfrm>
          <a:prstGeom prst="rect">
            <a:avLst/>
          </a:prstGeom>
          <a:solidFill>
            <a:srgbClr val="C0C0C0">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4" name="Google Shape;744;g3f24d149424_0_1117"/>
          <p:cNvSpPr txBox="1"/>
          <p:nvPr/>
        </p:nvSpPr>
        <p:spPr>
          <a:xfrm>
            <a:off x="209550" y="0"/>
            <a:ext cx="11772900" cy="71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400" b="1">
                <a:solidFill>
                  <a:srgbClr val="363636"/>
                </a:solidFill>
                <a:latin typeface="Roboto Condensed"/>
                <a:ea typeface="Roboto Condensed"/>
                <a:cs typeface="Roboto Condensed"/>
                <a:sym typeface="Roboto Condensed"/>
              </a:rPr>
              <a:t>Evolution &amp; Mechanics of the Web (WWW)</a:t>
            </a:r>
            <a:endParaRPr sz="3400" b="1">
              <a:solidFill>
                <a:srgbClr val="363636"/>
              </a:solidFill>
              <a:latin typeface="Roboto Condensed"/>
              <a:ea typeface="Roboto Condensed"/>
              <a:cs typeface="Roboto Condensed"/>
              <a:sym typeface="Roboto Condensed"/>
            </a:endParaRPr>
          </a:p>
        </p:txBody>
      </p:sp>
      <p:grpSp>
        <p:nvGrpSpPr>
          <p:cNvPr id="745" name="Google Shape;745;g3f24d149424_0_1117"/>
          <p:cNvGrpSpPr/>
          <p:nvPr/>
        </p:nvGrpSpPr>
        <p:grpSpPr>
          <a:xfrm>
            <a:off x="209550" y="923700"/>
            <a:ext cx="11772900" cy="2362426"/>
            <a:chOff x="0" y="0"/>
            <a:chExt cx="6096000" cy="2190900"/>
          </a:xfrm>
        </p:grpSpPr>
        <p:sp>
          <p:nvSpPr>
            <p:cNvPr id="746" name="Google Shape;746;g3f24d149424_0_1117"/>
            <p:cNvSpPr/>
            <p:nvPr/>
          </p:nvSpPr>
          <p:spPr>
            <a:xfrm>
              <a:off x="0" y="0"/>
              <a:ext cx="6096000" cy="2190900"/>
            </a:xfrm>
            <a:prstGeom prst="roundRect">
              <a:avLst>
                <a:gd name="adj" fmla="val 4347"/>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7" name="Google Shape;747;g3f24d149424_0_1117"/>
            <p:cNvSpPr txBox="1"/>
            <p:nvPr/>
          </p:nvSpPr>
          <p:spPr>
            <a:xfrm>
              <a:off x="190500" y="142875"/>
              <a:ext cx="5715000" cy="1857600"/>
            </a:xfrm>
            <a:prstGeom prst="rect">
              <a:avLst/>
            </a:prstGeom>
            <a:noFill/>
            <a:ln>
              <a:noFill/>
            </a:ln>
          </p:spPr>
          <p:txBody>
            <a:bodyPr spcFirstLastPara="1" wrap="square" lIns="0" tIns="0" rIns="0" bIns="0" anchor="t" anchorCtr="0">
              <a:noAutofit/>
            </a:bodyPr>
            <a:lstStyle/>
            <a:p>
              <a:r>
                <a:rPr lang="en-US" sz="2400" dirty="0">
                  <a:solidFill>
                    <a:schemeClr val="dk1"/>
                  </a:solidFill>
                  <a:latin typeface="Roboto Condensed"/>
                  <a:ea typeface="Roboto Condensed"/>
                  <a:cs typeface="Roboto Condensed"/>
                  <a:sym typeface="Roboto Condensed"/>
                </a:rPr>
                <a:t>The Historical Context</a:t>
              </a:r>
              <a:endParaRPr sz="2400" dirty="0">
                <a:solidFill>
                  <a:schemeClr val="dk1"/>
                </a:solidFill>
                <a:latin typeface="Roboto Condensed"/>
                <a:ea typeface="Roboto Condensed"/>
                <a:cs typeface="Roboto Condensed"/>
                <a:sym typeface="Roboto Condensed"/>
              </a:endParaRPr>
            </a:p>
            <a:p>
              <a:pPr marL="342900" indent="-342900" algn="just">
                <a:lnSpc>
                  <a:spcPct val="90000"/>
                </a:lnSpc>
                <a:spcBef>
                  <a:spcPts val="1000"/>
                </a:spcBef>
                <a:buClr>
                  <a:schemeClr val="accent6"/>
                </a:buClr>
                <a:buSzPts val="2400"/>
                <a:buFont typeface="Wingdings" panose="05000000000000000000" pitchFamily="2" charset="2"/>
                <a:buChar char="Ø"/>
              </a:pPr>
              <a:r>
                <a:rPr lang="en-US" sz="2400" dirty="0">
                  <a:solidFill>
                    <a:schemeClr val="dk1"/>
                  </a:solidFill>
                  <a:latin typeface="Roboto Condensed"/>
                  <a:ea typeface="Roboto Condensed"/>
                  <a:cs typeface="Roboto Condensed"/>
                  <a:sym typeface="Roboto Condensed"/>
                </a:rPr>
                <a:t>In 1989, Sir Tim Berners-Lee invented the World Wide Web while working at CERN.</a:t>
              </a:r>
              <a:endParaRPr sz="2400" dirty="0">
                <a:solidFill>
                  <a:schemeClr val="dk1"/>
                </a:solidFill>
                <a:latin typeface="Roboto Condensed"/>
                <a:ea typeface="Roboto Condensed"/>
                <a:cs typeface="Roboto Condensed"/>
                <a:sym typeface="Roboto Condensed"/>
              </a:endParaRPr>
            </a:p>
            <a:p>
              <a:pPr marL="342900" indent="-342900" algn="just">
                <a:lnSpc>
                  <a:spcPct val="90000"/>
                </a:lnSpc>
                <a:spcBef>
                  <a:spcPts val="1000"/>
                </a:spcBef>
                <a:buClr>
                  <a:schemeClr val="accent6"/>
                </a:buClr>
                <a:buSzPts val="2400"/>
                <a:buFont typeface="Wingdings" panose="05000000000000000000" pitchFamily="2" charset="2"/>
                <a:buChar char="Ø"/>
              </a:pPr>
              <a:r>
                <a:rPr lang="en-US" sz="2400" dirty="0">
                  <a:solidFill>
                    <a:schemeClr val="dk1"/>
                  </a:solidFill>
                  <a:latin typeface="Roboto Condensed"/>
                  <a:ea typeface="Roboto Condensed"/>
                  <a:cs typeface="Roboto Condensed"/>
                  <a:sym typeface="Roboto Condensed"/>
                </a:rPr>
                <a:t>It was designed to meet the demand for automated information-sharing between scientists.</a:t>
              </a:r>
              <a:endParaRPr sz="2400" dirty="0">
                <a:solidFill>
                  <a:schemeClr val="dk1"/>
                </a:solidFill>
                <a:latin typeface="Roboto Condensed"/>
                <a:ea typeface="Roboto Condensed"/>
                <a:cs typeface="Roboto Condensed"/>
                <a:sym typeface="Roboto Condensed"/>
              </a:endParaRPr>
            </a:p>
          </p:txBody>
        </p:sp>
      </p:grpSp>
      <p:grpSp>
        <p:nvGrpSpPr>
          <p:cNvPr id="748" name="Google Shape;748;g3f24d149424_0_1117"/>
          <p:cNvGrpSpPr/>
          <p:nvPr/>
        </p:nvGrpSpPr>
        <p:grpSpPr>
          <a:xfrm>
            <a:off x="171450" y="3356213"/>
            <a:ext cx="11811000" cy="2812841"/>
            <a:chOff x="-304800" y="-31017"/>
            <a:chExt cx="6286195" cy="2667000"/>
          </a:xfrm>
        </p:grpSpPr>
        <p:sp>
          <p:nvSpPr>
            <p:cNvPr id="749" name="Google Shape;749;g3f24d149424_0_1117"/>
            <p:cNvSpPr/>
            <p:nvPr/>
          </p:nvSpPr>
          <p:spPr>
            <a:xfrm>
              <a:off x="-304800" y="-31017"/>
              <a:ext cx="6286195" cy="2667000"/>
            </a:xfrm>
            <a:prstGeom prst="roundRect">
              <a:avLst>
                <a:gd name="adj" fmla="val 3571"/>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0" name="Google Shape;750;g3f24d149424_0_1117"/>
            <p:cNvSpPr txBox="1"/>
            <p:nvPr/>
          </p:nvSpPr>
          <p:spPr>
            <a:xfrm>
              <a:off x="-95034" y="288716"/>
              <a:ext cx="5813210" cy="2254459"/>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US" sz="2400" dirty="0">
                  <a:solidFill>
                    <a:schemeClr val="dk1"/>
                  </a:solidFill>
                  <a:latin typeface="Roboto Condensed"/>
                  <a:ea typeface="Roboto Condensed"/>
                  <a:cs typeface="Roboto Condensed"/>
                  <a:sym typeface="Roboto Condensed"/>
                </a:rPr>
                <a:t>How it Works</a:t>
              </a:r>
            </a:p>
            <a:p>
              <a:pPr marL="342900" lvl="0" indent="-342900" algn="just">
                <a:lnSpc>
                  <a:spcPct val="90000"/>
                </a:lnSpc>
                <a:spcBef>
                  <a:spcPts val="1000"/>
                </a:spcBef>
                <a:buClr>
                  <a:schemeClr val="accent6"/>
                </a:buClr>
                <a:buSzPts val="2400"/>
                <a:buFont typeface="Wingdings" panose="05000000000000000000" pitchFamily="2" charset="2"/>
                <a:buChar char="Ø"/>
              </a:pPr>
              <a:r>
                <a:rPr lang="en-US" sz="2400" dirty="0">
                  <a:solidFill>
                    <a:schemeClr val="dk1"/>
                  </a:solidFill>
                  <a:latin typeface="Roboto Condensed"/>
                  <a:ea typeface="Roboto Condensed"/>
                  <a:cs typeface="Roboto Condensed"/>
                  <a:sym typeface="Roboto Condensed"/>
                </a:rPr>
                <a:t>HTTP Protocol: The "language" used by browsers to request pages from servers.</a:t>
              </a:r>
            </a:p>
            <a:p>
              <a:pPr marL="342900" lvl="0" indent="-342900" algn="just">
                <a:lnSpc>
                  <a:spcPct val="90000"/>
                </a:lnSpc>
                <a:spcBef>
                  <a:spcPts val="1000"/>
                </a:spcBef>
                <a:buClr>
                  <a:schemeClr val="accent6"/>
                </a:buClr>
                <a:buSzPts val="2400"/>
                <a:buFont typeface="Wingdings" panose="05000000000000000000" pitchFamily="2" charset="2"/>
                <a:buChar char="Ø"/>
              </a:pPr>
              <a:r>
                <a:rPr lang="en-US" sz="2400" dirty="0">
                  <a:solidFill>
                    <a:schemeClr val="dk1"/>
                  </a:solidFill>
                  <a:latin typeface="Roboto Condensed"/>
                  <a:ea typeface="Roboto Condensed"/>
                  <a:cs typeface="Roboto Condensed"/>
                  <a:sym typeface="Roboto Condensed"/>
                </a:rPr>
                <a:t>HTML Documents: The structural format used to create web pages and link them via hypertext.</a:t>
              </a:r>
              <a:endParaRPr sz="2400" dirty="0">
                <a:solidFill>
                  <a:schemeClr val="dk1"/>
                </a:solidFill>
                <a:latin typeface="Roboto Condensed"/>
                <a:ea typeface="Roboto Condensed"/>
                <a:cs typeface="Roboto Condensed"/>
                <a:sym typeface="Roboto Condensed"/>
              </a:endParaRPr>
            </a:p>
            <a:p>
              <a:pPr marL="342900" lvl="0" indent="-342900" algn="just">
                <a:lnSpc>
                  <a:spcPct val="90000"/>
                </a:lnSpc>
                <a:spcBef>
                  <a:spcPts val="1000"/>
                </a:spcBef>
                <a:buClr>
                  <a:schemeClr val="accent6"/>
                </a:buClr>
                <a:buSzPts val="2400"/>
                <a:buFont typeface="Wingdings" panose="05000000000000000000" pitchFamily="2" charset="2"/>
                <a:buChar char="Ø"/>
              </a:pPr>
              <a:r>
                <a:rPr lang="en-US" sz="2400" dirty="0">
                  <a:solidFill>
                    <a:schemeClr val="dk1"/>
                  </a:solidFill>
                  <a:latin typeface="Roboto Condensed"/>
                  <a:ea typeface="Roboto Condensed"/>
                  <a:cs typeface="Roboto Condensed"/>
                  <a:sym typeface="Roboto Condensed"/>
                </a:rPr>
                <a:t>Client-Server Model: Your browser (Client) requests info, and a remote computer (Server) sends it back.</a:t>
              </a:r>
              <a:endParaRPr sz="2400" dirty="0">
                <a:solidFill>
                  <a:schemeClr val="dk1"/>
                </a:solidFill>
                <a:latin typeface="Roboto Condensed"/>
                <a:ea typeface="Roboto Condensed"/>
                <a:cs typeface="Roboto Condensed"/>
                <a:sym typeface="Roboto Condensed"/>
              </a:endParaRPr>
            </a:p>
          </p:txBody>
        </p:sp>
      </p:grpSp>
      <p:pic>
        <p:nvPicPr>
          <p:cNvPr id="753" name="Google Shape;753;g3f24d149424_0_1117"/>
          <p:cNvPicPr preferRelativeResize="0"/>
          <p:nvPr/>
        </p:nvPicPr>
        <p:blipFill rotWithShape="1">
          <a:blip r:embed="rId3">
            <a:alphaModFix/>
          </a:blip>
          <a:srcRect t="651" b="661"/>
          <a:stretch/>
        </p:blipFill>
        <p:spPr>
          <a:xfrm>
            <a:off x="10668000" y="6038850"/>
            <a:ext cx="1333500" cy="400200"/>
          </a:xfrm>
          <a:prstGeom prst="rect">
            <a:avLst/>
          </a:prstGeom>
          <a:noFill/>
          <a:ln>
            <a:noFill/>
          </a:ln>
        </p:spPr>
      </p:pic>
      <p:sp>
        <p:nvSpPr>
          <p:cNvPr id="754" name="Google Shape;754;g3f24d149424_0_1117"/>
          <p:cNvSpPr/>
          <p:nvPr/>
        </p:nvSpPr>
        <p:spPr>
          <a:xfrm>
            <a:off x="10668000" y="6038850"/>
            <a:ext cx="1333500" cy="400200"/>
          </a:xfrm>
          <a:prstGeom prst="rect">
            <a:avLst/>
          </a:prstGeom>
          <a:solidFill>
            <a:srgbClr val="FFFFFF">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5" name="Google Shape;755;g3f24d149424_0_1117"/>
          <p:cNvSpPr/>
          <p:nvPr/>
        </p:nvSpPr>
        <p:spPr>
          <a:xfrm>
            <a:off x="0" y="6600825"/>
            <a:ext cx="12192000" cy="257100"/>
          </a:xfrm>
          <a:prstGeom prst="rect">
            <a:avLst/>
          </a:prstGeom>
          <a:solidFill>
            <a:srgbClr val="DFDFD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6" name="Google Shape;756;g3f24d149424_0_1117"/>
          <p:cNvSpPr txBox="1"/>
          <p:nvPr/>
        </p:nvSpPr>
        <p:spPr>
          <a:xfrm>
            <a:off x="838200" y="6600825"/>
            <a:ext cx="2743200" cy="257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363636"/>
                </a:solidFill>
                <a:latin typeface="Roboto Condensed Light"/>
                <a:ea typeface="Roboto Condensed Light"/>
                <a:cs typeface="Roboto Condensed Light"/>
                <a:sym typeface="Roboto Condensed Light"/>
              </a:rPr>
              <a:t>Prof. Dharmik P Vasiyani</a:t>
            </a:r>
            <a:endParaRPr sz="1200" b="0">
              <a:solidFill>
                <a:srgbClr val="363636"/>
              </a:solidFill>
              <a:latin typeface="Roboto Condensed Light"/>
              <a:ea typeface="Roboto Condensed Light"/>
              <a:cs typeface="Roboto Condensed Light"/>
              <a:sym typeface="Roboto Condensed Light"/>
            </a:endParaRPr>
          </a:p>
        </p:txBody>
      </p:sp>
      <p:sp>
        <p:nvSpPr>
          <p:cNvPr id="757" name="Google Shape;757;g3f24d149424_0_1117"/>
          <p:cNvSpPr txBox="1"/>
          <p:nvPr/>
        </p:nvSpPr>
        <p:spPr>
          <a:xfrm>
            <a:off x="3648075" y="6600825"/>
            <a:ext cx="4886400" cy="257100"/>
          </a:xfrm>
          <a:prstGeom prst="rect">
            <a:avLst/>
          </a:prstGeom>
          <a:noFill/>
          <a:ln>
            <a:noFill/>
          </a:ln>
        </p:spPr>
        <p:txBody>
          <a:bodyPr spcFirstLastPara="1" wrap="square" lIns="0" tIns="0" rIns="0" bIns="0" anchor="ctr" anchorCtr="0">
            <a:noAutofit/>
          </a:bodyPr>
          <a:lstStyle/>
          <a:p>
            <a:pPr lvl="0" algn="ctr"/>
            <a:r>
              <a:rPr lang="en-US" sz="1200" b="0" dirty="0">
                <a:solidFill>
                  <a:srgbClr val="363636"/>
                </a:solidFill>
                <a:latin typeface="Roboto Condensed Light"/>
                <a:ea typeface="Roboto Condensed Light"/>
                <a:cs typeface="Roboto Condensed Light"/>
                <a:sym typeface="Roboto Condensed Light"/>
              </a:rPr>
              <a:t>#</a:t>
            </a:r>
            <a:r>
              <a:rPr lang="en-IN" sz="1200" dirty="0"/>
              <a:t>2601CS102</a:t>
            </a:r>
            <a:r>
              <a:rPr lang="en-US" sz="1200" b="0" dirty="0">
                <a:solidFill>
                  <a:srgbClr val="363636"/>
                </a:solidFill>
                <a:latin typeface="Roboto Condensed Light"/>
                <a:ea typeface="Roboto Condensed Light"/>
                <a:cs typeface="Roboto Condensed Light"/>
                <a:sym typeface="Roboto Condensed Light"/>
              </a:rPr>
              <a:t> (WD) ⬥ Unit 01 – HTML</a:t>
            </a:r>
            <a:endParaRPr sz="1200" b="0" dirty="0">
              <a:solidFill>
                <a:srgbClr val="363636"/>
              </a:solidFill>
              <a:latin typeface="Roboto Condensed Light"/>
              <a:ea typeface="Roboto Condensed Light"/>
              <a:cs typeface="Roboto Condensed Light"/>
              <a:sym typeface="Roboto Condensed Light"/>
            </a:endParaRPr>
          </a:p>
        </p:txBody>
      </p:sp>
      <p:sp>
        <p:nvSpPr>
          <p:cNvPr id="758" name="Google Shape;758;g3f24d149424_0_1117"/>
          <p:cNvSpPr txBox="1"/>
          <p:nvPr/>
        </p:nvSpPr>
        <p:spPr>
          <a:xfrm>
            <a:off x="11430000" y="6600825"/>
            <a:ext cx="381000" cy="2571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US" sz="1200" b="1">
                <a:solidFill>
                  <a:srgbClr val="363636"/>
                </a:solidFill>
                <a:latin typeface="Roboto Condensed"/>
                <a:ea typeface="Roboto Condensed"/>
                <a:cs typeface="Roboto Condensed"/>
                <a:sym typeface="Roboto Condensed"/>
              </a:rPr>
              <a:t>5</a:t>
            </a:r>
            <a:endParaRPr sz="1200" b="1">
              <a:solidFill>
                <a:srgbClr val="363636"/>
              </a:solidFill>
              <a:latin typeface="Roboto Condensed"/>
              <a:ea typeface="Roboto Condensed"/>
              <a:cs typeface="Roboto Condensed"/>
              <a:sym typeface="Roboto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WWW?</a:t>
            </a:r>
            <a:endParaRPr lang="en-US" dirty="0"/>
          </a:p>
        </p:txBody>
      </p:sp>
      <p:sp>
        <p:nvSpPr>
          <p:cNvPr id="3" name="Content Placeholder 2"/>
          <p:cNvSpPr>
            <a:spLocks noGrp="1"/>
          </p:cNvSpPr>
          <p:nvPr>
            <p:ph idx="1"/>
          </p:nvPr>
        </p:nvSpPr>
        <p:spPr/>
        <p:txBody>
          <a:bodyPr/>
          <a:lstStyle/>
          <a:p>
            <a:r>
              <a:rPr lang="en-US" dirty="0"/>
              <a:t>WWW stands for </a:t>
            </a:r>
            <a:r>
              <a:rPr lang="en-US" b="1" dirty="0">
                <a:solidFill>
                  <a:srgbClr val="C00000"/>
                </a:solidFill>
              </a:rPr>
              <a:t>W</a:t>
            </a:r>
            <a:r>
              <a:rPr lang="en-US" dirty="0"/>
              <a:t>orld </a:t>
            </a:r>
            <a:r>
              <a:rPr lang="en-US" b="1" dirty="0">
                <a:solidFill>
                  <a:srgbClr val="C00000"/>
                </a:solidFill>
              </a:rPr>
              <a:t>W</a:t>
            </a:r>
            <a:r>
              <a:rPr lang="en-US" dirty="0"/>
              <a:t>ide </a:t>
            </a:r>
            <a:r>
              <a:rPr lang="en-US" b="1" dirty="0">
                <a:solidFill>
                  <a:srgbClr val="C00000"/>
                </a:solidFill>
              </a:rPr>
              <a:t>W</a:t>
            </a:r>
            <a:r>
              <a:rPr lang="en-US" dirty="0"/>
              <a:t>eb.</a:t>
            </a:r>
          </a:p>
          <a:p>
            <a:r>
              <a:rPr lang="en-US" dirty="0"/>
              <a:t>A technical definition of the </a:t>
            </a:r>
            <a:r>
              <a:rPr lang="en-US" dirty="0">
                <a:solidFill>
                  <a:srgbClr val="C00000"/>
                </a:solidFill>
              </a:rPr>
              <a:t>WWW</a:t>
            </a:r>
            <a:r>
              <a:rPr lang="en-US" dirty="0"/>
              <a:t> is − All the resources and users on the Internet that are using HTTP.</a:t>
            </a:r>
          </a:p>
          <a:p>
            <a:r>
              <a:rPr lang="en-US" dirty="0">
                <a:solidFill>
                  <a:srgbClr val="C00000"/>
                </a:solidFill>
              </a:rPr>
              <a:t>HTTP</a:t>
            </a:r>
            <a:r>
              <a:rPr lang="en-US" dirty="0"/>
              <a:t> stands for </a:t>
            </a:r>
            <a:r>
              <a:rPr lang="en-US" b="1" dirty="0">
                <a:solidFill>
                  <a:srgbClr val="C00000"/>
                </a:solidFill>
              </a:rPr>
              <a:t>H</a:t>
            </a:r>
            <a:r>
              <a:rPr lang="en-US" dirty="0">
                <a:solidFill>
                  <a:srgbClr val="C00000"/>
                </a:solidFill>
              </a:rPr>
              <a:t>yper</a:t>
            </a:r>
            <a:r>
              <a:rPr lang="en-US" b="1" dirty="0">
                <a:solidFill>
                  <a:srgbClr val="C00000"/>
                </a:solidFill>
              </a:rPr>
              <a:t>t</a:t>
            </a:r>
            <a:r>
              <a:rPr lang="en-US" dirty="0">
                <a:solidFill>
                  <a:srgbClr val="C00000"/>
                </a:solidFill>
              </a:rPr>
              <a:t>ext </a:t>
            </a:r>
            <a:r>
              <a:rPr lang="en-US" b="1" dirty="0">
                <a:solidFill>
                  <a:srgbClr val="C00000"/>
                </a:solidFill>
              </a:rPr>
              <a:t>T</a:t>
            </a:r>
            <a:r>
              <a:rPr lang="en-US" dirty="0">
                <a:solidFill>
                  <a:srgbClr val="C00000"/>
                </a:solidFill>
              </a:rPr>
              <a:t>ransfer </a:t>
            </a:r>
            <a:r>
              <a:rPr lang="en-US" b="1" dirty="0">
                <a:solidFill>
                  <a:srgbClr val="C00000"/>
                </a:solidFill>
              </a:rPr>
              <a:t>P</a:t>
            </a:r>
            <a:r>
              <a:rPr lang="en-US" dirty="0">
                <a:solidFill>
                  <a:srgbClr val="C00000"/>
                </a:solidFill>
              </a:rPr>
              <a:t>rotocol</a:t>
            </a:r>
            <a:r>
              <a:rPr lang="en-US" dirty="0"/>
              <a:t> which </a:t>
            </a:r>
            <a:r>
              <a:rPr lang="en-US" dirty="0">
                <a:ea typeface="Times New Roman" panose="02020603050405020304" pitchFamily="18" charset="0"/>
                <a:cs typeface="Times New Roman" panose="02020603050405020304" pitchFamily="18" charset="0"/>
              </a:rPr>
              <a:t>is a text-based request-response protocol</a:t>
            </a:r>
            <a:r>
              <a:rPr lang="en-US" dirty="0"/>
              <a:t>.</a:t>
            </a:r>
          </a:p>
          <a:p>
            <a:r>
              <a:rPr lang="en-US" dirty="0"/>
              <a:t>HTTP is an application layer protocol that allows web-based applications to communicate and exchange the data.</a:t>
            </a:r>
          </a:p>
          <a:p>
            <a:r>
              <a:rPr lang="en-US" dirty="0"/>
              <a:t>HTTP is a TCP/IP(Transmission Control Protocol/Internet Protocol) based protocol, so it also is a </a:t>
            </a:r>
            <a:r>
              <a:rPr lang="en-US" dirty="0">
                <a:solidFill>
                  <a:srgbClr val="C00000"/>
                </a:solidFill>
              </a:rPr>
              <a:t>connectionless</a:t>
            </a:r>
            <a:r>
              <a:rPr lang="en-US" dirty="0"/>
              <a:t> and </a:t>
            </a:r>
            <a:r>
              <a:rPr lang="en-US" dirty="0">
                <a:solidFill>
                  <a:srgbClr val="C00000"/>
                </a:solidFill>
              </a:rPr>
              <a:t>stateless</a:t>
            </a:r>
            <a:r>
              <a:rPr lang="en-US" dirty="0"/>
              <a:t> protocol.</a:t>
            </a:r>
          </a:p>
          <a:p>
            <a:pPr lvl="1"/>
            <a:r>
              <a:rPr lang="en-US" dirty="0"/>
              <a:t>After making the request, the client disconnects from the server, then when the response is ready the server re-establish the connection again and deliver the response.</a:t>
            </a:r>
          </a:p>
          <a:p>
            <a:r>
              <a:rPr lang="en-US" dirty="0"/>
              <a:t>HTTP is the protocol being used to transfer hypertext documents that makes the World Wide Web possible.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8"/>
        <p:cNvGrpSpPr/>
        <p:nvPr/>
      </p:nvGrpSpPr>
      <p:grpSpPr>
        <a:xfrm>
          <a:off x="0" y="0"/>
          <a:ext cx="0" cy="0"/>
          <a:chOff x="0" y="0"/>
          <a:chExt cx="0" cy="0"/>
        </a:xfrm>
      </p:grpSpPr>
      <p:sp>
        <p:nvSpPr>
          <p:cNvPr id="769" name="Google Shape;769;p6"/>
          <p:cNvSpPr txBox="1">
            <a:spLocks noGrp="1"/>
          </p:cNvSpPr>
          <p:nvPr>
            <p:ph type="title"/>
          </p:nvPr>
        </p:nvSpPr>
        <p:spPr>
          <a:xfrm>
            <a:off x="0" y="1"/>
            <a:ext cx="12192000" cy="711300"/>
          </a:xfrm>
          <a:prstGeom prst="rect">
            <a:avLst/>
          </a:prstGeom>
          <a:solidFill>
            <a:srgbClr val="C0C0C0">
              <a:alpha val="50196"/>
            </a:srgbClr>
          </a:solidFill>
          <a:ln>
            <a:noFill/>
          </a:ln>
        </p:spPr>
        <p:txBody>
          <a:bodyPr spcFirstLastPara="1" wrap="square" lIns="216000" tIns="108000" rIns="216000" bIns="108000" anchor="ctr" anchorCtr="0">
            <a:normAutofit/>
          </a:bodyPr>
          <a:lstStyle/>
          <a:p>
            <a:pPr marL="0" lvl="0" indent="0" algn="l" rtl="0">
              <a:lnSpc>
                <a:spcPct val="90000"/>
              </a:lnSpc>
              <a:spcBef>
                <a:spcPts val="0"/>
              </a:spcBef>
              <a:spcAft>
                <a:spcPts val="0"/>
              </a:spcAft>
              <a:buClr>
                <a:srgbClr val="363636"/>
              </a:buClr>
              <a:buSzPts val="3400"/>
              <a:buFont typeface="Roboto Condensed"/>
              <a:buNone/>
            </a:pPr>
            <a:r>
              <a:rPr lang="en-US" dirty="0"/>
              <a:t>What is a Web Page?</a:t>
            </a:r>
            <a:endParaRPr dirty="0"/>
          </a:p>
        </p:txBody>
      </p:sp>
      <p:sp>
        <p:nvSpPr>
          <p:cNvPr id="771" name="Google Shape;771;p6"/>
          <p:cNvSpPr/>
          <p:nvPr/>
        </p:nvSpPr>
        <p:spPr>
          <a:xfrm>
            <a:off x="381000" y="952500"/>
            <a:ext cx="11463068" cy="2190900"/>
          </a:xfrm>
          <a:prstGeom prst="roundRect">
            <a:avLst>
              <a:gd name="adj" fmla="val 4347"/>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2" name="Google Shape;772;p6"/>
          <p:cNvSpPr txBox="1"/>
          <p:nvPr/>
        </p:nvSpPr>
        <p:spPr>
          <a:xfrm>
            <a:off x="728366" y="1095375"/>
            <a:ext cx="10768337" cy="1905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dirty="0">
                <a:solidFill>
                  <a:srgbClr val="BC770B"/>
                </a:solidFill>
                <a:latin typeface="Roboto Condensed"/>
                <a:ea typeface="Roboto Condensed"/>
                <a:cs typeface="Roboto Condensed"/>
                <a:sym typeface="Roboto Condensed"/>
              </a:rPr>
              <a:t>Definition &amp; Access</a:t>
            </a:r>
            <a:endParaRPr sz="1800" b="1" dirty="0">
              <a:solidFill>
                <a:srgbClr val="BC770B"/>
              </a:solidFill>
              <a:latin typeface="Roboto Condensed"/>
              <a:ea typeface="Roboto Condensed"/>
              <a:cs typeface="Roboto Condensed"/>
              <a:sym typeface="Roboto Condensed"/>
            </a:endParaRPr>
          </a:p>
          <a:p>
            <a:pPr marL="457200" lvl="0" indent="-317500" algn="l" rtl="0">
              <a:spcBef>
                <a:spcPts val="750"/>
              </a:spcBef>
              <a:spcAft>
                <a:spcPts val="0"/>
              </a:spcAft>
              <a:buClr>
                <a:srgbClr val="212121"/>
              </a:buClr>
              <a:buSzPts val="1400"/>
              <a:buFont typeface="Roboto Condensed"/>
              <a:buChar char="●"/>
            </a:pPr>
            <a:r>
              <a:rPr lang="en-US" sz="1800" dirty="0">
                <a:solidFill>
                  <a:srgbClr val="212121"/>
                </a:solidFill>
                <a:latin typeface="Roboto Condensed"/>
                <a:ea typeface="Roboto Condensed"/>
                <a:cs typeface="Roboto Condensed"/>
                <a:sym typeface="Roboto Condensed"/>
              </a:rPr>
              <a:t>A web page is a document, commonly written in HTML, viewed in a browser.</a:t>
            </a:r>
            <a:endParaRPr sz="1800" dirty="0">
              <a:solidFill>
                <a:srgbClr val="212121"/>
              </a:solidFill>
              <a:latin typeface="Roboto Condensed"/>
              <a:ea typeface="Roboto Condensed"/>
              <a:cs typeface="Roboto Condensed"/>
              <a:sym typeface="Roboto Condensed"/>
            </a:endParaRPr>
          </a:p>
          <a:p>
            <a:pPr marL="457200" lvl="0" indent="-317500" algn="l" rtl="0">
              <a:spcBef>
                <a:spcPts val="600"/>
              </a:spcBef>
              <a:spcAft>
                <a:spcPts val="0"/>
              </a:spcAft>
              <a:buClr>
                <a:srgbClr val="212121"/>
              </a:buClr>
              <a:buSzPts val="1400"/>
              <a:buFont typeface="Roboto Condensed"/>
              <a:buChar char="●"/>
            </a:pPr>
            <a:r>
              <a:rPr lang="en-US" sz="1800" dirty="0">
                <a:solidFill>
                  <a:srgbClr val="212121"/>
                </a:solidFill>
                <a:latin typeface="Roboto Condensed"/>
                <a:ea typeface="Roboto Condensed"/>
                <a:cs typeface="Roboto Condensed"/>
                <a:sym typeface="Roboto Condensed"/>
              </a:rPr>
              <a:t>Accessed by entering a URL into a browser's address bar.</a:t>
            </a:r>
            <a:endParaRPr sz="1800" dirty="0">
              <a:solidFill>
                <a:srgbClr val="212121"/>
              </a:solidFill>
              <a:latin typeface="Roboto Condensed"/>
              <a:ea typeface="Roboto Condensed"/>
              <a:cs typeface="Roboto Condensed"/>
              <a:sym typeface="Roboto Condensed"/>
            </a:endParaRPr>
          </a:p>
          <a:p>
            <a:pPr marL="457200" lvl="0" indent="-317500" algn="l" rtl="0">
              <a:spcBef>
                <a:spcPts val="600"/>
              </a:spcBef>
              <a:spcAft>
                <a:spcPts val="0"/>
              </a:spcAft>
              <a:buClr>
                <a:srgbClr val="212121"/>
              </a:buClr>
              <a:buSzPts val="1400"/>
              <a:buFont typeface="Roboto Condensed"/>
              <a:buChar char="●"/>
            </a:pPr>
            <a:r>
              <a:rPr lang="en-US" sz="1800" dirty="0">
                <a:solidFill>
                  <a:srgbClr val="212121"/>
                </a:solidFill>
                <a:latin typeface="Roboto Condensed"/>
                <a:ea typeface="Roboto Condensed"/>
                <a:cs typeface="Roboto Condensed"/>
                <a:sym typeface="Roboto Condensed"/>
              </a:rPr>
              <a:t>May contain text, graphics, and hyperlinks to other pages and files.</a:t>
            </a:r>
            <a:endParaRPr sz="1800" dirty="0">
              <a:solidFill>
                <a:srgbClr val="212121"/>
              </a:solidFill>
              <a:latin typeface="Roboto Condensed"/>
              <a:ea typeface="Roboto Condensed"/>
              <a:cs typeface="Roboto Condensed"/>
              <a:sym typeface="Roboto Condensed"/>
            </a:endParaRPr>
          </a:p>
        </p:txBody>
      </p:sp>
      <p:sp>
        <p:nvSpPr>
          <p:cNvPr id="773" name="Google Shape;773;p6"/>
          <p:cNvSpPr/>
          <p:nvPr/>
        </p:nvSpPr>
        <p:spPr>
          <a:xfrm>
            <a:off x="381000" y="3238500"/>
            <a:ext cx="11463068" cy="1428900"/>
          </a:xfrm>
          <a:prstGeom prst="roundRect">
            <a:avLst>
              <a:gd name="adj" fmla="val 6666"/>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4" name="Google Shape;774;p6"/>
          <p:cNvSpPr txBox="1"/>
          <p:nvPr/>
        </p:nvSpPr>
        <p:spPr>
          <a:xfrm>
            <a:off x="728366" y="3381375"/>
            <a:ext cx="10768337" cy="1143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dirty="0">
                <a:solidFill>
                  <a:srgbClr val="BC770B"/>
                </a:solidFill>
                <a:latin typeface="Roboto Condensed"/>
                <a:ea typeface="Roboto Condensed"/>
                <a:cs typeface="Roboto Condensed"/>
                <a:sym typeface="Roboto Condensed"/>
              </a:rPr>
              <a:t>HTML Notation</a:t>
            </a:r>
            <a:endParaRPr sz="1800" b="1" dirty="0">
              <a:solidFill>
                <a:srgbClr val="BC770B"/>
              </a:solidFill>
              <a:latin typeface="Roboto Condensed"/>
              <a:ea typeface="Roboto Condensed"/>
              <a:cs typeface="Roboto Condensed"/>
              <a:sym typeface="Roboto Condensed"/>
            </a:endParaRPr>
          </a:p>
          <a:p>
            <a:pPr marL="457200" lvl="0" indent="-317500" algn="l" rtl="0">
              <a:spcBef>
                <a:spcPts val="750"/>
              </a:spcBef>
              <a:spcAft>
                <a:spcPts val="0"/>
              </a:spcAft>
              <a:buClr>
                <a:srgbClr val="212121"/>
              </a:buClr>
              <a:buSzPts val="1400"/>
              <a:buFont typeface="Roboto Condensed"/>
              <a:buChar char="●"/>
            </a:pPr>
            <a:r>
              <a:rPr lang="en-US" sz="1800" b="1" dirty="0">
                <a:solidFill>
                  <a:srgbClr val="212121"/>
                </a:solidFill>
                <a:latin typeface="Roboto Condensed"/>
                <a:ea typeface="Roboto Condensed"/>
                <a:cs typeface="Roboto Condensed"/>
                <a:sym typeface="Roboto Condensed"/>
              </a:rPr>
              <a:t>Document Structure:</a:t>
            </a:r>
            <a:r>
              <a:rPr lang="en-US" sz="1800" dirty="0">
                <a:solidFill>
                  <a:srgbClr val="212121"/>
                </a:solidFill>
                <a:latin typeface="Roboto Condensed"/>
                <a:ea typeface="Roboto Condensed"/>
                <a:cs typeface="Roboto Condensed"/>
                <a:sym typeface="Roboto Condensed"/>
              </a:rPr>
              <a:t> Semantic markup.</a:t>
            </a:r>
            <a:endParaRPr sz="1800" dirty="0">
              <a:solidFill>
                <a:srgbClr val="212121"/>
              </a:solidFill>
              <a:latin typeface="Roboto Condensed"/>
              <a:ea typeface="Roboto Condensed"/>
              <a:cs typeface="Roboto Condensed"/>
              <a:sym typeface="Roboto Condensed"/>
            </a:endParaRPr>
          </a:p>
          <a:p>
            <a:pPr marL="457200" lvl="0" indent="-317500" algn="l" rtl="0">
              <a:spcBef>
                <a:spcPts val="375"/>
              </a:spcBef>
              <a:spcAft>
                <a:spcPts val="0"/>
              </a:spcAft>
              <a:buClr>
                <a:srgbClr val="212121"/>
              </a:buClr>
              <a:buSzPts val="1400"/>
              <a:buFont typeface="Roboto Condensed"/>
              <a:buChar char="●"/>
            </a:pPr>
            <a:r>
              <a:rPr lang="en-US" sz="1800" b="1" dirty="0">
                <a:solidFill>
                  <a:srgbClr val="212121"/>
                </a:solidFill>
                <a:latin typeface="Roboto Condensed"/>
                <a:ea typeface="Roboto Condensed"/>
                <a:cs typeface="Roboto Condensed"/>
                <a:sym typeface="Roboto Condensed"/>
              </a:rPr>
              <a:t>Formatting:</a:t>
            </a:r>
            <a:r>
              <a:rPr lang="en-US" sz="1800" dirty="0">
                <a:solidFill>
                  <a:srgbClr val="212121"/>
                </a:solidFill>
                <a:latin typeface="Roboto Condensed"/>
                <a:ea typeface="Roboto Condensed"/>
                <a:cs typeface="Roboto Condensed"/>
                <a:sym typeface="Roboto Condensed"/>
              </a:rPr>
              <a:t> Presentation markup.</a:t>
            </a:r>
            <a:endParaRPr sz="1800" dirty="0">
              <a:solidFill>
                <a:srgbClr val="212121"/>
              </a:solidFill>
              <a:latin typeface="Roboto Condensed"/>
              <a:ea typeface="Roboto Condensed"/>
              <a:cs typeface="Roboto Condensed"/>
              <a:sym typeface="Roboto Condensed"/>
            </a:endParaRPr>
          </a:p>
        </p:txBody>
      </p:sp>
      <p:sp>
        <p:nvSpPr>
          <p:cNvPr id="775" name="Google Shape;775;p6"/>
          <p:cNvSpPr/>
          <p:nvPr/>
        </p:nvSpPr>
        <p:spPr>
          <a:xfrm>
            <a:off x="381000" y="4762500"/>
            <a:ext cx="11463068" cy="1524000"/>
          </a:xfrm>
          <a:prstGeom prst="roundRect">
            <a:avLst>
              <a:gd name="adj" fmla="val 6250"/>
            </a:avLst>
          </a:prstGeom>
          <a:solidFill>
            <a:srgbClr val="F8F9F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6" name="Google Shape;776;p6"/>
          <p:cNvSpPr txBox="1"/>
          <p:nvPr/>
        </p:nvSpPr>
        <p:spPr>
          <a:xfrm>
            <a:off x="728366" y="4905375"/>
            <a:ext cx="10768337" cy="1238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800" b="1" dirty="0">
                <a:solidFill>
                  <a:srgbClr val="BC770B"/>
                </a:solidFill>
                <a:latin typeface="Roboto Condensed"/>
                <a:ea typeface="Roboto Condensed"/>
                <a:cs typeface="Roboto Condensed"/>
                <a:sym typeface="Roboto Condensed"/>
              </a:rPr>
              <a:t>History</a:t>
            </a:r>
            <a:endParaRPr sz="1800" b="1" dirty="0">
              <a:solidFill>
                <a:srgbClr val="BC770B"/>
              </a:solidFill>
              <a:latin typeface="Roboto Condensed"/>
              <a:ea typeface="Roboto Condensed"/>
              <a:cs typeface="Roboto Condensed"/>
              <a:sym typeface="Roboto Condensed"/>
            </a:endParaRPr>
          </a:p>
          <a:p>
            <a:pPr marL="457200" lvl="0" indent="-317500" algn="l" rtl="0">
              <a:spcBef>
                <a:spcPts val="750"/>
              </a:spcBef>
              <a:spcAft>
                <a:spcPts val="0"/>
              </a:spcAft>
              <a:buClr>
                <a:srgbClr val="212121"/>
              </a:buClr>
              <a:buSzPts val="1400"/>
              <a:buFont typeface="Roboto Condensed"/>
              <a:buChar char="●"/>
            </a:pPr>
            <a:r>
              <a:rPr lang="en-US" sz="1800" dirty="0">
                <a:solidFill>
                  <a:srgbClr val="212121"/>
                </a:solidFill>
                <a:latin typeface="Roboto Condensed"/>
                <a:ea typeface="Roboto Condensed"/>
                <a:cs typeface="Roboto Condensed"/>
                <a:sym typeface="Roboto Condensed"/>
              </a:rPr>
              <a:t>First web page created at CERN by Tim Berners-Lee on August 6, 1991.</a:t>
            </a:r>
            <a:endParaRPr sz="1800" dirty="0">
              <a:solidFill>
                <a:srgbClr val="212121"/>
              </a:solidFill>
              <a:latin typeface="Roboto Condensed"/>
              <a:ea typeface="Roboto Condensed"/>
              <a:cs typeface="Roboto Condensed"/>
              <a:sym typeface="Roboto Condensed"/>
            </a:endParaRPr>
          </a:p>
          <a:p>
            <a:pPr marL="457200" lvl="0" indent="-317500" algn="l" rtl="0">
              <a:spcBef>
                <a:spcPts val="600"/>
              </a:spcBef>
              <a:spcAft>
                <a:spcPts val="0"/>
              </a:spcAft>
              <a:buClr>
                <a:srgbClr val="212121"/>
              </a:buClr>
              <a:buSzPts val="1400"/>
              <a:buFont typeface="Roboto Condensed"/>
              <a:buChar char="●"/>
            </a:pPr>
            <a:r>
              <a:rPr lang="en-US" sz="1800" dirty="0">
                <a:solidFill>
                  <a:srgbClr val="212121"/>
                </a:solidFill>
                <a:latin typeface="Roboto Condensed"/>
                <a:ea typeface="Roboto Condensed"/>
                <a:cs typeface="Roboto Condensed"/>
                <a:sym typeface="Roboto Condensed"/>
              </a:rPr>
              <a:t>Visit the first website at </a:t>
            </a:r>
            <a:r>
              <a:rPr lang="en-US" sz="1800" u="sng" dirty="0">
                <a:solidFill>
                  <a:srgbClr val="70AD47"/>
                </a:solidFill>
                <a:latin typeface="Roboto Condensed"/>
                <a:ea typeface="Roboto Condensed"/>
                <a:cs typeface="Roboto Condensed"/>
                <a:sym typeface="Roboto Condensed"/>
                <a:hlinkClick r:id="rId3">
                  <a:extLst>
                    <a:ext uri="{A12FA001-AC4F-418D-AE19-62706E023703}">
                      <ahyp:hlinkClr xmlns:ahyp="http://schemas.microsoft.com/office/drawing/2018/hyperlinkcolor" xmlns="" val="tx"/>
                    </a:ext>
                  </a:extLst>
                </a:hlinkClick>
              </a:rPr>
              <a:t>info.cern.ch</a:t>
            </a:r>
            <a:r>
              <a:rPr lang="en-US" sz="1800" dirty="0">
                <a:solidFill>
                  <a:srgbClr val="212121"/>
                </a:solidFill>
                <a:latin typeface="Roboto Condensed"/>
                <a:ea typeface="Roboto Condensed"/>
                <a:cs typeface="Roboto Condensed"/>
                <a:sym typeface="Roboto Condensed"/>
              </a:rPr>
              <a:t>.</a:t>
            </a:r>
            <a:endParaRPr sz="1800" dirty="0">
              <a:solidFill>
                <a:srgbClr val="212121"/>
              </a:solidFill>
              <a:latin typeface="Roboto Condensed"/>
              <a:ea typeface="Roboto Condensed"/>
              <a:cs typeface="Roboto Condensed"/>
              <a:sym typeface="Roboto Condense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7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 grpId="0" animBg="1"/>
      <p:bldP spid="772" grpId="0"/>
      <p:bldP spid="773" grpId="0" animBg="1"/>
      <p:bldP spid="774" grpId="0"/>
      <p:bldP spid="775" grpId="0" animBg="1"/>
      <p:bldP spid="77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How the Web Works?</a:t>
            </a:r>
            <a:endParaRPr lang="en-US" dirty="0"/>
          </a:p>
        </p:txBody>
      </p:sp>
      <p:sp>
        <p:nvSpPr>
          <p:cNvPr id="3" name="Content Placeholder 2"/>
          <p:cNvSpPr>
            <a:spLocks noGrp="1"/>
          </p:cNvSpPr>
          <p:nvPr>
            <p:ph idx="1"/>
          </p:nvPr>
        </p:nvSpPr>
        <p:spPr/>
        <p:txBody>
          <a:bodyPr/>
          <a:lstStyle/>
          <a:p>
            <a:pPr lvl="0"/>
            <a:r>
              <a:rPr lang="en-US" dirty="0">
                <a:ea typeface="Times New Roman" panose="02020603050405020304" pitchFamily="18" charset="0"/>
                <a:cs typeface="Times New Roman" panose="02020603050405020304" pitchFamily="18" charset="0"/>
              </a:rPr>
              <a:t>World Wide Web (WWW) use classical client / server architecture.</a:t>
            </a:r>
          </a:p>
          <a:p>
            <a:endParaRPr lang="en-US" dirty="0"/>
          </a:p>
        </p:txBody>
      </p:sp>
      <p:grpSp>
        <p:nvGrpSpPr>
          <p:cNvPr id="4" name="Group 3"/>
          <p:cNvGrpSpPr/>
          <p:nvPr/>
        </p:nvGrpSpPr>
        <p:grpSpPr>
          <a:xfrm>
            <a:off x="330438" y="2605624"/>
            <a:ext cx="2438400" cy="2438400"/>
            <a:chOff x="228600" y="224864"/>
            <a:chExt cx="2438400" cy="2438400"/>
          </a:xfrm>
        </p:grpSpPr>
        <p:pic>
          <p:nvPicPr>
            <p:cNvPr id="5" name="Picture 4" descr="http://askyourpc.com/media/blogs/a/images_2/Computer-256x256.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228600" y="224864"/>
              <a:ext cx="2438400" cy="24384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website-window"/>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20975723">
              <a:off x="602640" y="904992"/>
              <a:ext cx="1280241" cy="1065798"/>
            </a:xfrm>
            <a:prstGeom prst="rect">
              <a:avLst/>
            </a:prstGeom>
            <a:noFill/>
            <a:ln w="9525">
              <a:noFill/>
              <a:miter lim="800000"/>
              <a:headEnd/>
              <a:tailEnd/>
            </a:ln>
            <a:scene3d>
              <a:camera prst="perspectiveContrastingRightFacing" fov="300000">
                <a:rot lat="21510460" lon="300467" rev="21477836"/>
              </a:camera>
              <a:lightRig rig="threePt" dir="t"/>
            </a:scene3d>
          </p:spPr>
        </p:pic>
      </p:grpSp>
      <p:pic>
        <p:nvPicPr>
          <p:cNvPr id="7" name="Picture 6" descr="http://www.iconarchive.com/icons/visualpharm/hardware/256/server-ico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850105" y="3032220"/>
            <a:ext cx="2011804" cy="2011804"/>
          </a:xfrm>
          <a:prstGeom prst="rect">
            <a:avLst/>
          </a:prstGeom>
          <a:noFill/>
          <a:extLst>
            <a:ext uri="{909E8E84-426E-40DD-AFC4-6F175D3DCCD1}">
              <a14:hiddenFill xmlns:a14="http://schemas.microsoft.com/office/drawing/2010/main">
                <a:solidFill>
                  <a:srgbClr val="FFFFFF"/>
                </a:solidFill>
              </a14:hiddenFill>
            </a:ext>
          </a:extLst>
        </p:spPr>
      </p:pic>
      <p:sp>
        <p:nvSpPr>
          <p:cNvPr id="8" name="Text Box 31"/>
          <p:cNvSpPr txBox="1">
            <a:spLocks noChangeArrowheads="1"/>
          </p:cNvSpPr>
          <p:nvPr/>
        </p:nvSpPr>
        <p:spPr bwMode="auto">
          <a:xfrm>
            <a:off x="124063" y="2286357"/>
            <a:ext cx="2851150" cy="892552"/>
          </a:xfrm>
          <a:prstGeom prst="rect">
            <a:avLst/>
          </a:prstGeom>
          <a:noFill/>
          <a:ln w="12700" cap="sq">
            <a:noFill/>
            <a:miter lim="800000"/>
            <a:headEnd type="none" w="sm" len="sm"/>
            <a:tailEnd type="none" w="sm" len="sm"/>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ct val="50000"/>
              </a:spcBef>
              <a:defRPr/>
            </a:pPr>
            <a:r>
              <a:rPr kumimoji="0" lang="en-US" sz="2600" b="1" dirty="0">
                <a:solidFill>
                  <a:srgbClr val="0202BE"/>
                </a:solidFill>
                <a:effectLst>
                  <a:outerShdw blurRad="38100" dist="38100" dir="2700000" algn="tl">
                    <a:srgbClr val="000000">
                      <a:alpha val="43137"/>
                    </a:srgbClr>
                  </a:outerShdw>
                </a:effectLst>
              </a:rPr>
              <a:t>Client </a:t>
            </a:r>
            <a:r>
              <a:rPr kumimoji="0" lang="en-US" sz="2600" dirty="0">
                <a:solidFill>
                  <a:srgbClr val="0202BE"/>
                </a:solidFill>
                <a:effectLst>
                  <a:outerShdw blurRad="38100" dist="38100" dir="2700000" algn="tl">
                    <a:srgbClr val="000000">
                      <a:alpha val="43137"/>
                    </a:srgbClr>
                  </a:outerShdw>
                </a:effectLst>
              </a:rPr>
              <a:t>running a Web Browser</a:t>
            </a:r>
          </a:p>
        </p:txBody>
      </p:sp>
      <p:sp>
        <p:nvSpPr>
          <p:cNvPr id="9" name="Text Box 32"/>
          <p:cNvSpPr txBox="1">
            <a:spLocks noChangeArrowheads="1"/>
          </p:cNvSpPr>
          <p:nvPr/>
        </p:nvSpPr>
        <p:spPr bwMode="auto">
          <a:xfrm>
            <a:off x="9163633" y="1759238"/>
            <a:ext cx="3000376" cy="1692771"/>
          </a:xfrm>
          <a:prstGeom prst="rect">
            <a:avLst/>
          </a:prstGeom>
          <a:noFill/>
          <a:ln w="12700" cap="sq">
            <a:noFill/>
            <a:miter lim="800000"/>
            <a:headEnd type="none" w="sm" len="sm"/>
            <a:tailEnd type="none" w="sm" len="sm"/>
          </a:ln>
          <a:effectLst/>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0000"/>
              </a:lnSpc>
              <a:spcBef>
                <a:spcPct val="50000"/>
              </a:spcBef>
              <a:defRPr/>
            </a:pPr>
            <a:r>
              <a:rPr kumimoji="0" lang="en-US" sz="2600" b="1" dirty="0">
                <a:solidFill>
                  <a:srgbClr val="0202BE"/>
                </a:solidFill>
                <a:effectLst>
                  <a:outerShdw blurRad="38100" dist="38100" dir="2700000" algn="tl">
                    <a:srgbClr val="000000">
                      <a:alpha val="43137"/>
                    </a:srgbClr>
                  </a:outerShdw>
                </a:effectLst>
              </a:rPr>
              <a:t>Server </a:t>
            </a:r>
            <a:r>
              <a:rPr kumimoji="0" lang="en-US" sz="2600" dirty="0">
                <a:solidFill>
                  <a:srgbClr val="0202BE"/>
                </a:solidFill>
                <a:effectLst>
                  <a:outerShdw blurRad="38100" dist="38100" dir="2700000" algn="tl">
                    <a:srgbClr val="000000">
                      <a:alpha val="43137"/>
                    </a:srgbClr>
                  </a:outerShdw>
                </a:effectLst>
              </a:rPr>
              <a:t>running </a:t>
            </a:r>
            <a:r>
              <a:rPr kumimoji="0" lang="en-US" sz="2600" b="1" dirty="0">
                <a:solidFill>
                  <a:srgbClr val="0202BE"/>
                </a:solidFill>
                <a:effectLst>
                  <a:outerShdw blurRad="38100" dist="38100" dir="2700000" algn="tl">
                    <a:srgbClr val="000000">
                      <a:alpha val="43137"/>
                    </a:srgbClr>
                  </a:outerShdw>
                </a:effectLst>
              </a:rPr>
              <a:t>Web Server</a:t>
            </a:r>
            <a:r>
              <a:rPr kumimoji="0" lang="en-US" sz="2600" dirty="0">
                <a:solidFill>
                  <a:srgbClr val="0202BE"/>
                </a:solidFill>
                <a:effectLst>
                  <a:outerShdw blurRad="38100" dist="38100" dir="2700000" algn="tl">
                    <a:srgbClr val="000000">
                      <a:alpha val="43137"/>
                    </a:srgbClr>
                  </a:outerShdw>
                </a:effectLst>
              </a:rPr>
              <a:t> Software   </a:t>
            </a:r>
            <a:r>
              <a:rPr lang="en-US" sz="2600" dirty="0">
                <a:solidFill>
                  <a:srgbClr val="0202BE"/>
                </a:solidFill>
                <a:effectLst>
                  <a:outerShdw blurRad="38100" dist="38100" dir="2700000" algn="tl">
                    <a:srgbClr val="000000">
                      <a:alpha val="43137"/>
                    </a:srgbClr>
                  </a:outerShdw>
                </a:effectLst>
              </a:rPr>
              <a:t>(Apache, IIS, Tomcat, </a:t>
            </a:r>
            <a:r>
              <a:rPr kumimoji="0" lang="en-US" sz="2600" dirty="0">
                <a:solidFill>
                  <a:srgbClr val="0202BE"/>
                </a:solidFill>
                <a:effectLst>
                  <a:outerShdw blurRad="38100" dist="38100" dir="2700000" algn="tl">
                    <a:srgbClr val="000000">
                      <a:alpha val="43137"/>
                    </a:srgbClr>
                  </a:outerShdw>
                </a:effectLst>
              </a:rPr>
              <a:t>etc.)</a:t>
            </a:r>
          </a:p>
        </p:txBody>
      </p:sp>
      <p:grpSp>
        <p:nvGrpSpPr>
          <p:cNvPr id="15" name="Group 28"/>
          <p:cNvGrpSpPr>
            <a:grpSpLocks/>
          </p:cNvGrpSpPr>
          <p:nvPr/>
        </p:nvGrpSpPr>
        <p:grpSpPr bwMode="auto">
          <a:xfrm>
            <a:off x="4289835" y="2693905"/>
            <a:ext cx="3352800" cy="676629"/>
            <a:chOff x="1776" y="1680"/>
            <a:chExt cx="1728" cy="352"/>
          </a:xfrm>
          <a:solidFill>
            <a:schemeClr val="accent5">
              <a:lumMod val="60000"/>
              <a:lumOff val="40000"/>
              <a:alpha val="30000"/>
            </a:schemeClr>
          </a:solidFill>
        </p:grpSpPr>
        <p:sp>
          <p:nvSpPr>
            <p:cNvPr id="16" name="AutoShape 29"/>
            <p:cNvSpPr>
              <a:spLocks noChangeArrowheads="1"/>
            </p:cNvSpPr>
            <p:nvPr/>
          </p:nvSpPr>
          <p:spPr bwMode="auto">
            <a:xfrm>
              <a:off x="1776" y="1680"/>
              <a:ext cx="1728" cy="35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grpFill/>
            <a:ln w="12700" cap="sq">
              <a:solidFill>
                <a:schemeClr val="accent5">
                  <a:lumMod val="20000"/>
                  <a:lumOff val="80000"/>
                </a:schemeClr>
              </a:solidFill>
              <a:miter lim="800000"/>
              <a:headEnd type="none" w="sm" len="sm"/>
              <a:tailEnd type="none" w="sm" len="sm"/>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17" name="Text Box 30"/>
            <p:cNvSpPr txBox="1">
              <a:spLocks noChangeArrowheads="1"/>
            </p:cNvSpPr>
            <p:nvPr/>
          </p:nvSpPr>
          <p:spPr bwMode="auto">
            <a:xfrm>
              <a:off x="2044" y="1751"/>
              <a:ext cx="1008" cy="208"/>
            </a:xfrm>
            <a:prstGeom prst="rect">
              <a:avLst/>
            </a:prstGeom>
            <a:noFill/>
            <a:ln w="12700" cap="sq">
              <a:noFill/>
              <a:miter lim="800000"/>
              <a:headEnd type="none" w="sm" len="sm"/>
              <a:tailEnd type="none" w="sm" len="sm"/>
            </a:ln>
            <a:effectLst/>
          </p:spPr>
          <p:txBody>
            <a:bodyPr>
              <a:spAutoFit/>
            </a:bodyPr>
            <a:lstStyle/>
            <a:p>
              <a:pPr algn="ctr">
                <a:lnSpc>
                  <a:spcPct val="100000"/>
                </a:lnSpc>
                <a:spcBef>
                  <a:spcPct val="50000"/>
                </a:spcBef>
                <a:defRPr/>
              </a:pPr>
              <a:r>
                <a:rPr kumimoji="0" lang="en-US" sz="2000" b="1" dirty="0">
                  <a:effectLst>
                    <a:outerShdw blurRad="38100" dist="38100" dir="2700000" algn="tl">
                      <a:srgbClr val="000000">
                        <a:alpha val="43137"/>
                      </a:srgbClr>
                    </a:outerShdw>
                  </a:effectLst>
                </a:rPr>
                <a:t>Page request</a:t>
              </a:r>
            </a:p>
          </p:txBody>
        </p:sp>
      </p:grpSp>
      <p:sp>
        <p:nvSpPr>
          <p:cNvPr id="18" name="Text Box 37"/>
          <p:cNvSpPr txBox="1">
            <a:spLocks noChangeArrowheads="1"/>
          </p:cNvSpPr>
          <p:nvPr/>
        </p:nvSpPr>
        <p:spPr bwMode="auto">
          <a:xfrm>
            <a:off x="5193123" y="2338743"/>
            <a:ext cx="1293812" cy="461665"/>
          </a:xfrm>
          <a:prstGeom prst="rect">
            <a:avLst/>
          </a:prstGeom>
          <a:noFill/>
          <a:ln w="12700" cap="sq">
            <a:noFill/>
            <a:miter lim="800000"/>
            <a:headEnd type="none" w="sm" len="sm"/>
            <a:tailEnd type="none" w="sm" len="sm"/>
          </a:ln>
          <a:effectLst/>
        </p:spPr>
        <p:txBody>
          <a:bodyPr wrap="square">
            <a:spAutoFit/>
          </a:bodyPr>
          <a:lstStyle/>
          <a:p>
            <a:pPr algn="ctr">
              <a:lnSpc>
                <a:spcPct val="100000"/>
              </a:lnSpc>
              <a:spcBef>
                <a:spcPct val="50000"/>
              </a:spcBef>
              <a:defRPr/>
            </a:pPr>
            <a:r>
              <a:rPr kumimoji="0" lang="en-US" sz="2400" b="1" dirty="0">
                <a:solidFill>
                  <a:srgbClr val="0202BE"/>
                </a:solidFill>
                <a:effectLst>
                  <a:outerShdw blurRad="38100" dist="38100" dir="2700000" algn="tl">
                    <a:srgbClr val="000000">
                      <a:alpha val="43137"/>
                    </a:srgbClr>
                  </a:outerShdw>
                </a:effectLst>
              </a:rPr>
              <a:t>HTTP</a:t>
            </a:r>
          </a:p>
        </p:txBody>
      </p:sp>
      <p:grpSp>
        <p:nvGrpSpPr>
          <p:cNvPr id="19" name="Group 27"/>
          <p:cNvGrpSpPr/>
          <p:nvPr/>
        </p:nvGrpSpPr>
        <p:grpSpPr>
          <a:xfrm>
            <a:off x="4289835" y="4345276"/>
            <a:ext cx="3352800" cy="698748"/>
            <a:chOff x="3200400" y="3962400"/>
            <a:chExt cx="2895600" cy="485775"/>
          </a:xfrm>
        </p:grpSpPr>
        <p:sp>
          <p:nvSpPr>
            <p:cNvPr id="20" name="AutoShape 34"/>
            <p:cNvSpPr>
              <a:spLocks noChangeArrowheads="1"/>
            </p:cNvSpPr>
            <p:nvPr/>
          </p:nvSpPr>
          <p:spPr bwMode="auto">
            <a:xfrm flipH="1">
              <a:off x="3200400" y="3962400"/>
              <a:ext cx="2895600" cy="48577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5">
                <a:lumMod val="60000"/>
                <a:lumOff val="40000"/>
                <a:alpha val="30000"/>
              </a:schemeClr>
            </a:solidFill>
            <a:ln w="12700" cap="sq">
              <a:solidFill>
                <a:schemeClr val="accent5">
                  <a:lumMod val="20000"/>
                  <a:lumOff val="80000"/>
                </a:schemeClr>
              </a:solidFill>
              <a:miter lim="800000"/>
              <a:headEnd type="none" w="sm" len="sm"/>
              <a:tailEnd type="none" w="sm" len="sm"/>
            </a:ln>
            <a:effectLst/>
          </p:spPr>
          <p:txBody>
            <a:bodyPr wrap="none" anchor="ctr"/>
            <a:lstStyle/>
            <a:p>
              <a:pPr>
                <a:defRPr/>
              </a:pPr>
              <a:endParaRPr lang="en-US" dirty="0">
                <a:effectLst>
                  <a:outerShdw blurRad="38100" dist="38100" dir="2700000" algn="tl">
                    <a:srgbClr val="000000">
                      <a:alpha val="43137"/>
                    </a:srgbClr>
                  </a:outerShdw>
                </a:effectLst>
              </a:endParaRPr>
            </a:p>
          </p:txBody>
        </p:sp>
        <p:sp>
          <p:nvSpPr>
            <p:cNvPr id="21" name="Text Box 35"/>
            <p:cNvSpPr txBox="1">
              <a:spLocks noChangeArrowheads="1"/>
            </p:cNvSpPr>
            <p:nvPr/>
          </p:nvSpPr>
          <p:spPr bwMode="auto">
            <a:xfrm>
              <a:off x="3810001" y="4071918"/>
              <a:ext cx="1950068" cy="278160"/>
            </a:xfrm>
            <a:prstGeom prst="rect">
              <a:avLst/>
            </a:prstGeom>
            <a:noFill/>
            <a:ln w="12700" cap="sq">
              <a:noFill/>
              <a:miter lim="800000"/>
              <a:headEnd type="none" w="sm" len="sm"/>
              <a:tailEnd type="none" w="sm" len="sm"/>
            </a:ln>
            <a:effectLst/>
          </p:spPr>
          <p:txBody>
            <a:bodyPr wrap="square">
              <a:spAutoFit/>
            </a:bodyPr>
            <a:lstStyle/>
            <a:p>
              <a:pPr algn="ctr">
                <a:lnSpc>
                  <a:spcPct val="100000"/>
                </a:lnSpc>
                <a:spcBef>
                  <a:spcPct val="50000"/>
                </a:spcBef>
                <a:defRPr/>
              </a:pPr>
              <a:r>
                <a:rPr kumimoji="0" lang="en-US" sz="2000" b="1" dirty="0">
                  <a:effectLst>
                    <a:outerShdw blurRad="38100" dist="38100" dir="2700000" algn="tl">
                      <a:srgbClr val="000000">
                        <a:alpha val="43137"/>
                      </a:srgbClr>
                    </a:outerShdw>
                  </a:effectLst>
                </a:rPr>
                <a:t>Server response</a:t>
              </a:r>
            </a:p>
          </p:txBody>
        </p:sp>
      </p:grpSp>
      <p:sp>
        <p:nvSpPr>
          <p:cNvPr id="22" name="Text Box 37"/>
          <p:cNvSpPr txBox="1">
            <a:spLocks noChangeArrowheads="1"/>
          </p:cNvSpPr>
          <p:nvPr/>
        </p:nvSpPr>
        <p:spPr bwMode="auto">
          <a:xfrm>
            <a:off x="5193123" y="4067641"/>
            <a:ext cx="1293812" cy="461665"/>
          </a:xfrm>
          <a:prstGeom prst="rect">
            <a:avLst/>
          </a:prstGeom>
          <a:noFill/>
          <a:ln w="12700" cap="sq">
            <a:noFill/>
            <a:miter lim="800000"/>
            <a:headEnd type="none" w="sm" len="sm"/>
            <a:tailEnd type="none" w="sm" len="sm"/>
          </a:ln>
          <a:effectLst/>
        </p:spPr>
        <p:txBody>
          <a:bodyPr wrap="square">
            <a:spAutoFit/>
          </a:bodyPr>
          <a:lstStyle/>
          <a:p>
            <a:pPr algn="ctr">
              <a:lnSpc>
                <a:spcPct val="100000"/>
              </a:lnSpc>
              <a:spcBef>
                <a:spcPct val="50000"/>
              </a:spcBef>
              <a:defRPr/>
            </a:pPr>
            <a:r>
              <a:rPr kumimoji="0" lang="en-US" sz="2400" b="1" dirty="0">
                <a:solidFill>
                  <a:srgbClr val="0202BE"/>
                </a:solidFill>
                <a:effectLst>
                  <a:outerShdw blurRad="38100" dist="38100" dir="2700000" algn="tl">
                    <a:srgbClr val="000000">
                      <a:alpha val="43137"/>
                    </a:srgbClr>
                  </a:outerShdw>
                </a:effectLst>
              </a:rPr>
              <a:t>HTTP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blinds(horizontal)">
                                      <p:cBhvr>
                                        <p:cTn id="23" dur="500"/>
                                        <p:tgtEl>
                                          <p:spTgt spid="18"/>
                                        </p:tgtEl>
                                      </p:cBhvr>
                                    </p:animEffect>
                                  </p:childTnLst>
                                </p:cTn>
                              </p:par>
                              <p:par>
                                <p:cTn id="24" presetID="22" presetClass="entr" presetSubtype="8" fill="hold"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blinds(horizontal)">
                                      <p:cBhvr>
                                        <p:cTn id="31" dur="500"/>
                                        <p:tgtEl>
                                          <p:spTgt spid="22"/>
                                        </p:tgtEl>
                                      </p:cBhvr>
                                    </p:animEffect>
                                  </p:childTnLst>
                                </p:cTn>
                              </p:par>
                              <p:par>
                                <p:cTn id="32" presetID="22" presetClass="entr" presetSubtype="2"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right)">
                                      <p:cBhvr>
                                        <p:cTn id="34"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p:bldP spid="9" grpId="0"/>
      <p:bldP spid="18" grpId="0"/>
      <p:bldP spid="2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a:t>
            </a:r>
            <a:endParaRPr lang="en-US" dirty="0"/>
          </a:p>
        </p:txBody>
      </p:sp>
      <p:sp>
        <p:nvSpPr>
          <p:cNvPr id="3" name="Content Placeholder 2"/>
          <p:cNvSpPr>
            <a:spLocks noGrp="1"/>
          </p:cNvSpPr>
          <p:nvPr>
            <p:ph idx="1"/>
          </p:nvPr>
        </p:nvSpPr>
        <p:spPr>
          <a:xfrm>
            <a:off x="131179" y="1352331"/>
            <a:ext cx="11929641" cy="5590565"/>
          </a:xfrm>
        </p:spPr>
        <p:txBody>
          <a:bodyPr/>
          <a:lstStyle/>
          <a:p>
            <a:r>
              <a:rPr lang="en-IN" dirty="0"/>
              <a:t>The HTTP request message consist of following,</a:t>
            </a:r>
          </a:p>
          <a:p>
            <a:pPr lvl="1"/>
            <a:r>
              <a:rPr lang="en-IN" dirty="0"/>
              <a:t>A request line (</a:t>
            </a:r>
            <a:r>
              <a:rPr lang="en-IN" dirty="0">
                <a:solidFill>
                  <a:schemeClr val="bg1">
                    <a:lumMod val="65000"/>
                  </a:schemeClr>
                </a:solidFill>
              </a:rPr>
              <a:t>e.g. </a:t>
            </a:r>
            <a:r>
              <a:rPr lang="en-IN" dirty="0"/>
              <a:t>GET /</a:t>
            </a:r>
            <a:r>
              <a:rPr lang="en-IN" dirty="0" err="1"/>
              <a:t>index.php</a:t>
            </a:r>
            <a:r>
              <a:rPr lang="en-IN" dirty="0"/>
              <a:t> HTTP1.1)</a:t>
            </a:r>
          </a:p>
          <a:p>
            <a:pPr lvl="1"/>
            <a:r>
              <a:rPr lang="en-IN" dirty="0"/>
              <a:t>Request header fields (</a:t>
            </a:r>
            <a:r>
              <a:rPr lang="en-IN" dirty="0">
                <a:solidFill>
                  <a:schemeClr val="bg1">
                    <a:lumMod val="65000"/>
                  </a:schemeClr>
                </a:solidFill>
              </a:rPr>
              <a:t>e.g. </a:t>
            </a:r>
            <a:r>
              <a:rPr lang="en-IN" dirty="0"/>
              <a:t>Accept-Language</a:t>
            </a:r>
            <a:r>
              <a:rPr lang="en-IN" b="1" dirty="0"/>
              <a:t>:</a:t>
            </a:r>
            <a:r>
              <a:rPr lang="en-IN" dirty="0"/>
              <a:t> </a:t>
            </a:r>
            <a:r>
              <a:rPr lang="en-IN" dirty="0" err="1"/>
              <a:t>en</a:t>
            </a:r>
            <a:r>
              <a:rPr lang="en-IN" dirty="0"/>
              <a:t>)</a:t>
            </a:r>
          </a:p>
          <a:p>
            <a:pPr lvl="1"/>
            <a:r>
              <a:rPr lang="en-IN" dirty="0"/>
              <a:t>An empty line (CRLF)</a:t>
            </a:r>
          </a:p>
          <a:p>
            <a:pPr lvl="1"/>
            <a:r>
              <a:rPr lang="en-IN" dirty="0"/>
              <a:t>An optional message body</a:t>
            </a:r>
          </a:p>
          <a:p>
            <a:r>
              <a:rPr lang="en-IN" dirty="0"/>
              <a:t>The request line and other header fields must end with CRLF (Carriage return, Line Feed) (/r/n)</a:t>
            </a:r>
          </a:p>
          <a:p>
            <a:r>
              <a:rPr lang="en-IN" dirty="0"/>
              <a:t>A </a:t>
            </a:r>
            <a:r>
              <a:rPr lang="en-IN" b="1" dirty="0">
                <a:solidFill>
                  <a:srgbClr val="C00000"/>
                </a:solidFill>
              </a:rPr>
              <a:t>request line</a:t>
            </a:r>
            <a:r>
              <a:rPr lang="en-IN" b="1" dirty="0"/>
              <a:t> </a:t>
            </a:r>
            <a:r>
              <a:rPr lang="en-IN" dirty="0"/>
              <a:t>contains the </a:t>
            </a:r>
            <a:r>
              <a:rPr lang="en-IN" b="1" dirty="0">
                <a:solidFill>
                  <a:srgbClr val="C00000"/>
                </a:solidFill>
              </a:rPr>
              <a:t>method</a:t>
            </a:r>
            <a:r>
              <a:rPr lang="en-IN" dirty="0">
                <a:solidFill>
                  <a:srgbClr val="C00000"/>
                </a:solidFill>
              </a:rPr>
              <a:t> </a:t>
            </a:r>
            <a:r>
              <a:rPr lang="en-IN" dirty="0"/>
              <a:t>of request followed by the </a:t>
            </a:r>
            <a:r>
              <a:rPr lang="en-IN" b="1" dirty="0">
                <a:solidFill>
                  <a:srgbClr val="C00000"/>
                </a:solidFill>
              </a:rPr>
              <a:t>resource</a:t>
            </a:r>
            <a:r>
              <a:rPr lang="en-IN" dirty="0">
                <a:solidFill>
                  <a:srgbClr val="C00000"/>
                </a:solidFill>
              </a:rPr>
              <a:t> </a:t>
            </a:r>
            <a:r>
              <a:rPr lang="en-IN" dirty="0"/>
              <a:t>we want and at the end protocol </a:t>
            </a:r>
            <a:r>
              <a:rPr lang="en-IN" b="1" dirty="0">
                <a:solidFill>
                  <a:srgbClr val="C00000"/>
                </a:solidFill>
              </a:rPr>
              <a:t>version</a:t>
            </a:r>
            <a:r>
              <a:rPr lang="en-IN" dirty="0">
                <a:solidFill>
                  <a:srgbClr val="C00000"/>
                </a:solidFill>
              </a:rPr>
              <a:t> </a:t>
            </a:r>
            <a:r>
              <a:rPr lang="en-IN" dirty="0"/>
              <a:t>used.</a:t>
            </a:r>
          </a:p>
          <a:p>
            <a:pPr lvl="1"/>
            <a:r>
              <a:rPr lang="en-IN" dirty="0"/>
              <a:t>HTTP Request Methods: GET, POST, PUT, DELETE etc...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a:t>
            </a:r>
          </a:p>
        </p:txBody>
      </p:sp>
      <p:sp>
        <p:nvSpPr>
          <p:cNvPr id="3" name="Content Placeholder 2"/>
          <p:cNvSpPr>
            <a:spLocks noGrp="1"/>
          </p:cNvSpPr>
          <p:nvPr>
            <p:ph idx="1"/>
          </p:nvPr>
        </p:nvSpPr>
        <p:spPr>
          <a:xfrm>
            <a:off x="131179" y="1587722"/>
            <a:ext cx="11929641" cy="3962051"/>
          </a:xfrm>
        </p:spPr>
        <p:txBody>
          <a:bodyPr/>
          <a:lstStyle/>
          <a:p>
            <a:r>
              <a:rPr lang="en-IN" sz="2800" dirty="0"/>
              <a:t>There are many </a:t>
            </a:r>
            <a:r>
              <a:rPr lang="en-IN" sz="2800" b="1" dirty="0">
                <a:solidFill>
                  <a:srgbClr val="C00000"/>
                </a:solidFill>
              </a:rPr>
              <a:t>request header fields </a:t>
            </a:r>
            <a:r>
              <a:rPr lang="en-IN" sz="2800" dirty="0"/>
              <a:t>available with HTTP Request, some of are listed below</a:t>
            </a:r>
          </a:p>
          <a:p>
            <a:pPr lvl="1"/>
            <a:r>
              <a:rPr lang="en-US" sz="2400" b="1" dirty="0">
                <a:solidFill>
                  <a:srgbClr val="C00000"/>
                </a:solidFill>
              </a:rPr>
              <a:t>Accept</a:t>
            </a:r>
            <a:r>
              <a:rPr lang="en-US" sz="2400" dirty="0">
                <a:solidFill>
                  <a:srgbClr val="C00000"/>
                </a:solidFill>
              </a:rPr>
              <a:t> </a:t>
            </a:r>
            <a:r>
              <a:rPr lang="en-US" sz="2400" dirty="0"/>
              <a:t>: Media type(s) that is/are acceptable for the response. (</a:t>
            </a:r>
            <a:r>
              <a:rPr lang="en-US" sz="2400" dirty="0">
                <a:solidFill>
                  <a:srgbClr val="C00000"/>
                </a:solidFill>
              </a:rPr>
              <a:t>e.g. </a:t>
            </a:r>
            <a:r>
              <a:rPr lang="en-US" sz="2400" dirty="0"/>
              <a:t>Accept</a:t>
            </a:r>
            <a:r>
              <a:rPr lang="en-US" sz="2400" b="1" dirty="0"/>
              <a:t>:</a:t>
            </a:r>
            <a:r>
              <a:rPr lang="en-US" sz="2400" dirty="0"/>
              <a:t> text/html)</a:t>
            </a:r>
          </a:p>
          <a:p>
            <a:pPr lvl="1"/>
            <a:r>
              <a:rPr lang="en-IN" sz="2400" b="1" dirty="0">
                <a:solidFill>
                  <a:srgbClr val="C00000"/>
                </a:solidFill>
              </a:rPr>
              <a:t>Accept-Charset</a:t>
            </a:r>
            <a:r>
              <a:rPr lang="en-IN" sz="2400" dirty="0"/>
              <a:t>: </a:t>
            </a:r>
            <a:r>
              <a:rPr lang="en-US" sz="2400" dirty="0"/>
              <a:t>Character sets that are acceptable. (</a:t>
            </a:r>
            <a:r>
              <a:rPr lang="en-US" sz="2400" dirty="0">
                <a:solidFill>
                  <a:srgbClr val="C00000"/>
                </a:solidFill>
              </a:rPr>
              <a:t>e.g. </a:t>
            </a:r>
            <a:r>
              <a:rPr lang="en-US" sz="2400" dirty="0"/>
              <a:t>Accept-Charset</a:t>
            </a:r>
            <a:r>
              <a:rPr lang="en-US" sz="2400" b="1" dirty="0"/>
              <a:t>:</a:t>
            </a:r>
            <a:r>
              <a:rPr lang="en-US" sz="2400" dirty="0"/>
              <a:t> utf-8)</a:t>
            </a:r>
          </a:p>
          <a:p>
            <a:pPr lvl="1"/>
            <a:r>
              <a:rPr lang="en-IN" sz="2400" b="1" dirty="0">
                <a:solidFill>
                  <a:srgbClr val="C00000"/>
                </a:solidFill>
              </a:rPr>
              <a:t>Date</a:t>
            </a:r>
            <a:r>
              <a:rPr lang="en-IN" sz="2400" dirty="0"/>
              <a:t>: </a:t>
            </a:r>
            <a:r>
              <a:rPr lang="en-US" sz="2400" dirty="0"/>
              <a:t>The date and time at which the message was originated (</a:t>
            </a:r>
            <a:r>
              <a:rPr lang="en-US" sz="2400" dirty="0">
                <a:solidFill>
                  <a:srgbClr val="C00000"/>
                </a:solidFill>
              </a:rPr>
              <a:t>e.g. </a:t>
            </a:r>
            <a:r>
              <a:rPr lang="fr-FR" sz="2400" dirty="0"/>
              <a:t>Date: Tue, 15 </a:t>
            </a:r>
            <a:r>
              <a:rPr lang="fr-FR" sz="2400" dirty="0" err="1"/>
              <a:t>Nov</a:t>
            </a:r>
            <a:r>
              <a:rPr lang="fr-FR" sz="2400" dirty="0"/>
              <a:t> 1994 08:12:31 GMT)</a:t>
            </a:r>
          </a:p>
          <a:p>
            <a:pPr lvl="1"/>
            <a:r>
              <a:rPr lang="en-IN" sz="2400" b="1" dirty="0">
                <a:solidFill>
                  <a:srgbClr val="C00000"/>
                </a:solidFill>
              </a:rPr>
              <a:t>Host</a:t>
            </a:r>
            <a:r>
              <a:rPr lang="en-IN" sz="2400" dirty="0"/>
              <a:t>: </a:t>
            </a:r>
            <a:r>
              <a:rPr lang="en-US" sz="2400" dirty="0"/>
              <a:t>The domain name of the server (</a:t>
            </a:r>
            <a:r>
              <a:rPr lang="en-US" sz="2400" dirty="0">
                <a:solidFill>
                  <a:srgbClr val="C00000"/>
                </a:solidFill>
              </a:rPr>
              <a:t>e.g. </a:t>
            </a:r>
            <a:r>
              <a:rPr lang="en-US" sz="2400" dirty="0"/>
              <a:t>Host</a:t>
            </a:r>
            <a:r>
              <a:rPr lang="en-US" sz="2400" b="1" dirty="0"/>
              <a:t>:</a:t>
            </a:r>
            <a:r>
              <a:rPr lang="en-US" sz="2400" dirty="0"/>
              <a:t> darshan.ac.in)</a:t>
            </a:r>
          </a:p>
          <a:p>
            <a:pPr lvl="1"/>
            <a:r>
              <a:rPr lang="en-IN" sz="2400" b="1" dirty="0">
                <a:solidFill>
                  <a:srgbClr val="C00000"/>
                </a:solidFill>
              </a:rPr>
              <a:t>User-Agent</a:t>
            </a:r>
            <a:r>
              <a:rPr lang="en-IN" sz="2400" dirty="0"/>
              <a:t>: details of the browser used (</a:t>
            </a:r>
            <a:r>
              <a:rPr lang="en-IN" sz="2400" dirty="0">
                <a:solidFill>
                  <a:srgbClr val="C00000"/>
                </a:solidFill>
              </a:rPr>
              <a:t>e.g. </a:t>
            </a:r>
            <a:r>
              <a:rPr lang="en-IN" sz="2400" dirty="0"/>
              <a:t>User-Agent: Mozilla/5.0 (Windows NT 10.0; Win64; x64) </a:t>
            </a:r>
            <a:r>
              <a:rPr lang="en-IN" sz="2400" dirty="0" err="1"/>
              <a:t>AppleWebKit</a:t>
            </a:r>
            <a:r>
              <a:rPr lang="en-IN" sz="2400" dirty="0"/>
              <a:t>/537.36 (KHTML, like Gecko) Chrome/88.0.4324.150 Safari/537.36)</a:t>
            </a:r>
            <a:endParaRPr lang="en-IN" sz="2400" b="1" dirty="0"/>
          </a:p>
          <a:p>
            <a:endParaRPr lang="en-IN" dirty="0"/>
          </a:p>
        </p:txBody>
      </p:sp>
    </p:spTree>
    <p:extLst>
      <p:ext uri="{BB962C8B-B14F-4D97-AF65-F5344CB8AC3E}">
        <p14:creationId xmlns:p14="http://schemas.microsoft.com/office/powerpoint/2010/main" val="31281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Request (Example)</a:t>
            </a:r>
            <a:endParaRPr lang="en-US" dirty="0"/>
          </a:p>
        </p:txBody>
      </p:sp>
      <p:graphicFrame>
        <p:nvGraphicFramePr>
          <p:cNvPr id="22" name="Content Placeholder 21"/>
          <p:cNvGraphicFramePr>
            <a:graphicFrameLocks noGrp="1"/>
          </p:cNvGraphicFramePr>
          <p:nvPr>
            <p:ph idx="1"/>
            <p:extLst>
              <p:ext uri="{D42A27DB-BD31-4B8C-83A1-F6EECF244321}">
                <p14:modId xmlns:p14="http://schemas.microsoft.com/office/powerpoint/2010/main" val="2527812683"/>
              </p:ext>
            </p:extLst>
          </p:nvPr>
        </p:nvGraphicFramePr>
        <p:xfrm>
          <a:off x="747835" y="1337425"/>
          <a:ext cx="10696329" cy="91440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GET /</a:t>
                      </a:r>
                      <a:r>
                        <a:rPr lang="en-US" dirty="0" err="1"/>
                        <a:t>index.php</a:t>
                      </a:r>
                      <a:r>
                        <a:rPr lang="en-US" dirty="0"/>
                        <a:t> HTTP/1.1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err="1"/>
                        <a:t>index.php</a:t>
                      </a:r>
                      <a:r>
                        <a:rPr lang="en-US" dirty="0"/>
                        <a:t> </a:t>
                      </a:r>
                      <a:r>
                        <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is requested from</a:t>
                      </a:r>
                      <a:r>
                        <a:rPr kumimoji="0" lang="en-US" sz="1800" b="0" i="0" u="none" strike="noStrike" kern="1200" cap="none" spc="0" normalizeH="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 </a:t>
                      </a:r>
                      <a:r>
                        <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server using GET method of HTTP version 1.1 </a:t>
                      </a:r>
                    </a:p>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4" name="Content Placeholder 21"/>
          <p:cNvGraphicFramePr>
            <a:graphicFrameLocks/>
          </p:cNvGraphicFramePr>
          <p:nvPr>
            <p:extLst>
              <p:ext uri="{D42A27DB-BD31-4B8C-83A1-F6EECF244321}">
                <p14:modId xmlns:p14="http://schemas.microsoft.com/office/powerpoint/2010/main" val="36202321"/>
              </p:ext>
            </p:extLst>
          </p:nvPr>
        </p:nvGraphicFramePr>
        <p:xfrm>
          <a:off x="747835" y="2251825"/>
          <a:ext cx="10696329" cy="146304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User-Agent: </a:t>
                      </a:r>
                      <a:r>
                        <a:rPr lang="en-IN" dirty="0"/>
                        <a:t>Mozilla/5.0 (Windows NT 10.0; Win64; x64) </a:t>
                      </a:r>
                      <a:r>
                        <a:rPr lang="en-IN" dirty="0" err="1"/>
                        <a:t>AppleWebKit</a:t>
                      </a:r>
                      <a:r>
                        <a:rPr lang="en-IN" dirty="0"/>
                        <a:t>/537.36 (KHTML, like Gecko) Chrome/88.0.4324.150 Safari/537.36</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Version 5.0 of</a:t>
                      </a:r>
                      <a:r>
                        <a:rPr lang="en-US" baseline="0" dirty="0"/>
                        <a:t> </a:t>
                      </a:r>
                      <a:r>
                        <a:rPr lang="en-US" baseline="0" dirty="0" err="1"/>
                        <a:t>mozila</a:t>
                      </a:r>
                      <a:r>
                        <a:rPr lang="en-US" baseline="0" dirty="0"/>
                        <a:t> browser is used on windows 10 (64 bit) while requesting the page from the server.</a:t>
                      </a:r>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5" name="Content Placeholder 21"/>
          <p:cNvGraphicFramePr>
            <a:graphicFrameLocks/>
          </p:cNvGraphicFramePr>
          <p:nvPr>
            <p:extLst>
              <p:ext uri="{D42A27DB-BD31-4B8C-83A1-F6EECF244321}">
                <p14:modId xmlns:p14="http://schemas.microsoft.com/office/powerpoint/2010/main" val="2080479936"/>
              </p:ext>
            </p:extLst>
          </p:nvPr>
        </p:nvGraphicFramePr>
        <p:xfrm>
          <a:off x="747835" y="3723023"/>
          <a:ext cx="10696329" cy="64008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Host: www.darshan.ac.in</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Host</a:t>
                      </a:r>
                      <a:r>
                        <a:rPr lang="en-US" baseline="0" dirty="0"/>
                        <a:t> of the requested page is www.darshan.ac.in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6" name="Content Placeholder 21"/>
          <p:cNvGraphicFramePr>
            <a:graphicFrameLocks/>
          </p:cNvGraphicFramePr>
          <p:nvPr>
            <p:extLst>
              <p:ext uri="{D42A27DB-BD31-4B8C-83A1-F6EECF244321}">
                <p14:modId xmlns:p14="http://schemas.microsoft.com/office/powerpoint/2010/main" val="644292777"/>
              </p:ext>
            </p:extLst>
          </p:nvPr>
        </p:nvGraphicFramePr>
        <p:xfrm>
          <a:off x="747835" y="4371261"/>
          <a:ext cx="10696329" cy="91440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Accept-Language: </a:t>
                      </a:r>
                      <a:r>
                        <a:rPr lang="en-US" dirty="0" err="1"/>
                        <a:t>en</a:t>
                      </a:r>
                      <a:r>
                        <a:rPr lang="en-US" dirty="0"/>
                        <a:t>-us</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Client</a:t>
                      </a:r>
                      <a:r>
                        <a:rPr lang="en-US" baseline="0" dirty="0"/>
                        <a:t> accepts US English locale while receiving the response from the server.</a:t>
                      </a:r>
                    </a:p>
                    <a:p>
                      <a:endParaRPr lang="en-US" baseline="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7" name="Content Placeholder 21"/>
          <p:cNvGraphicFramePr>
            <a:graphicFrameLocks/>
          </p:cNvGraphicFramePr>
          <p:nvPr>
            <p:extLst>
              <p:ext uri="{D42A27DB-BD31-4B8C-83A1-F6EECF244321}">
                <p14:modId xmlns:p14="http://schemas.microsoft.com/office/powerpoint/2010/main" val="558254341"/>
              </p:ext>
            </p:extLst>
          </p:nvPr>
        </p:nvGraphicFramePr>
        <p:xfrm>
          <a:off x="747835" y="5293819"/>
          <a:ext cx="10696329" cy="64008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Accept: text/html</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dirty="0"/>
                        <a:t>Client accepts text</a:t>
                      </a:r>
                      <a:r>
                        <a:rPr lang="en-US" baseline="0" dirty="0"/>
                        <a:t> file containing the HTML in it while receiving the response from the server.</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sp>
        <p:nvSpPr>
          <p:cNvPr id="3" name="Right Arrow 2"/>
          <p:cNvSpPr/>
          <p:nvPr/>
        </p:nvSpPr>
        <p:spPr>
          <a:xfrm>
            <a:off x="4478867" y="1519768"/>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4478867" y="2434168"/>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4478867" y="3820698"/>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4478867" y="4473400"/>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4478867" y="5387800"/>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2868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Response</a:t>
            </a:r>
          </a:p>
        </p:txBody>
      </p:sp>
      <p:sp>
        <p:nvSpPr>
          <p:cNvPr id="3" name="Content Placeholder 2"/>
          <p:cNvSpPr>
            <a:spLocks noGrp="1"/>
          </p:cNvSpPr>
          <p:nvPr>
            <p:ph idx="1"/>
          </p:nvPr>
        </p:nvSpPr>
        <p:spPr>
          <a:xfrm>
            <a:off x="131179" y="1125995"/>
            <a:ext cx="11929641" cy="3482219"/>
          </a:xfrm>
        </p:spPr>
        <p:txBody>
          <a:bodyPr/>
          <a:lstStyle/>
          <a:p>
            <a:r>
              <a:rPr lang="en-US" dirty="0"/>
              <a:t>After receiving and interpreting a HTTP request message, a server responds with an HTTP response message.</a:t>
            </a:r>
          </a:p>
          <a:p>
            <a:r>
              <a:rPr lang="en-IN" dirty="0"/>
              <a:t>The HTTP response message consist of following,</a:t>
            </a:r>
          </a:p>
          <a:p>
            <a:pPr lvl="1"/>
            <a:r>
              <a:rPr lang="en-US" dirty="0"/>
              <a:t>Status-Line</a:t>
            </a:r>
            <a:r>
              <a:rPr lang="en-IN" dirty="0"/>
              <a:t> (</a:t>
            </a:r>
            <a:r>
              <a:rPr lang="en-IN" dirty="0">
                <a:solidFill>
                  <a:srgbClr val="C00000"/>
                </a:solidFill>
              </a:rPr>
              <a:t>format</a:t>
            </a:r>
            <a:r>
              <a:rPr lang="en-IN" dirty="0">
                <a:solidFill>
                  <a:schemeClr val="bg1">
                    <a:lumMod val="65000"/>
                  </a:schemeClr>
                </a:solidFill>
              </a:rPr>
              <a:t>= </a:t>
            </a:r>
            <a:r>
              <a:rPr lang="en-IN" dirty="0"/>
              <a:t>HTTP-Version SP Status-Code SP Reason-Phrase CRLF)</a:t>
            </a:r>
          </a:p>
          <a:p>
            <a:pPr lvl="1"/>
            <a:r>
              <a:rPr lang="en-US" dirty="0"/>
              <a:t>*(( general-header | response-header | entity-header ) CRLF)</a:t>
            </a:r>
          </a:p>
          <a:p>
            <a:pPr lvl="1"/>
            <a:r>
              <a:rPr lang="en-IN" dirty="0"/>
              <a:t>An empty line (CRLF)</a:t>
            </a:r>
          </a:p>
          <a:p>
            <a:pPr lvl="1"/>
            <a:r>
              <a:rPr lang="en-IN" dirty="0"/>
              <a:t>An optional message body</a:t>
            </a:r>
          </a:p>
          <a:p>
            <a:pPr marL="457200" lvl="1" indent="0">
              <a:buNone/>
            </a:pPr>
            <a:endParaRPr lang="en-IN" dirty="0"/>
          </a:p>
          <a:p>
            <a:pPr lvl="1"/>
            <a:endParaRPr lang="en-US" dirty="0"/>
          </a:p>
        </p:txBody>
      </p:sp>
    </p:spTree>
    <p:extLst>
      <p:ext uri="{BB962C8B-B14F-4D97-AF65-F5344CB8AC3E}">
        <p14:creationId xmlns:p14="http://schemas.microsoft.com/office/powerpoint/2010/main" val="94283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Response</a:t>
            </a:r>
            <a:endParaRPr lang="en-IN" dirty="0"/>
          </a:p>
        </p:txBody>
      </p:sp>
      <p:sp>
        <p:nvSpPr>
          <p:cNvPr id="3" name="Content Placeholder 2"/>
          <p:cNvSpPr>
            <a:spLocks noGrp="1"/>
          </p:cNvSpPr>
          <p:nvPr>
            <p:ph idx="1"/>
          </p:nvPr>
        </p:nvSpPr>
        <p:spPr>
          <a:xfrm>
            <a:off x="131180" y="863444"/>
            <a:ext cx="11929641" cy="3799091"/>
          </a:xfrm>
        </p:spPr>
        <p:txBody>
          <a:bodyPr/>
          <a:lstStyle/>
          <a:p>
            <a:r>
              <a:rPr lang="en-IN" sz="2800" dirty="0"/>
              <a:t>Status-Line consist of </a:t>
            </a:r>
          </a:p>
          <a:p>
            <a:pPr lvl="1"/>
            <a:r>
              <a:rPr lang="en-IN" sz="2400" dirty="0"/>
              <a:t>HTTP-Version, which can be HTTP/1.1</a:t>
            </a:r>
          </a:p>
          <a:p>
            <a:pPr lvl="1"/>
            <a:r>
              <a:rPr lang="en-IN" sz="2400" dirty="0"/>
              <a:t>Status-Code is a 3 digit code which is in below format</a:t>
            </a:r>
          </a:p>
          <a:p>
            <a:pPr lvl="2"/>
            <a:r>
              <a:rPr lang="en-IN" sz="2000" b="1" dirty="0"/>
              <a:t>1</a:t>
            </a:r>
            <a:r>
              <a:rPr lang="en-IN" sz="2000" dirty="0"/>
              <a:t>xx: </a:t>
            </a:r>
            <a:r>
              <a:rPr lang="en-US" sz="2000" b="1" dirty="0">
                <a:solidFill>
                  <a:srgbClr val="C00000"/>
                </a:solidFill>
              </a:rPr>
              <a:t>Informational</a:t>
            </a:r>
            <a:r>
              <a:rPr lang="en-US" sz="2000" dirty="0">
                <a:solidFill>
                  <a:srgbClr val="C00000"/>
                </a:solidFill>
              </a:rPr>
              <a:t> </a:t>
            </a:r>
            <a:r>
              <a:rPr lang="en-US" sz="2000" dirty="0"/>
              <a:t>- Request received, continuing process</a:t>
            </a:r>
          </a:p>
          <a:p>
            <a:pPr lvl="2"/>
            <a:r>
              <a:rPr lang="en-US" sz="2000" b="1" dirty="0"/>
              <a:t>2</a:t>
            </a:r>
            <a:r>
              <a:rPr lang="en-US" sz="2000" dirty="0"/>
              <a:t>xx: </a:t>
            </a:r>
            <a:r>
              <a:rPr lang="en-US" sz="2000" b="1" dirty="0">
                <a:solidFill>
                  <a:srgbClr val="C00000"/>
                </a:solidFill>
              </a:rPr>
              <a:t>Success</a:t>
            </a:r>
            <a:r>
              <a:rPr lang="en-US" sz="2000" dirty="0">
                <a:solidFill>
                  <a:srgbClr val="C00000"/>
                </a:solidFill>
              </a:rPr>
              <a:t> </a:t>
            </a:r>
            <a:r>
              <a:rPr lang="en-US" sz="2000" dirty="0"/>
              <a:t>- The action was successfully received, understood, and accepted</a:t>
            </a:r>
          </a:p>
          <a:p>
            <a:pPr lvl="2"/>
            <a:r>
              <a:rPr lang="en-US" sz="2000" b="1" dirty="0"/>
              <a:t>3</a:t>
            </a:r>
            <a:r>
              <a:rPr lang="en-US" sz="2000" dirty="0"/>
              <a:t>xx: </a:t>
            </a:r>
            <a:r>
              <a:rPr lang="en-US" sz="2000" b="1" dirty="0">
                <a:solidFill>
                  <a:srgbClr val="C00000"/>
                </a:solidFill>
              </a:rPr>
              <a:t>Redirection</a:t>
            </a:r>
            <a:r>
              <a:rPr lang="en-US" sz="2000" dirty="0">
                <a:solidFill>
                  <a:srgbClr val="C00000"/>
                </a:solidFill>
              </a:rPr>
              <a:t> </a:t>
            </a:r>
            <a:r>
              <a:rPr lang="en-US" sz="2000" dirty="0"/>
              <a:t>- Further action must be taken in order to complete the request</a:t>
            </a:r>
          </a:p>
          <a:p>
            <a:pPr lvl="2"/>
            <a:r>
              <a:rPr lang="en-US" sz="2000" b="1" dirty="0"/>
              <a:t>4</a:t>
            </a:r>
            <a:r>
              <a:rPr lang="en-US" sz="2000" dirty="0"/>
              <a:t>xx: </a:t>
            </a:r>
            <a:r>
              <a:rPr lang="en-US" sz="2000" b="1" dirty="0">
                <a:solidFill>
                  <a:srgbClr val="C00000"/>
                </a:solidFill>
              </a:rPr>
              <a:t>Client</a:t>
            </a:r>
            <a:r>
              <a:rPr lang="en-US" sz="2000" dirty="0">
                <a:solidFill>
                  <a:srgbClr val="C00000"/>
                </a:solidFill>
              </a:rPr>
              <a:t> </a:t>
            </a:r>
            <a:r>
              <a:rPr lang="en-US" sz="2000" b="1" dirty="0">
                <a:solidFill>
                  <a:srgbClr val="C00000"/>
                </a:solidFill>
              </a:rPr>
              <a:t>Error</a:t>
            </a:r>
            <a:r>
              <a:rPr lang="en-US" sz="2000" dirty="0">
                <a:solidFill>
                  <a:srgbClr val="C00000"/>
                </a:solidFill>
              </a:rPr>
              <a:t> </a:t>
            </a:r>
            <a:r>
              <a:rPr lang="en-US" sz="2000" dirty="0"/>
              <a:t>- The request contains bad syntax or cannot be fulfilled</a:t>
            </a:r>
          </a:p>
          <a:p>
            <a:pPr lvl="2"/>
            <a:r>
              <a:rPr lang="en-US" sz="2000" b="1" dirty="0"/>
              <a:t>5</a:t>
            </a:r>
            <a:r>
              <a:rPr lang="en-US" sz="2000" dirty="0"/>
              <a:t>xx: </a:t>
            </a:r>
            <a:r>
              <a:rPr lang="en-US" sz="2000" b="1" dirty="0">
                <a:solidFill>
                  <a:srgbClr val="C00000"/>
                </a:solidFill>
              </a:rPr>
              <a:t>Server</a:t>
            </a:r>
            <a:r>
              <a:rPr lang="en-US" sz="2000" dirty="0">
                <a:solidFill>
                  <a:srgbClr val="C00000"/>
                </a:solidFill>
              </a:rPr>
              <a:t> </a:t>
            </a:r>
            <a:r>
              <a:rPr lang="en-US" sz="2000" b="1" dirty="0">
                <a:solidFill>
                  <a:srgbClr val="C00000"/>
                </a:solidFill>
              </a:rPr>
              <a:t>Error</a:t>
            </a:r>
            <a:r>
              <a:rPr lang="en-US" sz="2000" dirty="0"/>
              <a:t> - The server failed to fulfill an apparently valid request</a:t>
            </a:r>
          </a:p>
          <a:p>
            <a:pPr lvl="1"/>
            <a:r>
              <a:rPr lang="en-US" sz="2400" dirty="0"/>
              <a:t>Reason-Phase is a textual representation of the status code in human readable format.</a:t>
            </a:r>
            <a:endParaRPr lang="en-IN" sz="2400" dirty="0"/>
          </a:p>
        </p:txBody>
      </p:sp>
    </p:spTree>
    <p:extLst>
      <p:ext uri="{BB962C8B-B14F-4D97-AF65-F5344CB8AC3E}">
        <p14:creationId xmlns:p14="http://schemas.microsoft.com/office/powerpoint/2010/main" val="134897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HTTP Status Codes with reason phrase</a:t>
            </a:r>
          </a:p>
        </p:txBody>
      </p:sp>
      <p:sp>
        <p:nvSpPr>
          <p:cNvPr id="3" name="Content Placeholder 2"/>
          <p:cNvSpPr>
            <a:spLocks noGrp="1"/>
          </p:cNvSpPr>
          <p:nvPr>
            <p:ph idx="1"/>
          </p:nvPr>
        </p:nvSpPr>
        <p:spPr>
          <a:xfrm>
            <a:off x="131180" y="863444"/>
            <a:ext cx="2503955" cy="5844927"/>
          </a:xfrm>
        </p:spPr>
        <p:txBody>
          <a:bodyPr/>
          <a:lstStyle/>
          <a:p>
            <a:pPr marL="0" indent="0">
              <a:buNone/>
            </a:pPr>
            <a:r>
              <a:rPr lang="en-US" sz="1200" dirty="0"/>
              <a:t>"100": Continue</a:t>
            </a:r>
          </a:p>
          <a:p>
            <a:pPr marL="0" indent="0">
              <a:buNone/>
            </a:pPr>
            <a:r>
              <a:rPr lang="en-US" sz="1200" dirty="0"/>
              <a:t>"101": Switching Protocols</a:t>
            </a:r>
          </a:p>
          <a:p>
            <a:pPr marL="0" indent="0">
              <a:buNone/>
            </a:pPr>
            <a:r>
              <a:rPr lang="en-US" sz="1200" dirty="0"/>
              <a:t>"200": OK</a:t>
            </a:r>
          </a:p>
          <a:p>
            <a:pPr marL="0" indent="0">
              <a:buNone/>
            </a:pPr>
            <a:r>
              <a:rPr lang="en-US" sz="1200" dirty="0"/>
              <a:t>"201": Created</a:t>
            </a:r>
          </a:p>
          <a:p>
            <a:pPr marL="0" indent="0">
              <a:buNone/>
            </a:pPr>
            <a:r>
              <a:rPr lang="en-US" sz="1200" dirty="0"/>
              <a:t>"202": Accepted</a:t>
            </a:r>
          </a:p>
          <a:p>
            <a:pPr marL="0" indent="0">
              <a:buNone/>
            </a:pPr>
            <a:r>
              <a:rPr lang="en-US" sz="1200" dirty="0"/>
              <a:t>"203": Non-Authoritative Information</a:t>
            </a:r>
          </a:p>
          <a:p>
            <a:pPr marL="0" indent="0">
              <a:buNone/>
            </a:pPr>
            <a:r>
              <a:rPr lang="en-US" sz="1200" dirty="0"/>
              <a:t>"204": No Content</a:t>
            </a:r>
          </a:p>
          <a:p>
            <a:pPr marL="0" indent="0">
              <a:buNone/>
            </a:pPr>
            <a:r>
              <a:rPr lang="en-US" sz="1200" dirty="0"/>
              <a:t>"205": Reset Content</a:t>
            </a:r>
          </a:p>
          <a:p>
            <a:pPr marL="0" indent="0">
              <a:buNone/>
            </a:pPr>
            <a:r>
              <a:rPr lang="en-US" sz="1200" dirty="0"/>
              <a:t>"206": Partial Content</a:t>
            </a:r>
          </a:p>
          <a:p>
            <a:pPr marL="0" indent="0">
              <a:buNone/>
            </a:pPr>
            <a:r>
              <a:rPr lang="en-US" sz="1200" dirty="0"/>
              <a:t>"300": Multiple Choices</a:t>
            </a:r>
          </a:p>
          <a:p>
            <a:pPr marL="0" indent="0">
              <a:buNone/>
            </a:pPr>
            <a:r>
              <a:rPr lang="en-US" sz="1200" dirty="0"/>
              <a:t>"301": Moved Permanently</a:t>
            </a:r>
          </a:p>
          <a:p>
            <a:pPr marL="0" indent="0">
              <a:buNone/>
            </a:pPr>
            <a:r>
              <a:rPr lang="en-US" sz="1200" dirty="0"/>
              <a:t>"302": Found</a:t>
            </a:r>
          </a:p>
          <a:p>
            <a:pPr marL="0" indent="0">
              <a:buNone/>
            </a:pPr>
            <a:r>
              <a:rPr lang="en-US" sz="1200" dirty="0"/>
              <a:t>"303": See Other</a:t>
            </a:r>
          </a:p>
          <a:p>
            <a:pPr marL="0" indent="0">
              <a:buNone/>
            </a:pPr>
            <a:r>
              <a:rPr lang="en-US" sz="1200" dirty="0"/>
              <a:t>"304": Not Modified</a:t>
            </a:r>
          </a:p>
          <a:p>
            <a:pPr marL="0" indent="0">
              <a:buNone/>
            </a:pPr>
            <a:r>
              <a:rPr lang="en-US" sz="1200" dirty="0"/>
              <a:t>"305": Use Proxy</a:t>
            </a:r>
          </a:p>
          <a:p>
            <a:pPr marL="0" indent="0">
              <a:buNone/>
            </a:pPr>
            <a:r>
              <a:rPr lang="en-US" sz="1200" dirty="0"/>
              <a:t>"307": Temporary Redirect</a:t>
            </a:r>
          </a:p>
          <a:p>
            <a:pPr marL="0" indent="0">
              <a:buNone/>
            </a:pPr>
            <a:r>
              <a:rPr lang="en-US" sz="1200" dirty="0"/>
              <a:t>"400": Bad Request</a:t>
            </a:r>
          </a:p>
          <a:p>
            <a:pPr marL="0" indent="0">
              <a:buNone/>
            </a:pPr>
            <a:r>
              <a:rPr lang="en-US" sz="1200" dirty="0"/>
              <a:t>"401": Unauthorized</a:t>
            </a:r>
          </a:p>
          <a:p>
            <a:pPr marL="0" indent="0">
              <a:buNone/>
            </a:pPr>
            <a:r>
              <a:rPr lang="en-US" sz="1200" dirty="0"/>
              <a:t>"402": Payment Required</a:t>
            </a:r>
          </a:p>
          <a:p>
            <a:pPr marL="0" indent="0">
              <a:buNone/>
            </a:pPr>
            <a:r>
              <a:rPr lang="en-US" sz="1200" dirty="0"/>
              <a:t>"403": Forbidden</a:t>
            </a:r>
          </a:p>
        </p:txBody>
      </p:sp>
      <p:pic>
        <p:nvPicPr>
          <p:cNvPr id="4" name="Picture 8" descr="Image result for html 404 status code funny"/>
          <p:cNvPicPr>
            <a:picLocks noChangeAspect="1" noChangeArrowheads="1"/>
          </p:cNvPicPr>
          <p:nvPr/>
        </p:nvPicPr>
        <p:blipFill>
          <a:blip r:embed="rId2" cstate="print"/>
          <a:srcRect/>
          <a:stretch>
            <a:fillRect/>
          </a:stretch>
        </p:blipFill>
        <p:spPr bwMode="auto">
          <a:xfrm>
            <a:off x="5736221" y="787244"/>
            <a:ext cx="6324600" cy="5059680"/>
          </a:xfrm>
          <a:prstGeom prst="rect">
            <a:avLst/>
          </a:prstGeom>
          <a:noFill/>
        </p:spPr>
      </p:pic>
      <p:pic>
        <p:nvPicPr>
          <p:cNvPr id="5" name="Picture 2" descr="406 - Not Acceptable"/>
          <p:cNvPicPr>
            <a:picLocks noChangeAspect="1" noChangeArrowheads="1"/>
          </p:cNvPicPr>
          <p:nvPr/>
        </p:nvPicPr>
        <p:blipFill>
          <a:blip r:embed="rId3" cstate="print"/>
          <a:srcRect/>
          <a:stretch>
            <a:fillRect/>
          </a:stretch>
        </p:blipFill>
        <p:spPr bwMode="auto">
          <a:xfrm>
            <a:off x="5812421" y="863444"/>
            <a:ext cx="6096000" cy="4876801"/>
          </a:xfrm>
          <a:prstGeom prst="rect">
            <a:avLst/>
          </a:prstGeom>
          <a:noFill/>
        </p:spPr>
      </p:pic>
      <p:pic>
        <p:nvPicPr>
          <p:cNvPr id="6" name="Picture 4" descr="429 - Too Many Requests"/>
          <p:cNvPicPr>
            <a:picLocks noChangeAspect="1" noChangeArrowheads="1"/>
          </p:cNvPicPr>
          <p:nvPr/>
        </p:nvPicPr>
        <p:blipFill>
          <a:blip r:embed="rId4" cstate="print"/>
          <a:srcRect/>
          <a:stretch>
            <a:fillRect/>
          </a:stretch>
        </p:blipFill>
        <p:spPr bwMode="auto">
          <a:xfrm>
            <a:off x="5736221" y="787244"/>
            <a:ext cx="6096000" cy="4876801"/>
          </a:xfrm>
          <a:prstGeom prst="rect">
            <a:avLst/>
          </a:prstGeom>
          <a:noFill/>
        </p:spPr>
      </p:pic>
      <p:pic>
        <p:nvPicPr>
          <p:cNvPr id="7" name="Picture 6" descr="502 - Bad Gateway"/>
          <p:cNvPicPr>
            <a:picLocks noChangeAspect="1" noChangeArrowheads="1"/>
          </p:cNvPicPr>
          <p:nvPr/>
        </p:nvPicPr>
        <p:blipFill>
          <a:blip r:embed="rId5" cstate="print"/>
          <a:srcRect/>
          <a:stretch>
            <a:fillRect/>
          </a:stretch>
        </p:blipFill>
        <p:spPr bwMode="auto">
          <a:xfrm>
            <a:off x="5964821" y="863444"/>
            <a:ext cx="6096000" cy="4876801"/>
          </a:xfrm>
          <a:prstGeom prst="rect">
            <a:avLst/>
          </a:prstGeom>
          <a:noFill/>
        </p:spPr>
      </p:pic>
      <p:pic>
        <p:nvPicPr>
          <p:cNvPr id="8" name="Picture 8" descr="Image result for html status codes"/>
          <p:cNvPicPr>
            <a:picLocks noChangeAspect="1" noChangeArrowheads="1"/>
          </p:cNvPicPr>
          <p:nvPr/>
        </p:nvPicPr>
        <p:blipFill>
          <a:blip r:embed="rId6" cstate="print"/>
          <a:srcRect/>
          <a:stretch>
            <a:fillRect/>
          </a:stretch>
        </p:blipFill>
        <p:spPr bwMode="auto">
          <a:xfrm>
            <a:off x="5812421" y="1015844"/>
            <a:ext cx="6191250" cy="4762500"/>
          </a:xfrm>
          <a:prstGeom prst="rect">
            <a:avLst/>
          </a:prstGeom>
          <a:noFill/>
        </p:spPr>
      </p:pic>
      <p:pic>
        <p:nvPicPr>
          <p:cNvPr id="9" name="Picture 10" descr="Image result for html status codes"/>
          <p:cNvPicPr>
            <a:picLocks noChangeAspect="1" noChangeArrowheads="1"/>
          </p:cNvPicPr>
          <p:nvPr/>
        </p:nvPicPr>
        <p:blipFill>
          <a:blip r:embed="rId7" cstate="print"/>
          <a:srcRect/>
          <a:stretch>
            <a:fillRect/>
          </a:stretch>
        </p:blipFill>
        <p:spPr bwMode="auto">
          <a:xfrm>
            <a:off x="5812421" y="1092044"/>
            <a:ext cx="6191250" cy="4762500"/>
          </a:xfrm>
          <a:prstGeom prst="rect">
            <a:avLst/>
          </a:prstGeom>
          <a:noFill/>
        </p:spPr>
      </p:pic>
      <p:sp>
        <p:nvSpPr>
          <p:cNvPr id="12" name="Content Placeholder 2"/>
          <p:cNvSpPr txBox="1">
            <a:spLocks/>
          </p:cNvSpPr>
          <p:nvPr/>
        </p:nvSpPr>
        <p:spPr>
          <a:xfrm>
            <a:off x="2933700" y="863444"/>
            <a:ext cx="2503955" cy="5844927"/>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"404": Not Found</a:t>
            </a:r>
          </a:p>
          <a:p>
            <a:pPr marL="0" indent="0">
              <a:buNone/>
            </a:pPr>
            <a:r>
              <a:rPr lang="en-US" sz="1200" dirty="0"/>
              <a:t>"405": Method Not Allowed</a:t>
            </a:r>
          </a:p>
          <a:p>
            <a:pPr marL="0" indent="0">
              <a:buNone/>
            </a:pPr>
            <a:r>
              <a:rPr lang="en-US" sz="1200" dirty="0"/>
              <a:t>"406": Not Acceptable</a:t>
            </a:r>
          </a:p>
          <a:p>
            <a:pPr marL="0" indent="0">
              <a:buNone/>
            </a:pPr>
            <a:r>
              <a:rPr lang="en-US" sz="1200" dirty="0"/>
              <a:t>"407": Proxy Authentication Required</a:t>
            </a:r>
          </a:p>
          <a:p>
            <a:pPr marL="0" indent="0">
              <a:buNone/>
            </a:pPr>
            <a:r>
              <a:rPr lang="en-US" sz="1200" dirty="0"/>
              <a:t>"408": Request Time-out</a:t>
            </a:r>
          </a:p>
          <a:p>
            <a:pPr marL="0" indent="0">
              <a:buNone/>
            </a:pPr>
            <a:r>
              <a:rPr lang="en-US" sz="1200" dirty="0"/>
              <a:t>"409": Conflict</a:t>
            </a:r>
          </a:p>
          <a:p>
            <a:pPr marL="0" indent="0">
              <a:buNone/>
            </a:pPr>
            <a:r>
              <a:rPr lang="en-US" sz="1200" dirty="0"/>
              <a:t>"410": Gone</a:t>
            </a:r>
          </a:p>
          <a:p>
            <a:pPr marL="0" indent="0">
              <a:buNone/>
            </a:pPr>
            <a:r>
              <a:rPr lang="en-US" sz="1200" dirty="0"/>
              <a:t>"411": Length Required</a:t>
            </a:r>
          </a:p>
          <a:p>
            <a:pPr marL="0" indent="0">
              <a:buNone/>
            </a:pPr>
            <a:r>
              <a:rPr lang="en-US" sz="1200" dirty="0"/>
              <a:t>"412": Precondition Failed</a:t>
            </a:r>
          </a:p>
          <a:p>
            <a:pPr marL="0" indent="0">
              <a:buNone/>
            </a:pPr>
            <a:r>
              <a:rPr lang="en-US" sz="1200" dirty="0"/>
              <a:t>"413": Request Entity Too Large</a:t>
            </a:r>
          </a:p>
          <a:p>
            <a:pPr marL="0" indent="0">
              <a:buNone/>
            </a:pPr>
            <a:r>
              <a:rPr lang="en-US" sz="1200" dirty="0"/>
              <a:t>"414": Request-URI Too Large</a:t>
            </a:r>
          </a:p>
          <a:p>
            <a:pPr marL="0" indent="0">
              <a:buNone/>
            </a:pPr>
            <a:r>
              <a:rPr lang="en-US" sz="1200" dirty="0"/>
              <a:t>"415": Unsupported Media Type</a:t>
            </a:r>
          </a:p>
          <a:p>
            <a:pPr marL="0" indent="0">
              <a:buNone/>
            </a:pPr>
            <a:r>
              <a:rPr lang="en-US" sz="1200" dirty="0"/>
              <a:t>"416": Requested range not </a:t>
            </a:r>
            <a:r>
              <a:rPr lang="en-US" sz="1200" dirty="0" err="1"/>
              <a:t>satisfiable</a:t>
            </a:r>
            <a:endParaRPr lang="en-US" sz="1200" dirty="0"/>
          </a:p>
          <a:p>
            <a:pPr marL="0" indent="0">
              <a:buNone/>
            </a:pPr>
            <a:r>
              <a:rPr lang="en-US" sz="1200" dirty="0"/>
              <a:t>"417": Expectation Failed</a:t>
            </a:r>
          </a:p>
          <a:p>
            <a:pPr marL="0" indent="0">
              <a:buNone/>
            </a:pPr>
            <a:r>
              <a:rPr lang="en-US" sz="1200" dirty="0"/>
              <a:t>"500": Internal Server Error</a:t>
            </a:r>
          </a:p>
          <a:p>
            <a:pPr marL="0" indent="0">
              <a:buNone/>
            </a:pPr>
            <a:r>
              <a:rPr lang="en-US" sz="1200" dirty="0"/>
              <a:t>"501": Not Implemented</a:t>
            </a:r>
          </a:p>
          <a:p>
            <a:pPr marL="0" indent="0">
              <a:buNone/>
            </a:pPr>
            <a:r>
              <a:rPr lang="en-US" sz="1200" dirty="0"/>
              <a:t>"502": Bad Gateway</a:t>
            </a:r>
          </a:p>
          <a:p>
            <a:pPr marL="0" indent="0">
              <a:buNone/>
            </a:pPr>
            <a:r>
              <a:rPr lang="en-US" sz="1200" dirty="0"/>
              <a:t>"503": Service Unavailable</a:t>
            </a:r>
          </a:p>
          <a:p>
            <a:pPr marL="0" indent="0">
              <a:buNone/>
            </a:pPr>
            <a:r>
              <a:rPr lang="en-US" sz="1200" dirty="0"/>
              <a:t>"504": Gateway Time-out</a:t>
            </a:r>
          </a:p>
          <a:p>
            <a:pPr marL="0" indent="0">
              <a:buNone/>
            </a:pPr>
            <a:r>
              <a:rPr lang="en-US" sz="1200" dirty="0"/>
              <a:t>"505": HTTP Version not supported</a:t>
            </a:r>
          </a:p>
        </p:txBody>
      </p:sp>
      <p:sp>
        <p:nvSpPr>
          <p:cNvPr id="13" name="TextBox 12"/>
          <p:cNvSpPr txBox="1"/>
          <p:nvPr/>
        </p:nvSpPr>
        <p:spPr>
          <a:xfrm>
            <a:off x="5964821" y="5930744"/>
            <a:ext cx="3353746" cy="646331"/>
          </a:xfrm>
          <a:prstGeom prst="rect">
            <a:avLst/>
          </a:prstGeom>
          <a:noFill/>
        </p:spPr>
        <p:txBody>
          <a:bodyPr wrap="square" rtlCol="0">
            <a:spAutoFit/>
          </a:bodyPr>
          <a:lstStyle/>
          <a:p>
            <a:r>
              <a:rPr lang="en-US" sz="1200" dirty="0"/>
              <a:t>Refer: </a:t>
            </a:r>
            <a:r>
              <a:rPr lang="en-US" sz="1200" dirty="0">
                <a:hlinkClick r:id="rId8"/>
              </a:rPr>
              <a:t>https://www.w3.org/Protocols/rfc2616/rfc2616-sec6.html</a:t>
            </a:r>
            <a:r>
              <a:rPr lang="en-US" sz="1200" dirty="0"/>
              <a:t> for more details on HTTP Status Code</a:t>
            </a:r>
          </a:p>
        </p:txBody>
      </p:sp>
    </p:spTree>
    <p:extLst>
      <p:ext uri="{BB962C8B-B14F-4D97-AF65-F5344CB8AC3E}">
        <p14:creationId xmlns:p14="http://schemas.microsoft.com/office/powerpoint/2010/main" val="130418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HTTP Response (Example)</a:t>
            </a:r>
            <a:endParaRPr lang="en-US" dirty="0"/>
          </a:p>
        </p:txBody>
      </p:sp>
      <p:graphicFrame>
        <p:nvGraphicFramePr>
          <p:cNvPr id="22" name="Content Placeholder 21"/>
          <p:cNvGraphicFramePr>
            <a:graphicFrameLocks noGrp="1"/>
          </p:cNvGraphicFramePr>
          <p:nvPr>
            <p:ph idx="1"/>
            <p:extLst>
              <p:ext uri="{D42A27DB-BD31-4B8C-83A1-F6EECF244321}">
                <p14:modId xmlns:p14="http://schemas.microsoft.com/office/powerpoint/2010/main" val="4107278947"/>
              </p:ext>
            </p:extLst>
          </p:nvPr>
        </p:nvGraphicFramePr>
        <p:xfrm>
          <a:off x="747835" y="1337425"/>
          <a:ext cx="10696329" cy="64008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HTTP/1.1 200 OK</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Response is 200 status code with OK message using HTTP1.1</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4" name="Content Placeholder 21"/>
          <p:cNvGraphicFramePr>
            <a:graphicFrameLocks/>
          </p:cNvGraphicFramePr>
          <p:nvPr>
            <p:extLst>
              <p:ext uri="{D42A27DB-BD31-4B8C-83A1-F6EECF244321}">
                <p14:modId xmlns:p14="http://schemas.microsoft.com/office/powerpoint/2010/main" val="3436597514"/>
              </p:ext>
            </p:extLst>
          </p:nvPr>
        </p:nvGraphicFramePr>
        <p:xfrm>
          <a:off x="747835" y="2102191"/>
          <a:ext cx="10696329" cy="64008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a:buNone/>
                      </a:pPr>
                      <a:r>
                        <a:rPr lang="en-US" dirty="0"/>
                        <a:t>Date: Mon, 27 Jul 2009 </a:t>
                      </a:r>
                    </a:p>
                    <a:p>
                      <a:pPr>
                        <a:buNone/>
                      </a:pPr>
                      <a:r>
                        <a:rPr lang="en-US" dirty="0"/>
                        <a:t>12:28:53 GMT</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Response</a:t>
                      </a:r>
                      <a:r>
                        <a:rPr kumimoji="0" lang="en-US" sz="1800" b="0" i="0" u="none" strike="noStrike" kern="1200" cap="none" spc="0" normalizeH="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 Date &amp; Time</a:t>
                      </a:r>
                      <a:endPar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5" name="Content Placeholder 21"/>
          <p:cNvGraphicFramePr>
            <a:graphicFrameLocks/>
          </p:cNvGraphicFramePr>
          <p:nvPr>
            <p:extLst>
              <p:ext uri="{D42A27DB-BD31-4B8C-83A1-F6EECF244321}">
                <p14:modId xmlns:p14="http://schemas.microsoft.com/office/powerpoint/2010/main" val="2561300141"/>
              </p:ext>
            </p:extLst>
          </p:nvPr>
        </p:nvGraphicFramePr>
        <p:xfrm>
          <a:off x="747835" y="2933312"/>
          <a:ext cx="10696329" cy="64008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Server: Apache/2.2.14 (Win32)</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Webserver</a:t>
                      </a:r>
                      <a:r>
                        <a:rPr kumimoji="0" lang="en-US" sz="1800" b="0" i="0" u="none" strike="noStrike" kern="1200" cap="none" spc="0" normalizeH="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 used by server is Apache and</a:t>
                      </a:r>
                      <a:r>
                        <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 version is 2.2.14 built for 32bit OS</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6" name="Content Placeholder 21"/>
          <p:cNvGraphicFramePr>
            <a:graphicFrameLocks/>
          </p:cNvGraphicFramePr>
          <p:nvPr>
            <p:extLst>
              <p:ext uri="{D42A27DB-BD31-4B8C-83A1-F6EECF244321}">
                <p14:modId xmlns:p14="http://schemas.microsoft.com/office/powerpoint/2010/main" val="2059478542"/>
              </p:ext>
            </p:extLst>
          </p:nvPr>
        </p:nvGraphicFramePr>
        <p:xfrm>
          <a:off x="747835" y="3714558"/>
          <a:ext cx="10696329" cy="64008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a:buNone/>
                      </a:pPr>
                      <a:r>
                        <a:rPr lang="en-US" dirty="0"/>
                        <a:t>Last-Modified: Wed, </a:t>
                      </a:r>
                    </a:p>
                    <a:p>
                      <a:pPr>
                        <a:buNone/>
                      </a:pPr>
                      <a:r>
                        <a:rPr lang="en-US" dirty="0"/>
                        <a:t>22 Jul 2009 19:15:56 GMT</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Last modified at Date &amp; Time</a:t>
                      </a:r>
                      <a:r>
                        <a:rPr lang="en-US" baseline="0" dirty="0"/>
                        <a:t>.</a:t>
                      </a:r>
                    </a:p>
                    <a:p>
                      <a:endParaRPr lang="en-US" baseline="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graphicFrame>
        <p:nvGraphicFramePr>
          <p:cNvPr id="7" name="Content Placeholder 21"/>
          <p:cNvGraphicFramePr>
            <a:graphicFrameLocks/>
          </p:cNvGraphicFramePr>
          <p:nvPr>
            <p:extLst>
              <p:ext uri="{D42A27DB-BD31-4B8C-83A1-F6EECF244321}">
                <p14:modId xmlns:p14="http://schemas.microsoft.com/office/powerpoint/2010/main" val="555703027"/>
              </p:ext>
            </p:extLst>
          </p:nvPr>
        </p:nvGraphicFramePr>
        <p:xfrm>
          <a:off x="747835" y="4529047"/>
          <a:ext cx="10696329" cy="37084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Content-Length: 88</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1800" b="0" i="0" u="none" strike="noStrike" kern="1200" cap="none" spc="0" normalizeH="0" baseline="0" noProof="0" dirty="0">
                          <a:ln>
                            <a:noFill/>
                          </a:ln>
                          <a:solidFill>
                            <a:schemeClr val="tx1"/>
                          </a:solidFill>
                          <a:effectLst/>
                          <a:uLnTx/>
                          <a:uFillTx/>
                          <a:latin typeface="+mn-lt"/>
                          <a:cs typeface="Times New Roman" panose="02020603050405020304" pitchFamily="18" charset="0"/>
                        </a:rPr>
                        <a:t>Content size of the response is 88 bytes</a:t>
                      </a:r>
                      <a:endParaRPr lang="en-US" baseline="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sp>
        <p:nvSpPr>
          <p:cNvPr id="3" name="Right Arrow 2"/>
          <p:cNvSpPr/>
          <p:nvPr/>
        </p:nvSpPr>
        <p:spPr>
          <a:xfrm>
            <a:off x="4478867" y="1519768"/>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4478867" y="2284534"/>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Arrow 9"/>
          <p:cNvSpPr/>
          <p:nvPr/>
        </p:nvSpPr>
        <p:spPr>
          <a:xfrm>
            <a:off x="4478867" y="3030987"/>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p:cNvSpPr/>
          <p:nvPr/>
        </p:nvSpPr>
        <p:spPr>
          <a:xfrm>
            <a:off x="4478867" y="3816697"/>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2"/>
          <p:cNvSpPr/>
          <p:nvPr/>
        </p:nvSpPr>
        <p:spPr>
          <a:xfrm>
            <a:off x="4478867" y="4623028"/>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4" name="Content Placeholder 21"/>
          <p:cNvGraphicFramePr>
            <a:graphicFrameLocks/>
          </p:cNvGraphicFramePr>
          <p:nvPr>
            <p:extLst>
              <p:ext uri="{D42A27DB-BD31-4B8C-83A1-F6EECF244321}">
                <p14:modId xmlns:p14="http://schemas.microsoft.com/office/powerpoint/2010/main" val="1304015260"/>
              </p:ext>
            </p:extLst>
          </p:nvPr>
        </p:nvGraphicFramePr>
        <p:xfrm>
          <a:off x="747835" y="5077687"/>
          <a:ext cx="10696329" cy="640080"/>
        </p:xfrm>
        <a:graphic>
          <a:graphicData uri="http://schemas.openxmlformats.org/drawingml/2006/table">
            <a:tbl>
              <a:tblPr>
                <a:tableStyleId>{5C22544A-7EE6-4342-B048-85BDC9FD1C3A}</a:tableStyleId>
              </a:tblPr>
              <a:tblGrid>
                <a:gridCol w="4040296">
                  <a:extLst>
                    <a:ext uri="{9D8B030D-6E8A-4147-A177-3AD203B41FA5}">
                      <a16:colId xmlns:a16="http://schemas.microsoft.com/office/drawing/2014/main" val="1022313236"/>
                    </a:ext>
                  </a:extLst>
                </a:gridCol>
                <a:gridCol w="1712422">
                  <a:extLst>
                    <a:ext uri="{9D8B030D-6E8A-4147-A177-3AD203B41FA5}">
                      <a16:colId xmlns:a16="http://schemas.microsoft.com/office/drawing/2014/main" val="309381641"/>
                    </a:ext>
                  </a:extLst>
                </a:gridCol>
                <a:gridCol w="4943611">
                  <a:extLst>
                    <a:ext uri="{9D8B030D-6E8A-4147-A177-3AD203B41FA5}">
                      <a16:colId xmlns:a16="http://schemas.microsoft.com/office/drawing/2014/main" val="2999647544"/>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Content-Type: text/html</a:t>
                      </a:r>
                      <a:endParaRPr lang="en-IN"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chemeClr val="tx1"/>
                          </a:solidFill>
                          <a:effectLst/>
                          <a:uLnTx/>
                          <a:uFillTx/>
                          <a:latin typeface="+mn-lt"/>
                          <a:ea typeface="Times New Roman" panose="02020603050405020304" pitchFamily="18" charset="0"/>
                          <a:cs typeface="Times New Roman" panose="02020603050405020304" pitchFamily="18" charset="0"/>
                        </a:rPr>
                        <a:t>Content type of the response is text file containing HTML</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8767761"/>
                  </a:ext>
                </a:extLst>
              </a:tr>
            </a:tbl>
          </a:graphicData>
        </a:graphic>
      </p:graphicFrame>
      <p:sp>
        <p:nvSpPr>
          <p:cNvPr id="15" name="Right Arrow 14"/>
          <p:cNvSpPr/>
          <p:nvPr/>
        </p:nvSpPr>
        <p:spPr>
          <a:xfrm>
            <a:off x="4478867" y="5195534"/>
            <a:ext cx="1820333" cy="211666"/>
          </a:xfrm>
          <a:prstGeom prst="rightArrow">
            <a:avLst/>
          </a:prstGeom>
          <a:solidFill>
            <a:srgbClr val="92D050"/>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8675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2" grpId="0" animBg="1"/>
      <p:bldP spid="13" grpId="0" animBg="1"/>
      <p:bldP spid="1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Technologies</a:t>
            </a:r>
            <a:endParaRPr lang="en-IN" dirty="0"/>
          </a:p>
        </p:txBody>
      </p:sp>
      <p:sp>
        <p:nvSpPr>
          <p:cNvPr id="3" name="Content Placeholder 2"/>
          <p:cNvSpPr>
            <a:spLocks noGrp="1"/>
          </p:cNvSpPr>
          <p:nvPr>
            <p:ph idx="1"/>
          </p:nvPr>
        </p:nvSpPr>
        <p:spPr/>
        <p:txBody>
          <a:bodyPr/>
          <a:lstStyle/>
          <a:p>
            <a:pPr lvl="0"/>
            <a:r>
              <a:rPr lang="en-IN" dirty="0"/>
              <a:t>HTML</a:t>
            </a:r>
          </a:p>
          <a:p>
            <a:pPr lvl="1"/>
            <a:r>
              <a:rPr lang="en-IN" dirty="0"/>
              <a:t>HTML stands for Hypertext </a:t>
            </a:r>
            <a:r>
              <a:rPr lang="en-IN" dirty="0" err="1"/>
              <a:t>Markup</a:t>
            </a:r>
            <a:r>
              <a:rPr lang="en-IN" dirty="0"/>
              <a:t> Language. </a:t>
            </a:r>
          </a:p>
          <a:p>
            <a:pPr lvl="1"/>
            <a:r>
              <a:rPr lang="en-IN" dirty="0"/>
              <a:t>It is used to design the front-end portion of web pages using a </a:t>
            </a:r>
            <a:r>
              <a:rPr lang="en-IN" dirty="0" err="1"/>
              <a:t>markup</a:t>
            </a:r>
            <a:r>
              <a:rPr lang="en-IN" dirty="0"/>
              <a:t> language. </a:t>
            </a:r>
          </a:p>
          <a:p>
            <a:pPr lvl="1"/>
            <a:r>
              <a:rPr lang="en-IN" dirty="0"/>
              <a:t>HTML is the combination of Hypertext and </a:t>
            </a:r>
            <a:r>
              <a:rPr lang="en-IN" dirty="0" err="1"/>
              <a:t>Markup</a:t>
            </a:r>
            <a:r>
              <a:rPr lang="en-IN" dirty="0"/>
              <a:t> language. Hypertext defines the link between the web pages. The </a:t>
            </a:r>
            <a:r>
              <a:rPr lang="en-IN" dirty="0" err="1"/>
              <a:t>markup</a:t>
            </a:r>
            <a:r>
              <a:rPr lang="en-IN" dirty="0"/>
              <a:t> language is used to define the text documentation within the tag which defines the structure of web pages. </a:t>
            </a:r>
          </a:p>
          <a:p>
            <a:pPr lvl="0"/>
            <a:r>
              <a:rPr lang="en-IN" dirty="0"/>
              <a:t>CSS</a:t>
            </a:r>
          </a:p>
          <a:p>
            <a:pPr lvl="1"/>
            <a:r>
              <a:rPr lang="en-IN" dirty="0"/>
              <a:t>Cascading Style Sheets fondly referred to as CSS is a simply designed language intended to simplify the process of making web pages presentable. </a:t>
            </a:r>
          </a:p>
          <a:p>
            <a:pPr lvl="1"/>
            <a:r>
              <a:rPr lang="en-IN" dirty="0"/>
              <a:t>CSS allows you to apply styles to web pages. </a:t>
            </a:r>
          </a:p>
          <a:p>
            <a:pPr lvl="1"/>
            <a:r>
              <a:rPr lang="en-IN" dirty="0"/>
              <a:t>More importantly, CSS enables you to do this independent of the HTML that makes up each web page.</a:t>
            </a:r>
          </a:p>
          <a:p>
            <a:pPr lvl="0"/>
            <a:r>
              <a:rPr lang="en-IN" dirty="0"/>
              <a:t>JavaScript</a:t>
            </a:r>
          </a:p>
          <a:p>
            <a:pPr lvl="1"/>
            <a:r>
              <a:rPr lang="en-IN" dirty="0"/>
              <a:t>JavaScript is a famous scripting language used to create magic on the sites to make the site interactive for the user. </a:t>
            </a:r>
          </a:p>
          <a:p>
            <a:pPr lvl="1"/>
            <a:r>
              <a:rPr lang="en-IN" dirty="0"/>
              <a:t>It is used to enhancing the functionality of a website to running cool games and web-based software.</a:t>
            </a:r>
          </a:p>
        </p:txBody>
      </p:sp>
    </p:spTree>
    <p:extLst>
      <p:ext uri="{BB962C8B-B14F-4D97-AF65-F5344CB8AC3E}">
        <p14:creationId xmlns:p14="http://schemas.microsoft.com/office/powerpoint/2010/main" val="477830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Web Technologies (Cont.)</a:t>
            </a:r>
            <a:endParaRPr lang="en-IN" dirty="0"/>
          </a:p>
        </p:txBody>
      </p:sp>
      <p:sp>
        <p:nvSpPr>
          <p:cNvPr id="3" name="Content Placeholder 2"/>
          <p:cNvSpPr>
            <a:spLocks noGrp="1"/>
          </p:cNvSpPr>
          <p:nvPr>
            <p:ph idx="1"/>
          </p:nvPr>
        </p:nvSpPr>
        <p:spPr/>
        <p:txBody>
          <a:bodyPr/>
          <a:lstStyle/>
          <a:p>
            <a:pPr lvl="0"/>
            <a:r>
              <a:rPr lang="en-IN" dirty="0"/>
              <a:t>Bootstrap</a:t>
            </a:r>
          </a:p>
          <a:p>
            <a:pPr lvl="1"/>
            <a:r>
              <a:rPr lang="en-IN" dirty="0"/>
              <a:t>Bootstrap is the most popular HTML, CSS, and JavaScript framework for developing responsive, mobile-first websites. </a:t>
            </a:r>
          </a:p>
          <a:p>
            <a:pPr lvl="1"/>
            <a:r>
              <a:rPr lang="en-IN" dirty="0"/>
              <a:t>Bootstrap is completely free to download and use! The primary purpose of adding it to a web project is to apply Bootstrap's choices of color, size, font and layout to that project. </a:t>
            </a:r>
          </a:p>
          <a:p>
            <a:pPr lvl="1"/>
            <a:r>
              <a:rPr lang="en-IN" dirty="0"/>
              <a:t>As such, the primary factor is whether the developers in charge find those choices to their liking. </a:t>
            </a:r>
          </a:p>
          <a:p>
            <a:pPr lvl="1"/>
            <a:r>
              <a:rPr lang="en-IN" dirty="0"/>
              <a:t>Once added to a project, Bootstrap provides basic style definitions for all HTML elements. </a:t>
            </a:r>
          </a:p>
          <a:p>
            <a:r>
              <a:rPr lang="en-IN" dirty="0"/>
              <a:t>Material Design</a:t>
            </a:r>
          </a:p>
          <a:p>
            <a:pPr lvl="1"/>
            <a:r>
              <a:rPr lang="en-IN" dirty="0"/>
              <a:t>Material is a design system created by Google to help teams build high-quality digital experiences for Android, </a:t>
            </a:r>
            <a:r>
              <a:rPr lang="en-IN" dirty="0" err="1"/>
              <a:t>iOS</a:t>
            </a:r>
            <a:r>
              <a:rPr lang="en-IN" dirty="0"/>
              <a:t>, Flutter, and the web. </a:t>
            </a:r>
          </a:p>
          <a:p>
            <a:pPr lvl="1"/>
            <a:r>
              <a:rPr lang="en-IN" dirty="0"/>
              <a:t>Material Design is inspired by the physical world and its textures, including how they reflect light and cast shadows.</a:t>
            </a:r>
          </a:p>
        </p:txBody>
      </p:sp>
    </p:spTree>
    <p:extLst>
      <p:ext uri="{BB962C8B-B14F-4D97-AF65-F5344CB8AC3E}">
        <p14:creationId xmlns:p14="http://schemas.microsoft.com/office/powerpoint/2010/main" val="3610603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Concept of Effective Web Design</a:t>
            </a:r>
          </a:p>
        </p:txBody>
      </p:sp>
      <p:sp>
        <p:nvSpPr>
          <p:cNvPr id="3" name="Content Placeholder 2"/>
          <p:cNvSpPr>
            <a:spLocks noGrp="1"/>
          </p:cNvSpPr>
          <p:nvPr>
            <p:ph idx="1"/>
          </p:nvPr>
        </p:nvSpPr>
        <p:spPr/>
        <p:txBody>
          <a:bodyPr/>
          <a:lstStyle/>
          <a:p>
            <a:r>
              <a:rPr lang="en-US" dirty="0"/>
              <a:t>It's a good idea to first think about and design your site. That way, you'll give yourself direction and you'll need to reorganize less later.</a:t>
            </a:r>
            <a:endParaRPr lang="en-IN" dirty="0"/>
          </a:p>
          <a:p>
            <a:r>
              <a:rPr lang="en-US" dirty="0"/>
              <a:t>To design your site:</a:t>
            </a:r>
            <a:endParaRPr lang="en-IN" dirty="0"/>
          </a:p>
          <a:p>
            <a:pPr marL="914400" lvl="1" indent="-457200">
              <a:buFont typeface="+mj-lt"/>
              <a:buAutoNum type="arabicPeriod"/>
            </a:pPr>
            <a:r>
              <a:rPr lang="en-US" dirty="0"/>
              <a:t>Figure out why you're creating this site. What do you want to convey?</a:t>
            </a:r>
            <a:endParaRPr lang="en-IN" dirty="0"/>
          </a:p>
          <a:p>
            <a:pPr marL="914400" lvl="1" indent="-457200">
              <a:buFont typeface="+mj-lt"/>
              <a:buAutoNum type="arabicPeriod"/>
            </a:pPr>
            <a:r>
              <a:rPr lang="en-US" dirty="0"/>
              <a:t>Think about your audience. How can you tailor your content to appeal to this audience? For example, should you add lots of graphics or is it more important that your page download quickly?</a:t>
            </a:r>
            <a:endParaRPr lang="en-IN" dirty="0"/>
          </a:p>
          <a:p>
            <a:pPr marL="914400" lvl="1" indent="-457200">
              <a:buFont typeface="+mj-lt"/>
              <a:buAutoNum type="arabicPeriod"/>
            </a:pPr>
            <a:r>
              <a:rPr lang="en-US" dirty="0"/>
              <a:t>How many pages will you need? What sort of structure would you like it to have? Do you want visitors to go through your site in a particular direction, or do you want to make it easy for them to explore in any direction?</a:t>
            </a:r>
            <a:endParaRPr lang="en-IN" dirty="0"/>
          </a:p>
          <a:p>
            <a:pPr marL="914400" lvl="1" indent="-457200">
              <a:buFont typeface="+mj-lt"/>
              <a:buAutoNum type="arabicPeriod"/>
            </a:pPr>
            <a:r>
              <a:rPr lang="en-US" dirty="0"/>
              <a:t>Sketch out your site on paper.</a:t>
            </a:r>
            <a:endParaRPr lang="en-IN" dirty="0"/>
          </a:p>
          <a:p>
            <a:r>
              <a:rPr lang="en-US" dirty="0"/>
              <a:t> Devise a simple, consistent naming system for your pages, images and other external files.</a:t>
            </a:r>
            <a:endParaRPr lang="en-IN" dirty="0"/>
          </a:p>
        </p:txBody>
      </p:sp>
    </p:spTree>
    <p:extLst>
      <p:ext uri="{BB962C8B-B14F-4D97-AF65-F5344CB8AC3E}">
        <p14:creationId xmlns:p14="http://schemas.microsoft.com/office/powerpoint/2010/main" val="2018795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Web Design Issues</a:t>
            </a:r>
            <a:endParaRPr lang="en-US" dirty="0"/>
          </a:p>
        </p:txBody>
      </p:sp>
      <p:sp>
        <p:nvSpPr>
          <p:cNvPr id="3" name="Content Placeholder 2"/>
          <p:cNvSpPr>
            <a:spLocks noGrp="1"/>
          </p:cNvSpPr>
          <p:nvPr>
            <p:ph idx="1"/>
          </p:nvPr>
        </p:nvSpPr>
        <p:spPr/>
        <p:txBody>
          <a:bodyPr/>
          <a:lstStyle/>
          <a:p>
            <a:pPr marL="457200" indent="-457200">
              <a:buFont typeface="+mj-lt"/>
              <a:buAutoNum type="alphaUcPeriod"/>
            </a:pPr>
            <a:r>
              <a:rPr lang="en-US" dirty="0"/>
              <a:t>Browser &amp; Operating Systems</a:t>
            </a:r>
          </a:p>
          <a:p>
            <a:pPr marL="457200" indent="-457200">
              <a:buFont typeface="+mj-lt"/>
              <a:buAutoNum type="alphaUcPeriod"/>
            </a:pPr>
            <a:r>
              <a:rPr lang="en-US" dirty="0"/>
              <a:t>Bandwidth and Cache</a:t>
            </a:r>
          </a:p>
          <a:p>
            <a:pPr marL="457200" indent="-457200">
              <a:buFont typeface="+mj-lt"/>
              <a:buAutoNum type="alphaUcPeriod"/>
            </a:pPr>
            <a:r>
              <a:rPr lang="en-US" dirty="0"/>
              <a:t>Display Resolution</a:t>
            </a:r>
          </a:p>
          <a:p>
            <a:pPr marL="457200" indent="-457200">
              <a:buFont typeface="+mj-lt"/>
              <a:buAutoNum type="alphaUcPeriod"/>
            </a:pPr>
            <a:r>
              <a:rPr lang="en-US" dirty="0"/>
              <a:t>Look &amp; Feel</a:t>
            </a:r>
          </a:p>
          <a:p>
            <a:pPr marL="457200" indent="-457200">
              <a:buFont typeface="+mj-lt"/>
              <a:buAutoNum type="alphaUcPeriod"/>
            </a:pPr>
            <a:r>
              <a:rPr lang="en-US" dirty="0"/>
              <a:t>Page Layout and Linking</a:t>
            </a:r>
          </a:p>
          <a:p>
            <a:pPr marL="457200" indent="-457200">
              <a:buFont typeface="+mj-lt"/>
              <a:buAutoNum type="alphaUcPeriod"/>
            </a:pPr>
            <a:r>
              <a:rPr lang="en-US" dirty="0"/>
              <a:t>Locating Information</a:t>
            </a:r>
          </a:p>
          <a:p>
            <a:pPr marL="457200" indent="-457200">
              <a:buFont typeface="+mj-lt"/>
              <a:buAutoNum type="alphaUcPeriod"/>
            </a:pPr>
            <a:r>
              <a:rPr lang="en-US" dirty="0"/>
              <a:t>Making Design user-Centric</a:t>
            </a:r>
          </a:p>
          <a:p>
            <a:pPr marL="457200" indent="-457200">
              <a:buFont typeface="+mj-lt"/>
              <a:buAutoNum type="alphaUcPeriod"/>
            </a:pPr>
            <a:r>
              <a:rPr lang="en-US" dirty="0"/>
              <a:t>Sitemap</a:t>
            </a:r>
          </a:p>
        </p:txBody>
      </p:sp>
    </p:spTree>
    <p:extLst>
      <p:ext uri="{BB962C8B-B14F-4D97-AF65-F5344CB8AC3E}">
        <p14:creationId xmlns:p14="http://schemas.microsoft.com/office/powerpoint/2010/main" val="2001806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Browser &amp; Operating Systems</a:t>
            </a:r>
          </a:p>
        </p:txBody>
      </p:sp>
      <p:sp>
        <p:nvSpPr>
          <p:cNvPr id="3" name="Content Placeholder 2"/>
          <p:cNvSpPr>
            <a:spLocks noGrp="1"/>
          </p:cNvSpPr>
          <p:nvPr>
            <p:ph idx="1"/>
          </p:nvPr>
        </p:nvSpPr>
        <p:spPr/>
        <p:txBody>
          <a:bodyPr/>
          <a:lstStyle/>
          <a:p>
            <a:r>
              <a:rPr lang="en-US" dirty="0"/>
              <a:t>Web pages are written using different HTML tags and viewed in browser window.</a:t>
            </a:r>
          </a:p>
          <a:p>
            <a:r>
              <a:rPr lang="en-US" dirty="0"/>
              <a:t>The different browsers and their versions greatly affect the way a page is rendered, as different browsers sometimes interpret same HTML tag in a different way.</a:t>
            </a:r>
          </a:p>
          <a:p>
            <a:r>
              <a:rPr lang="en-US" dirty="0"/>
              <a:t>Different versions of HTML also support different sets of tags.</a:t>
            </a:r>
          </a:p>
          <a:p>
            <a:r>
              <a:rPr lang="en-US" dirty="0"/>
              <a:t>The support for different tags also varies across the different browsers and their versions.</a:t>
            </a:r>
          </a:p>
          <a:p>
            <a:r>
              <a:rPr lang="en-US" dirty="0"/>
              <a:t>Same browser may work slightly different on different operating system and hardware platform.</a:t>
            </a:r>
          </a:p>
          <a:p>
            <a:r>
              <a:rPr lang="en-US" dirty="0"/>
              <a:t>To make a web page portable, test it on different browsers on different operating systems.</a:t>
            </a:r>
          </a:p>
        </p:txBody>
      </p:sp>
    </p:spTree>
    <p:extLst>
      <p:ext uri="{BB962C8B-B14F-4D97-AF65-F5344CB8AC3E}">
        <p14:creationId xmlns:p14="http://schemas.microsoft.com/office/powerpoint/2010/main" val="887855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 Bandwidth and Cache</a:t>
            </a:r>
          </a:p>
        </p:txBody>
      </p:sp>
      <p:sp>
        <p:nvSpPr>
          <p:cNvPr id="3" name="Content Placeholder 2"/>
          <p:cNvSpPr>
            <a:spLocks noGrp="1"/>
          </p:cNvSpPr>
          <p:nvPr>
            <p:ph idx="1"/>
          </p:nvPr>
        </p:nvSpPr>
        <p:spPr/>
        <p:txBody>
          <a:bodyPr/>
          <a:lstStyle/>
          <a:p>
            <a:r>
              <a:rPr lang="en-US" dirty="0"/>
              <a:t>Users have different connection speed, i.e. bandwidth, to access the Web sites.</a:t>
            </a:r>
          </a:p>
          <a:p>
            <a:r>
              <a:rPr lang="en-US" dirty="0"/>
              <a:t>Connection speed plays an important role in designing web pages, if user has low bandwidth connection and a web page contains too many images, it takes more time to download.</a:t>
            </a:r>
          </a:p>
          <a:p>
            <a:r>
              <a:rPr lang="en-US" dirty="0"/>
              <a:t>Generally, users have no patience to wait for longer time than 10-15 seconds and move to other site without looking at contents of your web page.</a:t>
            </a:r>
          </a:p>
          <a:p>
            <a:r>
              <a:rPr lang="en-US" dirty="0"/>
              <a:t>Browser provides temporary memory called cache to store the graphics.</a:t>
            </a:r>
          </a:p>
          <a:p>
            <a:r>
              <a:rPr lang="en-US" dirty="0"/>
              <a:t>When user gives the URL of the web page for the first time, HTML file together with all the graphics files referred in a page is downloaded and displayed.</a:t>
            </a:r>
          </a:p>
        </p:txBody>
      </p:sp>
    </p:spTree>
    <p:extLst>
      <p:ext uri="{BB962C8B-B14F-4D97-AF65-F5344CB8AC3E}">
        <p14:creationId xmlns:p14="http://schemas.microsoft.com/office/powerpoint/2010/main" val="944333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 Display Resolution</a:t>
            </a:r>
          </a:p>
        </p:txBody>
      </p:sp>
      <p:sp>
        <p:nvSpPr>
          <p:cNvPr id="3" name="Content Placeholder 2"/>
          <p:cNvSpPr>
            <a:spLocks noGrp="1"/>
          </p:cNvSpPr>
          <p:nvPr>
            <p:ph idx="1"/>
          </p:nvPr>
        </p:nvSpPr>
        <p:spPr/>
        <p:txBody>
          <a:bodyPr/>
          <a:lstStyle/>
          <a:p>
            <a:r>
              <a:rPr lang="en-US" dirty="0"/>
              <a:t>Display resolution is another important factor affecting the Web page design, as we do not have any control on display resolution of the monitors on which user views our pages.</a:t>
            </a:r>
          </a:p>
          <a:p>
            <a:r>
              <a:rPr lang="en-US" dirty="0"/>
              <a:t>Display or screen resolution is measured in terms of pixels and common resolutions are 800 X 600 and 1024 X 786.</a:t>
            </a:r>
          </a:p>
          <a:p>
            <a:r>
              <a:rPr lang="en-US" dirty="0"/>
              <a:t>We have three choices for Web page design.</a:t>
            </a:r>
          </a:p>
          <a:p>
            <a:pPr lvl="1"/>
            <a:r>
              <a:rPr lang="en-US" dirty="0"/>
              <a:t>Design a web page with fixed resolution.</a:t>
            </a:r>
          </a:p>
          <a:p>
            <a:pPr lvl="1"/>
            <a:r>
              <a:rPr lang="en-US" dirty="0"/>
              <a:t>Make a flexible design using HTML table to fit into different resolution.</a:t>
            </a:r>
          </a:p>
          <a:p>
            <a:pPr lvl="1"/>
            <a:r>
              <a:rPr lang="en-US" dirty="0"/>
              <a:t>If the page is displayed on a monitor with a higher resolution, the page is displayed on left hand side and some part on the right-hand side remains blank. We can use centered design to display page properly.</a:t>
            </a:r>
          </a:p>
          <a:p>
            <a:pPr lvl="1"/>
            <a:r>
              <a:rPr lang="en-US" dirty="0"/>
              <a:t>Ideally we should use some frameworks for designing like Bootstrap/Material design.</a:t>
            </a:r>
          </a:p>
          <a:p>
            <a:endParaRPr lang="en-US" dirty="0"/>
          </a:p>
        </p:txBody>
      </p:sp>
    </p:spTree>
    <p:extLst>
      <p:ext uri="{BB962C8B-B14F-4D97-AF65-F5344CB8AC3E}">
        <p14:creationId xmlns:p14="http://schemas.microsoft.com/office/powerpoint/2010/main" val="3173502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 Look &amp; Feel &amp; e) Page Layout and Linking</a:t>
            </a:r>
          </a:p>
        </p:txBody>
      </p:sp>
      <p:sp>
        <p:nvSpPr>
          <p:cNvPr id="3" name="Content Placeholder 2"/>
          <p:cNvSpPr>
            <a:spLocks noGrp="1"/>
          </p:cNvSpPr>
          <p:nvPr>
            <p:ph idx="1"/>
          </p:nvPr>
        </p:nvSpPr>
        <p:spPr/>
        <p:txBody>
          <a:bodyPr/>
          <a:lstStyle/>
          <a:p>
            <a:r>
              <a:rPr lang="en-US" dirty="0"/>
              <a:t>Look &amp; Feel</a:t>
            </a:r>
          </a:p>
          <a:p>
            <a:pPr lvl="1"/>
            <a:r>
              <a:rPr lang="en-US" dirty="0"/>
              <a:t>Look and feel of the website decides the overall appearance of the website.</a:t>
            </a:r>
          </a:p>
          <a:p>
            <a:pPr lvl="1"/>
            <a:r>
              <a:rPr lang="en-US" dirty="0"/>
              <a:t>It includes all the design aspects such as</a:t>
            </a:r>
          </a:p>
          <a:p>
            <a:pPr lvl="2"/>
            <a:r>
              <a:rPr lang="en-US" dirty="0"/>
              <a:t>Web site theme</a:t>
            </a:r>
          </a:p>
          <a:p>
            <a:pPr lvl="2"/>
            <a:r>
              <a:rPr lang="en-US" dirty="0"/>
              <a:t>Web typography</a:t>
            </a:r>
          </a:p>
          <a:p>
            <a:pPr lvl="2"/>
            <a:r>
              <a:rPr lang="en-US" dirty="0"/>
              <a:t>Graphics</a:t>
            </a:r>
          </a:p>
          <a:p>
            <a:pPr lvl="2"/>
            <a:r>
              <a:rPr lang="en-US" dirty="0"/>
              <a:t>Visual structure</a:t>
            </a:r>
          </a:p>
          <a:p>
            <a:pPr lvl="2"/>
            <a:r>
              <a:rPr lang="en-US" dirty="0"/>
              <a:t>Navigation etc…</a:t>
            </a:r>
          </a:p>
          <a:p>
            <a:r>
              <a:rPr lang="en-US" dirty="0"/>
              <a:t>Page Layout and Linking</a:t>
            </a:r>
          </a:p>
          <a:p>
            <a:pPr lvl="1"/>
            <a:r>
              <a:rPr lang="en-US" dirty="0"/>
              <a:t>Website contains of individual web pages that are linked together using various navigational links.</a:t>
            </a:r>
          </a:p>
          <a:p>
            <a:pPr lvl="1"/>
            <a:r>
              <a:rPr lang="en-US" dirty="0"/>
              <a:t>Page layout defines the visual structure of the page and divides the page area into different parts to present the information of varying importance.</a:t>
            </a:r>
          </a:p>
          <a:p>
            <a:pPr lvl="1"/>
            <a:r>
              <a:rPr lang="en-US" dirty="0"/>
              <a:t>Page layout allows the designer to distribute the contents on a page such that visitor can view it easily and find necessary details.</a:t>
            </a:r>
          </a:p>
        </p:txBody>
      </p:sp>
    </p:spTree>
    <p:extLst>
      <p:ext uri="{BB962C8B-B14F-4D97-AF65-F5344CB8AC3E}">
        <p14:creationId xmlns:p14="http://schemas.microsoft.com/office/powerpoint/2010/main" val="2692191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 Locating Information &amp; g) Making Design User-Centric</a:t>
            </a:r>
          </a:p>
        </p:txBody>
      </p:sp>
      <p:sp>
        <p:nvSpPr>
          <p:cNvPr id="3" name="Content Placeholder 2"/>
          <p:cNvSpPr>
            <a:spLocks noGrp="1"/>
          </p:cNvSpPr>
          <p:nvPr>
            <p:ph idx="1"/>
          </p:nvPr>
        </p:nvSpPr>
        <p:spPr/>
        <p:txBody>
          <a:bodyPr/>
          <a:lstStyle/>
          <a:p>
            <a:r>
              <a:rPr lang="en-US" dirty="0"/>
              <a:t>Locating Information</a:t>
            </a:r>
          </a:p>
          <a:p>
            <a:pPr lvl="1"/>
            <a:r>
              <a:rPr lang="en-US" dirty="0"/>
              <a:t>Webpage is viewed on a computer screen and the screen can be divided into five major areas such as center, top, right, bottom and left in this particular order.</a:t>
            </a:r>
          </a:p>
          <a:p>
            <a:pPr lvl="1"/>
            <a:r>
              <a:rPr lang="en-US" dirty="0"/>
              <a:t>The first major area of importance in terms of users viewing pattern is the center, then top, right, bottom and left in this particular order</a:t>
            </a:r>
          </a:p>
          <a:p>
            <a:r>
              <a:rPr lang="en-US" dirty="0"/>
              <a:t>Making </a:t>
            </a:r>
            <a:r>
              <a:rPr lang="en-US"/>
              <a:t>Design User-Centric</a:t>
            </a:r>
            <a:endParaRPr lang="en-US" dirty="0"/>
          </a:p>
          <a:p>
            <a:pPr lvl="1"/>
            <a:r>
              <a:rPr lang="en-US" dirty="0"/>
              <a:t>It is very difficult for any Web designer to predict the exact behavior of the Web site users.</a:t>
            </a:r>
          </a:p>
          <a:p>
            <a:pPr lvl="1"/>
            <a:r>
              <a:rPr lang="en-US" dirty="0"/>
              <a:t>However, idea of general behavior of common user helps in making design of the Web site user centric.</a:t>
            </a:r>
          </a:p>
          <a:p>
            <a:pPr lvl="1"/>
            <a:r>
              <a:rPr lang="en-US" dirty="0"/>
              <a:t>Users either scan the information on the web page to find the section of their interest or read the information to get details.</a:t>
            </a:r>
          </a:p>
        </p:txBody>
      </p:sp>
    </p:spTree>
    <p:extLst>
      <p:ext uri="{BB962C8B-B14F-4D97-AF65-F5344CB8AC3E}">
        <p14:creationId xmlns:p14="http://schemas.microsoft.com/office/powerpoint/2010/main" val="3560246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 Sitemap </a:t>
            </a:r>
          </a:p>
        </p:txBody>
      </p:sp>
      <p:sp>
        <p:nvSpPr>
          <p:cNvPr id="3" name="Content Placeholder 2"/>
          <p:cNvSpPr>
            <a:spLocks noGrp="1"/>
          </p:cNvSpPr>
          <p:nvPr>
            <p:ph idx="1"/>
          </p:nvPr>
        </p:nvSpPr>
        <p:spPr/>
        <p:txBody>
          <a:bodyPr/>
          <a:lstStyle/>
          <a:p>
            <a:r>
              <a:rPr lang="en-US" dirty="0"/>
              <a:t>A Sitemap is a model of a website's content designed to help both users and search engines navigate the site.</a:t>
            </a:r>
          </a:p>
          <a:p>
            <a:r>
              <a:rPr lang="en-US" dirty="0"/>
              <a:t>Many a times Web sites are too complex as there are a large number of sections and each section contains many pages.</a:t>
            </a:r>
          </a:p>
          <a:p>
            <a:r>
              <a:rPr lang="en-US" dirty="0"/>
              <a:t>It becomes difficult for visitors to quickly move from one part to other.</a:t>
            </a:r>
          </a:p>
          <a:p>
            <a:r>
              <a:rPr lang="en-US" dirty="0"/>
              <a:t>Once the user selects a particular section and pages in that section, user gets confused about where he/she is and where to go from there.</a:t>
            </a:r>
          </a:p>
          <a:p>
            <a:r>
              <a:rPr lang="en-US" dirty="0"/>
              <a:t>To make it simple, keep your hierarchy of information to few levels or provide the navigation bar on each page to jump directly to a particular section.</a:t>
            </a:r>
          </a:p>
          <a:p>
            <a:endParaRPr lang="en-US" dirty="0"/>
          </a:p>
        </p:txBody>
      </p:sp>
    </p:spTree>
    <p:extLst>
      <p:ext uri="{BB962C8B-B14F-4D97-AF65-F5344CB8AC3E}">
        <p14:creationId xmlns:p14="http://schemas.microsoft.com/office/powerpoint/2010/main" val="3336501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Planning a Website</a:t>
            </a:r>
          </a:p>
        </p:txBody>
      </p:sp>
      <p:sp>
        <p:nvSpPr>
          <p:cNvPr id="3" name="Content Placeholder 2"/>
          <p:cNvSpPr>
            <a:spLocks noGrp="1"/>
          </p:cNvSpPr>
          <p:nvPr>
            <p:ph idx="1"/>
          </p:nvPr>
        </p:nvSpPr>
        <p:spPr/>
        <p:txBody>
          <a:bodyPr/>
          <a:lstStyle/>
          <a:p>
            <a:r>
              <a:rPr lang="en-US" dirty="0"/>
              <a:t>The most important activity in a website development is planning.</a:t>
            </a:r>
          </a:p>
          <a:p>
            <a:r>
              <a:rPr lang="en-US" dirty="0"/>
              <a:t>To achieve higher success of the website in terms of user satisfaction, better planning is needed.</a:t>
            </a:r>
          </a:p>
          <a:p>
            <a:r>
              <a:rPr lang="en-US" dirty="0"/>
              <a:t>Before we start developing a website, we should ask question such as,</a:t>
            </a:r>
          </a:p>
          <a:p>
            <a:pPr lvl="1"/>
            <a:r>
              <a:rPr lang="en-US" dirty="0"/>
              <a:t>Why are we developing this website?</a:t>
            </a:r>
          </a:p>
          <a:p>
            <a:pPr lvl="1"/>
            <a:r>
              <a:rPr lang="en-US" dirty="0"/>
              <a:t>What do we achieve by developing this website?</a:t>
            </a:r>
          </a:p>
          <a:p>
            <a:pPr lvl="1"/>
            <a:r>
              <a:rPr lang="en-US" dirty="0"/>
              <a:t>Who are the people who will use this website?</a:t>
            </a:r>
          </a:p>
          <a:p>
            <a:pPr lvl="1"/>
            <a:r>
              <a:rPr lang="en-US" dirty="0"/>
              <a:t>What are the information contents?</a:t>
            </a:r>
          </a:p>
          <a:p>
            <a:pPr lvl="1"/>
            <a:r>
              <a:rPr lang="en-US" dirty="0"/>
              <a:t>How are these contents organized? What are the possible ways?</a:t>
            </a:r>
          </a:p>
          <a:p>
            <a:endParaRPr lang="en-US" dirty="0"/>
          </a:p>
        </p:txBody>
      </p:sp>
    </p:spTree>
    <p:extLst>
      <p:ext uri="{BB962C8B-B14F-4D97-AF65-F5344CB8AC3E}">
        <p14:creationId xmlns:p14="http://schemas.microsoft.com/office/powerpoint/2010/main" val="2368899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4"/>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Navigation</a:t>
            </a:r>
          </a:p>
        </p:txBody>
      </p:sp>
      <p:sp>
        <p:nvSpPr>
          <p:cNvPr id="3" name="Content Placeholder 2"/>
          <p:cNvSpPr>
            <a:spLocks noGrp="1"/>
          </p:cNvSpPr>
          <p:nvPr>
            <p:ph idx="1"/>
          </p:nvPr>
        </p:nvSpPr>
        <p:spPr>
          <a:xfrm>
            <a:off x="131179" y="1267435"/>
            <a:ext cx="11929641" cy="5590565"/>
          </a:xfrm>
        </p:spPr>
        <p:txBody>
          <a:bodyPr/>
          <a:lstStyle/>
          <a:p>
            <a:r>
              <a:rPr lang="en-US" dirty="0"/>
              <a:t>The most important design element in the web design after page layout is navigation design.</a:t>
            </a:r>
          </a:p>
          <a:p>
            <a:r>
              <a:rPr lang="en-US" dirty="0"/>
              <a:t>Navigation means the ways to move from one page to another page in a Web site using hyperlinks provided on the page.</a:t>
            </a:r>
          </a:p>
          <a:p>
            <a:r>
              <a:rPr lang="en-US" dirty="0"/>
              <a:t>If navigation design is not proper then user feels the problem in moving around the pages in your site in a desired manner or gets confused and leaves the site.</a:t>
            </a:r>
          </a:p>
          <a:p>
            <a:pPr marL="0" indent="0">
              <a:buNone/>
            </a:pPr>
            <a:endParaRPr lang="en-US" dirty="0"/>
          </a:p>
          <a:p>
            <a:pPr marL="0" indent="0">
              <a:buNone/>
            </a:pPr>
            <a:r>
              <a:rPr lang="en-US"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2118" y="4062717"/>
            <a:ext cx="8007762" cy="546128"/>
          </a:xfrm>
          <a:prstGeom prst="rect">
            <a:avLst/>
          </a:prstGeom>
        </p:spPr>
      </p:pic>
    </p:spTree>
    <p:extLst>
      <p:ext uri="{BB962C8B-B14F-4D97-AF65-F5344CB8AC3E}">
        <p14:creationId xmlns:p14="http://schemas.microsoft.com/office/powerpoint/2010/main" val="2286124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Effective Navigation</a:t>
            </a:r>
            <a:endParaRPr lang="en-IN" dirty="0"/>
          </a:p>
        </p:txBody>
      </p:sp>
      <p:sp>
        <p:nvSpPr>
          <p:cNvPr id="3" name="Content Placeholder 2"/>
          <p:cNvSpPr>
            <a:spLocks noGrp="1"/>
          </p:cNvSpPr>
          <p:nvPr>
            <p:ph idx="1"/>
          </p:nvPr>
        </p:nvSpPr>
        <p:spPr>
          <a:xfrm>
            <a:off x="131180" y="863444"/>
            <a:ext cx="11929641" cy="4532421"/>
          </a:xfrm>
        </p:spPr>
        <p:txBody>
          <a:bodyPr/>
          <a:lstStyle/>
          <a:p>
            <a:r>
              <a:rPr lang="en-US" dirty="0"/>
              <a:t>Tips for Effective Navigation:</a:t>
            </a:r>
          </a:p>
          <a:p>
            <a:pPr lvl="1"/>
            <a:r>
              <a:rPr lang="en-US" dirty="0"/>
              <a:t>Navigation links are either </a:t>
            </a:r>
            <a:r>
              <a:rPr lang="en-US" b="1" dirty="0">
                <a:solidFill>
                  <a:srgbClr val="C00000"/>
                </a:solidFill>
              </a:rPr>
              <a:t>text based</a:t>
            </a:r>
            <a:r>
              <a:rPr lang="en-US" dirty="0"/>
              <a:t>, i.e. a word or a phrase, or </a:t>
            </a:r>
            <a:r>
              <a:rPr lang="en-US" b="1" dirty="0">
                <a:solidFill>
                  <a:srgbClr val="C00000"/>
                </a:solidFill>
              </a:rPr>
              <a:t>graphical</a:t>
            </a:r>
            <a:r>
              <a:rPr lang="en-US" dirty="0"/>
              <a:t>, i.e. a image.</a:t>
            </a:r>
          </a:p>
          <a:p>
            <a:pPr lvl="1"/>
            <a:r>
              <a:rPr lang="en-US" dirty="0"/>
              <a:t>Navigation links should be </a:t>
            </a:r>
            <a:r>
              <a:rPr lang="en-US" b="1" dirty="0">
                <a:solidFill>
                  <a:srgbClr val="C00000"/>
                </a:solidFill>
              </a:rPr>
              <a:t>clear</a:t>
            </a:r>
            <a:r>
              <a:rPr lang="en-US" b="1" dirty="0"/>
              <a:t> </a:t>
            </a:r>
            <a:r>
              <a:rPr lang="en-US" dirty="0"/>
              <a:t>and </a:t>
            </a:r>
            <a:r>
              <a:rPr lang="en-US" b="1" dirty="0">
                <a:solidFill>
                  <a:srgbClr val="C00000"/>
                </a:solidFill>
              </a:rPr>
              <a:t>meaningful</a:t>
            </a:r>
            <a:r>
              <a:rPr lang="en-US" dirty="0"/>
              <a:t>.</a:t>
            </a:r>
          </a:p>
          <a:p>
            <a:pPr lvl="1"/>
            <a:r>
              <a:rPr lang="en-US" dirty="0"/>
              <a:t>It should be </a:t>
            </a:r>
            <a:r>
              <a:rPr lang="en-US" b="1" dirty="0">
                <a:solidFill>
                  <a:srgbClr val="C00000"/>
                </a:solidFill>
              </a:rPr>
              <a:t>consistent</a:t>
            </a:r>
            <a:r>
              <a:rPr lang="en-US" dirty="0"/>
              <a:t>.</a:t>
            </a:r>
          </a:p>
          <a:p>
            <a:pPr lvl="1"/>
            <a:r>
              <a:rPr lang="en-US" dirty="0"/>
              <a:t>Link should be </a:t>
            </a:r>
            <a:r>
              <a:rPr lang="en-US" b="1" dirty="0">
                <a:solidFill>
                  <a:srgbClr val="C00000"/>
                </a:solidFill>
              </a:rPr>
              <a:t>understandable</a:t>
            </a:r>
            <a:r>
              <a:rPr lang="en-US" dirty="0"/>
              <a:t>.</a:t>
            </a:r>
          </a:p>
          <a:p>
            <a:pPr lvl="1"/>
            <a:r>
              <a:rPr lang="en-US" dirty="0"/>
              <a:t>Organize the links such that contents are </a:t>
            </a:r>
            <a:r>
              <a:rPr lang="en-US" b="1" dirty="0">
                <a:solidFill>
                  <a:srgbClr val="C00000"/>
                </a:solidFill>
              </a:rPr>
              <a:t>grouped logically</a:t>
            </a:r>
            <a:r>
              <a:rPr lang="en-US" dirty="0">
                <a:solidFill>
                  <a:srgbClr val="C00000"/>
                </a:solidFill>
              </a:rPr>
              <a:t>.</a:t>
            </a:r>
          </a:p>
          <a:p>
            <a:pPr lvl="1"/>
            <a:r>
              <a:rPr lang="en-US" dirty="0"/>
              <a:t>Provide </a:t>
            </a:r>
            <a:r>
              <a:rPr lang="en-US" b="1" dirty="0">
                <a:solidFill>
                  <a:srgbClr val="C00000"/>
                </a:solidFill>
              </a:rPr>
              <a:t>search</a:t>
            </a:r>
            <a:r>
              <a:rPr lang="en-US" b="1" dirty="0"/>
              <a:t> </a:t>
            </a:r>
            <a:r>
              <a:rPr lang="en-US" dirty="0"/>
              <a:t>link, if necessary, usually on top of the page. </a:t>
            </a:r>
          </a:p>
          <a:p>
            <a:pPr lvl="1"/>
            <a:r>
              <a:rPr lang="en-US" dirty="0"/>
              <a:t>Use </a:t>
            </a:r>
            <a:r>
              <a:rPr lang="en-US" b="1" dirty="0">
                <a:solidFill>
                  <a:srgbClr val="C00000"/>
                </a:solidFill>
              </a:rPr>
              <a:t>common links </a:t>
            </a:r>
            <a:r>
              <a:rPr lang="en-US" dirty="0"/>
              <a:t>such as ‘about us’ or ‘Contact us’.</a:t>
            </a:r>
          </a:p>
          <a:p>
            <a:pPr lvl="1"/>
            <a:r>
              <a:rPr lang="en-US" dirty="0"/>
              <a:t>Provide the way to </a:t>
            </a:r>
            <a:r>
              <a:rPr lang="en-US" b="1" dirty="0">
                <a:solidFill>
                  <a:srgbClr val="C00000"/>
                </a:solidFill>
              </a:rPr>
              <a:t>return to first page</a:t>
            </a:r>
            <a:r>
              <a:rPr lang="en-US" dirty="0"/>
              <a:t>.</a:t>
            </a:r>
          </a:p>
          <a:p>
            <a:pPr lvl="1"/>
            <a:r>
              <a:rPr lang="en-US" dirty="0"/>
              <a:t>Provide the user with </a:t>
            </a:r>
            <a:r>
              <a:rPr lang="en-US" b="1" dirty="0">
                <a:solidFill>
                  <a:srgbClr val="C00000"/>
                </a:solidFill>
              </a:rPr>
              <a:t>information</a:t>
            </a:r>
            <a:r>
              <a:rPr lang="en-US" b="1" dirty="0"/>
              <a:t> </a:t>
            </a:r>
            <a:r>
              <a:rPr lang="en-US" dirty="0"/>
              <a:t>regarding </a:t>
            </a:r>
            <a:r>
              <a:rPr lang="en-US" b="1" dirty="0">
                <a:solidFill>
                  <a:srgbClr val="C00000"/>
                </a:solidFill>
              </a:rPr>
              <a:t>location</a:t>
            </a:r>
            <a:r>
              <a:rPr lang="en-US" b="1" dirty="0"/>
              <a:t>.</a:t>
            </a:r>
          </a:p>
          <a:p>
            <a:pPr lvl="1"/>
            <a:r>
              <a:rPr lang="en-US" b="1" dirty="0">
                <a:solidFill>
                  <a:srgbClr val="C00000"/>
                </a:solidFill>
              </a:rPr>
              <a:t>Horizontal navigation bar </a:t>
            </a:r>
            <a:r>
              <a:rPr lang="en-US" dirty="0"/>
              <a:t>can be provided on each page to directly jump to any section.</a:t>
            </a:r>
          </a:p>
          <a:p>
            <a:endParaRPr lang="en-IN" dirty="0"/>
          </a:p>
        </p:txBody>
      </p:sp>
    </p:spTree>
    <p:extLst>
      <p:ext uri="{BB962C8B-B14F-4D97-AF65-F5344CB8AC3E}">
        <p14:creationId xmlns:p14="http://schemas.microsoft.com/office/powerpoint/2010/main" val="3527312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HTML Pages</a:t>
            </a:r>
          </a:p>
        </p:txBody>
      </p:sp>
      <p:sp>
        <p:nvSpPr>
          <p:cNvPr id="3" name="Content Placeholder 2"/>
          <p:cNvSpPr>
            <a:spLocks noGrp="1"/>
          </p:cNvSpPr>
          <p:nvPr>
            <p:ph idx="1"/>
          </p:nvPr>
        </p:nvSpPr>
        <p:spPr/>
        <p:txBody>
          <a:bodyPr/>
          <a:lstStyle/>
          <a:p>
            <a:r>
              <a:rPr lang="en-US" dirty="0"/>
              <a:t>An HTML file must have an .</a:t>
            </a:r>
            <a:r>
              <a:rPr lang="en-US" dirty="0" err="1"/>
              <a:t>htm</a:t>
            </a:r>
            <a:r>
              <a:rPr lang="en-US" dirty="0"/>
              <a:t> or .html file extension</a:t>
            </a:r>
          </a:p>
          <a:p>
            <a:r>
              <a:rPr lang="en-US" dirty="0"/>
              <a:t>HTML files can be created with text editors:</a:t>
            </a:r>
          </a:p>
          <a:p>
            <a:pPr lvl="1"/>
            <a:r>
              <a:rPr lang="en-US" dirty="0" err="1"/>
              <a:t>NotePad</a:t>
            </a:r>
            <a:r>
              <a:rPr lang="en-US" dirty="0"/>
              <a:t>, </a:t>
            </a:r>
            <a:r>
              <a:rPr lang="en-US" dirty="0" err="1"/>
              <a:t>NotePad</a:t>
            </a:r>
            <a:r>
              <a:rPr lang="en-US" dirty="0"/>
              <a:t> ++, </a:t>
            </a:r>
            <a:r>
              <a:rPr lang="en-US" dirty="0" err="1"/>
              <a:t>PSPad</a:t>
            </a:r>
            <a:endParaRPr lang="en-US" dirty="0"/>
          </a:p>
          <a:p>
            <a:r>
              <a:rPr lang="en-US" dirty="0"/>
              <a:t>Or HTML editors (WYSIWYG Editors):</a:t>
            </a:r>
          </a:p>
          <a:p>
            <a:pPr lvl="1"/>
            <a:r>
              <a:rPr lang="en-US" dirty="0"/>
              <a:t>Microsoft FrontPage</a:t>
            </a:r>
          </a:p>
          <a:p>
            <a:pPr lvl="1"/>
            <a:r>
              <a:rPr lang="en-US" dirty="0"/>
              <a:t>Macromedia Dreamweaver</a:t>
            </a:r>
          </a:p>
          <a:p>
            <a:pPr lvl="1"/>
            <a:r>
              <a:rPr lang="en-US" dirty="0"/>
              <a:t>Netscape Composer</a:t>
            </a:r>
          </a:p>
          <a:p>
            <a:pPr lvl="1"/>
            <a:r>
              <a:rPr lang="en-US" dirty="0"/>
              <a:t>Visual Studio</a:t>
            </a:r>
          </a:p>
          <a:p>
            <a:r>
              <a:rPr lang="en-US" dirty="0"/>
              <a:t>Open any above mentioned editors and create a new file with .html extension and save the file.</a:t>
            </a:r>
          </a:p>
          <a:p>
            <a:r>
              <a:rPr lang="en-US" dirty="0"/>
              <a:t>After saving the file you can open the file with any Web Browser in order to view the output.</a:t>
            </a:r>
          </a:p>
          <a:p>
            <a:endParaRPr lang="en-US" dirty="0"/>
          </a:p>
        </p:txBody>
      </p:sp>
    </p:spTree>
    <p:extLst>
      <p:ext uri="{BB962C8B-B14F-4D97-AF65-F5344CB8AC3E}">
        <p14:creationId xmlns:p14="http://schemas.microsoft.com/office/powerpoint/2010/main" val="1329378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HTML Page</a:t>
            </a:r>
          </a:p>
        </p:txBody>
      </p:sp>
      <p:sp>
        <p:nvSpPr>
          <p:cNvPr id="4" name="Rectangle 4"/>
          <p:cNvSpPr>
            <a:spLocks noChangeArrowheads="1"/>
          </p:cNvSpPr>
          <p:nvPr/>
        </p:nvSpPr>
        <p:spPr bwMode="auto">
          <a:xfrm>
            <a:off x="431074" y="1381232"/>
            <a:ext cx="7991475" cy="3416320"/>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r>
              <a:rPr lang="en-US" sz="2400" dirty="0">
                <a:solidFill>
                  <a:srgbClr val="800000"/>
                </a:solidFill>
                <a:latin typeface="Consolas" panose="020B0609020204030204" pitchFamily="49" charset="0"/>
              </a:rPr>
              <a:t>&lt;!DOCTYPE</a:t>
            </a:r>
            <a:r>
              <a:rPr lang="en-US" sz="2400" dirty="0">
                <a:solidFill>
                  <a:srgbClr val="000000"/>
                </a:solidFill>
                <a:latin typeface="Consolas" panose="020B0609020204030204" pitchFamily="49" charset="0"/>
              </a:rPr>
              <a:t> </a:t>
            </a:r>
            <a:r>
              <a:rPr lang="en-US" sz="2400" dirty="0">
                <a:solidFill>
                  <a:srgbClr val="FF0000"/>
                </a:solidFill>
                <a:latin typeface="Consolas" panose="020B0609020204030204" pitchFamily="49" charset="0"/>
              </a:rPr>
              <a:t>HTML</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800000"/>
                </a:solidFill>
                <a:latin typeface="Consolas" panose="020B0609020204030204" pitchFamily="49" charset="0"/>
              </a:rPr>
              <a:t>&lt;html&gt;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&lt;head&gt;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&lt;title&gt;</a:t>
            </a:r>
            <a:r>
              <a:rPr lang="en-US" sz="2400" dirty="0">
                <a:solidFill>
                  <a:srgbClr val="000000"/>
                </a:solidFill>
                <a:latin typeface="Consolas" panose="020B0609020204030204" pitchFamily="49" charset="0"/>
              </a:rPr>
              <a:t>My First HTML Page</a:t>
            </a:r>
            <a:r>
              <a:rPr lang="en-US" sz="2400" dirty="0">
                <a:solidFill>
                  <a:srgbClr val="800000"/>
                </a:solidFill>
                <a:latin typeface="Consolas" panose="020B0609020204030204" pitchFamily="49" charset="0"/>
              </a:rPr>
              <a:t>&lt;/title&gt;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&lt;/head&gt;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&lt;body&gt;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&lt;p&gt;</a:t>
            </a:r>
            <a:r>
              <a:rPr lang="en-US" sz="2400" dirty="0">
                <a:solidFill>
                  <a:srgbClr val="000000"/>
                </a:solidFill>
                <a:latin typeface="Consolas" panose="020B0609020204030204" pitchFamily="49" charset="0"/>
              </a:rPr>
              <a:t>This is some text...</a:t>
            </a:r>
            <a:r>
              <a:rPr lang="en-US" sz="2400" dirty="0">
                <a:solidFill>
                  <a:srgbClr val="800000"/>
                </a:solidFill>
                <a:latin typeface="Consolas" panose="020B0609020204030204" pitchFamily="49" charset="0"/>
              </a:rPr>
              <a:t>&lt;/p&gt;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&lt;/body&gt;</a:t>
            </a:r>
            <a:endParaRPr lang="en-US" sz="2400" dirty="0">
              <a:solidFill>
                <a:srgbClr val="000000"/>
              </a:solidFill>
              <a:latin typeface="Consolas" panose="020B0609020204030204" pitchFamily="49" charset="0"/>
            </a:endParaRPr>
          </a:p>
          <a:p>
            <a:r>
              <a:rPr lang="en-US" sz="2400" dirty="0">
                <a:solidFill>
                  <a:srgbClr val="800000"/>
                </a:solidFill>
                <a:latin typeface="Consolas" panose="020B0609020204030204" pitchFamily="49" charset="0"/>
              </a:rPr>
              <a:t>&lt;/html&gt;</a:t>
            </a:r>
            <a:endParaRPr lang="en-US" sz="2400" dirty="0">
              <a:solidFill>
                <a:srgbClr val="000000"/>
              </a:solidFill>
              <a:latin typeface="Consolas" panose="020B0609020204030204" pitchFamily="49" charset="0"/>
            </a:endParaRPr>
          </a:p>
        </p:txBody>
      </p:sp>
      <p:sp>
        <p:nvSpPr>
          <p:cNvPr id="5" name="Rectangle 4"/>
          <p:cNvSpPr/>
          <p:nvPr/>
        </p:nvSpPr>
        <p:spPr>
          <a:xfrm>
            <a:off x="431074" y="769923"/>
            <a:ext cx="3352800" cy="552587"/>
          </a:xfrm>
          <a:prstGeom prst="rect">
            <a:avLst/>
          </a:prstGeom>
        </p:spPr>
        <p:txBody>
          <a:bodyPr wrap="square">
            <a:spAutoFit/>
          </a:bodyPr>
          <a:lstStyle/>
          <a:p>
            <a:pPr marL="282575" lvl="0" indent="-282575" eaLnBrk="0" hangingPunct="0">
              <a:lnSpc>
                <a:spcPts val="3800"/>
              </a:lnSpc>
              <a:spcBef>
                <a:spcPts val="600"/>
              </a:spcBef>
              <a:spcAft>
                <a:spcPts val="600"/>
              </a:spcAft>
              <a:buClr>
                <a:srgbClr val="46A6BD">
                  <a:lumMod val="40000"/>
                  <a:lumOff val="60000"/>
                </a:srgbClr>
              </a:buClr>
              <a:buSzPct val="70000"/>
              <a:tabLst>
                <a:tab pos="282575" algn="l"/>
              </a:tabLst>
            </a:pPr>
            <a:r>
              <a:rPr lang="en-US" sz="2800" b="1" dirty="0">
                <a:effectLst>
                  <a:outerShdw blurRad="38100" dist="38100" dir="2700000" algn="tl">
                    <a:srgbClr val="000000">
                      <a:alpha val="43137"/>
                    </a:srgbClr>
                  </a:outerShdw>
                </a:effectLst>
                <a:latin typeface="Corbel"/>
              </a:rPr>
              <a:t>test.html</a:t>
            </a:r>
          </a:p>
        </p:txBody>
      </p:sp>
      <p:pic>
        <p:nvPicPr>
          <p:cNvPr id="3" name="Picture 2"/>
          <p:cNvPicPr>
            <a:picLocks noChangeAspect="1"/>
          </p:cNvPicPr>
          <p:nvPr/>
        </p:nvPicPr>
        <p:blipFill>
          <a:blip r:embed="rId2"/>
          <a:stretch>
            <a:fillRect/>
          </a:stretch>
        </p:blipFill>
        <p:spPr>
          <a:xfrm>
            <a:off x="2107474" y="4248958"/>
            <a:ext cx="7210425" cy="2276475"/>
          </a:xfrm>
          <a:prstGeom prst="rect">
            <a:avLst/>
          </a:prstGeom>
        </p:spPr>
      </p:pic>
    </p:spTree>
    <p:extLst>
      <p:ext uri="{BB962C8B-B14F-4D97-AF65-F5344CB8AC3E}">
        <p14:creationId xmlns:p14="http://schemas.microsoft.com/office/powerpoint/2010/main" val="3830971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Structure</a:t>
            </a:r>
          </a:p>
        </p:txBody>
      </p:sp>
      <p:sp>
        <p:nvSpPr>
          <p:cNvPr id="3" name="Content Placeholder 2"/>
          <p:cNvSpPr>
            <a:spLocks noGrp="1"/>
          </p:cNvSpPr>
          <p:nvPr>
            <p:ph idx="1"/>
          </p:nvPr>
        </p:nvSpPr>
        <p:spPr/>
        <p:txBody>
          <a:bodyPr/>
          <a:lstStyle/>
          <a:p>
            <a:pPr>
              <a:lnSpc>
                <a:spcPct val="100000"/>
              </a:lnSpc>
              <a:defRPr/>
            </a:pPr>
            <a:r>
              <a:rPr lang="en-US" dirty="0"/>
              <a:t>HTML is comprised of “elements” and “tags”</a:t>
            </a:r>
            <a:endParaRPr lang="en-US" dirty="0">
              <a:latin typeface="Courier New" pitchFamily="49" charset="0"/>
            </a:endParaRPr>
          </a:p>
          <a:p>
            <a:pPr lvl="1">
              <a:lnSpc>
                <a:spcPct val="100000"/>
              </a:lnSpc>
              <a:defRPr/>
            </a:pPr>
            <a:r>
              <a:rPr lang="en-US" sz="2400" dirty="0"/>
              <a:t>Begins with </a:t>
            </a:r>
            <a:r>
              <a:rPr lang="en-US" sz="2400" dirty="0">
                <a:solidFill>
                  <a:srgbClr val="0202BE"/>
                </a:solidFill>
                <a:latin typeface="Consolas" pitchFamily="49" charset="0"/>
                <a:cs typeface="Consolas" pitchFamily="49" charset="0"/>
              </a:rPr>
              <a:t>&lt;html&gt;</a:t>
            </a:r>
            <a:r>
              <a:rPr lang="en-US" sz="2400" dirty="0">
                <a:solidFill>
                  <a:schemeClr val="tx2">
                    <a:lumMod val="60000"/>
                    <a:lumOff val="40000"/>
                  </a:schemeClr>
                </a:solidFill>
              </a:rPr>
              <a:t> </a:t>
            </a:r>
            <a:r>
              <a:rPr lang="en-US" sz="2400" dirty="0"/>
              <a:t>and ends with </a:t>
            </a:r>
            <a:r>
              <a:rPr lang="en-US" sz="2400" dirty="0">
                <a:solidFill>
                  <a:srgbClr val="0202BE"/>
                </a:solidFill>
                <a:latin typeface="Consolas" pitchFamily="49" charset="0"/>
                <a:cs typeface="Consolas" pitchFamily="49" charset="0"/>
              </a:rPr>
              <a:t>&lt;/html&gt;</a:t>
            </a:r>
          </a:p>
          <a:p>
            <a:pPr>
              <a:lnSpc>
                <a:spcPct val="100000"/>
              </a:lnSpc>
              <a:defRPr/>
            </a:pPr>
            <a:r>
              <a:rPr lang="en-US" dirty="0"/>
              <a:t>Elements (tags) are nested one inside another:</a:t>
            </a:r>
          </a:p>
          <a:p>
            <a:pPr>
              <a:lnSpc>
                <a:spcPct val="100000"/>
              </a:lnSpc>
              <a:defRPr/>
            </a:pPr>
            <a:endParaRPr lang="en-US" dirty="0"/>
          </a:p>
          <a:p>
            <a:pPr>
              <a:lnSpc>
                <a:spcPct val="100000"/>
              </a:lnSpc>
              <a:defRPr/>
            </a:pPr>
            <a:r>
              <a:rPr lang="en-US" dirty="0"/>
              <a:t>Tags have attributes:</a:t>
            </a:r>
          </a:p>
          <a:p>
            <a:pPr>
              <a:lnSpc>
                <a:spcPct val="100000"/>
              </a:lnSpc>
              <a:defRPr/>
            </a:pPr>
            <a:endParaRPr lang="en-US" dirty="0"/>
          </a:p>
          <a:p>
            <a:pPr>
              <a:lnSpc>
                <a:spcPct val="100000"/>
              </a:lnSpc>
              <a:defRPr/>
            </a:pPr>
            <a:r>
              <a:rPr lang="en-US" dirty="0"/>
              <a:t>HTML describes structure using two main sections: </a:t>
            </a:r>
            <a:r>
              <a:rPr lang="en-US" dirty="0">
                <a:solidFill>
                  <a:srgbClr val="0202BE"/>
                </a:solidFill>
                <a:latin typeface="Consolas" pitchFamily="49" charset="0"/>
                <a:cs typeface="Consolas" pitchFamily="49" charset="0"/>
              </a:rPr>
              <a:t>&lt;head&gt;</a:t>
            </a:r>
            <a:r>
              <a:rPr lang="en-US" dirty="0">
                <a:solidFill>
                  <a:srgbClr val="0202BE"/>
                </a:solidFill>
              </a:rPr>
              <a:t> </a:t>
            </a:r>
            <a:r>
              <a:rPr lang="en-US" dirty="0"/>
              <a:t>and </a:t>
            </a:r>
            <a:r>
              <a:rPr lang="en-US" dirty="0">
                <a:solidFill>
                  <a:srgbClr val="0202BE"/>
                </a:solidFill>
                <a:latin typeface="Consolas" pitchFamily="49" charset="0"/>
                <a:cs typeface="Consolas" pitchFamily="49" charset="0"/>
              </a:rPr>
              <a:t>&lt;body&gt;</a:t>
            </a:r>
          </a:p>
          <a:p>
            <a:r>
              <a:rPr lang="en-US" dirty="0"/>
              <a:t>The HTML source code should be formatted to increase readability and facilitate debugging.</a:t>
            </a:r>
          </a:p>
          <a:p>
            <a:pPr lvl="1"/>
            <a:r>
              <a:rPr lang="en-US" dirty="0"/>
              <a:t>Every block element should start on a new line.</a:t>
            </a:r>
          </a:p>
          <a:p>
            <a:pPr lvl="1"/>
            <a:r>
              <a:rPr lang="en-US" dirty="0"/>
              <a:t>Every nested (block) element should be indented.</a:t>
            </a:r>
          </a:p>
          <a:p>
            <a:pPr lvl="1"/>
            <a:r>
              <a:rPr lang="en-US" dirty="0"/>
              <a:t>Browsers ignore multiple whitespaces in the page source, so formatting is harmless.</a:t>
            </a:r>
          </a:p>
          <a:p>
            <a:r>
              <a:rPr lang="en-US" dirty="0"/>
              <a:t>For performance reasons, formatting can be sacrificed</a:t>
            </a:r>
          </a:p>
          <a:p>
            <a:endParaRPr lang="en-US" sz="2800" dirty="0"/>
          </a:p>
          <a:p>
            <a:endParaRPr lang="en-US" dirty="0"/>
          </a:p>
        </p:txBody>
      </p:sp>
      <p:sp>
        <p:nvSpPr>
          <p:cNvPr id="4" name="Rectangle 5"/>
          <p:cNvSpPr>
            <a:spLocks noChangeArrowheads="1"/>
          </p:cNvSpPr>
          <p:nvPr/>
        </p:nvSpPr>
        <p:spPr bwMode="auto">
          <a:xfrm>
            <a:off x="935182" y="2291542"/>
            <a:ext cx="7689848" cy="42473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spcBef>
                <a:spcPts val="0"/>
              </a:spcBef>
              <a:buClr>
                <a:schemeClr val="accent5">
                  <a:lumMod val="40000"/>
                  <a:lumOff val="60000"/>
                </a:schemeClr>
              </a:buClr>
              <a:buSzPct val="70000"/>
              <a:defRPr/>
            </a:pPr>
            <a:r>
              <a:rPr lang="en-US" sz="2400" noProof="1">
                <a:solidFill>
                  <a:srgbClr val="0202BE"/>
                </a:solidFill>
                <a:effectLst>
                  <a:outerShdw blurRad="38100" dist="38100" dir="2700000" algn="tl">
                    <a:srgbClr val="000000">
                      <a:alpha val="43137"/>
                    </a:srgbClr>
                  </a:outerShdw>
                </a:effectLst>
                <a:latin typeface="Consolas" pitchFamily="49" charset="0"/>
                <a:cs typeface="Consolas" pitchFamily="49" charset="0"/>
              </a:rPr>
              <a:t>&lt;html&gt; </a:t>
            </a:r>
            <a:r>
              <a:rPr lang="en-US" sz="2400" noProof="1">
                <a:solidFill>
                  <a:srgbClr val="FF0000"/>
                </a:solidFill>
                <a:effectLst>
                  <a:outerShdw blurRad="38100" dist="38100" dir="2700000" algn="tl">
                    <a:srgbClr val="000000">
                      <a:alpha val="43137"/>
                    </a:srgbClr>
                  </a:outerShdw>
                </a:effectLst>
                <a:latin typeface="Consolas" pitchFamily="49" charset="0"/>
                <a:cs typeface="Consolas" pitchFamily="49" charset="0"/>
              </a:rPr>
              <a:t>&lt;head&gt;&lt;/head&gt; </a:t>
            </a:r>
            <a:r>
              <a:rPr lang="en-US" sz="2400" noProof="1">
                <a:solidFill>
                  <a:schemeClr val="accent2">
                    <a:lumMod val="50000"/>
                  </a:schemeClr>
                </a:solidFill>
                <a:effectLst>
                  <a:outerShdw blurRad="38100" dist="38100" dir="2700000" algn="tl">
                    <a:srgbClr val="000000">
                      <a:alpha val="43137"/>
                    </a:srgbClr>
                  </a:outerShdw>
                </a:effectLst>
                <a:latin typeface="Consolas" pitchFamily="49" charset="0"/>
                <a:cs typeface="Consolas" pitchFamily="49" charset="0"/>
              </a:rPr>
              <a:t>&lt;body&gt;&lt;/body&gt; </a:t>
            </a:r>
            <a:r>
              <a:rPr lang="en-US" sz="2400" noProof="1">
                <a:solidFill>
                  <a:srgbClr val="0202BE"/>
                </a:solidFill>
                <a:effectLst>
                  <a:outerShdw blurRad="38100" dist="38100" dir="2700000" algn="tl">
                    <a:srgbClr val="000000">
                      <a:alpha val="43137"/>
                    </a:srgbClr>
                  </a:outerShdw>
                </a:effectLst>
                <a:latin typeface="Consolas" pitchFamily="49" charset="0"/>
                <a:cs typeface="Consolas" pitchFamily="49" charset="0"/>
              </a:rPr>
              <a:t>&lt;/html&gt;</a:t>
            </a:r>
          </a:p>
        </p:txBody>
      </p:sp>
      <p:sp>
        <p:nvSpPr>
          <p:cNvPr id="5" name="Rectangle 6"/>
          <p:cNvSpPr>
            <a:spLocks noChangeArrowheads="1"/>
          </p:cNvSpPr>
          <p:nvPr/>
        </p:nvSpPr>
        <p:spPr bwMode="auto">
          <a:xfrm>
            <a:off x="935182" y="3233994"/>
            <a:ext cx="7689848" cy="424732"/>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pPr eaLnBrk="0" hangingPunct="0">
              <a:lnSpc>
                <a:spcPct val="90000"/>
              </a:lnSpc>
              <a:spcBef>
                <a:spcPts val="0"/>
              </a:spcBef>
              <a:buClr>
                <a:schemeClr val="accent5">
                  <a:lumMod val="40000"/>
                  <a:lumOff val="60000"/>
                </a:schemeClr>
              </a:buClr>
              <a:buSzPct val="70000"/>
              <a:defRPr/>
            </a:pPr>
            <a:r>
              <a:rPr lang="en-US" sz="2400" noProof="1">
                <a:solidFill>
                  <a:srgbClr val="0202BE"/>
                </a:solidFill>
                <a:effectLst>
                  <a:outerShdw blurRad="38100" dist="38100" dir="2700000" algn="tl">
                    <a:srgbClr val="000000">
                      <a:alpha val="43137"/>
                    </a:srgbClr>
                  </a:outerShdw>
                </a:effectLst>
                <a:latin typeface="Consolas" pitchFamily="49" charset="0"/>
                <a:cs typeface="Consolas" pitchFamily="49" charset="0"/>
              </a:rPr>
              <a:t>&lt;img </a:t>
            </a:r>
            <a:r>
              <a:rPr lang="en-US" sz="2400" noProof="1">
                <a:solidFill>
                  <a:srgbClr val="FF0000"/>
                </a:solidFill>
                <a:effectLst>
                  <a:outerShdw blurRad="38100" dist="38100" dir="2700000" algn="tl">
                    <a:srgbClr val="000000">
                      <a:alpha val="43137"/>
                    </a:srgbClr>
                  </a:outerShdw>
                </a:effectLst>
                <a:latin typeface="Consolas" pitchFamily="49" charset="0"/>
                <a:cs typeface="Consolas" pitchFamily="49" charset="0"/>
              </a:rPr>
              <a:t>src="logo.jpg" alt="logo" </a:t>
            </a:r>
            <a:r>
              <a:rPr lang="en-US" sz="2400" noProof="1">
                <a:solidFill>
                  <a:srgbClr val="0202BE"/>
                </a:solidFill>
                <a:effectLst>
                  <a:outerShdw blurRad="38100" dist="38100" dir="2700000" algn="tl">
                    <a:srgbClr val="000000">
                      <a:alpha val="43137"/>
                    </a:srgbClr>
                  </a:outerShdw>
                </a:effectLst>
                <a:latin typeface="Consolas" pitchFamily="49" charset="0"/>
                <a:cs typeface="Consolas" pitchFamily="49" charset="0"/>
              </a:rPr>
              <a:t>/&gt;</a:t>
            </a:r>
          </a:p>
        </p:txBody>
      </p:sp>
    </p:spTree>
    <p:extLst>
      <p:ext uri="{BB962C8B-B14F-4D97-AF65-F5344CB8AC3E}">
        <p14:creationId xmlns:p14="http://schemas.microsoft.com/office/powerpoint/2010/main" val="386774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animBg="1"/>
      <p:bldP spid="5" grpId="0" uiExpan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 HTML Page</a:t>
            </a:r>
          </a:p>
        </p:txBody>
      </p:sp>
      <p:sp>
        <p:nvSpPr>
          <p:cNvPr id="4" name="Rectangle 2"/>
          <p:cNvSpPr>
            <a:spLocks noChangeArrowheads="1"/>
          </p:cNvSpPr>
          <p:nvPr/>
        </p:nvSpPr>
        <p:spPr bwMode="auto">
          <a:xfrm>
            <a:off x="425450" y="952500"/>
            <a:ext cx="8207375" cy="3970318"/>
          </a:xfrm>
          <a:prstGeom prst="rect">
            <a:avLst/>
          </a:prstGeom>
          <a:solidFill>
            <a:schemeClr val="accent5">
              <a:lumMod val="40000"/>
              <a:lumOff val="60000"/>
              <a:alpha val="15000"/>
            </a:schemeClr>
          </a:solidFill>
          <a:ln w="12700">
            <a:solidFill>
              <a:schemeClr val="accent5">
                <a:lumMod val="60000"/>
                <a:lumOff val="40000"/>
              </a:schemeClr>
            </a:solidFill>
          </a:ln>
        </p:spPr>
        <p:txBody>
          <a:bodyPr wrap="square">
            <a:spAutoFit/>
          </a:bodyPr>
          <a:lstStyle/>
          <a:p>
            <a:r>
              <a:rPr lang="en-US" sz="2800" dirty="0">
                <a:solidFill>
                  <a:srgbClr val="800000"/>
                </a:solidFill>
                <a:latin typeface="Consolas" panose="020B0609020204030204" pitchFamily="49" charset="0"/>
              </a:rPr>
              <a:t>&lt;!DOCTYPE</a:t>
            </a:r>
            <a:r>
              <a:rPr lang="en-US" sz="2800" dirty="0">
                <a:solidFill>
                  <a:srgbClr val="000000"/>
                </a:solidFill>
                <a:latin typeface="Consolas" panose="020B0609020204030204" pitchFamily="49" charset="0"/>
              </a:rPr>
              <a:t> </a:t>
            </a:r>
            <a:r>
              <a:rPr lang="en-US" sz="2800" dirty="0">
                <a:solidFill>
                  <a:srgbClr val="FF0000"/>
                </a:solidFill>
                <a:latin typeface="Consolas" panose="020B0609020204030204" pitchFamily="49" charset="0"/>
              </a:rPr>
              <a:t>HTML</a:t>
            </a:r>
            <a:r>
              <a:rPr lang="en-US" sz="2800" dirty="0">
                <a:solidFill>
                  <a:srgbClr val="800000"/>
                </a:solidFill>
                <a:latin typeface="Consolas" panose="020B0609020204030204" pitchFamily="49" charset="0"/>
              </a:rPr>
              <a:t>&gt;</a:t>
            </a:r>
            <a:endParaRPr lang="en-US" sz="2800" dirty="0">
              <a:solidFill>
                <a:srgbClr val="000000"/>
              </a:solidFill>
              <a:latin typeface="Consolas" panose="020B0609020204030204" pitchFamily="49" charset="0"/>
            </a:endParaRPr>
          </a:p>
          <a:p>
            <a:r>
              <a:rPr lang="en-US" sz="2800" dirty="0">
                <a:solidFill>
                  <a:srgbClr val="800000"/>
                </a:solidFill>
                <a:latin typeface="Consolas" panose="020B0609020204030204" pitchFamily="49" charset="0"/>
              </a:rPr>
              <a:t>&lt;html&gt;</a:t>
            </a:r>
            <a:endParaRPr lang="en-US" sz="2800" dirty="0">
              <a:solidFill>
                <a:srgbClr val="000000"/>
              </a:solidFill>
              <a:latin typeface="Consolas" panose="020B0609020204030204" pitchFamily="49" charset="0"/>
            </a:endParaRPr>
          </a:p>
          <a:p>
            <a:r>
              <a:rPr lang="en-US" sz="2800" dirty="0">
                <a:solidFill>
                  <a:srgbClr val="000000"/>
                </a:solidFill>
                <a:latin typeface="Consolas" panose="020B0609020204030204" pitchFamily="49" charset="0"/>
              </a:rPr>
              <a:t>  </a:t>
            </a:r>
            <a:r>
              <a:rPr lang="en-US" sz="2800" dirty="0">
                <a:solidFill>
                  <a:srgbClr val="800000"/>
                </a:solidFill>
                <a:latin typeface="Consolas" panose="020B0609020204030204" pitchFamily="49" charset="0"/>
              </a:rPr>
              <a:t>&lt;head&gt;</a:t>
            </a:r>
            <a:endParaRPr lang="en-US" sz="2800" dirty="0">
              <a:solidFill>
                <a:srgbClr val="000000"/>
              </a:solidFill>
              <a:latin typeface="Consolas" panose="020B0609020204030204" pitchFamily="49" charset="0"/>
            </a:endParaRPr>
          </a:p>
          <a:p>
            <a:r>
              <a:rPr lang="en-US" sz="2800" dirty="0">
                <a:solidFill>
                  <a:srgbClr val="000000"/>
                </a:solidFill>
                <a:latin typeface="Consolas" panose="020B0609020204030204" pitchFamily="49" charset="0"/>
              </a:rPr>
              <a:t>    </a:t>
            </a:r>
            <a:r>
              <a:rPr lang="en-US" sz="2800" dirty="0">
                <a:solidFill>
                  <a:srgbClr val="800000"/>
                </a:solidFill>
                <a:latin typeface="Consolas" panose="020B0609020204030204" pitchFamily="49" charset="0"/>
              </a:rPr>
              <a:t>&lt;title&gt;</a:t>
            </a:r>
            <a:r>
              <a:rPr lang="en-US" sz="2800" dirty="0">
                <a:solidFill>
                  <a:srgbClr val="000000"/>
                </a:solidFill>
                <a:latin typeface="Consolas" panose="020B0609020204030204" pitchFamily="49" charset="0"/>
              </a:rPr>
              <a:t>My First HTML Page</a:t>
            </a:r>
            <a:r>
              <a:rPr lang="en-US" sz="2800" dirty="0">
                <a:solidFill>
                  <a:srgbClr val="800000"/>
                </a:solidFill>
                <a:latin typeface="Consolas" panose="020B0609020204030204" pitchFamily="49" charset="0"/>
              </a:rPr>
              <a:t>&lt;/title&gt;</a:t>
            </a:r>
            <a:endParaRPr lang="en-US" sz="2800" dirty="0">
              <a:solidFill>
                <a:srgbClr val="000000"/>
              </a:solidFill>
              <a:latin typeface="Consolas" panose="020B0609020204030204" pitchFamily="49" charset="0"/>
            </a:endParaRPr>
          </a:p>
          <a:p>
            <a:r>
              <a:rPr lang="en-US" sz="2800" dirty="0">
                <a:solidFill>
                  <a:srgbClr val="000000"/>
                </a:solidFill>
                <a:latin typeface="Consolas" panose="020B0609020204030204" pitchFamily="49" charset="0"/>
              </a:rPr>
              <a:t>  </a:t>
            </a:r>
            <a:r>
              <a:rPr lang="en-US" sz="2800" dirty="0">
                <a:solidFill>
                  <a:srgbClr val="800000"/>
                </a:solidFill>
                <a:latin typeface="Consolas" panose="020B0609020204030204" pitchFamily="49" charset="0"/>
              </a:rPr>
              <a:t>&lt;/head&gt;</a:t>
            </a:r>
            <a:endParaRPr lang="en-US" sz="2800" dirty="0">
              <a:solidFill>
                <a:srgbClr val="000000"/>
              </a:solidFill>
              <a:latin typeface="Consolas" panose="020B0609020204030204" pitchFamily="49" charset="0"/>
            </a:endParaRPr>
          </a:p>
          <a:p>
            <a:r>
              <a:rPr lang="en-US" sz="2800" dirty="0">
                <a:solidFill>
                  <a:srgbClr val="000000"/>
                </a:solidFill>
                <a:latin typeface="Consolas" panose="020B0609020204030204" pitchFamily="49" charset="0"/>
              </a:rPr>
              <a:t>  </a:t>
            </a:r>
            <a:r>
              <a:rPr lang="en-US" sz="2800" dirty="0">
                <a:solidFill>
                  <a:srgbClr val="800000"/>
                </a:solidFill>
                <a:latin typeface="Consolas" panose="020B0609020204030204" pitchFamily="49" charset="0"/>
              </a:rPr>
              <a:t>&lt;body&gt;</a:t>
            </a:r>
            <a:endParaRPr lang="en-US" sz="2800" dirty="0">
              <a:solidFill>
                <a:srgbClr val="000000"/>
              </a:solidFill>
              <a:latin typeface="Consolas" panose="020B0609020204030204" pitchFamily="49" charset="0"/>
            </a:endParaRPr>
          </a:p>
          <a:p>
            <a:r>
              <a:rPr lang="en-US" sz="2800" dirty="0">
                <a:solidFill>
                  <a:srgbClr val="000000"/>
                </a:solidFill>
                <a:latin typeface="Consolas" panose="020B0609020204030204" pitchFamily="49" charset="0"/>
              </a:rPr>
              <a:t>     </a:t>
            </a:r>
            <a:r>
              <a:rPr lang="en-US" sz="2800" dirty="0">
                <a:solidFill>
                  <a:srgbClr val="800000"/>
                </a:solidFill>
                <a:latin typeface="Consolas" panose="020B0609020204030204" pitchFamily="49" charset="0"/>
              </a:rPr>
              <a:t>&lt;p&gt;</a:t>
            </a:r>
            <a:r>
              <a:rPr lang="en-US" sz="2800" dirty="0">
                <a:solidFill>
                  <a:srgbClr val="000000"/>
                </a:solidFill>
                <a:latin typeface="Consolas" panose="020B0609020204030204" pitchFamily="49" charset="0"/>
              </a:rPr>
              <a:t>This is some text...</a:t>
            </a:r>
            <a:r>
              <a:rPr lang="en-US" sz="2800" dirty="0">
                <a:solidFill>
                  <a:srgbClr val="800000"/>
                </a:solidFill>
                <a:latin typeface="Consolas" panose="020B0609020204030204" pitchFamily="49" charset="0"/>
              </a:rPr>
              <a:t>&lt;/p&gt;</a:t>
            </a:r>
            <a:endParaRPr lang="en-US" sz="2800" dirty="0">
              <a:solidFill>
                <a:srgbClr val="000000"/>
              </a:solidFill>
              <a:latin typeface="Consolas" panose="020B0609020204030204" pitchFamily="49" charset="0"/>
            </a:endParaRPr>
          </a:p>
          <a:p>
            <a:r>
              <a:rPr lang="en-US" sz="2800" dirty="0">
                <a:solidFill>
                  <a:srgbClr val="000000"/>
                </a:solidFill>
                <a:latin typeface="Consolas" panose="020B0609020204030204" pitchFamily="49" charset="0"/>
              </a:rPr>
              <a:t>  </a:t>
            </a:r>
            <a:r>
              <a:rPr lang="en-US" sz="2800" dirty="0">
                <a:solidFill>
                  <a:srgbClr val="800000"/>
                </a:solidFill>
                <a:latin typeface="Consolas" panose="020B0609020204030204" pitchFamily="49" charset="0"/>
              </a:rPr>
              <a:t>&lt;/body&gt;</a:t>
            </a:r>
            <a:endParaRPr lang="en-US" sz="2800" dirty="0">
              <a:solidFill>
                <a:srgbClr val="000000"/>
              </a:solidFill>
              <a:latin typeface="Consolas" panose="020B0609020204030204" pitchFamily="49" charset="0"/>
            </a:endParaRPr>
          </a:p>
          <a:p>
            <a:r>
              <a:rPr lang="en-US" sz="2800" dirty="0">
                <a:solidFill>
                  <a:srgbClr val="800000"/>
                </a:solidFill>
                <a:latin typeface="Consolas" panose="020B0609020204030204" pitchFamily="49" charset="0"/>
              </a:rPr>
              <a:t>&lt;/html&gt;</a:t>
            </a:r>
            <a:endParaRPr lang="en-US" sz="2800" dirty="0">
              <a:solidFill>
                <a:srgbClr val="000000"/>
              </a:solidFill>
              <a:latin typeface="Consolas" panose="020B0609020204030204" pitchFamily="49" charset="0"/>
            </a:endParaRPr>
          </a:p>
        </p:txBody>
      </p:sp>
      <p:sp>
        <p:nvSpPr>
          <p:cNvPr id="5" name="AutoShape 7"/>
          <p:cNvSpPr>
            <a:spLocks noChangeArrowheads="1"/>
          </p:cNvSpPr>
          <p:nvPr/>
        </p:nvSpPr>
        <p:spPr bwMode="auto">
          <a:xfrm>
            <a:off x="2097677" y="1333859"/>
            <a:ext cx="2209799" cy="506522"/>
          </a:xfrm>
          <a:prstGeom prst="wedgeRoundRectCallout">
            <a:avLst>
              <a:gd name="adj1" fmla="val -51525"/>
              <a:gd name="adj2" fmla="val 139824"/>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spcBef>
                <a:spcPts val="0"/>
              </a:spcBef>
              <a:buClr>
                <a:schemeClr val="accent5">
                  <a:lumMod val="40000"/>
                  <a:lumOff val="60000"/>
                </a:schemeClr>
              </a:buClr>
              <a:buSzPct val="70000"/>
            </a:pPr>
            <a:r>
              <a:rPr lang="en-US" sz="2400" noProof="1">
                <a:solidFill>
                  <a:srgbClr val="F7FFE7"/>
                </a:solidFill>
                <a:effectLst>
                  <a:outerShdw blurRad="38100" dist="38100" dir="2700000" algn="tl">
                    <a:srgbClr val="000000">
                      <a:alpha val="43137"/>
                    </a:srgbClr>
                  </a:outerShdw>
                </a:effectLst>
                <a:latin typeface="+mn-lt"/>
                <a:cs typeface="Consolas" pitchFamily="49" charset="0"/>
              </a:rPr>
              <a:t>Opening tag</a:t>
            </a:r>
          </a:p>
        </p:txBody>
      </p:sp>
      <p:sp>
        <p:nvSpPr>
          <p:cNvPr id="6" name="AutoShape 7"/>
          <p:cNvSpPr>
            <a:spLocks noChangeArrowheads="1"/>
          </p:cNvSpPr>
          <p:nvPr/>
        </p:nvSpPr>
        <p:spPr bwMode="auto">
          <a:xfrm>
            <a:off x="6702334" y="2937659"/>
            <a:ext cx="2057400" cy="506522"/>
          </a:xfrm>
          <a:prstGeom prst="wedgeRoundRectCallout">
            <a:avLst>
              <a:gd name="adj1" fmla="val -45850"/>
              <a:gd name="adj2" fmla="val -111478"/>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spcBef>
                <a:spcPts val="0"/>
              </a:spcBef>
              <a:buClr>
                <a:schemeClr val="accent5">
                  <a:lumMod val="40000"/>
                  <a:lumOff val="60000"/>
                </a:schemeClr>
              </a:buClr>
              <a:buSzPct val="70000"/>
            </a:pPr>
            <a:r>
              <a:rPr lang="en-US" sz="2400" noProof="1">
                <a:solidFill>
                  <a:srgbClr val="F7FFE7"/>
                </a:solidFill>
                <a:effectLst>
                  <a:outerShdw blurRad="38100" dist="38100" dir="2700000" algn="tl">
                    <a:srgbClr val="000000">
                      <a:alpha val="43137"/>
                    </a:srgbClr>
                  </a:outerShdw>
                </a:effectLst>
                <a:latin typeface="+mn-lt"/>
                <a:cs typeface="Consolas" pitchFamily="49" charset="0"/>
              </a:rPr>
              <a:t>Closing tag</a:t>
            </a:r>
          </a:p>
        </p:txBody>
      </p:sp>
      <p:sp>
        <p:nvSpPr>
          <p:cNvPr id="7" name="Rectangle 11"/>
          <p:cNvSpPr>
            <a:spLocks noChangeArrowheads="1"/>
          </p:cNvSpPr>
          <p:nvPr/>
        </p:nvSpPr>
        <p:spPr bwMode="auto">
          <a:xfrm>
            <a:off x="752246" y="1869081"/>
            <a:ext cx="7354345" cy="1259392"/>
          </a:xfrm>
          <a:prstGeom prst="rect">
            <a:avLst/>
          </a:prstGeom>
          <a:solidFill>
            <a:schemeClr val="tx2">
              <a:lumMod val="60000"/>
              <a:lumOff val="40000"/>
              <a:alpha val="15000"/>
            </a:schemeClr>
          </a:solidFill>
          <a:ln w="12700">
            <a:solidFill>
              <a:schemeClr val="accent5">
                <a:lumMod val="60000"/>
                <a:lumOff val="40000"/>
              </a:schemeClr>
            </a:solidFill>
          </a:ln>
        </p:spPr>
        <p:txBody>
          <a:bodyPr wrap="square">
            <a:noAutofit/>
          </a:bodyPr>
          <a:lstStyle/>
          <a:p>
            <a:pPr eaLnBrk="0" hangingPunct="0">
              <a:lnSpc>
                <a:spcPct val="110000"/>
              </a:lnSpc>
              <a:spcBef>
                <a:spcPts val="0"/>
              </a:spcBef>
              <a:buClr>
                <a:schemeClr val="accent5">
                  <a:lumMod val="40000"/>
                  <a:lumOff val="60000"/>
                </a:schemeClr>
              </a:buClr>
              <a:buSzPct val="70000"/>
              <a:defRPr/>
            </a:pPr>
            <a:endParaRPr lang="en-US" sz="2400" b="1" noProof="1">
              <a:solidFill>
                <a:srgbClr val="8CF4F2"/>
              </a:solidFill>
              <a:effectLst>
                <a:outerShdw blurRad="38100" dist="38100" dir="2700000" algn="tl">
                  <a:srgbClr val="000000">
                    <a:alpha val="43137"/>
                  </a:srgbClr>
                </a:outerShdw>
              </a:effectLst>
              <a:latin typeface="Consolas" pitchFamily="49" charset="0"/>
              <a:cs typeface="Consolas" pitchFamily="49" charset="0"/>
            </a:endParaRPr>
          </a:p>
        </p:txBody>
      </p:sp>
      <p:sp>
        <p:nvSpPr>
          <p:cNvPr id="8" name="AutoShape 7"/>
          <p:cNvSpPr>
            <a:spLocks noChangeArrowheads="1"/>
          </p:cNvSpPr>
          <p:nvPr/>
        </p:nvSpPr>
        <p:spPr bwMode="auto">
          <a:xfrm>
            <a:off x="3771900" y="848590"/>
            <a:ext cx="2362200" cy="506522"/>
          </a:xfrm>
          <a:prstGeom prst="wedgeRoundRectCallout">
            <a:avLst>
              <a:gd name="adj1" fmla="val -51100"/>
              <a:gd name="adj2" fmla="val 148323"/>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spcBef>
                <a:spcPts val="0"/>
              </a:spcBef>
              <a:buClr>
                <a:schemeClr val="accent5">
                  <a:lumMod val="40000"/>
                  <a:lumOff val="60000"/>
                </a:schemeClr>
              </a:buClr>
              <a:buSzPct val="70000"/>
            </a:pPr>
            <a:r>
              <a:rPr lang="en-US" sz="2400" noProof="1">
                <a:solidFill>
                  <a:srgbClr val="F7FFE7"/>
                </a:solidFill>
                <a:effectLst>
                  <a:outerShdw blurRad="38100" dist="38100" dir="2700000" algn="tl">
                    <a:srgbClr val="000000">
                      <a:alpha val="43137"/>
                    </a:srgbClr>
                  </a:outerShdw>
                </a:effectLst>
                <a:latin typeface="+mn-lt"/>
                <a:cs typeface="Consolas" pitchFamily="49" charset="0"/>
              </a:rPr>
              <a:t>HTML header</a:t>
            </a:r>
          </a:p>
        </p:txBody>
      </p:sp>
      <p:sp>
        <p:nvSpPr>
          <p:cNvPr id="9" name="Rectangle 11"/>
          <p:cNvSpPr>
            <a:spLocks noChangeArrowheads="1"/>
          </p:cNvSpPr>
          <p:nvPr/>
        </p:nvSpPr>
        <p:spPr bwMode="auto">
          <a:xfrm>
            <a:off x="752246" y="3128473"/>
            <a:ext cx="7354346" cy="1287823"/>
          </a:xfrm>
          <a:prstGeom prst="rect">
            <a:avLst/>
          </a:prstGeom>
          <a:solidFill>
            <a:schemeClr val="tx2">
              <a:lumMod val="60000"/>
              <a:lumOff val="40000"/>
              <a:alpha val="15000"/>
            </a:schemeClr>
          </a:solidFill>
          <a:ln w="12700">
            <a:solidFill>
              <a:schemeClr val="accent5">
                <a:lumMod val="60000"/>
                <a:lumOff val="40000"/>
              </a:schemeClr>
            </a:solidFill>
          </a:ln>
        </p:spPr>
        <p:txBody>
          <a:bodyPr wrap="square">
            <a:noAutofit/>
          </a:bodyPr>
          <a:lstStyle/>
          <a:p>
            <a:pPr eaLnBrk="0" hangingPunct="0">
              <a:lnSpc>
                <a:spcPct val="110000"/>
              </a:lnSpc>
              <a:spcBef>
                <a:spcPts val="0"/>
              </a:spcBef>
              <a:buClr>
                <a:schemeClr val="accent5">
                  <a:lumMod val="40000"/>
                  <a:lumOff val="60000"/>
                </a:schemeClr>
              </a:buClr>
              <a:buSzPct val="70000"/>
              <a:defRPr/>
            </a:pPr>
            <a:endParaRPr lang="en-US" sz="2400" b="1" noProof="1">
              <a:solidFill>
                <a:srgbClr val="8CF4F2"/>
              </a:solidFill>
              <a:effectLst>
                <a:outerShdw blurRad="38100" dist="38100" dir="2700000" algn="tl">
                  <a:srgbClr val="000000">
                    <a:alpha val="43137"/>
                  </a:srgbClr>
                </a:outerShdw>
              </a:effectLst>
              <a:latin typeface="Consolas" pitchFamily="49" charset="0"/>
              <a:cs typeface="Consolas" pitchFamily="49" charset="0"/>
            </a:endParaRPr>
          </a:p>
        </p:txBody>
      </p:sp>
      <p:pic>
        <p:nvPicPr>
          <p:cNvPr id="12" name="Picture 11"/>
          <p:cNvPicPr>
            <a:picLocks noChangeAspect="1"/>
          </p:cNvPicPr>
          <p:nvPr/>
        </p:nvPicPr>
        <p:blipFill>
          <a:blip r:embed="rId2"/>
          <a:stretch>
            <a:fillRect/>
          </a:stretch>
        </p:blipFill>
        <p:spPr>
          <a:xfrm>
            <a:off x="6218449" y="4256597"/>
            <a:ext cx="5082569" cy="1604668"/>
          </a:xfrm>
          <a:prstGeom prst="rect">
            <a:avLst/>
          </a:prstGeom>
        </p:spPr>
      </p:pic>
      <p:sp>
        <p:nvSpPr>
          <p:cNvPr id="10" name="AutoShape 7"/>
          <p:cNvSpPr>
            <a:spLocks noChangeArrowheads="1"/>
          </p:cNvSpPr>
          <p:nvPr/>
        </p:nvSpPr>
        <p:spPr bwMode="auto">
          <a:xfrm>
            <a:off x="3771900" y="4898157"/>
            <a:ext cx="2209800" cy="506522"/>
          </a:xfrm>
          <a:prstGeom prst="wedgeRoundRectCallout">
            <a:avLst>
              <a:gd name="adj1" fmla="val -41697"/>
              <a:gd name="adj2" fmla="val -146766"/>
              <a:gd name="adj3" fmla="val 16667"/>
            </a:avLst>
          </a:prstGeom>
          <a:solidFill>
            <a:srgbClr val="9F8471"/>
          </a:solidFill>
          <a:ln w="6350">
            <a:solidFill>
              <a:schemeClr val="tx1">
                <a:lumMod val="20000"/>
                <a:lumOff val="80000"/>
              </a:schemeClr>
            </a:solidFill>
          </a:ln>
        </p:spPr>
        <p:txBody>
          <a:bodyPr wrap="square">
            <a:spAutoFit/>
          </a:bodyPr>
          <a:lstStyle/>
          <a:p>
            <a:pPr algn="ctr" eaLnBrk="0" hangingPunct="0">
              <a:lnSpc>
                <a:spcPts val="3000"/>
              </a:lnSpc>
              <a:spcBef>
                <a:spcPts val="0"/>
              </a:spcBef>
              <a:buClr>
                <a:schemeClr val="accent5">
                  <a:lumMod val="40000"/>
                  <a:lumOff val="60000"/>
                </a:schemeClr>
              </a:buClr>
              <a:buSzPct val="70000"/>
            </a:pPr>
            <a:r>
              <a:rPr lang="en-US" sz="2400" noProof="1">
                <a:solidFill>
                  <a:srgbClr val="F7FFE7"/>
                </a:solidFill>
                <a:effectLst>
                  <a:outerShdw blurRad="38100" dist="38100" dir="2700000" algn="tl">
                    <a:srgbClr val="000000">
                      <a:alpha val="43137"/>
                    </a:srgbClr>
                  </a:outerShdw>
                </a:effectLst>
                <a:latin typeface="+mn-lt"/>
                <a:cs typeface="Consolas" pitchFamily="49" charset="0"/>
              </a:rPr>
              <a:t>HTML body</a:t>
            </a:r>
          </a:p>
        </p:txBody>
      </p:sp>
    </p:spTree>
    <p:extLst>
      <p:ext uri="{BB962C8B-B14F-4D97-AF65-F5344CB8AC3E}">
        <p14:creationId xmlns:p14="http://schemas.microsoft.com/office/powerpoint/2010/main" val="3826882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8"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HTML Tags</a:t>
            </a:r>
          </a:p>
        </p:txBody>
      </p:sp>
      <p:sp>
        <p:nvSpPr>
          <p:cNvPr id="3" name="Content Placeholder 2"/>
          <p:cNvSpPr>
            <a:spLocks noGrp="1"/>
          </p:cNvSpPr>
          <p:nvPr>
            <p:ph idx="1"/>
          </p:nvPr>
        </p:nvSpPr>
        <p:spPr/>
        <p:txBody>
          <a:bodyPr/>
          <a:lstStyle/>
          <a:p>
            <a:r>
              <a:rPr lang="en-US" dirty="0"/>
              <a:t>Headings	</a:t>
            </a:r>
          </a:p>
          <a:p>
            <a:r>
              <a:rPr lang="en-US" dirty="0"/>
              <a:t>Paragraph</a:t>
            </a:r>
          </a:p>
          <a:p>
            <a:r>
              <a:rPr lang="en-US" dirty="0"/>
              <a:t>Fonts</a:t>
            </a:r>
          </a:p>
          <a:p>
            <a:r>
              <a:rPr lang="en-US" dirty="0"/>
              <a:t>List</a:t>
            </a:r>
          </a:p>
          <a:p>
            <a:r>
              <a:rPr lang="en-US" dirty="0"/>
              <a:t>Anchor Tag</a:t>
            </a:r>
          </a:p>
          <a:p>
            <a:r>
              <a:rPr lang="en-US" dirty="0"/>
              <a:t>Image</a:t>
            </a:r>
          </a:p>
          <a:p>
            <a:r>
              <a:rPr lang="en-US" dirty="0"/>
              <a:t>Table</a:t>
            </a:r>
          </a:p>
          <a:p>
            <a:r>
              <a:rPr lang="en-US" dirty="0"/>
              <a:t>Form</a:t>
            </a:r>
          </a:p>
        </p:txBody>
      </p:sp>
    </p:spTree>
    <p:extLst>
      <p:ext uri="{BB962C8B-B14F-4D97-AF65-F5344CB8AC3E}">
        <p14:creationId xmlns:p14="http://schemas.microsoft.com/office/powerpoint/2010/main" val="1188801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Headings</a:t>
            </a:r>
          </a:p>
        </p:txBody>
      </p:sp>
      <p:sp>
        <p:nvSpPr>
          <p:cNvPr id="3" name="Content Placeholder 2"/>
          <p:cNvSpPr>
            <a:spLocks noGrp="1"/>
          </p:cNvSpPr>
          <p:nvPr>
            <p:ph idx="1"/>
          </p:nvPr>
        </p:nvSpPr>
        <p:spPr/>
        <p:txBody>
          <a:bodyPr/>
          <a:lstStyle/>
          <a:p>
            <a:pPr lvl="0"/>
            <a:r>
              <a:rPr lang="en-US" altLang="zh-CN" dirty="0">
                <a:ea typeface="宋体" pitchFamily="2" charset="-122"/>
                <a:cs typeface="Times New Roman" panose="02020603050405020304" pitchFamily="18" charset="0"/>
              </a:rPr>
              <a:t>Headings are important because search engines use the headings to index the structure and content of your web pages.</a:t>
            </a:r>
          </a:p>
          <a:p>
            <a:endParaRPr lang="en-US" dirty="0"/>
          </a:p>
        </p:txBody>
      </p:sp>
      <p:sp>
        <p:nvSpPr>
          <p:cNvPr id="4" name="Text Box 4"/>
          <p:cNvSpPr txBox="1">
            <a:spLocks noChangeArrowheads="1"/>
          </p:cNvSpPr>
          <p:nvPr/>
        </p:nvSpPr>
        <p:spPr bwMode="auto">
          <a:xfrm>
            <a:off x="538752" y="1793964"/>
            <a:ext cx="7327262" cy="3631763"/>
          </a:xfrm>
          <a:prstGeom prst="rect">
            <a:avLst/>
          </a:prstGeom>
          <a:noFill/>
          <a:ln w="9525">
            <a:noFill/>
            <a:miter lim="800000"/>
            <a:headEnd/>
            <a:tailEnd/>
          </a:ln>
          <a:effectLst/>
        </p:spPr>
        <p:txBody>
          <a:bodyPr wrap="square">
            <a:spAutoFit/>
          </a:bodyPr>
          <a:lstStyle/>
          <a:p>
            <a:pPr lvl="1"/>
            <a:r>
              <a:rPr lang="en-US" altLang="zh-CN" sz="3400" dirty="0">
                <a:ea typeface="宋体" pitchFamily="2" charset="-122"/>
              </a:rPr>
              <a:t>&lt;h1&gt; text &lt;/h1&gt; -- largest of the six</a:t>
            </a:r>
          </a:p>
          <a:p>
            <a:pPr lvl="1"/>
            <a:r>
              <a:rPr lang="en-US" altLang="zh-CN" sz="3200" dirty="0">
                <a:ea typeface="宋体" pitchFamily="2" charset="-122"/>
              </a:rPr>
              <a:t>&lt;h2&gt; text &lt;/h2&gt;</a:t>
            </a:r>
          </a:p>
          <a:p>
            <a:pPr lvl="1"/>
            <a:r>
              <a:rPr lang="en-US" altLang="zh-CN" sz="3000" dirty="0">
                <a:ea typeface="宋体" pitchFamily="2" charset="-122"/>
              </a:rPr>
              <a:t>&lt;h3&gt; text &lt;/h3&gt;</a:t>
            </a:r>
          </a:p>
          <a:p>
            <a:pPr lvl="1"/>
            <a:r>
              <a:rPr lang="en-US" altLang="zh-CN" sz="2800" dirty="0">
                <a:ea typeface="宋体" pitchFamily="2" charset="-122"/>
              </a:rPr>
              <a:t>&lt;h4&gt; text &lt;/h4&gt;</a:t>
            </a:r>
          </a:p>
          <a:p>
            <a:pPr lvl="1"/>
            <a:r>
              <a:rPr lang="en-US" altLang="zh-CN" sz="2600" dirty="0">
                <a:ea typeface="宋体" pitchFamily="2" charset="-122"/>
              </a:rPr>
              <a:t>&lt;h5&gt; text &lt;/h5&gt;</a:t>
            </a:r>
          </a:p>
          <a:p>
            <a:pPr lvl="1"/>
            <a:r>
              <a:rPr lang="en-US" altLang="zh-CN" sz="2400" dirty="0">
                <a:ea typeface="宋体" pitchFamily="2" charset="-122"/>
              </a:rPr>
              <a:t>&lt;h6&gt; text &lt;/h6&gt; -- smallest of the six</a:t>
            </a:r>
          </a:p>
          <a:p>
            <a:endParaRPr lang="en-US" altLang="zh-CN" sz="2800" dirty="0">
              <a:ea typeface="宋体" pitchFamily="2" charset="-122"/>
            </a:endParaRPr>
          </a:p>
          <a:p>
            <a:r>
              <a:rPr lang="en-US" altLang="zh-CN" sz="2800" dirty="0">
                <a:solidFill>
                  <a:schemeClr val="tx2">
                    <a:lumMod val="60000"/>
                    <a:lumOff val="40000"/>
                  </a:schemeClr>
                </a:solidFill>
                <a:ea typeface="宋体" pitchFamily="2" charset="-122"/>
              </a:rPr>
              <a:t>align=</a:t>
            </a:r>
            <a:r>
              <a:rPr lang="en-US" altLang="zh-CN" sz="2800" i="1" dirty="0">
                <a:solidFill>
                  <a:schemeClr val="tx2">
                    <a:lumMod val="60000"/>
                    <a:lumOff val="40000"/>
                  </a:schemeClr>
                </a:solidFill>
                <a:ea typeface="宋体" pitchFamily="2" charset="-122"/>
              </a:rPr>
              <a:t>"position"</a:t>
            </a:r>
            <a:r>
              <a:rPr lang="en-US" altLang="zh-CN" sz="2800" dirty="0">
                <a:solidFill>
                  <a:schemeClr val="tx2">
                    <a:lumMod val="60000"/>
                    <a:lumOff val="40000"/>
                  </a:schemeClr>
                </a:solidFill>
                <a:ea typeface="宋体" pitchFamily="2" charset="-122"/>
              </a:rPr>
              <a:t> --left (default), center or right</a:t>
            </a:r>
          </a:p>
        </p:txBody>
      </p:sp>
    </p:spTree>
    <p:extLst>
      <p:ext uri="{BB962C8B-B14F-4D97-AF65-F5344CB8AC3E}">
        <p14:creationId xmlns:p14="http://schemas.microsoft.com/office/powerpoint/2010/main" val="345281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bldLvl="2"/>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&lt;p&gt; paragraph</a:t>
            </a:r>
          </a:p>
        </p:txBody>
      </p:sp>
      <p:sp>
        <p:nvSpPr>
          <p:cNvPr id="3" name="Content Placeholder 2"/>
          <p:cNvSpPr>
            <a:spLocks noGrp="1"/>
          </p:cNvSpPr>
          <p:nvPr>
            <p:ph idx="1"/>
          </p:nvPr>
        </p:nvSpPr>
        <p:spPr/>
        <p:txBody>
          <a:bodyPr/>
          <a:lstStyle/>
          <a:p>
            <a:r>
              <a:rPr lang="en-US" dirty="0"/>
              <a:t>The HTML &lt;p&gt; element represents a paragraph. </a:t>
            </a:r>
          </a:p>
          <a:p>
            <a:r>
              <a:rPr lang="en-US" dirty="0"/>
              <a:t>Paragraphs are usually represented in visual media as blocks of text separated from adjacent blocks by blank lines and/or first-line indentation, but HTML paragraphs can be any structural grouping of related content, such as images or form fields.</a:t>
            </a:r>
          </a:p>
          <a:p>
            <a:r>
              <a:rPr lang="en-US" dirty="0"/>
              <a:t>Paragraphs are block-level elements, and notably will automatically close if another block-level element is parsed before the closing &lt;/p&gt; tag.</a:t>
            </a:r>
          </a:p>
          <a:p>
            <a:r>
              <a:rPr lang="en-US" dirty="0"/>
              <a:t>We can use align attribute of the paragraph tag to specify the text alignment for the text inside the paragraph, ex. &lt;p align=“center”&gt;our test&lt;/p&gt;</a:t>
            </a:r>
          </a:p>
          <a:p>
            <a:endParaRPr lang="en-US" dirty="0"/>
          </a:p>
        </p:txBody>
      </p:sp>
    </p:spTree>
    <p:extLst>
      <p:ext uri="{BB962C8B-B14F-4D97-AF65-F5344CB8AC3E}">
        <p14:creationId xmlns:p14="http://schemas.microsoft.com/office/powerpoint/2010/main" val="155624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Colors</a:t>
            </a:r>
          </a:p>
        </p:txBody>
      </p:sp>
      <p:sp>
        <p:nvSpPr>
          <p:cNvPr id="3" name="Content Placeholder 2"/>
          <p:cNvSpPr>
            <a:spLocks noGrp="1"/>
          </p:cNvSpPr>
          <p:nvPr>
            <p:ph idx="1"/>
          </p:nvPr>
        </p:nvSpPr>
        <p:spPr/>
        <p:txBody>
          <a:bodyPr/>
          <a:lstStyle/>
          <a:p>
            <a:r>
              <a:rPr lang="en-US" dirty="0"/>
              <a:t>We can use color values for mainly two attributes named </a:t>
            </a:r>
            <a:r>
              <a:rPr lang="en-US" b="1" dirty="0" err="1"/>
              <a:t>bgcolor</a:t>
            </a:r>
            <a:r>
              <a:rPr lang="en-US" b="1" dirty="0"/>
              <a:t> </a:t>
            </a:r>
            <a:r>
              <a:rPr lang="en-US" dirty="0"/>
              <a:t>and </a:t>
            </a:r>
            <a:r>
              <a:rPr lang="en-US" b="1" dirty="0"/>
              <a:t>color.</a:t>
            </a:r>
            <a:endParaRPr lang="en-US" dirty="0"/>
          </a:p>
          <a:p>
            <a:r>
              <a:rPr lang="en-US" dirty="0"/>
              <a:t>Possible values for the color are,</a:t>
            </a:r>
          </a:p>
          <a:p>
            <a:pPr marL="742950" lvl="1" indent="-285750" algn="l">
              <a:lnSpc>
                <a:spcPct val="114000"/>
              </a:lnSpc>
              <a:spcBef>
                <a:spcPct val="20000"/>
              </a:spcBef>
              <a:buClrTx/>
              <a:buFont typeface="Arial" panose="020B0604020202020204" pitchFamily="34" charset="0"/>
              <a:buChar char="•"/>
              <a:defRPr/>
            </a:pPr>
            <a:r>
              <a:rPr lang="en-US" altLang="zh-CN" dirty="0">
                <a:ea typeface="宋体" pitchFamily="2" charset="-122"/>
                <a:cs typeface="Times New Roman" panose="02020603050405020304" pitchFamily="18" charset="0"/>
              </a:rPr>
              <a:t>many are predefined (red, blue, green, ...)</a:t>
            </a:r>
          </a:p>
          <a:p>
            <a:pPr marL="742950" lvl="1" indent="-285750" algn="l">
              <a:lnSpc>
                <a:spcPct val="114000"/>
              </a:lnSpc>
              <a:spcBef>
                <a:spcPct val="20000"/>
              </a:spcBef>
              <a:buClrTx/>
              <a:buFont typeface="Arial" panose="020B0604020202020204" pitchFamily="34" charset="0"/>
              <a:buChar char="•"/>
              <a:defRPr/>
            </a:pPr>
            <a:r>
              <a:rPr lang="en-US" altLang="zh-CN" dirty="0">
                <a:ea typeface="宋体" pitchFamily="2" charset="-122"/>
                <a:cs typeface="Times New Roman" panose="02020603050405020304" pitchFamily="18" charset="0"/>
              </a:rPr>
              <a:t>all colors can be specified as a six character hexadecimal value: #RRGGBB</a:t>
            </a:r>
          </a:p>
          <a:p>
            <a:pPr marL="1076325" lvl="2" indent="-285750" algn="l">
              <a:lnSpc>
                <a:spcPct val="114000"/>
              </a:lnSpc>
              <a:spcBef>
                <a:spcPct val="20000"/>
              </a:spcBef>
              <a:buClrTx/>
              <a:buFont typeface="Arial" panose="020B0604020202020204" pitchFamily="34" charset="0"/>
              <a:buChar char="•"/>
              <a:defRPr/>
            </a:pPr>
            <a:r>
              <a:rPr lang="en-US" altLang="zh-CN" dirty="0">
                <a:solidFill>
                  <a:srgbClr val="FF0000"/>
                </a:solidFill>
                <a:ea typeface="宋体" pitchFamily="2" charset="-122"/>
                <a:cs typeface="Times New Roman" panose="02020603050405020304" pitchFamily="18" charset="0"/>
              </a:rPr>
              <a:t>#FF0000 – red</a:t>
            </a:r>
          </a:p>
          <a:p>
            <a:pPr marL="1076325" lvl="2" indent="-285750" algn="l">
              <a:lnSpc>
                <a:spcPct val="114000"/>
              </a:lnSpc>
              <a:spcBef>
                <a:spcPct val="20000"/>
              </a:spcBef>
              <a:buClrTx/>
              <a:buFont typeface="Arial" panose="020B0604020202020204" pitchFamily="34" charset="0"/>
              <a:buChar char="•"/>
              <a:defRPr/>
            </a:pPr>
            <a:r>
              <a:rPr lang="en-US" altLang="zh-CN" dirty="0">
                <a:solidFill>
                  <a:srgbClr val="A6A6A6"/>
                </a:solidFill>
                <a:ea typeface="宋体" pitchFamily="2" charset="-122"/>
                <a:cs typeface="Times New Roman" panose="02020603050405020304" pitchFamily="18" charset="0"/>
              </a:rPr>
              <a:t>#888888 – gray</a:t>
            </a:r>
          </a:p>
          <a:p>
            <a:pPr marL="1076325" lvl="2" indent="-285750" algn="l">
              <a:lnSpc>
                <a:spcPct val="114000"/>
              </a:lnSpc>
              <a:spcBef>
                <a:spcPct val="20000"/>
              </a:spcBef>
              <a:buClrTx/>
              <a:buFont typeface="Arial" panose="020B0604020202020204" pitchFamily="34" charset="0"/>
              <a:buChar char="•"/>
              <a:defRPr/>
            </a:pPr>
            <a:r>
              <a:rPr lang="en-US" altLang="zh-CN" dirty="0">
                <a:solidFill>
                  <a:srgbClr val="4AA743"/>
                </a:solidFill>
                <a:ea typeface="宋体" pitchFamily="2" charset="-122"/>
                <a:cs typeface="Times New Roman" panose="02020603050405020304" pitchFamily="18" charset="0"/>
              </a:rPr>
              <a:t>#00FF00 –green</a:t>
            </a:r>
          </a:p>
          <a:p>
            <a:pPr marL="1076325" lvl="2" indent="-285750" algn="l">
              <a:lnSpc>
                <a:spcPct val="114000"/>
              </a:lnSpc>
              <a:spcBef>
                <a:spcPct val="20000"/>
              </a:spcBef>
              <a:buClrTx/>
              <a:buFont typeface="Arial" panose="020B0604020202020204" pitchFamily="34" charset="0"/>
              <a:buChar char="•"/>
              <a:defRPr/>
            </a:pPr>
            <a:r>
              <a:rPr lang="en-US" altLang="zh-CN" dirty="0">
                <a:ea typeface="宋体" pitchFamily="2" charset="-122"/>
                <a:cs typeface="Times New Roman" panose="02020603050405020304" pitchFamily="18" charset="0"/>
              </a:rPr>
              <a:t>#000000 – black</a:t>
            </a:r>
            <a:endParaRPr lang="en-US" dirty="0"/>
          </a:p>
          <a:p>
            <a:r>
              <a:rPr lang="en-US" dirty="0"/>
              <a:t>For example, &lt;body </a:t>
            </a:r>
            <a:r>
              <a:rPr lang="en-US" dirty="0" err="1"/>
              <a:t>bgcolor</a:t>
            </a:r>
            <a:r>
              <a:rPr lang="en-US"/>
              <a:t>=“#FF0000”&gt; </a:t>
            </a:r>
            <a:r>
              <a:rPr lang="en-US" dirty="0"/>
              <a:t>or &lt;body </a:t>
            </a:r>
            <a:r>
              <a:rPr lang="en-US" dirty="0" err="1"/>
              <a:t>bgcolor</a:t>
            </a:r>
            <a:r>
              <a:rPr lang="en-US" dirty="0"/>
              <a:t>=“#888888”&gt;</a:t>
            </a:r>
            <a:endParaRPr lang="en-US" altLang="zh-CN" dirty="0">
              <a:ea typeface="宋体" pitchFamily="2" charset="-122"/>
              <a:cs typeface="Times New Roman" panose="02020603050405020304" pitchFamily="18" charset="0"/>
            </a:endParaRPr>
          </a:p>
          <a:p>
            <a:pPr lvl="1"/>
            <a:endParaRPr lang="en-US" dirty="0"/>
          </a:p>
        </p:txBody>
      </p:sp>
    </p:spTree>
    <p:extLst>
      <p:ext uri="{BB962C8B-B14F-4D97-AF65-F5344CB8AC3E}">
        <p14:creationId xmlns:p14="http://schemas.microsoft.com/office/powerpoint/2010/main" val="426414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Fonts</a:t>
            </a:r>
          </a:p>
        </p:txBody>
      </p:sp>
      <p:sp>
        <p:nvSpPr>
          <p:cNvPr id="3" name="Content Placeholder 2"/>
          <p:cNvSpPr>
            <a:spLocks noGrp="1"/>
          </p:cNvSpPr>
          <p:nvPr>
            <p:ph idx="1"/>
          </p:nvPr>
        </p:nvSpPr>
        <p:spPr/>
        <p:txBody>
          <a:bodyPr/>
          <a:lstStyle/>
          <a:p>
            <a:r>
              <a:rPr lang="en-US" dirty="0"/>
              <a:t>The &lt;font&gt; tag specifies the font face, font size, and color of text.</a:t>
            </a:r>
          </a:p>
          <a:p>
            <a:r>
              <a:rPr lang="en-US" dirty="0"/>
              <a:t>The &lt;font&gt; tag is </a:t>
            </a:r>
            <a:r>
              <a:rPr lang="en-US" b="1" dirty="0"/>
              <a:t>not supported in HTML5</a:t>
            </a:r>
            <a:r>
              <a:rPr lang="en-US" dirty="0"/>
              <a:t>.</a:t>
            </a:r>
          </a:p>
          <a:p>
            <a:endParaRPr lang="en-US" dirty="0"/>
          </a:p>
        </p:txBody>
      </p:sp>
      <p:sp>
        <p:nvSpPr>
          <p:cNvPr id="4" name="Text Box 4"/>
          <p:cNvSpPr txBox="1">
            <a:spLocks noChangeArrowheads="1"/>
          </p:cNvSpPr>
          <p:nvPr/>
        </p:nvSpPr>
        <p:spPr bwMode="auto">
          <a:xfrm>
            <a:off x="376055" y="1845680"/>
            <a:ext cx="7161213" cy="3139321"/>
          </a:xfrm>
          <a:prstGeom prst="rect">
            <a:avLst/>
          </a:prstGeom>
          <a:noFill/>
          <a:ln w="9525">
            <a:noFill/>
            <a:miter lim="800000"/>
            <a:headEnd/>
            <a:tailEnd/>
          </a:ln>
          <a:effectLst/>
        </p:spPr>
        <p:txBody>
          <a:bodyPr wrap="square">
            <a:spAutoFit/>
          </a:bodyPr>
          <a:lstStyle/>
          <a:p>
            <a:r>
              <a:rPr lang="en-US" dirty="0">
                <a:solidFill>
                  <a:srgbClr val="800000"/>
                </a:solidFill>
                <a:latin typeface="Consolas" panose="020B0609020204030204" pitchFamily="49" charset="0"/>
              </a:rPr>
              <a:t>&lt;</a:t>
            </a:r>
            <a:r>
              <a:rPr lang="en-US" dirty="0">
                <a:solidFill>
                  <a:srgbClr val="CD3131"/>
                </a:solidFill>
                <a:latin typeface="Consolas" panose="020B0609020204030204" pitchFamily="49" charset="0"/>
              </a:rPr>
              <a:t>font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"red"</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size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"2"</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face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"Times Roman"</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This is the text of line one </a:t>
            </a:r>
          </a:p>
          <a:p>
            <a:r>
              <a:rPr lang="en-US" dirty="0">
                <a:solidFill>
                  <a:srgbClr val="800000"/>
                </a:solidFill>
                <a:latin typeface="Consolas" panose="020B0609020204030204" pitchFamily="49" charset="0"/>
              </a:rPr>
              <a:t>&lt;/</a:t>
            </a:r>
            <a:r>
              <a:rPr lang="en-US" dirty="0">
                <a:solidFill>
                  <a:srgbClr val="CD3131"/>
                </a:solidFill>
                <a:latin typeface="Consolas" panose="020B0609020204030204" pitchFamily="49" charset="0"/>
              </a:rPr>
              <a:t>font</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a:t>
            </a:r>
            <a:r>
              <a:rPr lang="en-US" dirty="0" err="1">
                <a:solidFill>
                  <a:srgbClr val="800000"/>
                </a:solidFill>
                <a:latin typeface="Consolas" panose="020B0609020204030204" pitchFamily="49" charset="0"/>
              </a:rPr>
              <a:t>br</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a:t>
            </a:r>
            <a:r>
              <a:rPr lang="en-US" dirty="0">
                <a:solidFill>
                  <a:srgbClr val="CD3131"/>
                </a:solidFill>
                <a:latin typeface="Consolas" panose="020B0609020204030204" pitchFamily="49" charset="0"/>
              </a:rPr>
              <a:t>font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"green"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size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"4"</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face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"Arial"</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Line two contains this text</a:t>
            </a:r>
          </a:p>
          <a:p>
            <a:r>
              <a:rPr lang="en-US" dirty="0">
                <a:solidFill>
                  <a:srgbClr val="800000"/>
                </a:solidFill>
                <a:latin typeface="Consolas" panose="020B0609020204030204" pitchFamily="49" charset="0"/>
              </a:rPr>
              <a:t>&lt;/</a:t>
            </a:r>
            <a:r>
              <a:rPr lang="en-US" dirty="0">
                <a:solidFill>
                  <a:srgbClr val="CD3131"/>
                </a:solidFill>
                <a:latin typeface="Consolas" panose="020B0609020204030204" pitchFamily="49" charset="0"/>
              </a:rPr>
              <a:t>font</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a:t>
            </a:r>
            <a:r>
              <a:rPr lang="en-US" dirty="0" err="1">
                <a:solidFill>
                  <a:srgbClr val="800000"/>
                </a:solidFill>
                <a:latin typeface="Consolas" panose="020B0609020204030204" pitchFamily="49" charset="0"/>
              </a:rPr>
              <a:t>br</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a:t>
            </a:r>
            <a:r>
              <a:rPr lang="en-US" dirty="0">
                <a:solidFill>
                  <a:srgbClr val="CD3131"/>
                </a:solidFill>
                <a:latin typeface="Consolas" panose="020B0609020204030204" pitchFamily="49" charset="0"/>
              </a:rPr>
              <a:t>font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color</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"#FF9933"</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size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"6"</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face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"Courier"</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The third line has this additional text</a:t>
            </a:r>
          </a:p>
          <a:p>
            <a:r>
              <a:rPr lang="en-US" dirty="0">
                <a:solidFill>
                  <a:srgbClr val="800000"/>
                </a:solidFill>
                <a:latin typeface="Consolas" panose="020B0609020204030204" pitchFamily="49" charset="0"/>
              </a:rPr>
              <a:t>&lt;/</a:t>
            </a:r>
            <a:r>
              <a:rPr lang="en-US" dirty="0">
                <a:solidFill>
                  <a:srgbClr val="CD3131"/>
                </a:solidFill>
                <a:latin typeface="Consolas" panose="020B0609020204030204" pitchFamily="49" charset="0"/>
              </a:rPr>
              <a:t>font</a:t>
            </a:r>
            <a:r>
              <a:rPr lang="en-US" dirty="0">
                <a:solidFill>
                  <a:srgbClr val="800000"/>
                </a:solidFill>
                <a:latin typeface="Consolas" panose="020B0609020204030204" pitchFamily="49" charset="0"/>
              </a:rPr>
              <a:t>&gt;</a:t>
            </a:r>
            <a:endParaRPr lang="en-US" b="0" dirty="0">
              <a:solidFill>
                <a:srgbClr val="000000"/>
              </a:solidFill>
              <a:effectLst/>
              <a:latin typeface="Consolas" panose="020B0609020204030204" pitchFamily="49" charset="0"/>
            </a:endParaRPr>
          </a:p>
        </p:txBody>
      </p:sp>
      <p:pic>
        <p:nvPicPr>
          <p:cNvPr id="5" name="Picture 4"/>
          <p:cNvPicPr>
            <a:picLocks noChangeAspect="1"/>
          </p:cNvPicPr>
          <p:nvPr/>
        </p:nvPicPr>
        <p:blipFill>
          <a:blip r:embed="rId2"/>
          <a:stretch>
            <a:fillRect/>
          </a:stretch>
        </p:blipFill>
        <p:spPr>
          <a:xfrm>
            <a:off x="1577836" y="4722348"/>
            <a:ext cx="7326257" cy="1731661"/>
          </a:xfrm>
          <a:prstGeom prst="rect">
            <a:avLst/>
          </a:prstGeom>
        </p:spPr>
      </p:pic>
    </p:spTree>
    <p:extLst>
      <p:ext uri="{BB962C8B-B14F-4D97-AF65-F5344CB8AC3E}">
        <p14:creationId xmlns:p14="http://schemas.microsoft.com/office/powerpoint/2010/main" val="156415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List</a:t>
            </a:r>
          </a:p>
        </p:txBody>
      </p:sp>
      <p:sp>
        <p:nvSpPr>
          <p:cNvPr id="4" name="Content Placeholder 2"/>
          <p:cNvSpPr txBox="1">
            <a:spLocks/>
          </p:cNvSpPr>
          <p:nvPr/>
        </p:nvSpPr>
        <p:spPr>
          <a:xfrm>
            <a:off x="190500" y="990600"/>
            <a:ext cx="2019300" cy="5334000"/>
          </a:xfrm>
          <a:prstGeom prst="rect">
            <a:avLst/>
          </a:prstGeom>
        </p:spPr>
        <p:txBody>
          <a:bodyPr vert="horz" lIns="91440" tIns="45720" rIns="91440" bIns="45720" rtlCol="0">
            <a:noAutofit/>
          </a:bodyPr>
          <a:lstStyle>
            <a:lvl1pPr marL="265113" indent="-265113" algn="just" defTabSz="914400" rtl="0" eaLnBrk="1" latinLnBrk="0" hangingPunct="1">
              <a:lnSpc>
                <a:spcPct val="90000"/>
              </a:lnSpc>
              <a:spcBef>
                <a:spcPts val="1000"/>
              </a:spcBef>
              <a:buClr>
                <a:schemeClr val="accent6"/>
              </a:buClr>
              <a:buFont typeface="Wingdings 3" panose="05040102010807070707" pitchFamily="18" charset="2"/>
              <a:buChar char=""/>
              <a:defRPr sz="2400" kern="1200">
                <a:solidFill>
                  <a:schemeClr val="tx1"/>
                </a:solidFill>
                <a:latin typeface="+mn-lt"/>
                <a:ea typeface="+mn-ea"/>
                <a:cs typeface="+mn-cs"/>
              </a:defRPr>
            </a:lvl1pPr>
            <a:lvl2pPr marL="809625" indent="-352425" algn="just" defTabSz="914400" rtl="0" eaLnBrk="1" latinLnBrk="0" hangingPunct="1">
              <a:lnSpc>
                <a:spcPct val="90000"/>
              </a:lnSpc>
              <a:spcBef>
                <a:spcPts val="500"/>
              </a:spcBef>
              <a:buClr>
                <a:schemeClr val="accent6"/>
              </a:buClr>
              <a:buFont typeface="Wingdings 3" panose="05040102010807070707" pitchFamily="18" charset="2"/>
              <a:buChar char=""/>
              <a:defRPr sz="2000" kern="1200">
                <a:solidFill>
                  <a:schemeClr val="tx1"/>
                </a:solidFill>
                <a:latin typeface="+mn-lt"/>
                <a:ea typeface="+mn-ea"/>
                <a:cs typeface="+mn-cs"/>
              </a:defRPr>
            </a:lvl2pPr>
            <a:lvl3pPr marL="1143000" indent="-228600" algn="just" defTabSz="914400" rtl="0" eaLnBrk="1" latinLnBrk="0" hangingPunct="1">
              <a:lnSpc>
                <a:spcPct val="90000"/>
              </a:lnSpc>
              <a:spcBef>
                <a:spcPts val="500"/>
              </a:spcBef>
              <a:buClr>
                <a:schemeClr val="accent6"/>
              </a:buClr>
              <a:buFont typeface="Wingdings" panose="05000000000000000000" pitchFamily="2" charset="2"/>
              <a:buChar char="§"/>
              <a:defRPr sz="1800" kern="1200">
                <a:solidFill>
                  <a:schemeClr val="tx1"/>
                </a:solidFill>
                <a:latin typeface="+mn-lt"/>
                <a:ea typeface="+mn-ea"/>
                <a:cs typeface="+mn-cs"/>
              </a:defRPr>
            </a:lvl3pPr>
            <a:lvl4pPr marL="16002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4pPr>
            <a:lvl5pPr marL="2057400" indent="-228600" algn="just" defTabSz="914400" rtl="0" eaLnBrk="1" latinLnBrk="0" hangingPunct="1">
              <a:lnSpc>
                <a:spcPct val="90000"/>
              </a:lnSpc>
              <a:spcBef>
                <a:spcPts val="500"/>
              </a:spcBef>
              <a:buClr>
                <a:schemeClr val="accent6"/>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3" panose="05040102010807070707" pitchFamily="18" charset="2"/>
              <a:buNone/>
            </a:pPr>
            <a:r>
              <a:rPr lang="en-US" dirty="0"/>
              <a:t>Ordered List</a:t>
            </a:r>
          </a:p>
          <a:p>
            <a:pPr marL="857250" lvl="1" indent="-457200">
              <a:lnSpc>
                <a:spcPct val="100000"/>
              </a:lnSpc>
              <a:buFont typeface="+mj-lt"/>
              <a:buAutoNum type="arabicPeriod"/>
            </a:pPr>
            <a:r>
              <a:rPr lang="en-US" dirty="0"/>
              <a:t>Block-A</a:t>
            </a:r>
          </a:p>
          <a:p>
            <a:pPr marL="857250" lvl="1" indent="-457200">
              <a:lnSpc>
                <a:spcPct val="100000"/>
              </a:lnSpc>
              <a:buFont typeface="+mj-lt"/>
              <a:buAutoNum type="arabicPeriod"/>
            </a:pPr>
            <a:r>
              <a:rPr lang="en-US" dirty="0"/>
              <a:t>Block-B</a:t>
            </a:r>
          </a:p>
          <a:p>
            <a:pPr marL="857250" lvl="1" indent="-457200">
              <a:lnSpc>
                <a:spcPct val="100000"/>
              </a:lnSpc>
              <a:buFont typeface="+mj-lt"/>
              <a:buAutoNum type="arabicPeriod"/>
            </a:pPr>
            <a:r>
              <a:rPr lang="en-US" dirty="0"/>
              <a:t>Block-C</a:t>
            </a:r>
          </a:p>
          <a:p>
            <a:pPr marL="857250" lvl="1" indent="-457200">
              <a:lnSpc>
                <a:spcPct val="100000"/>
              </a:lnSpc>
              <a:buFont typeface="+mj-lt"/>
              <a:buAutoNum type="arabicPeriod"/>
            </a:pPr>
            <a:r>
              <a:rPr lang="en-US" dirty="0"/>
              <a:t>Block-D</a:t>
            </a:r>
          </a:p>
          <a:p>
            <a:pPr marL="857250" lvl="1" indent="-457200">
              <a:lnSpc>
                <a:spcPct val="100000"/>
              </a:lnSpc>
              <a:buFont typeface="Wingdings 3" panose="05040102010807070707" pitchFamily="18" charset="2"/>
              <a:buNone/>
            </a:pPr>
            <a:endParaRPr lang="en-US" dirty="0"/>
          </a:p>
          <a:p>
            <a:pPr>
              <a:lnSpc>
                <a:spcPct val="100000"/>
              </a:lnSpc>
              <a:buFont typeface="Wingdings 3" panose="05040102010807070707" pitchFamily="18" charset="2"/>
              <a:buNone/>
            </a:pPr>
            <a:r>
              <a:rPr lang="en-US" dirty="0"/>
              <a:t>Unordered List</a:t>
            </a:r>
          </a:p>
          <a:p>
            <a:pPr lvl="1">
              <a:lnSpc>
                <a:spcPct val="100000"/>
              </a:lnSpc>
              <a:buFont typeface="Arial" panose="020B0604020202020204" pitchFamily="34" charset="0"/>
              <a:buChar char="•"/>
            </a:pPr>
            <a:r>
              <a:rPr lang="en-US" dirty="0"/>
              <a:t>Block-A</a:t>
            </a:r>
          </a:p>
          <a:p>
            <a:pPr lvl="1">
              <a:lnSpc>
                <a:spcPct val="100000"/>
              </a:lnSpc>
              <a:buFont typeface="Arial" panose="020B0604020202020204" pitchFamily="34" charset="0"/>
              <a:buChar char="•"/>
            </a:pPr>
            <a:r>
              <a:rPr lang="en-US" dirty="0"/>
              <a:t>Block-B</a:t>
            </a:r>
          </a:p>
          <a:p>
            <a:pPr lvl="1">
              <a:lnSpc>
                <a:spcPct val="100000"/>
              </a:lnSpc>
              <a:buFont typeface="Arial" panose="020B0604020202020204" pitchFamily="34" charset="0"/>
              <a:buChar char="•"/>
            </a:pPr>
            <a:r>
              <a:rPr lang="en-US" dirty="0"/>
              <a:t>Block-C</a:t>
            </a:r>
          </a:p>
          <a:p>
            <a:pPr lvl="1">
              <a:lnSpc>
                <a:spcPct val="100000"/>
              </a:lnSpc>
              <a:buFont typeface="Arial" panose="020B0604020202020204" pitchFamily="34" charset="0"/>
              <a:buChar char="•"/>
            </a:pPr>
            <a:r>
              <a:rPr lang="en-US" dirty="0"/>
              <a:t>Block-D</a:t>
            </a:r>
          </a:p>
          <a:p>
            <a:pPr lvl="1">
              <a:lnSpc>
                <a:spcPct val="100000"/>
              </a:lnSpc>
            </a:pPr>
            <a:endParaRPr lang="en-US" dirty="0"/>
          </a:p>
          <a:p>
            <a:pPr marL="0" indent="0">
              <a:lnSpc>
                <a:spcPct val="100000"/>
              </a:lnSpc>
              <a:buNone/>
            </a:pPr>
            <a:r>
              <a:rPr lang="en-US" dirty="0" err="1"/>
              <a:t>Defination</a:t>
            </a:r>
            <a:r>
              <a:rPr lang="en-US" dirty="0"/>
              <a:t> List</a:t>
            </a:r>
          </a:p>
        </p:txBody>
      </p:sp>
      <p:sp>
        <p:nvSpPr>
          <p:cNvPr id="5" name="Content Placeholder 2"/>
          <p:cNvSpPr txBox="1">
            <a:spLocks/>
          </p:cNvSpPr>
          <p:nvPr/>
        </p:nvSpPr>
        <p:spPr>
          <a:xfrm>
            <a:off x="1950035" y="990600"/>
            <a:ext cx="2400300" cy="5334000"/>
          </a:xfrm>
          <a:prstGeom prst="rect">
            <a:avLst/>
          </a:prstGeom>
        </p:spPr>
        <p:txBody>
          <a:bodyPr vert="horz" lIns="91440" tIns="45720" rIns="91440" bIns="45720" rtlCol="0">
            <a:normAutofit/>
          </a:bodyPr>
          <a:lstStyle/>
          <a:p>
            <a:pPr marL="342900" marR="0" lvl="0" indent="-342900" algn="l" defTabSz="914400" rtl="0" eaLnBrk="1" fontAlgn="auto" latinLnBrk="0" hangingPunct="1">
              <a:spcBef>
                <a:spcPct val="20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857250" marR="0" lvl="1" indent="-457200" algn="l" defTabSz="914400" rtl="0" eaLnBrk="1" fontAlgn="auto" latinLnBrk="0" hangingPunct="1">
              <a:spcBef>
                <a:spcPct val="20000"/>
              </a:spcBef>
              <a:spcAft>
                <a:spcPts val="0"/>
              </a:spcAft>
              <a:buClrTx/>
              <a:buSzTx/>
              <a:buFont typeface="+mj-lt"/>
              <a:buAutoNum type="alphaLcParen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Block-A</a:t>
            </a:r>
          </a:p>
          <a:p>
            <a:pPr marL="857250" marR="0" lvl="1" indent="-457200" algn="l" defTabSz="914400" rtl="0" eaLnBrk="1" fontAlgn="auto" latinLnBrk="0" hangingPunct="1">
              <a:spcBef>
                <a:spcPct val="20000"/>
              </a:spcBef>
              <a:spcAft>
                <a:spcPts val="0"/>
              </a:spcAft>
              <a:buClrTx/>
              <a:buSzTx/>
              <a:buFont typeface="+mj-lt"/>
              <a:buAutoNum type="alphaLcParen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Block-B</a:t>
            </a:r>
          </a:p>
          <a:p>
            <a:pPr marL="857250" marR="0" lvl="1" indent="-457200" algn="l" defTabSz="914400" rtl="0" eaLnBrk="1" fontAlgn="auto" latinLnBrk="0" hangingPunct="1">
              <a:spcBef>
                <a:spcPct val="20000"/>
              </a:spcBef>
              <a:spcAft>
                <a:spcPts val="0"/>
              </a:spcAft>
              <a:buClrTx/>
              <a:buSzTx/>
              <a:buFont typeface="+mj-lt"/>
              <a:buAutoNum type="alphaLcParen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Block-C</a:t>
            </a:r>
          </a:p>
          <a:p>
            <a:pPr marL="857250" marR="0" lvl="1" indent="-457200" algn="l" defTabSz="914400" rtl="0" eaLnBrk="1" fontAlgn="auto" latinLnBrk="0" hangingPunct="1">
              <a:spcBef>
                <a:spcPct val="20000"/>
              </a:spcBef>
              <a:spcAft>
                <a:spcPts val="0"/>
              </a:spcAft>
              <a:buClrTx/>
              <a:buSzTx/>
              <a:buFont typeface="+mj-lt"/>
              <a:buAutoNum type="alphaLcParen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Block-D</a:t>
            </a:r>
          </a:p>
          <a:p>
            <a:pPr marL="857250" marR="0" lvl="1" indent="-457200" algn="l" defTabSz="914400" rtl="0" eaLnBrk="1" fontAlgn="auto" latinLnBrk="0" hangingPunct="1">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spcBef>
                <a:spcPct val="20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742950" marR="0" lvl="1" indent="-285750" algn="l" defTabSz="914400" rtl="0" eaLnBrk="1" fontAlgn="auto" latinLnBrk="0" hangingPunct="1">
              <a:spcBef>
                <a:spcPct val="20000"/>
              </a:spcBef>
              <a:spcAft>
                <a:spcPts val="0"/>
              </a:spcAft>
              <a:buClrTx/>
              <a:buSzTx/>
              <a:buFont typeface="Courier New" pitchFamily="49" charset="0"/>
              <a:buChar char="o"/>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Block-A</a:t>
            </a:r>
          </a:p>
          <a:p>
            <a:pPr marL="742950" marR="0" lvl="1" indent="-285750" algn="l" defTabSz="914400" rtl="0" eaLnBrk="1" fontAlgn="auto" latinLnBrk="0" hangingPunct="1">
              <a:spcBef>
                <a:spcPct val="20000"/>
              </a:spcBef>
              <a:spcAft>
                <a:spcPts val="0"/>
              </a:spcAft>
              <a:buClrTx/>
              <a:buSzTx/>
              <a:buFont typeface="Courier New" pitchFamily="49" charset="0"/>
              <a:buChar char="o"/>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Block-B</a:t>
            </a:r>
          </a:p>
          <a:p>
            <a:pPr marL="742950" marR="0" lvl="1" indent="-285750" algn="l" defTabSz="914400" rtl="0" eaLnBrk="1" fontAlgn="auto" latinLnBrk="0" hangingPunct="1">
              <a:spcBef>
                <a:spcPct val="20000"/>
              </a:spcBef>
              <a:spcAft>
                <a:spcPts val="0"/>
              </a:spcAft>
              <a:buClrTx/>
              <a:buSzTx/>
              <a:buFont typeface="Courier New" pitchFamily="49" charset="0"/>
              <a:buChar char="o"/>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Block-C</a:t>
            </a:r>
          </a:p>
          <a:p>
            <a:pPr marL="742950" marR="0" lvl="1" indent="-285750" algn="l" defTabSz="914400" rtl="0" eaLnBrk="1" fontAlgn="auto" latinLnBrk="0" hangingPunct="1">
              <a:spcBef>
                <a:spcPct val="20000"/>
              </a:spcBef>
              <a:spcAft>
                <a:spcPts val="0"/>
              </a:spcAft>
              <a:buClrTx/>
              <a:buSzTx/>
              <a:buFont typeface="Courier New" pitchFamily="49" charset="0"/>
              <a:buChar char="o"/>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Block-D</a:t>
            </a:r>
          </a:p>
        </p:txBody>
      </p:sp>
      <p:sp>
        <p:nvSpPr>
          <p:cNvPr id="6" name="Content Placeholder 2"/>
          <p:cNvSpPr txBox="1">
            <a:spLocks/>
          </p:cNvSpPr>
          <p:nvPr/>
        </p:nvSpPr>
        <p:spPr>
          <a:xfrm>
            <a:off x="3670072" y="990600"/>
            <a:ext cx="2400300" cy="5334000"/>
          </a:xfrm>
          <a:prstGeom prst="rect">
            <a:avLst/>
          </a:prstGeom>
        </p:spPr>
        <p:txBody>
          <a:bodyPr vert="horz" lIns="91440" tIns="45720" rIns="91440" bIns="45720" rtlCol="0">
            <a:normAutofit/>
          </a:bodyPr>
          <a:lstStyle/>
          <a:p>
            <a:pPr marL="342900" marR="0" lvl="0" indent="-342900" algn="l" defTabSz="914400" rtl="0" eaLnBrk="1" fontAlgn="auto" latinLnBrk="0" hangingPunct="1">
              <a:spcBef>
                <a:spcPct val="20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857250" marR="0" lvl="1" indent="-457200" algn="l" defTabSz="914400" rtl="0" eaLnBrk="1" fontAlgn="auto" latinLnBrk="0" hangingPunct="1">
              <a:spcBef>
                <a:spcPct val="20000"/>
              </a:spcBef>
              <a:spcAft>
                <a:spcPts val="0"/>
              </a:spcAft>
              <a:buClrTx/>
              <a:buSzTx/>
              <a:buFont typeface="+mj-lt"/>
              <a:buAutoNum type="alpha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Block-A</a:t>
            </a:r>
          </a:p>
          <a:p>
            <a:pPr marL="857250" marR="0" lvl="1" indent="-457200" algn="l" defTabSz="914400" rtl="0" eaLnBrk="1" fontAlgn="auto" latinLnBrk="0" hangingPunct="1">
              <a:spcBef>
                <a:spcPct val="20000"/>
              </a:spcBef>
              <a:spcAft>
                <a:spcPts val="0"/>
              </a:spcAft>
              <a:buClrTx/>
              <a:buSzTx/>
              <a:buFont typeface="+mj-lt"/>
              <a:buAutoNum type="alpha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Block-B</a:t>
            </a:r>
          </a:p>
          <a:p>
            <a:pPr marL="857250" marR="0" lvl="1" indent="-457200" algn="l" defTabSz="914400" rtl="0" eaLnBrk="1" fontAlgn="auto" latinLnBrk="0" hangingPunct="1">
              <a:spcBef>
                <a:spcPct val="20000"/>
              </a:spcBef>
              <a:spcAft>
                <a:spcPts val="0"/>
              </a:spcAft>
              <a:buClrTx/>
              <a:buSzTx/>
              <a:buFont typeface="+mj-lt"/>
              <a:buAutoNum type="alpha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Block-C</a:t>
            </a:r>
          </a:p>
          <a:p>
            <a:pPr marL="857250" marR="0" lvl="1" indent="-457200" algn="l" defTabSz="914400" rtl="0" eaLnBrk="1" fontAlgn="auto" latinLnBrk="0" hangingPunct="1">
              <a:spcBef>
                <a:spcPct val="20000"/>
              </a:spcBef>
              <a:spcAft>
                <a:spcPts val="0"/>
              </a:spcAft>
              <a:buClrTx/>
              <a:buSzTx/>
              <a:buFont typeface="+mj-lt"/>
              <a:buAutoNum type="alpha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Block-D</a:t>
            </a:r>
          </a:p>
          <a:p>
            <a:pPr marL="857250" marR="0" lvl="1" indent="-457200" algn="l" defTabSz="914400" rtl="0" eaLnBrk="1" fontAlgn="auto" latinLnBrk="0" hangingPunct="1">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spcBef>
                <a:spcPct val="20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742950" marR="0" lvl="1" indent="-285750" algn="l" defTabSz="914400" rtl="0" eaLnBrk="1" fontAlgn="auto" latinLnBrk="0" hangingPunct="1">
              <a:spcBef>
                <a:spcPct val="20000"/>
              </a:spcBef>
              <a:spcAft>
                <a:spcPts val="0"/>
              </a:spcAft>
              <a:buClrTx/>
              <a:buSzTx/>
              <a:buFont typeface="Wingdings" pitchFamily="2" charset="2"/>
              <a:buChar cha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Block-A</a:t>
            </a:r>
          </a:p>
          <a:p>
            <a:pPr marL="742950" marR="0" lvl="1" indent="-285750" algn="l" defTabSz="914400" rtl="0" eaLnBrk="1" fontAlgn="auto" latinLnBrk="0" hangingPunct="1">
              <a:spcBef>
                <a:spcPct val="20000"/>
              </a:spcBef>
              <a:spcAft>
                <a:spcPts val="0"/>
              </a:spcAft>
              <a:buClrTx/>
              <a:buSzTx/>
              <a:buFont typeface="Wingdings" pitchFamily="2" charset="2"/>
              <a:buChar cha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Block-B</a:t>
            </a:r>
          </a:p>
          <a:p>
            <a:pPr marL="742950" marR="0" lvl="1" indent="-285750" algn="l" defTabSz="914400" rtl="0" eaLnBrk="1" fontAlgn="auto" latinLnBrk="0" hangingPunct="1">
              <a:spcBef>
                <a:spcPct val="20000"/>
              </a:spcBef>
              <a:spcAft>
                <a:spcPts val="0"/>
              </a:spcAft>
              <a:buClrTx/>
              <a:buSzTx/>
              <a:buFont typeface="Wingdings" pitchFamily="2" charset="2"/>
              <a:buChar cha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Block-C</a:t>
            </a:r>
          </a:p>
          <a:p>
            <a:pPr marL="742950" marR="0" lvl="1" indent="-285750" algn="l" defTabSz="914400" rtl="0" eaLnBrk="1" fontAlgn="auto" latinLnBrk="0" hangingPunct="1">
              <a:spcBef>
                <a:spcPct val="20000"/>
              </a:spcBef>
              <a:spcAft>
                <a:spcPts val="0"/>
              </a:spcAft>
              <a:buClrTx/>
              <a:buSzTx/>
              <a:buFont typeface="Wingdings" pitchFamily="2" charset="2"/>
              <a:buChar char="§"/>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Block-D</a:t>
            </a:r>
          </a:p>
        </p:txBody>
      </p:sp>
      <p:sp>
        <p:nvSpPr>
          <p:cNvPr id="7" name="Content Placeholder 2"/>
          <p:cNvSpPr txBox="1">
            <a:spLocks/>
          </p:cNvSpPr>
          <p:nvPr/>
        </p:nvSpPr>
        <p:spPr>
          <a:xfrm>
            <a:off x="5403279" y="990600"/>
            <a:ext cx="2400300" cy="5334000"/>
          </a:xfrm>
          <a:prstGeom prst="rect">
            <a:avLst/>
          </a:prstGeom>
        </p:spPr>
        <p:txBody>
          <a:bodyPr vert="horz" lIns="91440" tIns="45720" rIns="91440" bIns="45720" rtlCol="0">
            <a:normAutofit/>
          </a:bodyPr>
          <a:lstStyle/>
          <a:p>
            <a:pPr marL="342900" marR="0" lvl="0" indent="-342900" algn="l" defTabSz="914400" rtl="0" eaLnBrk="1" fontAlgn="auto" latinLnBrk="0" hangingPunct="1">
              <a:spcBef>
                <a:spcPct val="20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914400" marR="0" lvl="1" indent="-514350" algn="l" defTabSz="914400" rtl="0" eaLnBrk="1" fontAlgn="auto" latinLnBrk="0" hangingPunct="1">
              <a:spcBef>
                <a:spcPct val="20000"/>
              </a:spcBef>
              <a:spcAft>
                <a:spcPts val="0"/>
              </a:spcAft>
              <a:buClrTx/>
              <a:buSzTx/>
              <a:buFont typeface="+mj-lt"/>
              <a:buAutoNum type="romanL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Block-A</a:t>
            </a:r>
          </a:p>
          <a:p>
            <a:pPr marL="914400" marR="0" lvl="1" indent="-514350" algn="l" defTabSz="914400" rtl="0" eaLnBrk="1" fontAlgn="auto" latinLnBrk="0" hangingPunct="1">
              <a:spcBef>
                <a:spcPct val="20000"/>
              </a:spcBef>
              <a:spcAft>
                <a:spcPts val="0"/>
              </a:spcAft>
              <a:buClrTx/>
              <a:buSzTx/>
              <a:buFont typeface="+mj-lt"/>
              <a:buAutoNum type="romanL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Block-B</a:t>
            </a:r>
          </a:p>
          <a:p>
            <a:pPr marL="914400" marR="0" lvl="1" indent="-514350" algn="l" defTabSz="914400" rtl="0" eaLnBrk="1" fontAlgn="auto" latinLnBrk="0" hangingPunct="1">
              <a:spcBef>
                <a:spcPct val="20000"/>
              </a:spcBef>
              <a:spcAft>
                <a:spcPts val="0"/>
              </a:spcAft>
              <a:buClrTx/>
              <a:buSzTx/>
              <a:buFont typeface="+mj-lt"/>
              <a:buAutoNum type="romanL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Block-C</a:t>
            </a:r>
          </a:p>
          <a:p>
            <a:pPr marL="914400" marR="0" lvl="1" indent="-514350" algn="l" defTabSz="914400" rtl="0" eaLnBrk="1" fontAlgn="auto" latinLnBrk="0" hangingPunct="1">
              <a:spcBef>
                <a:spcPct val="20000"/>
              </a:spcBef>
              <a:spcAft>
                <a:spcPts val="0"/>
              </a:spcAft>
              <a:buClrTx/>
              <a:buSzTx/>
              <a:buFont typeface="+mj-lt"/>
              <a:buAutoNum type="romanL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Block-D</a:t>
            </a:r>
          </a:p>
          <a:p>
            <a:pPr marL="857250" marR="0" lvl="1" indent="-457200" algn="l" defTabSz="914400" rtl="0" eaLnBrk="1" fontAlgn="auto" latinLnBrk="0" hangingPunct="1">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342900" marR="0" lvl="0" indent="-342900" algn="l" defTabSz="914400" rtl="0" eaLnBrk="1" fontAlgn="auto" latinLnBrk="0" hangingPunct="1">
              <a:spcBef>
                <a:spcPct val="20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p:txBody>
      </p:sp>
      <p:sp>
        <p:nvSpPr>
          <p:cNvPr id="8" name="Content Placeholder 2"/>
          <p:cNvSpPr txBox="1">
            <a:spLocks/>
          </p:cNvSpPr>
          <p:nvPr/>
        </p:nvSpPr>
        <p:spPr>
          <a:xfrm>
            <a:off x="7162814" y="1000298"/>
            <a:ext cx="2400300" cy="5334000"/>
          </a:xfrm>
          <a:prstGeom prst="rect">
            <a:avLst/>
          </a:prstGeom>
        </p:spPr>
        <p:txBody>
          <a:bodyPr vert="horz" lIns="91440" tIns="45720" rIns="91440" bIns="45720" rtlCol="0">
            <a:normAutofit/>
          </a:bodyPr>
          <a:lstStyle/>
          <a:p>
            <a:pPr marL="342900" marR="0" lvl="0" indent="-342900" algn="l" defTabSz="914400" rtl="0" eaLnBrk="1" fontAlgn="auto" latinLnBrk="0" hangingPunct="1">
              <a:spcBef>
                <a:spcPct val="20000"/>
              </a:spcBef>
              <a:spcAft>
                <a:spcPts val="0"/>
              </a:spcAft>
              <a:buClrTx/>
              <a:buSzTx/>
              <a:buFont typeface="Wingdings" panose="05000000000000000000" pitchFamily="2" charset="2"/>
              <a:buNone/>
              <a:tabLst/>
              <a:defRPr/>
            </a:pPr>
            <a:endParaRPr kumimoji="0" lang="en-US" sz="24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a:p>
            <a:pPr marL="914400" marR="0" lvl="1" indent="-514350" algn="l" defTabSz="914400" rtl="0" eaLnBrk="1" fontAlgn="auto" latinLnBrk="0" hangingPunct="1">
              <a:spcBef>
                <a:spcPct val="20000"/>
              </a:spcBef>
              <a:spcAft>
                <a:spcPts val="0"/>
              </a:spcAft>
              <a:buClrTx/>
              <a:buSzTx/>
              <a:buFont typeface="+mj-lt"/>
              <a:buAutoNum type="roman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Block-A</a:t>
            </a:r>
          </a:p>
          <a:p>
            <a:pPr marL="914400" marR="0" lvl="1" indent="-514350" algn="l" defTabSz="914400" rtl="0" eaLnBrk="1" fontAlgn="auto" latinLnBrk="0" hangingPunct="1">
              <a:spcBef>
                <a:spcPct val="20000"/>
              </a:spcBef>
              <a:spcAft>
                <a:spcPts val="0"/>
              </a:spcAft>
              <a:buClrTx/>
              <a:buSzTx/>
              <a:buFont typeface="+mj-lt"/>
              <a:buAutoNum type="roman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Block-B</a:t>
            </a:r>
          </a:p>
          <a:p>
            <a:pPr marL="914400" marR="0" lvl="1" indent="-514350" algn="l" defTabSz="914400" rtl="0" eaLnBrk="1" fontAlgn="auto" latinLnBrk="0" hangingPunct="1">
              <a:spcBef>
                <a:spcPct val="20000"/>
              </a:spcBef>
              <a:spcAft>
                <a:spcPts val="0"/>
              </a:spcAft>
              <a:buClrTx/>
              <a:buSzTx/>
              <a:buFont typeface="+mj-lt"/>
              <a:buAutoNum type="roman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Block-C</a:t>
            </a:r>
          </a:p>
          <a:p>
            <a:pPr marL="914400" marR="0" lvl="1" indent="-514350" algn="l" defTabSz="914400" rtl="0" eaLnBrk="1" fontAlgn="auto" latinLnBrk="0" hangingPunct="1">
              <a:spcBef>
                <a:spcPct val="20000"/>
              </a:spcBef>
              <a:spcAft>
                <a:spcPts val="0"/>
              </a:spcAft>
              <a:buClrTx/>
              <a:buSzTx/>
              <a:buFont typeface="+mj-lt"/>
              <a:buAutoNum type="romanUcPeriod"/>
              <a:tabLst/>
              <a:defRPr/>
            </a:pPr>
            <a:r>
              <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rPr>
              <a:t>Block-D</a:t>
            </a:r>
          </a:p>
          <a:p>
            <a:pPr marL="857250" marR="0" lvl="1" indent="-457200" algn="l" defTabSz="914400" rtl="0" eaLnBrk="1" fontAlgn="auto" latinLnBrk="0" hangingPunct="1">
              <a:spcBef>
                <a:spcPct val="20000"/>
              </a:spcBef>
              <a:spcAft>
                <a:spcPts val="0"/>
              </a:spcAft>
              <a:buClrTx/>
              <a:buSzTx/>
              <a:buFont typeface="Arial" panose="020B0604020202020204" pitchFamily="34" charset="0"/>
              <a:buNone/>
              <a:tabLst/>
              <a:defRPr/>
            </a:pPr>
            <a:endParaRPr kumimoji="0" lang="en-US" sz="2000" b="0" i="0" u="none" strike="noStrike" kern="1200" cap="none" spc="0" normalizeH="0" baseline="0" noProof="0" dirty="0">
              <a:ln>
                <a:noFill/>
              </a:ln>
              <a:solidFill>
                <a:schemeClr val="tx1"/>
              </a:solidFill>
              <a:effectLst/>
              <a:uLnTx/>
              <a:uFillTx/>
              <a:latin typeface="+mj-lt"/>
              <a:ea typeface="Times New Roman" panose="02020603050405020304" pitchFamily="18" charset="0"/>
              <a:cs typeface="Times New Roman" panose="02020603050405020304" pitchFamily="18" charset="0"/>
            </a:endParaRPr>
          </a:p>
        </p:txBody>
      </p:sp>
      <p:sp>
        <p:nvSpPr>
          <p:cNvPr id="3" name="TextBox 2"/>
          <p:cNvSpPr txBox="1"/>
          <p:nvPr/>
        </p:nvSpPr>
        <p:spPr>
          <a:xfrm>
            <a:off x="6674841" y="5218980"/>
            <a:ext cx="3376245" cy="1200329"/>
          </a:xfrm>
          <a:prstGeom prst="rect">
            <a:avLst/>
          </a:prstGeom>
          <a:noFill/>
        </p:spPr>
        <p:txBody>
          <a:bodyPr wrap="none" rtlCol="0">
            <a:spAutoFit/>
          </a:bodyPr>
          <a:lstStyle/>
          <a:p>
            <a:r>
              <a:rPr lang="en-US" dirty="0"/>
              <a:t>HTML</a:t>
            </a:r>
          </a:p>
          <a:p>
            <a:r>
              <a:rPr lang="en-US" dirty="0"/>
              <a:t>          Hyper Text Markup Language</a:t>
            </a:r>
          </a:p>
          <a:p>
            <a:r>
              <a:rPr lang="en-US" dirty="0"/>
              <a:t>WWW</a:t>
            </a:r>
            <a:endParaRPr lang="en-IN" dirty="0"/>
          </a:p>
          <a:p>
            <a:r>
              <a:rPr lang="en-US" dirty="0"/>
              <a:t>          World Wide Web</a:t>
            </a:r>
          </a:p>
        </p:txBody>
      </p:sp>
    </p:spTree>
    <p:extLst>
      <p:ext uri="{BB962C8B-B14F-4D97-AF65-F5344CB8AC3E}">
        <p14:creationId xmlns:p14="http://schemas.microsoft.com/office/powerpoint/2010/main" val="383379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
                                            <p:txEl>
                                              <p:pRg st="2" end="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
                                            <p:txEl>
                                              <p:pRg st="3" end="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7">
                                            <p:txEl>
                                              <p:pRg st="1" end="1"/>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xEl>
                                              <p:pRg st="2" end="2"/>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
                                            <p:txEl>
                                              <p:pRg st="3" end="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8">
                                            <p:txEl>
                                              <p:pRg st="1" end="1"/>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8">
                                            <p:txEl>
                                              <p:pRg st="2" end="2"/>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
                                            <p:txEl>
                                              <p:pRg st="3" end="3"/>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4">
                                            <p:txEl>
                                              <p:pRg st="7" end="7"/>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4">
                                            <p:txEl>
                                              <p:pRg st="8" end="8"/>
                                            </p:txEl>
                                          </p:spTgt>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
                                            <p:txEl>
                                              <p:pRg st="9" end="9"/>
                                            </p:txEl>
                                          </p:spTgt>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
                                            <p:txEl>
                                              <p:pRg st="7" end="7"/>
                                            </p:txEl>
                                          </p:spTgt>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
                                            <p:txEl>
                                              <p:pRg st="8" end="8"/>
                                            </p:txEl>
                                          </p:spTgt>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
                                            <p:txEl>
                                              <p:pRg st="9" end="9"/>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6">
                                            <p:txEl>
                                              <p:pRg st="7" end="7"/>
                                            </p:txEl>
                                          </p:spTgt>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6">
                                            <p:txEl>
                                              <p:pRg st="8" end="8"/>
                                            </p:txEl>
                                          </p:spTgt>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6">
                                            <p:txEl>
                                              <p:pRg st="9" end="9"/>
                                            </p:txEl>
                                          </p:spTgt>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Ordered List (OL)</a:t>
            </a:r>
          </a:p>
        </p:txBody>
      </p:sp>
      <p:sp>
        <p:nvSpPr>
          <p:cNvPr id="4" name="Text Box 4"/>
          <p:cNvSpPr txBox="1">
            <a:spLocks noChangeArrowheads="1"/>
          </p:cNvSpPr>
          <p:nvPr/>
        </p:nvSpPr>
        <p:spPr bwMode="auto">
          <a:xfrm>
            <a:off x="326177" y="1006095"/>
            <a:ext cx="8360623" cy="4524315"/>
          </a:xfrm>
          <a:prstGeom prst="rect">
            <a:avLst/>
          </a:prstGeom>
          <a:noFill/>
          <a:ln w="9525">
            <a:noFill/>
            <a:miter lim="800000"/>
            <a:headEnd/>
            <a:tailEnd/>
          </a:ln>
          <a:effectLst/>
        </p:spPr>
        <p:txBody>
          <a:bodyPr wrap="square">
            <a:spAutoFit/>
          </a:bodyPr>
          <a:lstStyle/>
          <a:p>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ol</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&lt;li&gt;</a:t>
            </a:r>
            <a:r>
              <a:rPr lang="en-US" sz="2400" dirty="0">
                <a:solidFill>
                  <a:srgbClr val="000000"/>
                </a:solidFill>
                <a:latin typeface="Consolas" panose="020B0609020204030204" pitchFamily="49" charset="0"/>
              </a:rPr>
              <a:t> Item one </a:t>
            </a:r>
            <a:r>
              <a:rPr lang="en-US" sz="2400" dirty="0">
                <a:solidFill>
                  <a:srgbClr val="800000"/>
                </a:solidFill>
                <a:latin typeface="Consolas" panose="020B0609020204030204" pitchFamily="49" charset="0"/>
              </a:rPr>
              <a:t>&lt;/li&gt;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&lt;li&gt;</a:t>
            </a:r>
            <a:r>
              <a:rPr lang="en-US" sz="2400" dirty="0">
                <a:solidFill>
                  <a:srgbClr val="000000"/>
                </a:solidFill>
                <a:latin typeface="Consolas" panose="020B0609020204030204" pitchFamily="49" charset="0"/>
              </a:rPr>
              <a:t> Item two </a:t>
            </a:r>
            <a:r>
              <a:rPr lang="en-US" sz="2400" dirty="0">
                <a:solidFill>
                  <a:srgbClr val="800000"/>
                </a:solidFill>
                <a:latin typeface="Consolas" panose="020B0609020204030204" pitchFamily="49" charset="0"/>
              </a:rPr>
              <a:t>&lt;/li&gt;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ol</a:t>
            </a:r>
            <a:r>
              <a:rPr lang="en-US" sz="2400" dirty="0">
                <a:solidFill>
                  <a:srgbClr val="000000"/>
                </a:solidFill>
                <a:latin typeface="Consolas" panose="020B0609020204030204" pitchFamily="49" charset="0"/>
              </a:rPr>
              <a:t> </a:t>
            </a:r>
            <a:r>
              <a:rPr lang="en-US" sz="2400" dirty="0">
                <a:solidFill>
                  <a:srgbClr val="FF0000"/>
                </a:solidFill>
                <a:latin typeface="Consolas" panose="020B0609020204030204" pitchFamily="49" charset="0"/>
              </a:rPr>
              <a:t>type</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"I"</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&lt;li&gt;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Sublist</a:t>
            </a:r>
            <a:r>
              <a:rPr lang="en-US" sz="2400" dirty="0">
                <a:solidFill>
                  <a:srgbClr val="000000"/>
                </a:solidFill>
                <a:latin typeface="Consolas" panose="020B0609020204030204" pitchFamily="49" charset="0"/>
              </a:rPr>
              <a:t> item one </a:t>
            </a:r>
            <a:r>
              <a:rPr lang="en-US" sz="2400" dirty="0">
                <a:solidFill>
                  <a:srgbClr val="800000"/>
                </a:solidFill>
                <a:latin typeface="Consolas" panose="020B0609020204030204" pitchFamily="49" charset="0"/>
              </a:rPr>
              <a:t>&lt;/li&gt;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&lt;li&gt;</a:t>
            </a:r>
            <a:r>
              <a:rPr lang="en-US" sz="2400" dirty="0">
                <a:solidFill>
                  <a:srgbClr val="000000"/>
                </a:solidFill>
                <a:latin typeface="Consolas" panose="020B0609020204030204" pitchFamily="49" charset="0"/>
              </a:rPr>
              <a:t> </a:t>
            </a:r>
            <a:r>
              <a:rPr lang="en-US" sz="2400" dirty="0" err="1">
                <a:solidFill>
                  <a:srgbClr val="000000"/>
                </a:solidFill>
                <a:latin typeface="Consolas" panose="020B0609020204030204" pitchFamily="49" charset="0"/>
              </a:rPr>
              <a:t>Sublist</a:t>
            </a:r>
            <a:r>
              <a:rPr lang="en-US" sz="2400" dirty="0">
                <a:solidFill>
                  <a:srgbClr val="000000"/>
                </a:solidFill>
                <a:latin typeface="Consolas" panose="020B0609020204030204" pitchFamily="49" charset="0"/>
              </a:rPr>
              <a:t> item two </a:t>
            </a:r>
            <a:r>
              <a:rPr lang="en-US" sz="2400" dirty="0">
                <a:solidFill>
                  <a:srgbClr val="800000"/>
                </a:solidFill>
                <a:latin typeface="Consolas" panose="020B0609020204030204" pitchFamily="49" charset="0"/>
              </a:rPr>
              <a:t>&lt;/li&gt;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ol</a:t>
            </a:r>
            <a:r>
              <a:rPr lang="en-US" sz="2400" dirty="0">
                <a:solidFill>
                  <a:srgbClr val="000000"/>
                </a:solidFill>
                <a:latin typeface="Consolas" panose="020B0609020204030204" pitchFamily="49" charset="0"/>
              </a:rPr>
              <a:t> </a:t>
            </a:r>
            <a:r>
              <a:rPr lang="en-US" sz="2400" dirty="0">
                <a:solidFill>
                  <a:srgbClr val="FF0000"/>
                </a:solidFill>
                <a:latin typeface="Consolas" panose="020B0609020204030204" pitchFamily="49" charset="0"/>
              </a:rPr>
              <a:t>type</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a:t>
            </a:r>
            <a:r>
              <a:rPr lang="en-US" sz="2400" dirty="0" err="1">
                <a:solidFill>
                  <a:srgbClr val="0000FF"/>
                </a:solidFill>
                <a:latin typeface="Consolas" panose="020B0609020204030204" pitchFamily="49" charset="0"/>
              </a:rPr>
              <a:t>i</a:t>
            </a:r>
            <a:r>
              <a:rPr lang="en-US" sz="2400" dirty="0">
                <a:solidFill>
                  <a:srgbClr val="0000FF"/>
                </a:solidFill>
                <a:latin typeface="Consolas" panose="020B0609020204030204" pitchFamily="49" charset="0"/>
              </a:rPr>
              <a:t>"</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&lt;li&gt;</a:t>
            </a:r>
            <a:r>
              <a:rPr lang="en-US" sz="2400" dirty="0">
                <a:solidFill>
                  <a:srgbClr val="000000"/>
                </a:solidFill>
                <a:latin typeface="Consolas" panose="020B0609020204030204" pitchFamily="49" charset="0"/>
              </a:rPr>
              <a:t> Sub-sub list item one </a:t>
            </a:r>
            <a:r>
              <a:rPr lang="en-US" sz="2400" dirty="0">
                <a:solidFill>
                  <a:srgbClr val="800000"/>
                </a:solidFill>
                <a:latin typeface="Consolas" panose="020B0609020204030204" pitchFamily="49" charset="0"/>
              </a:rPr>
              <a:t>&lt;/li&gt;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&lt;li&gt;</a:t>
            </a:r>
            <a:r>
              <a:rPr lang="en-US" sz="2400" dirty="0">
                <a:solidFill>
                  <a:srgbClr val="000000"/>
                </a:solidFill>
                <a:latin typeface="Consolas" panose="020B0609020204030204" pitchFamily="49" charset="0"/>
              </a:rPr>
              <a:t> Sub-sub list item two </a:t>
            </a:r>
            <a:r>
              <a:rPr lang="en-US" sz="2400" dirty="0">
                <a:solidFill>
                  <a:srgbClr val="800000"/>
                </a:solidFill>
                <a:latin typeface="Consolas" panose="020B0609020204030204" pitchFamily="49" charset="0"/>
              </a:rPr>
              <a:t>&lt;/li&gt;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ol</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ol</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ol</a:t>
            </a:r>
            <a:r>
              <a:rPr lang="en-US" sz="2400" dirty="0">
                <a:solidFill>
                  <a:srgbClr val="800000"/>
                </a:solidFill>
                <a:latin typeface="Consolas" panose="020B0609020204030204" pitchFamily="49" charset="0"/>
              </a:rPr>
              <a:t>&gt;</a:t>
            </a:r>
            <a:endParaRPr lang="en-US" sz="2400" b="0" dirty="0">
              <a:solidFill>
                <a:srgbClr val="000000"/>
              </a:solidFill>
              <a:effectLst/>
              <a:latin typeface="Consolas" panose="020B0609020204030204" pitchFamily="49" charset="0"/>
            </a:endParaRPr>
          </a:p>
        </p:txBody>
      </p:sp>
      <p:sp>
        <p:nvSpPr>
          <p:cNvPr id="5" name="Text Box 4"/>
          <p:cNvSpPr txBox="1">
            <a:spLocks noChangeArrowheads="1"/>
          </p:cNvSpPr>
          <p:nvPr/>
        </p:nvSpPr>
        <p:spPr bwMode="auto">
          <a:xfrm>
            <a:off x="9189720" y="1006095"/>
            <a:ext cx="2438400" cy="2800767"/>
          </a:xfrm>
          <a:prstGeom prst="rect">
            <a:avLst/>
          </a:prstGeom>
          <a:noFill/>
          <a:ln w="9525">
            <a:noFill/>
            <a:miter lim="800000"/>
            <a:headEnd/>
            <a:tailEnd/>
          </a:ln>
          <a:effectLst/>
        </p:spPr>
        <p:txBody>
          <a:bodyPr wrap="square">
            <a:spAutoFit/>
          </a:bodyPr>
          <a:lstStyle/>
          <a:p>
            <a:r>
              <a:rPr lang="en-US" altLang="zh-CN" sz="2800" b="1" dirty="0">
                <a:ea typeface="宋体" pitchFamily="2" charset="-122"/>
              </a:rPr>
              <a:t>Types:</a:t>
            </a:r>
          </a:p>
          <a:p>
            <a:endParaRPr lang="en-US" altLang="zh-CN" sz="2800" b="1" dirty="0">
              <a:ea typeface="宋体" pitchFamily="2" charset="-122"/>
            </a:endParaRPr>
          </a:p>
          <a:p>
            <a:r>
              <a:rPr lang="en-US" altLang="zh-CN" sz="2400" dirty="0">
                <a:ea typeface="宋体" pitchFamily="2" charset="-122"/>
              </a:rPr>
              <a:t>Type = 1 (default)</a:t>
            </a:r>
          </a:p>
          <a:p>
            <a:r>
              <a:rPr lang="en-US" altLang="zh-CN" sz="2400" dirty="0">
                <a:ea typeface="宋体" pitchFamily="2" charset="-122"/>
              </a:rPr>
              <a:t>Type = a</a:t>
            </a:r>
          </a:p>
          <a:p>
            <a:r>
              <a:rPr lang="en-US" altLang="zh-CN" sz="2400" dirty="0">
                <a:ea typeface="宋体" pitchFamily="2" charset="-122"/>
              </a:rPr>
              <a:t>Type = A</a:t>
            </a:r>
          </a:p>
          <a:p>
            <a:r>
              <a:rPr lang="en-US" altLang="zh-CN" sz="2400" dirty="0">
                <a:ea typeface="宋体" pitchFamily="2" charset="-122"/>
              </a:rPr>
              <a:t>Type = I</a:t>
            </a:r>
          </a:p>
          <a:p>
            <a:r>
              <a:rPr lang="en-US" altLang="zh-CN" sz="2400" dirty="0">
                <a:ea typeface="宋体" pitchFamily="2" charset="-122"/>
              </a:rPr>
              <a:t>Type = </a:t>
            </a:r>
            <a:r>
              <a:rPr lang="en-US" altLang="zh-CN" sz="2400" dirty="0" err="1">
                <a:ea typeface="宋体" pitchFamily="2" charset="-122"/>
              </a:rPr>
              <a:t>i</a:t>
            </a:r>
            <a:endParaRPr lang="en-US" altLang="zh-CN" sz="2400" dirty="0">
              <a:ea typeface="宋体" pitchFamily="2" charset="-122"/>
            </a:endParaRPr>
          </a:p>
        </p:txBody>
      </p:sp>
      <p:cxnSp>
        <p:nvCxnSpPr>
          <p:cNvPr id="6" name="Straight Arrow Connector 5"/>
          <p:cNvCxnSpPr/>
          <p:nvPr/>
        </p:nvCxnSpPr>
        <p:spPr>
          <a:xfrm flipH="1" flipV="1">
            <a:off x="3366655" y="2344189"/>
            <a:ext cx="5823065" cy="8631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4006735" y="3441469"/>
            <a:ext cx="5182985" cy="140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1" name="Picture 2"/>
          <p:cNvPicPr>
            <a:picLocks noChangeAspect="1" noChangeArrowheads="1"/>
          </p:cNvPicPr>
          <p:nvPr/>
        </p:nvPicPr>
        <p:blipFill>
          <a:blip r:embed="rId2" cstate="print"/>
          <a:srcRect/>
          <a:stretch>
            <a:fillRect/>
          </a:stretch>
        </p:blipFill>
        <p:spPr bwMode="auto">
          <a:xfrm>
            <a:off x="5715000" y="4953000"/>
            <a:ext cx="3048000" cy="1428750"/>
          </a:xfrm>
          <a:prstGeom prst="rect">
            <a:avLst/>
          </a:prstGeom>
          <a:noFill/>
          <a:ln w="9525">
            <a:noFill/>
            <a:miter lim="800000"/>
            <a:headEnd/>
            <a:tailEnd/>
          </a:ln>
        </p:spPr>
      </p:pic>
      <p:sp>
        <p:nvSpPr>
          <p:cNvPr id="12" name="TextBox 11"/>
          <p:cNvSpPr txBox="1"/>
          <p:nvPr/>
        </p:nvSpPr>
        <p:spPr>
          <a:xfrm>
            <a:off x="5831013" y="4572000"/>
            <a:ext cx="1103187" cy="461665"/>
          </a:xfrm>
          <a:prstGeom prst="rect">
            <a:avLst/>
          </a:prstGeom>
          <a:noFill/>
        </p:spPr>
        <p:txBody>
          <a:bodyPr wrap="none" rtlCol="0">
            <a:spAutoFit/>
          </a:bodyPr>
          <a:lstStyle/>
          <a:p>
            <a:r>
              <a:rPr lang="en-IN" sz="2400" b="1" dirty="0"/>
              <a:t>Output</a:t>
            </a:r>
            <a:endParaRPr lang="en-US" b="1" dirty="0"/>
          </a:p>
        </p:txBody>
      </p:sp>
    </p:spTree>
    <p:extLst>
      <p:ext uri="{BB962C8B-B14F-4D97-AF65-F5344CB8AC3E}">
        <p14:creationId xmlns:p14="http://schemas.microsoft.com/office/powerpoint/2010/main" val="43856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Unordered List (UL)</a:t>
            </a:r>
          </a:p>
        </p:txBody>
      </p:sp>
      <p:sp>
        <p:nvSpPr>
          <p:cNvPr id="4" name="Text Box 4"/>
          <p:cNvSpPr txBox="1">
            <a:spLocks noChangeArrowheads="1"/>
          </p:cNvSpPr>
          <p:nvPr/>
        </p:nvSpPr>
        <p:spPr bwMode="auto">
          <a:xfrm>
            <a:off x="326177" y="1006095"/>
            <a:ext cx="8360623" cy="4524315"/>
          </a:xfrm>
          <a:prstGeom prst="rect">
            <a:avLst/>
          </a:prstGeom>
          <a:noFill/>
          <a:ln w="9525">
            <a:noFill/>
            <a:miter lim="800000"/>
            <a:headEnd/>
            <a:tailEnd/>
          </a:ln>
          <a:effectLst/>
        </p:spPr>
        <p:txBody>
          <a:bodyPr wrap="square">
            <a:spAutoFit/>
          </a:bodyPr>
          <a:lstStyle/>
          <a:p>
            <a:r>
              <a:rPr lang="it-IT" sz="2400" dirty="0">
                <a:solidFill>
                  <a:srgbClr val="800000"/>
                </a:solidFill>
                <a:latin typeface="Consolas" panose="020B0609020204030204" pitchFamily="49" charset="0"/>
              </a:rPr>
              <a:t>&lt;ul&gt;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&lt;li&gt;</a:t>
            </a:r>
            <a:r>
              <a:rPr lang="it-IT" sz="2400" dirty="0">
                <a:solidFill>
                  <a:srgbClr val="000000"/>
                </a:solidFill>
                <a:latin typeface="Consolas" panose="020B0609020204030204" pitchFamily="49" charset="0"/>
              </a:rPr>
              <a:t> One </a:t>
            </a:r>
            <a:r>
              <a:rPr lang="it-IT" sz="2400" dirty="0">
                <a:solidFill>
                  <a:srgbClr val="800000"/>
                </a:solidFill>
                <a:latin typeface="Consolas" panose="020B0609020204030204" pitchFamily="49" charset="0"/>
              </a:rPr>
              <a:t>&lt;/li&gt;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&lt;li&gt;</a:t>
            </a:r>
            <a:r>
              <a:rPr lang="it-IT" sz="2400" dirty="0">
                <a:solidFill>
                  <a:srgbClr val="000000"/>
                </a:solidFill>
                <a:latin typeface="Consolas" panose="020B0609020204030204" pitchFamily="49" charset="0"/>
              </a:rPr>
              <a:t> Two </a:t>
            </a:r>
            <a:r>
              <a:rPr lang="it-IT" sz="2400" dirty="0">
                <a:solidFill>
                  <a:srgbClr val="800000"/>
                </a:solidFill>
                <a:latin typeface="Consolas" panose="020B0609020204030204" pitchFamily="49" charset="0"/>
              </a:rPr>
              <a:t>&lt;/li&gt;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&lt;ul</a:t>
            </a:r>
            <a:r>
              <a:rPr lang="it-IT" sz="2400" dirty="0">
                <a:solidFill>
                  <a:srgbClr val="000000"/>
                </a:solidFill>
                <a:latin typeface="Consolas" panose="020B0609020204030204" pitchFamily="49" charset="0"/>
              </a:rPr>
              <a:t> </a:t>
            </a:r>
            <a:r>
              <a:rPr lang="it-IT" sz="2400" dirty="0">
                <a:solidFill>
                  <a:srgbClr val="FF0000"/>
                </a:solidFill>
                <a:latin typeface="Consolas" panose="020B0609020204030204" pitchFamily="49" charset="0"/>
              </a:rPr>
              <a:t>type</a:t>
            </a:r>
            <a:r>
              <a:rPr lang="it-IT" sz="2400" dirty="0">
                <a:solidFill>
                  <a:srgbClr val="000000"/>
                </a:solidFill>
                <a:latin typeface="Consolas" panose="020B0609020204030204" pitchFamily="49" charset="0"/>
              </a:rPr>
              <a:t>=</a:t>
            </a:r>
            <a:r>
              <a:rPr lang="it-IT" sz="2400" dirty="0">
                <a:solidFill>
                  <a:srgbClr val="0000FF"/>
                </a:solidFill>
                <a:latin typeface="Consolas" panose="020B0609020204030204" pitchFamily="49" charset="0"/>
              </a:rPr>
              <a:t>"circle"</a:t>
            </a:r>
            <a:r>
              <a:rPr lang="it-IT" sz="2400" dirty="0">
                <a:solidFill>
                  <a:srgbClr val="800000"/>
                </a:solidFill>
                <a:latin typeface="Consolas" panose="020B0609020204030204" pitchFamily="49" charset="0"/>
              </a:rPr>
              <a:t>&gt;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&lt;li&gt;</a:t>
            </a:r>
            <a:r>
              <a:rPr lang="it-IT" sz="2400" dirty="0">
                <a:solidFill>
                  <a:srgbClr val="000000"/>
                </a:solidFill>
                <a:latin typeface="Consolas" panose="020B0609020204030204" pitchFamily="49" charset="0"/>
              </a:rPr>
              <a:t> Three </a:t>
            </a:r>
            <a:r>
              <a:rPr lang="it-IT" sz="2400" dirty="0">
                <a:solidFill>
                  <a:srgbClr val="800000"/>
                </a:solidFill>
                <a:latin typeface="Consolas" panose="020B0609020204030204" pitchFamily="49" charset="0"/>
              </a:rPr>
              <a:t>&lt;/li&gt;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&lt;li&gt;</a:t>
            </a:r>
            <a:r>
              <a:rPr lang="it-IT" sz="2400" dirty="0">
                <a:solidFill>
                  <a:srgbClr val="000000"/>
                </a:solidFill>
                <a:latin typeface="Consolas" panose="020B0609020204030204" pitchFamily="49" charset="0"/>
              </a:rPr>
              <a:t> Four </a:t>
            </a:r>
            <a:r>
              <a:rPr lang="it-IT" sz="2400" dirty="0">
                <a:solidFill>
                  <a:srgbClr val="800000"/>
                </a:solidFill>
                <a:latin typeface="Consolas" panose="020B0609020204030204" pitchFamily="49" charset="0"/>
              </a:rPr>
              <a:t>&lt;/li&gt;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&lt;ul</a:t>
            </a:r>
            <a:r>
              <a:rPr lang="it-IT" sz="2400" dirty="0">
                <a:solidFill>
                  <a:srgbClr val="000000"/>
                </a:solidFill>
                <a:latin typeface="Consolas" panose="020B0609020204030204" pitchFamily="49" charset="0"/>
              </a:rPr>
              <a:t> </a:t>
            </a:r>
            <a:r>
              <a:rPr lang="it-IT" sz="2400" dirty="0">
                <a:solidFill>
                  <a:srgbClr val="FF0000"/>
                </a:solidFill>
                <a:latin typeface="Consolas" panose="020B0609020204030204" pitchFamily="49" charset="0"/>
              </a:rPr>
              <a:t>type</a:t>
            </a:r>
            <a:r>
              <a:rPr lang="it-IT" sz="2400" dirty="0">
                <a:solidFill>
                  <a:srgbClr val="000000"/>
                </a:solidFill>
                <a:latin typeface="Consolas" panose="020B0609020204030204" pitchFamily="49" charset="0"/>
              </a:rPr>
              <a:t>=</a:t>
            </a:r>
            <a:r>
              <a:rPr lang="it-IT" sz="2400" dirty="0">
                <a:solidFill>
                  <a:srgbClr val="0000FF"/>
                </a:solidFill>
                <a:latin typeface="Consolas" panose="020B0609020204030204" pitchFamily="49" charset="0"/>
              </a:rPr>
              <a:t>"square"</a:t>
            </a:r>
            <a:r>
              <a:rPr lang="it-IT" sz="2400" dirty="0">
                <a:solidFill>
                  <a:srgbClr val="800000"/>
                </a:solidFill>
                <a:latin typeface="Consolas" panose="020B0609020204030204" pitchFamily="49" charset="0"/>
              </a:rPr>
              <a:t>&gt;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&lt;li&gt;</a:t>
            </a:r>
            <a:r>
              <a:rPr lang="it-IT" sz="2400" dirty="0">
                <a:solidFill>
                  <a:srgbClr val="000000"/>
                </a:solidFill>
                <a:latin typeface="Consolas" panose="020B0609020204030204" pitchFamily="49" charset="0"/>
              </a:rPr>
              <a:t> Five </a:t>
            </a:r>
            <a:r>
              <a:rPr lang="it-IT" sz="2400" dirty="0">
                <a:solidFill>
                  <a:srgbClr val="800000"/>
                </a:solidFill>
                <a:latin typeface="Consolas" panose="020B0609020204030204" pitchFamily="49" charset="0"/>
              </a:rPr>
              <a:t>&lt;/li&gt;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&lt;li&gt;</a:t>
            </a:r>
            <a:r>
              <a:rPr lang="it-IT" sz="2400" dirty="0">
                <a:solidFill>
                  <a:srgbClr val="000000"/>
                </a:solidFill>
                <a:latin typeface="Consolas" panose="020B0609020204030204" pitchFamily="49" charset="0"/>
              </a:rPr>
              <a:t> Six </a:t>
            </a:r>
            <a:r>
              <a:rPr lang="it-IT" sz="2400" dirty="0">
                <a:solidFill>
                  <a:srgbClr val="800000"/>
                </a:solidFill>
                <a:latin typeface="Consolas" panose="020B0609020204030204" pitchFamily="49" charset="0"/>
              </a:rPr>
              <a:t>&lt;/li&gt;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&lt;/ul&gt;</a:t>
            </a:r>
            <a:endParaRPr lang="it-IT" sz="2400" dirty="0">
              <a:solidFill>
                <a:srgbClr val="000000"/>
              </a:solidFill>
              <a:latin typeface="Consolas" panose="020B0609020204030204" pitchFamily="49" charset="0"/>
            </a:endParaRPr>
          </a:p>
          <a:p>
            <a:r>
              <a:rPr lang="it-IT" sz="2400" dirty="0">
                <a:solidFill>
                  <a:srgbClr val="000000"/>
                </a:solidFill>
                <a:latin typeface="Consolas" panose="020B0609020204030204" pitchFamily="49" charset="0"/>
              </a:rPr>
              <a:t>    </a:t>
            </a:r>
            <a:r>
              <a:rPr lang="it-IT" sz="2400" dirty="0">
                <a:solidFill>
                  <a:srgbClr val="800000"/>
                </a:solidFill>
                <a:latin typeface="Consolas" panose="020B0609020204030204" pitchFamily="49" charset="0"/>
              </a:rPr>
              <a:t>&lt;/ul&gt;</a:t>
            </a:r>
            <a:endParaRPr lang="it-IT" sz="2400" dirty="0">
              <a:solidFill>
                <a:srgbClr val="000000"/>
              </a:solidFill>
              <a:latin typeface="Consolas" panose="020B0609020204030204" pitchFamily="49" charset="0"/>
            </a:endParaRPr>
          </a:p>
          <a:p>
            <a:r>
              <a:rPr lang="it-IT" sz="2400" dirty="0">
                <a:solidFill>
                  <a:srgbClr val="800000"/>
                </a:solidFill>
                <a:latin typeface="Consolas" panose="020B0609020204030204" pitchFamily="49" charset="0"/>
              </a:rPr>
              <a:t>&lt;/ul&gt;</a:t>
            </a:r>
            <a:endParaRPr lang="it-IT" sz="2400" b="0" dirty="0">
              <a:solidFill>
                <a:srgbClr val="000000"/>
              </a:solidFill>
              <a:effectLst/>
              <a:latin typeface="Consolas" panose="020B0609020204030204" pitchFamily="49" charset="0"/>
            </a:endParaRPr>
          </a:p>
        </p:txBody>
      </p:sp>
      <p:sp>
        <p:nvSpPr>
          <p:cNvPr id="5" name="Text Box 4"/>
          <p:cNvSpPr txBox="1">
            <a:spLocks noChangeArrowheads="1"/>
          </p:cNvSpPr>
          <p:nvPr/>
        </p:nvSpPr>
        <p:spPr bwMode="auto">
          <a:xfrm>
            <a:off x="7789025" y="1006095"/>
            <a:ext cx="2743200" cy="2062103"/>
          </a:xfrm>
          <a:prstGeom prst="rect">
            <a:avLst/>
          </a:prstGeom>
          <a:noFill/>
          <a:ln w="9525">
            <a:noFill/>
            <a:miter lim="800000"/>
            <a:headEnd/>
            <a:tailEnd/>
          </a:ln>
          <a:effectLst/>
        </p:spPr>
        <p:txBody>
          <a:bodyPr wrap="square">
            <a:spAutoFit/>
          </a:bodyPr>
          <a:lstStyle/>
          <a:p>
            <a:endParaRPr lang="en-US" altLang="zh-CN" sz="2800" b="1" dirty="0">
              <a:ea typeface="宋体" pitchFamily="2" charset="-122"/>
            </a:endParaRPr>
          </a:p>
          <a:p>
            <a:r>
              <a:rPr lang="en-US" altLang="zh-CN" sz="2800" b="1" dirty="0">
                <a:ea typeface="宋体" pitchFamily="2" charset="-122"/>
              </a:rPr>
              <a:t>Types:</a:t>
            </a:r>
          </a:p>
          <a:p>
            <a:r>
              <a:rPr lang="en-US" altLang="zh-CN" sz="2400" dirty="0">
                <a:ea typeface="宋体" pitchFamily="2" charset="-122"/>
              </a:rPr>
              <a:t>Type = disc (default)</a:t>
            </a:r>
          </a:p>
          <a:p>
            <a:r>
              <a:rPr lang="en-US" altLang="zh-CN" sz="2400" dirty="0">
                <a:ea typeface="宋体" pitchFamily="2" charset="-122"/>
              </a:rPr>
              <a:t>Type = circle</a:t>
            </a:r>
          </a:p>
          <a:p>
            <a:r>
              <a:rPr lang="en-US" altLang="zh-CN" sz="2400" dirty="0">
                <a:ea typeface="宋体" pitchFamily="2" charset="-122"/>
              </a:rPr>
              <a:t>Type = square</a:t>
            </a:r>
          </a:p>
        </p:txBody>
      </p:sp>
      <p:cxnSp>
        <p:nvCxnSpPr>
          <p:cNvPr id="6" name="Straight Arrow Connector 5"/>
          <p:cNvCxnSpPr/>
          <p:nvPr/>
        </p:nvCxnSpPr>
        <p:spPr>
          <a:xfrm flipH="1" flipV="1">
            <a:off x="4247804" y="2327564"/>
            <a:ext cx="3541221" cy="14408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a:off x="4754880" y="2838589"/>
            <a:ext cx="3034146" cy="45583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7828838" y="3568879"/>
            <a:ext cx="1103187" cy="461665"/>
          </a:xfrm>
          <a:prstGeom prst="rect">
            <a:avLst/>
          </a:prstGeom>
          <a:noFill/>
        </p:spPr>
        <p:txBody>
          <a:bodyPr wrap="none" rtlCol="0">
            <a:spAutoFit/>
          </a:bodyPr>
          <a:lstStyle/>
          <a:p>
            <a:r>
              <a:rPr lang="en-IN" sz="2400" b="1" dirty="0"/>
              <a:t>Output</a:t>
            </a:r>
            <a:endParaRPr lang="en-US" b="1" dirty="0"/>
          </a:p>
        </p:txBody>
      </p:sp>
      <p:pic>
        <p:nvPicPr>
          <p:cNvPr id="11" name="Picture 2"/>
          <p:cNvPicPr>
            <a:picLocks noChangeAspect="1" noChangeArrowheads="1"/>
          </p:cNvPicPr>
          <p:nvPr/>
        </p:nvPicPr>
        <p:blipFill>
          <a:blip r:embed="rId2" cstate="print"/>
          <a:srcRect/>
          <a:stretch>
            <a:fillRect/>
          </a:stretch>
        </p:blipFill>
        <p:spPr bwMode="auto">
          <a:xfrm>
            <a:off x="7789025" y="4030544"/>
            <a:ext cx="2584669" cy="1705238"/>
          </a:xfrm>
          <a:prstGeom prst="rect">
            <a:avLst/>
          </a:prstGeom>
          <a:noFill/>
          <a:ln w="9525">
            <a:noFill/>
            <a:miter lim="800000"/>
            <a:headEnd/>
            <a:tailEnd/>
          </a:ln>
        </p:spPr>
      </p:pic>
    </p:spTree>
    <p:extLst>
      <p:ext uri="{BB962C8B-B14F-4D97-AF65-F5344CB8AC3E}">
        <p14:creationId xmlns:p14="http://schemas.microsoft.com/office/powerpoint/2010/main" val="89736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6241583" y="4417325"/>
            <a:ext cx="3712413" cy="1825441"/>
          </a:xfrm>
          <a:prstGeom prst="rect">
            <a:avLst/>
          </a:prstGeom>
        </p:spPr>
      </p:pic>
      <p:sp>
        <p:nvSpPr>
          <p:cNvPr id="2" name="Title 1"/>
          <p:cNvSpPr>
            <a:spLocks noGrp="1"/>
          </p:cNvSpPr>
          <p:nvPr>
            <p:ph type="title"/>
          </p:nvPr>
        </p:nvSpPr>
        <p:spPr/>
        <p:txBody>
          <a:bodyPr/>
          <a:lstStyle/>
          <a:p>
            <a:r>
              <a:rPr lang="en-US" dirty="0"/>
              <a:t>Definition / Description List (DL)</a:t>
            </a:r>
          </a:p>
        </p:txBody>
      </p:sp>
      <p:sp>
        <p:nvSpPr>
          <p:cNvPr id="4" name="Text Box 4"/>
          <p:cNvSpPr txBox="1">
            <a:spLocks noChangeArrowheads="1"/>
          </p:cNvSpPr>
          <p:nvPr/>
        </p:nvSpPr>
        <p:spPr bwMode="auto">
          <a:xfrm>
            <a:off x="326177" y="1006095"/>
            <a:ext cx="8360623" cy="3785652"/>
          </a:xfrm>
          <a:prstGeom prst="rect">
            <a:avLst/>
          </a:prstGeom>
          <a:noFill/>
          <a:ln w="9525">
            <a:noFill/>
            <a:miter lim="800000"/>
            <a:headEnd/>
            <a:tailEnd/>
          </a:ln>
          <a:effectLst/>
        </p:spPr>
        <p:txBody>
          <a:bodyPr wrap="square">
            <a:spAutoFit/>
          </a:bodyPr>
          <a:lstStyle/>
          <a:p>
            <a:r>
              <a:rPr lang="it-IT" sz="2400" dirty="0">
                <a:solidFill>
                  <a:srgbClr val="800000"/>
                </a:solidFill>
                <a:latin typeface="Consolas" panose="020B0609020204030204" pitchFamily="49" charset="0"/>
              </a:rPr>
              <a:t>&lt;dl&gt;</a:t>
            </a:r>
          </a:p>
          <a:p>
            <a:r>
              <a:rPr lang="it-IT" sz="2400" dirty="0">
                <a:solidFill>
                  <a:srgbClr val="800000"/>
                </a:solidFill>
                <a:latin typeface="Consolas" panose="020B0609020204030204" pitchFamily="49" charset="0"/>
              </a:rPr>
              <a:t>    &lt;dt&gt;</a:t>
            </a:r>
            <a:r>
              <a:rPr lang="it-IT" sz="2400" dirty="0">
                <a:latin typeface="Consolas" panose="020B0609020204030204" pitchFamily="49" charset="0"/>
              </a:rPr>
              <a:t>HTML</a:t>
            </a:r>
            <a:r>
              <a:rPr lang="it-IT" sz="2400" dirty="0">
                <a:solidFill>
                  <a:srgbClr val="800000"/>
                </a:solidFill>
                <a:latin typeface="Consolas" panose="020B0609020204030204" pitchFamily="49" charset="0"/>
              </a:rPr>
              <a:t>&lt;/dt&gt;</a:t>
            </a:r>
          </a:p>
          <a:p>
            <a:r>
              <a:rPr lang="it-IT" sz="2400" dirty="0">
                <a:solidFill>
                  <a:srgbClr val="800000"/>
                </a:solidFill>
                <a:latin typeface="Consolas" panose="020B0609020204030204" pitchFamily="49" charset="0"/>
              </a:rPr>
              <a:t>    &lt;dd&gt;</a:t>
            </a:r>
            <a:r>
              <a:rPr lang="it-IT" sz="2400" dirty="0">
                <a:latin typeface="Consolas" panose="020B0609020204030204" pitchFamily="49" charset="0"/>
              </a:rPr>
              <a:t>Hyper Text Markup Language</a:t>
            </a:r>
            <a:r>
              <a:rPr lang="it-IT" sz="2400" dirty="0">
                <a:solidFill>
                  <a:srgbClr val="800000"/>
                </a:solidFill>
                <a:latin typeface="Consolas" panose="020B0609020204030204" pitchFamily="49" charset="0"/>
              </a:rPr>
              <a:t>&lt;/dd&gt;</a:t>
            </a:r>
          </a:p>
          <a:p>
            <a:endParaRPr lang="it-IT" sz="2400" dirty="0">
              <a:solidFill>
                <a:srgbClr val="800000"/>
              </a:solidFill>
              <a:latin typeface="Consolas" panose="020B0609020204030204" pitchFamily="49" charset="0"/>
            </a:endParaRPr>
          </a:p>
          <a:p>
            <a:r>
              <a:rPr lang="it-IT" sz="2400" dirty="0">
                <a:solidFill>
                  <a:srgbClr val="800000"/>
                </a:solidFill>
                <a:latin typeface="Consolas" panose="020B0609020204030204" pitchFamily="49" charset="0"/>
              </a:rPr>
              <a:t>    &lt;dt&gt;</a:t>
            </a:r>
            <a:r>
              <a:rPr lang="it-IT" sz="2400" dirty="0">
                <a:latin typeface="Consolas" panose="020B0609020204030204" pitchFamily="49" charset="0"/>
              </a:rPr>
              <a:t>URL</a:t>
            </a:r>
            <a:r>
              <a:rPr lang="it-IT" sz="2400" dirty="0">
                <a:solidFill>
                  <a:srgbClr val="800000"/>
                </a:solidFill>
                <a:latin typeface="Consolas" panose="020B0609020204030204" pitchFamily="49" charset="0"/>
              </a:rPr>
              <a:t>&lt;/dt&gt;</a:t>
            </a:r>
          </a:p>
          <a:p>
            <a:r>
              <a:rPr lang="it-IT" sz="2400" dirty="0">
                <a:solidFill>
                  <a:srgbClr val="800000"/>
                </a:solidFill>
                <a:latin typeface="Consolas" panose="020B0609020204030204" pitchFamily="49" charset="0"/>
              </a:rPr>
              <a:t>    &lt;dd&gt;</a:t>
            </a:r>
            <a:r>
              <a:rPr lang="it-IT" sz="2400" dirty="0">
                <a:latin typeface="Consolas" panose="020B0609020204030204" pitchFamily="49" charset="0"/>
              </a:rPr>
              <a:t>Uniform Resource Locator</a:t>
            </a:r>
            <a:r>
              <a:rPr lang="it-IT" sz="2400" dirty="0">
                <a:solidFill>
                  <a:srgbClr val="800000"/>
                </a:solidFill>
                <a:latin typeface="Consolas" panose="020B0609020204030204" pitchFamily="49" charset="0"/>
              </a:rPr>
              <a:t>&lt;/dd&gt;</a:t>
            </a:r>
          </a:p>
          <a:p>
            <a:r>
              <a:rPr lang="it-IT" sz="2400" dirty="0">
                <a:solidFill>
                  <a:srgbClr val="800000"/>
                </a:solidFill>
                <a:latin typeface="Consolas" panose="020B0609020204030204" pitchFamily="49" charset="0"/>
              </a:rPr>
              <a:t>    </a:t>
            </a:r>
          </a:p>
          <a:p>
            <a:r>
              <a:rPr lang="it-IT" sz="2400" dirty="0">
                <a:solidFill>
                  <a:srgbClr val="800000"/>
                </a:solidFill>
                <a:latin typeface="Consolas" panose="020B0609020204030204" pitchFamily="49" charset="0"/>
              </a:rPr>
              <a:t>    &lt;dt&gt;</a:t>
            </a:r>
            <a:r>
              <a:rPr lang="it-IT" sz="2400" dirty="0">
                <a:latin typeface="Consolas" panose="020B0609020204030204" pitchFamily="49" charset="0"/>
              </a:rPr>
              <a:t>WWW</a:t>
            </a:r>
            <a:r>
              <a:rPr lang="it-IT" sz="2400" dirty="0">
                <a:solidFill>
                  <a:srgbClr val="800000"/>
                </a:solidFill>
                <a:latin typeface="Consolas" panose="020B0609020204030204" pitchFamily="49" charset="0"/>
              </a:rPr>
              <a:t>&lt;/dt&gt;</a:t>
            </a:r>
          </a:p>
          <a:p>
            <a:r>
              <a:rPr lang="it-IT" sz="2400" dirty="0">
                <a:solidFill>
                  <a:srgbClr val="800000"/>
                </a:solidFill>
                <a:latin typeface="Consolas" panose="020B0609020204030204" pitchFamily="49" charset="0"/>
              </a:rPr>
              <a:t>    &lt;dd&gt;</a:t>
            </a:r>
            <a:r>
              <a:rPr lang="it-IT" sz="2400" dirty="0">
                <a:latin typeface="Consolas" panose="020B0609020204030204" pitchFamily="49" charset="0"/>
              </a:rPr>
              <a:t>World Wide Web</a:t>
            </a:r>
            <a:r>
              <a:rPr lang="it-IT" sz="2400" dirty="0">
                <a:solidFill>
                  <a:srgbClr val="800000"/>
                </a:solidFill>
                <a:latin typeface="Consolas" panose="020B0609020204030204" pitchFamily="49" charset="0"/>
              </a:rPr>
              <a:t>&lt;/dd&gt;</a:t>
            </a:r>
          </a:p>
          <a:p>
            <a:r>
              <a:rPr lang="it-IT" sz="2400" dirty="0">
                <a:solidFill>
                  <a:srgbClr val="800000"/>
                </a:solidFill>
                <a:latin typeface="Consolas" panose="020B0609020204030204" pitchFamily="49" charset="0"/>
              </a:rPr>
              <a:t>&lt;/dl&gt;</a:t>
            </a:r>
            <a:endParaRPr lang="it-IT" sz="2400" b="0" dirty="0">
              <a:solidFill>
                <a:srgbClr val="000000"/>
              </a:solidFill>
              <a:effectLst/>
              <a:latin typeface="Consolas" panose="020B0609020204030204" pitchFamily="49" charset="0"/>
            </a:endParaRPr>
          </a:p>
        </p:txBody>
      </p:sp>
      <p:sp>
        <p:nvSpPr>
          <p:cNvPr id="10" name="TextBox 9"/>
          <p:cNvSpPr txBox="1"/>
          <p:nvPr/>
        </p:nvSpPr>
        <p:spPr>
          <a:xfrm>
            <a:off x="6241583" y="3957068"/>
            <a:ext cx="1103187" cy="461665"/>
          </a:xfrm>
          <a:prstGeom prst="rect">
            <a:avLst/>
          </a:prstGeom>
          <a:noFill/>
        </p:spPr>
        <p:txBody>
          <a:bodyPr wrap="none" rtlCol="0">
            <a:spAutoFit/>
          </a:bodyPr>
          <a:lstStyle/>
          <a:p>
            <a:r>
              <a:rPr lang="en-IN" sz="2400" b="1" dirty="0"/>
              <a:t>Output</a:t>
            </a:r>
            <a:endParaRPr lang="en-US" b="1" dirty="0"/>
          </a:p>
        </p:txBody>
      </p:sp>
    </p:spTree>
    <p:extLst>
      <p:ext uri="{BB962C8B-B14F-4D97-AF65-F5344CB8AC3E}">
        <p14:creationId xmlns:p14="http://schemas.microsoft.com/office/powerpoint/2010/main" val="1634894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&lt;a&gt; Anchor Tag (Hyperlinks)</a:t>
            </a:r>
          </a:p>
        </p:txBody>
      </p:sp>
      <p:sp>
        <p:nvSpPr>
          <p:cNvPr id="3" name="Content Placeholder 2"/>
          <p:cNvSpPr>
            <a:spLocks noGrp="1"/>
          </p:cNvSpPr>
          <p:nvPr>
            <p:ph idx="1"/>
          </p:nvPr>
        </p:nvSpPr>
        <p:spPr/>
        <p:txBody>
          <a:bodyPr/>
          <a:lstStyle/>
          <a:p>
            <a:r>
              <a:rPr lang="en-US" dirty="0"/>
              <a:t>The &lt;a&gt; tag defines a hyperlink, which is used to link from one page to another.</a:t>
            </a:r>
          </a:p>
          <a:p>
            <a:r>
              <a:rPr lang="en-US" dirty="0"/>
              <a:t>An Anchor tag have 3 important attributes:</a:t>
            </a:r>
          </a:p>
          <a:p>
            <a:pPr lvl="1"/>
            <a:r>
              <a:rPr lang="en-US" dirty="0"/>
              <a:t>the </a:t>
            </a:r>
            <a:r>
              <a:rPr lang="en-US" b="1" dirty="0" err="1"/>
              <a:t>href</a:t>
            </a:r>
            <a:r>
              <a:rPr lang="en-US" dirty="0"/>
              <a:t> attribute (</a:t>
            </a:r>
            <a:r>
              <a:rPr lang="en-US" b="1" dirty="0"/>
              <a:t>h</a:t>
            </a:r>
            <a:r>
              <a:rPr lang="en-US" dirty="0"/>
              <a:t>ypertext </a:t>
            </a:r>
            <a:r>
              <a:rPr lang="en-US" b="1" dirty="0"/>
              <a:t>ref</a:t>
            </a:r>
            <a:r>
              <a:rPr lang="en-US" dirty="0"/>
              <a:t>erence) defines the target address of the document.</a:t>
            </a:r>
          </a:p>
          <a:p>
            <a:pPr lvl="1"/>
            <a:r>
              <a:rPr lang="en-US" dirty="0"/>
              <a:t>the </a:t>
            </a:r>
            <a:r>
              <a:rPr lang="en-US" b="1" dirty="0"/>
              <a:t>name</a:t>
            </a:r>
            <a:r>
              <a:rPr lang="en-US" dirty="0"/>
              <a:t> attribute of the anchor tag can be used to enable users to “jump” to a specific point on a page.</a:t>
            </a:r>
          </a:p>
          <a:p>
            <a:pPr lvl="1"/>
            <a:r>
              <a:rPr lang="en-US" dirty="0"/>
              <a:t>the </a:t>
            </a:r>
            <a:r>
              <a:rPr lang="en-US" b="1" dirty="0"/>
              <a:t>target</a:t>
            </a:r>
            <a:r>
              <a:rPr lang="en-US" dirty="0"/>
              <a:t> attribute specifies how the destination page or the target document should be opened.      </a:t>
            </a:r>
            <a:r>
              <a:rPr lang="en-US" dirty="0">
                <a:latin typeface="Consolas" panose="020B0609020204030204" pitchFamily="49" charset="0"/>
              </a:rPr>
              <a:t>target="_ blank"</a:t>
            </a:r>
            <a:r>
              <a:rPr lang="en-US" dirty="0"/>
              <a:t> is used for opening of the target page in a new tab.</a:t>
            </a:r>
          </a:p>
          <a:p>
            <a:r>
              <a:rPr lang="en-US" dirty="0"/>
              <a:t>Link to an absolute URL:</a:t>
            </a:r>
          </a:p>
          <a:p>
            <a:pPr lvl="1"/>
            <a:r>
              <a:rPr lang="en-US" dirty="0"/>
              <a:t>Example,  &lt;a </a:t>
            </a:r>
            <a:r>
              <a:rPr lang="en-US" dirty="0" err="1"/>
              <a:t>href</a:t>
            </a:r>
            <a:r>
              <a:rPr lang="en-US" dirty="0"/>
              <a:t>="http://www.darshan.ac.in"&gt; </a:t>
            </a:r>
            <a:r>
              <a:rPr lang="en-US" dirty="0" err="1"/>
              <a:t>Darshan</a:t>
            </a:r>
            <a:r>
              <a:rPr lang="en-US" dirty="0"/>
              <a:t> &lt;/a&gt;.</a:t>
            </a:r>
          </a:p>
          <a:p>
            <a:r>
              <a:rPr lang="en-US" dirty="0"/>
              <a:t>Link to a relative URL:</a:t>
            </a:r>
          </a:p>
          <a:p>
            <a:pPr lvl="1"/>
            <a:r>
              <a:rPr lang="en-US" dirty="0"/>
              <a:t>Example, &lt;a </a:t>
            </a:r>
            <a:r>
              <a:rPr lang="en-US" dirty="0" err="1"/>
              <a:t>href</a:t>
            </a:r>
            <a:r>
              <a:rPr lang="en-US" dirty="0"/>
              <a:t>=“./</a:t>
            </a:r>
            <a:r>
              <a:rPr lang="en-US" dirty="0" err="1"/>
              <a:t>index.php</a:t>
            </a:r>
            <a:r>
              <a:rPr lang="en-US" dirty="0"/>
              <a:t>"&gt; Home &lt;/a&gt;.</a:t>
            </a:r>
          </a:p>
          <a:p>
            <a:r>
              <a:rPr lang="en-US" dirty="0"/>
              <a:t>Link to a section within a URL: </a:t>
            </a:r>
          </a:p>
          <a:p>
            <a:pPr lvl="1"/>
            <a:r>
              <a:rPr lang="en-US" dirty="0"/>
              <a:t>Example, &lt;a </a:t>
            </a:r>
            <a:r>
              <a:rPr lang="en-US" dirty="0" err="1"/>
              <a:t>href</a:t>
            </a:r>
            <a:r>
              <a:rPr lang="en-US" dirty="0"/>
              <a:t>=“#reference"&gt; Reference Section. &lt;/a&gt;.</a:t>
            </a:r>
          </a:p>
        </p:txBody>
      </p:sp>
    </p:spTree>
    <p:extLst>
      <p:ext uri="{BB962C8B-B14F-4D97-AF65-F5344CB8AC3E}">
        <p14:creationId xmlns:p14="http://schemas.microsoft.com/office/powerpoint/2010/main" val="835641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Images</a:t>
            </a:r>
          </a:p>
        </p:txBody>
      </p:sp>
      <p:sp>
        <p:nvSpPr>
          <p:cNvPr id="3" name="Content Placeholder 2"/>
          <p:cNvSpPr>
            <a:spLocks noGrp="1"/>
          </p:cNvSpPr>
          <p:nvPr>
            <p:ph idx="1"/>
          </p:nvPr>
        </p:nvSpPr>
        <p:spPr/>
        <p:txBody>
          <a:bodyPr/>
          <a:lstStyle/>
          <a:p>
            <a:r>
              <a:rPr lang="en-US" dirty="0"/>
              <a:t>The HTML &lt;</a:t>
            </a:r>
            <a:r>
              <a:rPr lang="en-US" dirty="0" err="1"/>
              <a:t>img</a:t>
            </a:r>
            <a:r>
              <a:rPr lang="en-US" dirty="0"/>
              <a:t>&gt; element embeds an image into the document.</a:t>
            </a:r>
          </a:p>
          <a:p>
            <a:r>
              <a:rPr lang="en-US" dirty="0"/>
              <a:t>Syntax: 	</a:t>
            </a:r>
            <a:r>
              <a:rPr lang="en-US" dirty="0">
                <a:latin typeface="Consolas" panose="020B0609020204030204" pitchFamily="49" charset="0"/>
              </a:rPr>
              <a:t>&lt;</a:t>
            </a:r>
            <a:r>
              <a:rPr lang="en-US" dirty="0" err="1">
                <a:latin typeface="Consolas" panose="020B0609020204030204" pitchFamily="49" charset="0"/>
              </a:rPr>
              <a:t>img</a:t>
            </a:r>
            <a:r>
              <a:rPr lang="en-US" dirty="0">
                <a:latin typeface="Consolas" panose="020B0609020204030204" pitchFamily="49" charset="0"/>
              </a:rPr>
              <a:t> </a:t>
            </a:r>
            <a:r>
              <a:rPr lang="en-US" dirty="0" err="1">
                <a:latin typeface="Consolas" panose="020B0609020204030204" pitchFamily="49" charset="0"/>
              </a:rPr>
              <a:t>src</a:t>
            </a:r>
            <a:r>
              <a:rPr lang="en-US" dirty="0">
                <a:latin typeface="Consolas" panose="020B0609020204030204" pitchFamily="49" charset="0"/>
              </a:rPr>
              <a:t>= "</a:t>
            </a:r>
            <a:r>
              <a:rPr lang="en-US" dirty="0" err="1">
                <a:latin typeface="Consolas" panose="020B0609020204030204" pitchFamily="49" charset="0"/>
              </a:rPr>
              <a:t>pathToImage</a:t>
            </a:r>
            <a:r>
              <a:rPr lang="en-US" dirty="0">
                <a:latin typeface="Consolas" panose="020B0609020204030204" pitchFamily="49" charset="0"/>
              </a:rPr>
              <a:t>" /&gt;</a:t>
            </a:r>
          </a:p>
          <a:p>
            <a:r>
              <a:rPr lang="en-US" dirty="0"/>
              <a:t>Attributes:</a:t>
            </a:r>
          </a:p>
          <a:p>
            <a:pPr lvl="1"/>
            <a:r>
              <a:rPr lang="en-US" dirty="0"/>
              <a:t>the </a:t>
            </a:r>
            <a:r>
              <a:rPr lang="en-US" b="1" dirty="0" err="1"/>
              <a:t>src</a:t>
            </a:r>
            <a:r>
              <a:rPr lang="en-US" b="1" dirty="0"/>
              <a:t> </a:t>
            </a:r>
            <a:r>
              <a:rPr lang="en-US" dirty="0"/>
              <a:t>attribute is required, and contains the path to the image we want to embed.</a:t>
            </a:r>
          </a:p>
          <a:p>
            <a:pPr lvl="1"/>
            <a:r>
              <a:rPr lang="en-US" dirty="0"/>
              <a:t>the </a:t>
            </a:r>
            <a:r>
              <a:rPr lang="en-US" b="1" dirty="0"/>
              <a:t>alt </a:t>
            </a:r>
            <a:r>
              <a:rPr lang="en-US" dirty="0"/>
              <a:t>attribute holds a text description of the image, which isn't mandatory but is incredibly useful for accessibility (screen readers read this description out to their users so they know what the image means). Alt text is also displayed on the page if the image can't be loaded for some reason: for example, network errors, content blocking etc…</a:t>
            </a:r>
          </a:p>
          <a:p>
            <a:pPr lvl="1"/>
            <a:r>
              <a:rPr lang="en-US" dirty="0"/>
              <a:t>the </a:t>
            </a:r>
            <a:r>
              <a:rPr lang="en-US" b="1" dirty="0"/>
              <a:t>width</a:t>
            </a:r>
            <a:r>
              <a:rPr lang="en-US" dirty="0"/>
              <a:t> &amp; </a:t>
            </a:r>
            <a:r>
              <a:rPr lang="en-US" b="1" dirty="0"/>
              <a:t>height</a:t>
            </a:r>
            <a:r>
              <a:rPr lang="en-US" dirty="0"/>
              <a:t> attribute can be in units of pixels or percentage of page or frame.</a:t>
            </a:r>
          </a:p>
          <a:p>
            <a:pPr lvl="1"/>
            <a:r>
              <a:rPr lang="en-US" dirty="0"/>
              <a:t>the </a:t>
            </a:r>
            <a:r>
              <a:rPr lang="en-US" b="1" dirty="0"/>
              <a:t>align </a:t>
            </a:r>
            <a:r>
              <a:rPr lang="en-US" dirty="0"/>
              <a:t>attribute </a:t>
            </a:r>
            <a:r>
              <a:rPr lang="en-US" dirty="0">
                <a:solidFill>
                  <a:schemeClr val="accent6">
                    <a:lumMod val="60000"/>
                    <a:lumOff val="40000"/>
                  </a:schemeClr>
                </a:solidFill>
              </a:rPr>
              <a:t>(currently deprecated)</a:t>
            </a:r>
            <a:r>
              <a:rPr lang="en-US" dirty="0"/>
              <a:t> will aligns the image with its surrounding context (Use the float and/or vertical-align CSS properties instead of this attribute).</a:t>
            </a:r>
            <a:endParaRPr lang="en-US" b="1" dirty="0"/>
          </a:p>
          <a:p>
            <a:pPr lvl="1"/>
            <a:endParaRPr lang="en-US" dirty="0"/>
          </a:p>
        </p:txBody>
      </p:sp>
    </p:spTree>
    <p:extLst>
      <p:ext uri="{BB962C8B-B14F-4D97-AF65-F5344CB8AC3E}">
        <p14:creationId xmlns:p14="http://schemas.microsoft.com/office/powerpoint/2010/main" val="949249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a:t>
            </a:r>
          </a:p>
        </p:txBody>
      </p:sp>
      <p:sp>
        <p:nvSpPr>
          <p:cNvPr id="4" name="Text Box 4"/>
          <p:cNvSpPr txBox="1">
            <a:spLocks noChangeArrowheads="1"/>
          </p:cNvSpPr>
          <p:nvPr/>
        </p:nvSpPr>
        <p:spPr bwMode="auto">
          <a:xfrm>
            <a:off x="326177" y="1006095"/>
            <a:ext cx="8360623" cy="5632311"/>
          </a:xfrm>
          <a:prstGeom prst="rect">
            <a:avLst/>
          </a:prstGeom>
          <a:noFill/>
          <a:ln w="9525">
            <a:noFill/>
            <a:miter lim="800000"/>
            <a:headEnd/>
            <a:tailEnd/>
          </a:ln>
          <a:effectLst/>
        </p:spPr>
        <p:txBody>
          <a:bodyPr wrap="square">
            <a:spAutoFit/>
          </a:bodyPr>
          <a:lstStyle/>
          <a:p>
            <a:r>
              <a:rPr lang="en-US" sz="2400" dirty="0">
                <a:solidFill>
                  <a:srgbClr val="800000"/>
                </a:solidFill>
                <a:latin typeface="Consolas" panose="020B0609020204030204" pitchFamily="49" charset="0"/>
              </a:rPr>
              <a:t>&lt;table</a:t>
            </a:r>
            <a:r>
              <a:rPr lang="en-US" sz="2400" dirty="0">
                <a:solidFill>
                  <a:srgbClr val="000000"/>
                </a:solidFill>
                <a:latin typeface="Consolas" panose="020B0609020204030204" pitchFamily="49" charset="0"/>
              </a:rPr>
              <a:t> </a:t>
            </a:r>
            <a:r>
              <a:rPr lang="en-US" sz="2400" dirty="0">
                <a:solidFill>
                  <a:srgbClr val="CD3131"/>
                </a:solidFill>
                <a:latin typeface="Consolas" panose="020B0609020204030204" pitchFamily="49" charset="0"/>
              </a:rPr>
              <a:t>border</a:t>
            </a:r>
            <a:r>
              <a:rPr lang="en-US" sz="2400" dirty="0">
                <a:solidFill>
                  <a:srgbClr val="000000"/>
                </a:solidFill>
                <a:latin typeface="Consolas" panose="020B0609020204030204" pitchFamily="49" charset="0"/>
              </a:rPr>
              <a:t>=</a:t>
            </a:r>
            <a:r>
              <a:rPr lang="en-US" sz="2400" dirty="0">
                <a:solidFill>
                  <a:srgbClr val="0000FF"/>
                </a:solidFill>
                <a:latin typeface="Consolas" panose="020B0609020204030204" pitchFamily="49" charset="0"/>
              </a:rPr>
              <a:t>1</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&lt;caption&gt;</a:t>
            </a:r>
            <a:r>
              <a:rPr lang="en-US" sz="2400" dirty="0">
                <a:solidFill>
                  <a:srgbClr val="000000"/>
                </a:solidFill>
                <a:latin typeface="Consolas" panose="020B0609020204030204" pitchFamily="49" charset="0"/>
              </a:rPr>
              <a:t>Table Caption</a:t>
            </a:r>
            <a:r>
              <a:rPr lang="en-US" sz="2400" dirty="0">
                <a:solidFill>
                  <a:srgbClr val="800000"/>
                </a:solidFill>
                <a:latin typeface="Consolas" panose="020B0609020204030204" pitchFamily="49" charset="0"/>
              </a:rPr>
              <a:t>&lt;/caption&gt;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tr</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th</a:t>
            </a:r>
            <a:r>
              <a:rPr lang="en-US" sz="2400" dirty="0">
                <a:solidFill>
                  <a:srgbClr val="800000"/>
                </a:solidFill>
                <a:latin typeface="Consolas" panose="020B0609020204030204" pitchFamily="49" charset="0"/>
              </a:rPr>
              <a:t>&gt;</a:t>
            </a:r>
            <a:r>
              <a:rPr lang="en-US" sz="2400" dirty="0">
                <a:solidFill>
                  <a:srgbClr val="000000"/>
                </a:solidFill>
                <a:latin typeface="Consolas" panose="020B0609020204030204" pitchFamily="49" charset="0"/>
              </a:rPr>
              <a:t>Heading1</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th</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th</a:t>
            </a:r>
            <a:r>
              <a:rPr lang="en-US" sz="2400" dirty="0">
                <a:solidFill>
                  <a:srgbClr val="800000"/>
                </a:solidFill>
                <a:latin typeface="Consolas" panose="020B0609020204030204" pitchFamily="49" charset="0"/>
              </a:rPr>
              <a:t>&gt;</a:t>
            </a:r>
            <a:r>
              <a:rPr lang="en-US" sz="2400" dirty="0">
                <a:solidFill>
                  <a:srgbClr val="000000"/>
                </a:solidFill>
                <a:latin typeface="Consolas" panose="020B0609020204030204" pitchFamily="49" charset="0"/>
              </a:rPr>
              <a:t>Heading2</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th</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tr</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tr</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&lt;td&gt;</a:t>
            </a:r>
            <a:r>
              <a:rPr lang="en-US" sz="2400" dirty="0">
                <a:solidFill>
                  <a:srgbClr val="000000"/>
                </a:solidFill>
                <a:latin typeface="Consolas" panose="020B0609020204030204" pitchFamily="49" charset="0"/>
              </a:rPr>
              <a:t>Row1 Col1 Data</a:t>
            </a:r>
            <a:r>
              <a:rPr lang="en-US" sz="2400" dirty="0">
                <a:solidFill>
                  <a:srgbClr val="800000"/>
                </a:solidFill>
                <a:latin typeface="Consolas" panose="020B0609020204030204" pitchFamily="49" charset="0"/>
              </a:rPr>
              <a:t>&lt;/td&gt;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&lt;td&gt;</a:t>
            </a:r>
            <a:r>
              <a:rPr lang="en-US" sz="2400" dirty="0">
                <a:solidFill>
                  <a:srgbClr val="000000"/>
                </a:solidFill>
                <a:latin typeface="Consolas" panose="020B0609020204030204" pitchFamily="49" charset="0"/>
              </a:rPr>
              <a:t>Row1 Col2 Data</a:t>
            </a:r>
            <a:r>
              <a:rPr lang="en-US" sz="2400" dirty="0">
                <a:solidFill>
                  <a:srgbClr val="800000"/>
                </a:solidFill>
                <a:latin typeface="Consolas" panose="020B0609020204030204" pitchFamily="49" charset="0"/>
              </a:rPr>
              <a:t>&lt;/td&gt;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tr</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tr</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&lt;td&gt;</a:t>
            </a:r>
            <a:r>
              <a:rPr lang="en-US" sz="2400" dirty="0">
                <a:solidFill>
                  <a:srgbClr val="000000"/>
                </a:solidFill>
                <a:latin typeface="Consolas" panose="020B0609020204030204" pitchFamily="49" charset="0"/>
              </a:rPr>
              <a:t>Row2 Col1 Data</a:t>
            </a:r>
            <a:r>
              <a:rPr lang="en-US" sz="2400" dirty="0">
                <a:solidFill>
                  <a:srgbClr val="800000"/>
                </a:solidFill>
                <a:latin typeface="Consolas" panose="020B0609020204030204" pitchFamily="49" charset="0"/>
              </a:rPr>
              <a:t>&lt;/td&gt;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&lt;td&gt;</a:t>
            </a:r>
            <a:r>
              <a:rPr lang="en-US" sz="2400" dirty="0">
                <a:solidFill>
                  <a:srgbClr val="000000"/>
                </a:solidFill>
                <a:latin typeface="Consolas" panose="020B0609020204030204" pitchFamily="49" charset="0"/>
              </a:rPr>
              <a:t>Row2 Col2 Data</a:t>
            </a:r>
            <a:r>
              <a:rPr lang="en-US" sz="2400" dirty="0">
                <a:solidFill>
                  <a:srgbClr val="800000"/>
                </a:solidFill>
                <a:latin typeface="Consolas" panose="020B0609020204030204" pitchFamily="49" charset="0"/>
              </a:rPr>
              <a:t>&lt;/td&gt;</a:t>
            </a:r>
            <a:endParaRPr lang="en-US" sz="2400" dirty="0">
              <a:solidFill>
                <a:srgbClr val="000000"/>
              </a:solidFill>
              <a:latin typeface="Consolas" panose="020B0609020204030204" pitchFamily="49" charset="0"/>
            </a:endParaRPr>
          </a:p>
          <a:p>
            <a:r>
              <a:rPr lang="en-US" sz="2400" dirty="0">
                <a:solidFill>
                  <a:srgbClr val="000000"/>
                </a:solidFill>
                <a:latin typeface="Consolas" panose="020B0609020204030204" pitchFamily="49" charset="0"/>
              </a:rPr>
              <a:t>    </a:t>
            </a:r>
            <a:r>
              <a:rPr lang="en-US" sz="2400" dirty="0">
                <a:solidFill>
                  <a:srgbClr val="800000"/>
                </a:solidFill>
                <a:latin typeface="Consolas" panose="020B0609020204030204" pitchFamily="49" charset="0"/>
              </a:rPr>
              <a:t>&lt;/</a:t>
            </a:r>
            <a:r>
              <a:rPr lang="en-US" sz="2400" dirty="0" err="1">
                <a:solidFill>
                  <a:srgbClr val="800000"/>
                </a:solidFill>
                <a:latin typeface="Consolas" panose="020B0609020204030204" pitchFamily="49" charset="0"/>
              </a:rPr>
              <a:t>tr</a:t>
            </a:r>
            <a:r>
              <a:rPr lang="en-US" sz="2400" dirty="0">
                <a:solidFill>
                  <a:srgbClr val="800000"/>
                </a:solidFill>
                <a:latin typeface="Consolas" panose="020B0609020204030204" pitchFamily="49" charset="0"/>
              </a:rPr>
              <a:t>&gt;</a:t>
            </a:r>
            <a:endParaRPr lang="en-US" sz="2400" dirty="0">
              <a:solidFill>
                <a:srgbClr val="000000"/>
              </a:solidFill>
              <a:latin typeface="Consolas" panose="020B0609020204030204" pitchFamily="49" charset="0"/>
            </a:endParaRPr>
          </a:p>
          <a:p>
            <a:r>
              <a:rPr lang="en-US" sz="2400" dirty="0">
                <a:solidFill>
                  <a:srgbClr val="800000"/>
                </a:solidFill>
                <a:latin typeface="Consolas" panose="020B0609020204030204" pitchFamily="49" charset="0"/>
              </a:rPr>
              <a:t>&lt;/table&gt;</a:t>
            </a:r>
            <a:r>
              <a:rPr lang="en-US" sz="2400" dirty="0">
                <a:solidFill>
                  <a:srgbClr val="000000"/>
                </a:solidFill>
                <a:latin typeface="Consolas" panose="020B0609020204030204" pitchFamily="49" charset="0"/>
              </a:rPr>
              <a:t> </a:t>
            </a:r>
            <a:endParaRPr lang="en-US" sz="2400" b="0" dirty="0">
              <a:solidFill>
                <a:srgbClr val="000000"/>
              </a:solidFill>
              <a:effectLst/>
              <a:latin typeface="Consolas" panose="020B0609020204030204" pitchFamily="49" charset="0"/>
            </a:endParaRPr>
          </a:p>
        </p:txBody>
      </p:sp>
      <p:sp>
        <p:nvSpPr>
          <p:cNvPr id="5" name="Text Box 4"/>
          <p:cNvSpPr txBox="1">
            <a:spLocks noChangeArrowheads="1"/>
          </p:cNvSpPr>
          <p:nvPr/>
        </p:nvSpPr>
        <p:spPr bwMode="auto">
          <a:xfrm>
            <a:off x="7006243" y="1006095"/>
            <a:ext cx="4291559" cy="1938992"/>
          </a:xfrm>
          <a:prstGeom prst="rect">
            <a:avLst/>
          </a:prstGeom>
          <a:noFill/>
          <a:ln w="9525">
            <a:noFill/>
            <a:miter lim="800000"/>
            <a:headEnd/>
            <a:tailEnd/>
          </a:ln>
          <a:effectLst/>
        </p:spPr>
        <p:txBody>
          <a:bodyPr wrap="none">
            <a:spAutoFit/>
          </a:bodyPr>
          <a:lstStyle/>
          <a:p>
            <a:r>
              <a:rPr lang="en-US" altLang="zh-CN" sz="2400" dirty="0">
                <a:ea typeface="宋体" pitchFamily="2" charset="-122"/>
              </a:rPr>
              <a:t>&lt;table&gt;		table tag</a:t>
            </a:r>
          </a:p>
          <a:p>
            <a:r>
              <a:rPr lang="en-US" altLang="zh-CN" sz="2400" dirty="0">
                <a:ea typeface="宋体" pitchFamily="2" charset="-122"/>
              </a:rPr>
              <a:t>&lt;caption&gt; 	optional table title</a:t>
            </a:r>
          </a:p>
          <a:p>
            <a:r>
              <a:rPr lang="en-US" altLang="zh-CN" sz="2400" dirty="0">
                <a:ea typeface="宋体" pitchFamily="2" charset="-122"/>
              </a:rPr>
              <a:t>&lt;</a:t>
            </a:r>
            <a:r>
              <a:rPr lang="en-US" altLang="zh-CN" sz="2400" dirty="0" err="1">
                <a:ea typeface="宋体" pitchFamily="2" charset="-122"/>
              </a:rPr>
              <a:t>tr</a:t>
            </a:r>
            <a:r>
              <a:rPr lang="en-US" altLang="zh-CN" sz="2400" dirty="0">
                <a:ea typeface="宋体" pitchFamily="2" charset="-122"/>
              </a:rPr>
              <a:t>&gt; 		table row</a:t>
            </a:r>
          </a:p>
          <a:p>
            <a:r>
              <a:rPr lang="en-US" altLang="zh-CN" sz="2400" dirty="0">
                <a:ea typeface="宋体" pitchFamily="2" charset="-122"/>
              </a:rPr>
              <a:t>&lt;</a:t>
            </a:r>
            <a:r>
              <a:rPr lang="en-US" altLang="zh-CN" sz="2400" dirty="0" err="1">
                <a:ea typeface="宋体" pitchFamily="2" charset="-122"/>
              </a:rPr>
              <a:t>th</a:t>
            </a:r>
            <a:r>
              <a:rPr lang="en-US" altLang="zh-CN" sz="2400" dirty="0">
                <a:ea typeface="宋体" pitchFamily="2" charset="-122"/>
              </a:rPr>
              <a:t>&gt; 		table header</a:t>
            </a:r>
          </a:p>
          <a:p>
            <a:r>
              <a:rPr lang="en-US" altLang="zh-CN" sz="2400" dirty="0">
                <a:ea typeface="宋体" pitchFamily="2" charset="-122"/>
              </a:rPr>
              <a:t>&lt;td&gt;		table data element</a:t>
            </a:r>
          </a:p>
        </p:txBody>
      </p:sp>
      <p:pic>
        <p:nvPicPr>
          <p:cNvPr id="6" name="Picture 2"/>
          <p:cNvPicPr>
            <a:picLocks noChangeAspect="1" noChangeArrowheads="1"/>
          </p:cNvPicPr>
          <p:nvPr/>
        </p:nvPicPr>
        <p:blipFill rotWithShape="1">
          <a:blip r:embed="rId2" cstate="print"/>
          <a:srcRect b="11976"/>
          <a:stretch/>
        </p:blipFill>
        <p:spPr bwMode="auto">
          <a:xfrm>
            <a:off x="6339209" y="3437701"/>
            <a:ext cx="5838825" cy="2389521"/>
          </a:xfrm>
          <a:prstGeom prst="rect">
            <a:avLst/>
          </a:prstGeom>
          <a:noFill/>
          <a:ln w="9525">
            <a:noFill/>
            <a:miter lim="800000"/>
            <a:headEnd/>
            <a:tailEnd/>
          </a:ln>
        </p:spPr>
      </p:pic>
      <p:sp>
        <p:nvSpPr>
          <p:cNvPr id="7" name="TextBox 6"/>
          <p:cNvSpPr txBox="1"/>
          <p:nvPr/>
        </p:nvSpPr>
        <p:spPr>
          <a:xfrm>
            <a:off x="6224482" y="3059422"/>
            <a:ext cx="1103187" cy="461665"/>
          </a:xfrm>
          <a:prstGeom prst="rect">
            <a:avLst/>
          </a:prstGeom>
          <a:noFill/>
        </p:spPr>
        <p:txBody>
          <a:bodyPr wrap="none" rtlCol="0">
            <a:spAutoFit/>
          </a:bodyPr>
          <a:lstStyle/>
          <a:p>
            <a:r>
              <a:rPr lang="en-IN" sz="2400" b="1" dirty="0"/>
              <a:t>Output</a:t>
            </a:r>
            <a:endParaRPr lang="en-US" b="1" dirty="0"/>
          </a:p>
        </p:txBody>
      </p:sp>
    </p:spTree>
    <p:extLst>
      <p:ext uri="{BB962C8B-B14F-4D97-AF65-F5344CB8AC3E}">
        <p14:creationId xmlns:p14="http://schemas.microsoft.com/office/powerpoint/2010/main" val="1808261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5" grpId="0"/>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 Tag</a:t>
            </a:r>
          </a:p>
        </p:txBody>
      </p:sp>
      <p:sp>
        <p:nvSpPr>
          <p:cNvPr id="3" name="Content Placeholder 2"/>
          <p:cNvSpPr>
            <a:spLocks noGrp="1"/>
          </p:cNvSpPr>
          <p:nvPr>
            <p:ph idx="1"/>
          </p:nvPr>
        </p:nvSpPr>
        <p:spPr/>
        <p:txBody>
          <a:bodyPr/>
          <a:lstStyle/>
          <a:p>
            <a:pPr lvl="0"/>
            <a:r>
              <a:rPr lang="en-US" dirty="0"/>
              <a:t>Metadata is data (information) about data.</a:t>
            </a:r>
          </a:p>
          <a:p>
            <a:pPr lvl="0"/>
            <a:r>
              <a:rPr lang="en-US" dirty="0"/>
              <a:t>The &lt;meta&gt; tag provides metadata about the HTML document. </a:t>
            </a:r>
          </a:p>
          <a:p>
            <a:pPr lvl="0"/>
            <a:r>
              <a:rPr lang="en-US" dirty="0"/>
              <a:t>Metadata will not be displayed on the page.</a:t>
            </a:r>
          </a:p>
          <a:p>
            <a:pPr lvl="0"/>
            <a:r>
              <a:rPr lang="en-US" dirty="0"/>
              <a:t>Meta elements are typically used to specify page description, keywords, author of the document, last modified and other metadata.</a:t>
            </a:r>
          </a:p>
          <a:p>
            <a:r>
              <a:rPr lang="en-US" dirty="0"/>
              <a:t>The metadata can be used by search engines (keywords), browsers (how to display content or reload page) or other web services.</a:t>
            </a:r>
          </a:p>
          <a:p>
            <a:r>
              <a:rPr lang="en-US" dirty="0"/>
              <a:t>Meta tag can be used to stop the page from being listed by search engines.</a:t>
            </a:r>
          </a:p>
          <a:p>
            <a:endParaRPr lang="en-US" dirty="0"/>
          </a:p>
          <a:p>
            <a:r>
              <a:rPr lang="en-US" dirty="0"/>
              <a:t>It can be used to </a:t>
            </a:r>
            <a:r>
              <a:rPr lang="en-IN" dirty="0"/>
              <a:t>set an expiry date </a:t>
            </a:r>
            <a:r>
              <a:rPr lang="en-US" dirty="0"/>
              <a:t>so that the browser will fetch fresh copy from the server.</a:t>
            </a:r>
            <a:endParaRPr lang="en-IN" dirty="0"/>
          </a:p>
          <a:p>
            <a:endParaRPr lang="en-US" dirty="0"/>
          </a:p>
          <a:p>
            <a:r>
              <a:rPr lang="en-US" dirty="0"/>
              <a:t>Meta tag can be used to </a:t>
            </a:r>
            <a:r>
              <a:rPr lang="en-IN" dirty="0"/>
              <a:t>s</a:t>
            </a:r>
            <a:r>
              <a:rPr lang="en-US" dirty="0"/>
              <a:t>top the browser from caching a page.</a:t>
            </a:r>
            <a:r>
              <a:rPr lang="en-IN" dirty="0"/>
              <a:t>	</a:t>
            </a:r>
          </a:p>
          <a:p>
            <a:endParaRPr lang="en-IN" dirty="0"/>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979190" y="4183609"/>
            <a:ext cx="5253475" cy="338554"/>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&lt;meta </a:t>
            </a:r>
            <a:r>
              <a:rPr lang="en-IN" sz="1600" dirty="0">
                <a:solidFill>
                  <a:srgbClr val="FF0000"/>
                </a:solidFill>
                <a:latin typeface="Consolas" panose="020B0609020204030204" pitchFamily="49" charset="0"/>
              </a:rPr>
              <a:t>name</a:t>
            </a:r>
            <a:r>
              <a:rPr lang="en-IN" sz="1600" dirty="0">
                <a:latin typeface="Consolas" panose="020B0609020204030204" pitchFamily="49" charset="0"/>
              </a:rPr>
              <a:t>=</a:t>
            </a:r>
            <a:r>
              <a:rPr lang="en-IN" sz="1600" dirty="0">
                <a:solidFill>
                  <a:srgbClr val="0000FF"/>
                </a:solidFill>
                <a:latin typeface="Consolas" panose="020B0609020204030204" pitchFamily="49" charset="0"/>
              </a:rPr>
              <a:t>"robots" </a:t>
            </a:r>
            <a:r>
              <a:rPr lang="en-IN" sz="1600" dirty="0">
                <a:solidFill>
                  <a:srgbClr val="FF0000"/>
                </a:solidFill>
                <a:latin typeface="Consolas" panose="020B0609020204030204" pitchFamily="49" charset="0"/>
              </a:rPr>
              <a:t>content</a:t>
            </a:r>
            <a:r>
              <a:rPr lang="en-IN" sz="1600" dirty="0">
                <a:latin typeface="Consolas" panose="020B0609020204030204" pitchFamily="49" charset="0"/>
              </a:rPr>
              <a:t>=</a:t>
            </a:r>
            <a:r>
              <a:rPr lang="en-IN" sz="1600" dirty="0">
                <a:solidFill>
                  <a:srgbClr val="0000FF"/>
                </a:solidFill>
                <a:latin typeface="Consolas" panose="020B0609020204030204" pitchFamily="49" charset="0"/>
              </a:rPr>
              <a:t>"</a:t>
            </a:r>
            <a:r>
              <a:rPr lang="en-IN" sz="1600" dirty="0" err="1">
                <a:solidFill>
                  <a:srgbClr val="0000FF"/>
                </a:solidFill>
                <a:latin typeface="Consolas" panose="020B0609020204030204" pitchFamily="49" charset="0"/>
              </a:rPr>
              <a:t>noindex</a:t>
            </a:r>
            <a:r>
              <a:rPr lang="en-IN" sz="1600" dirty="0">
                <a:solidFill>
                  <a:srgbClr val="0000FF"/>
                </a:solidFill>
                <a:latin typeface="Consolas" panose="020B0609020204030204" pitchFamily="49" charset="0"/>
              </a:rPr>
              <a:t>"</a:t>
            </a:r>
            <a:r>
              <a:rPr lang="en-IN" sz="1600" dirty="0">
                <a:solidFill>
                  <a:srgbClr val="800000"/>
                </a:solidFill>
                <a:latin typeface="Consolas" panose="020B0609020204030204" pitchFamily="49" charset="0"/>
              </a:rPr>
              <a:t>&gt;</a:t>
            </a:r>
            <a:endParaRPr lang="en-US" sz="1600" dirty="0">
              <a:solidFill>
                <a:srgbClr val="800000"/>
              </a:solidFill>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79197" y="4183609"/>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6" name="Rectangle 5">
            <a:extLst>
              <a:ext uri="{FF2B5EF4-FFF2-40B4-BE49-F238E27FC236}">
                <a16:creationId xmlns:a16="http://schemas.microsoft.com/office/drawing/2014/main" id="{D456EBDA-49A4-A843-A786-6989C63A54AA}"/>
              </a:ext>
            </a:extLst>
          </p:cNvPr>
          <p:cNvSpPr/>
          <p:nvPr/>
        </p:nvSpPr>
        <p:spPr>
          <a:xfrm>
            <a:off x="979190" y="5103756"/>
            <a:ext cx="7569587" cy="338554"/>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&lt;meta </a:t>
            </a:r>
            <a:r>
              <a:rPr lang="en-IN" sz="1600" dirty="0">
                <a:solidFill>
                  <a:srgbClr val="FF0000"/>
                </a:solidFill>
                <a:latin typeface="Consolas" panose="020B0609020204030204" pitchFamily="49" charset="0"/>
              </a:rPr>
              <a:t>http-</a:t>
            </a:r>
            <a:r>
              <a:rPr lang="en-IN" sz="1600" dirty="0" err="1">
                <a:solidFill>
                  <a:srgbClr val="FF0000"/>
                </a:solidFill>
                <a:latin typeface="Consolas" panose="020B0609020204030204" pitchFamily="49" charset="0"/>
              </a:rPr>
              <a:t>equiv</a:t>
            </a:r>
            <a:r>
              <a:rPr lang="en-IN" sz="1600" dirty="0">
                <a:latin typeface="Consolas" panose="020B0609020204030204" pitchFamily="49" charset="0"/>
              </a:rPr>
              <a:t>=</a:t>
            </a:r>
            <a:r>
              <a:rPr lang="en-IN" sz="1600" dirty="0">
                <a:solidFill>
                  <a:srgbClr val="0000FF"/>
                </a:solidFill>
                <a:latin typeface="Consolas" panose="020B0609020204030204" pitchFamily="49" charset="0"/>
              </a:rPr>
              <a:t>"expires" </a:t>
            </a:r>
            <a:r>
              <a:rPr lang="en-IN" sz="1600" dirty="0">
                <a:solidFill>
                  <a:srgbClr val="800000"/>
                </a:solidFill>
                <a:latin typeface="Consolas" panose="020B0609020204030204" pitchFamily="49" charset="0"/>
              </a:rPr>
              <a:t>content</a:t>
            </a:r>
            <a:r>
              <a:rPr lang="en-IN" sz="1600" dirty="0">
                <a:latin typeface="Consolas" panose="020B0609020204030204" pitchFamily="49" charset="0"/>
              </a:rPr>
              <a:t>=</a:t>
            </a:r>
            <a:r>
              <a:rPr lang="en-IN" sz="1600" dirty="0">
                <a:solidFill>
                  <a:srgbClr val="0000FF"/>
                </a:solidFill>
                <a:latin typeface="Consolas" panose="020B0609020204030204" pitchFamily="49" charset="0"/>
              </a:rPr>
              <a:t>"</a:t>
            </a:r>
            <a:r>
              <a:rPr lang="en-IN" sz="1600" dirty="0"/>
              <a:t> </a:t>
            </a:r>
            <a:r>
              <a:rPr lang="en-IN" sz="1600" dirty="0">
                <a:solidFill>
                  <a:srgbClr val="0000FF"/>
                </a:solidFill>
                <a:latin typeface="Consolas" panose="020B0609020204030204" pitchFamily="49" charset="0"/>
              </a:rPr>
              <a:t>Tue, 08 </a:t>
            </a:r>
            <a:r>
              <a:rPr lang="en-IN" sz="1600" dirty="0" err="1">
                <a:solidFill>
                  <a:srgbClr val="0000FF"/>
                </a:solidFill>
                <a:latin typeface="Consolas" panose="020B0609020204030204" pitchFamily="49" charset="0"/>
              </a:rPr>
              <a:t>feb</a:t>
            </a:r>
            <a:r>
              <a:rPr lang="en-IN" sz="1600" dirty="0">
                <a:solidFill>
                  <a:srgbClr val="0000FF"/>
                </a:solidFill>
                <a:latin typeface="Consolas" panose="020B0609020204030204" pitchFamily="49" charset="0"/>
              </a:rPr>
              <a:t> 2022 1:00:00 GMT"</a:t>
            </a:r>
            <a:r>
              <a:rPr lang="en-IN" sz="1600" dirty="0">
                <a:solidFill>
                  <a:srgbClr val="800000"/>
                </a:solidFill>
                <a:latin typeface="Consolas" panose="020B0609020204030204" pitchFamily="49" charset="0"/>
              </a:rPr>
              <a:t>&gt;</a:t>
            </a:r>
            <a:endParaRPr lang="en-US" sz="1600" dirty="0">
              <a:solidFill>
                <a:srgbClr val="800000"/>
              </a:solidFill>
              <a:latin typeface="Consolas" panose="020B0609020204030204" pitchFamily="49" charset="0"/>
            </a:endParaRPr>
          </a:p>
        </p:txBody>
      </p:sp>
      <p:sp>
        <p:nvSpPr>
          <p:cNvPr id="7" name="Rectangle 6">
            <a:extLst>
              <a:ext uri="{FF2B5EF4-FFF2-40B4-BE49-F238E27FC236}">
                <a16:creationId xmlns:a16="http://schemas.microsoft.com/office/drawing/2014/main" id="{35F9F4A0-4592-C04D-B2D0-0BF66A3BFA20}"/>
              </a:ext>
            </a:extLst>
          </p:cNvPr>
          <p:cNvSpPr/>
          <p:nvPr/>
        </p:nvSpPr>
        <p:spPr>
          <a:xfrm>
            <a:off x="479197" y="5103756"/>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8" name="Rectangle 7">
            <a:extLst>
              <a:ext uri="{FF2B5EF4-FFF2-40B4-BE49-F238E27FC236}">
                <a16:creationId xmlns:a16="http://schemas.microsoft.com/office/drawing/2014/main" id="{D456EBDA-49A4-A843-A786-6989C63A54AA}"/>
              </a:ext>
            </a:extLst>
          </p:cNvPr>
          <p:cNvSpPr/>
          <p:nvPr/>
        </p:nvSpPr>
        <p:spPr>
          <a:xfrm>
            <a:off x="979190" y="6015277"/>
            <a:ext cx="6077218" cy="338554"/>
          </a:xfrm>
          <a:prstGeom prst="rect">
            <a:avLst/>
          </a:prstGeom>
          <a:solidFill>
            <a:schemeClr val="bg1">
              <a:lumMod val="95000"/>
            </a:schemeClr>
          </a:solidFill>
          <a:ln>
            <a:noFill/>
          </a:ln>
        </p:spPr>
        <p:txBody>
          <a:bodyPr wrap="square">
            <a:spAutoFit/>
          </a:bodyPr>
          <a:lstStyle/>
          <a:p>
            <a:r>
              <a:rPr lang="en-IN" sz="1600" dirty="0">
                <a:solidFill>
                  <a:srgbClr val="800000"/>
                </a:solidFill>
                <a:latin typeface="Consolas" panose="020B0609020204030204" pitchFamily="49" charset="0"/>
              </a:rPr>
              <a:t>&lt;meta </a:t>
            </a:r>
            <a:r>
              <a:rPr lang="en-IN" sz="1600" dirty="0">
                <a:solidFill>
                  <a:srgbClr val="FF0000"/>
                </a:solidFill>
                <a:latin typeface="Consolas" panose="020B0609020204030204" pitchFamily="49" charset="0"/>
              </a:rPr>
              <a:t>http-</a:t>
            </a:r>
            <a:r>
              <a:rPr lang="en-IN" sz="1600" dirty="0" err="1">
                <a:solidFill>
                  <a:srgbClr val="FF0000"/>
                </a:solidFill>
                <a:latin typeface="Consolas" panose="020B0609020204030204" pitchFamily="49" charset="0"/>
              </a:rPr>
              <a:t>equiv</a:t>
            </a:r>
            <a:r>
              <a:rPr lang="en-IN" sz="1600" dirty="0">
                <a:latin typeface="Consolas" panose="020B0609020204030204" pitchFamily="49" charset="0"/>
              </a:rPr>
              <a:t>=</a:t>
            </a:r>
            <a:r>
              <a:rPr lang="en-IN" sz="1600" dirty="0">
                <a:solidFill>
                  <a:srgbClr val="0000FF"/>
                </a:solidFill>
                <a:latin typeface="Consolas" panose="020B0609020204030204" pitchFamily="49" charset="0"/>
              </a:rPr>
              <a:t>"Cache-Control" </a:t>
            </a:r>
            <a:r>
              <a:rPr lang="en-IN" sz="1600" dirty="0">
                <a:solidFill>
                  <a:srgbClr val="FF0000"/>
                </a:solidFill>
                <a:latin typeface="Consolas" panose="020B0609020204030204" pitchFamily="49" charset="0"/>
              </a:rPr>
              <a:t>content</a:t>
            </a:r>
            <a:r>
              <a:rPr lang="en-IN" sz="1600" dirty="0">
                <a:latin typeface="Consolas" panose="020B0609020204030204" pitchFamily="49" charset="0"/>
              </a:rPr>
              <a:t>=</a:t>
            </a:r>
            <a:r>
              <a:rPr lang="en-IN" sz="1600" dirty="0">
                <a:solidFill>
                  <a:srgbClr val="0000FF"/>
                </a:solidFill>
                <a:latin typeface="Consolas" panose="020B0609020204030204" pitchFamily="49" charset="0"/>
              </a:rPr>
              <a:t>"no-store"</a:t>
            </a:r>
            <a:r>
              <a:rPr lang="en-IN" sz="1600" dirty="0">
                <a:solidFill>
                  <a:srgbClr val="800000"/>
                </a:solidFill>
                <a:latin typeface="Consolas" panose="020B0609020204030204" pitchFamily="49" charset="0"/>
              </a:rPr>
              <a:t>&gt;</a:t>
            </a:r>
            <a:endParaRPr lang="en-US" sz="1600" dirty="0">
              <a:solidFill>
                <a:srgbClr val="800000"/>
              </a:solidFill>
              <a:latin typeface="Consolas" panose="020B0609020204030204" pitchFamily="49" charset="0"/>
            </a:endParaRPr>
          </a:p>
        </p:txBody>
      </p:sp>
      <p:sp>
        <p:nvSpPr>
          <p:cNvPr id="9" name="Rectangle 8">
            <a:extLst>
              <a:ext uri="{FF2B5EF4-FFF2-40B4-BE49-F238E27FC236}">
                <a16:creationId xmlns:a16="http://schemas.microsoft.com/office/drawing/2014/main" id="{35F9F4A0-4592-C04D-B2D0-0BF66A3BFA20}"/>
              </a:ext>
            </a:extLst>
          </p:cNvPr>
          <p:cNvSpPr/>
          <p:nvPr/>
        </p:nvSpPr>
        <p:spPr>
          <a:xfrm>
            <a:off x="479197" y="6015277"/>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Tree>
    <p:extLst>
      <p:ext uri="{BB962C8B-B14F-4D97-AF65-F5344CB8AC3E}">
        <p14:creationId xmlns:p14="http://schemas.microsoft.com/office/powerpoint/2010/main" val="4064649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bg/>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bg/>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build="p" animBg="1"/>
      <p:bldP spid="5" grpId="0" animBg="1"/>
      <p:bldP spid="6" grpId="0" build="p" animBg="1"/>
      <p:bldP spid="7" grpId="0" animBg="1"/>
      <p:bldP spid="8" grpId="0" build="p"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Meta Tag Attributes</a:t>
            </a:r>
          </a:p>
        </p:txBody>
      </p:sp>
      <p:graphicFrame>
        <p:nvGraphicFramePr>
          <p:cNvPr id="4" name="Content Placeholder 6"/>
          <p:cNvGraphicFramePr>
            <a:graphicFrameLocks noGrp="1"/>
          </p:cNvGraphicFramePr>
          <p:nvPr>
            <p:ph idx="1"/>
          </p:nvPr>
        </p:nvGraphicFramePr>
        <p:xfrm>
          <a:off x="207278" y="926284"/>
          <a:ext cx="11706816" cy="4990422"/>
        </p:xfrm>
        <a:graphic>
          <a:graphicData uri="http://schemas.openxmlformats.org/drawingml/2006/table">
            <a:tbl>
              <a:tblPr firstRow="1" bandRow="1">
                <a:tableStyleId>{5C22544A-7EE6-4342-B048-85BDC9FD1C3A}</a:tableStyleId>
              </a:tblPr>
              <a:tblGrid>
                <a:gridCol w="1648620">
                  <a:extLst>
                    <a:ext uri="{9D8B030D-6E8A-4147-A177-3AD203B41FA5}">
                      <a16:colId xmlns:a16="http://schemas.microsoft.com/office/drawing/2014/main" val="20000"/>
                    </a:ext>
                  </a:extLst>
                </a:gridCol>
                <a:gridCol w="2580919">
                  <a:extLst>
                    <a:ext uri="{9D8B030D-6E8A-4147-A177-3AD203B41FA5}">
                      <a16:colId xmlns:a16="http://schemas.microsoft.com/office/drawing/2014/main" val="20001"/>
                    </a:ext>
                  </a:extLst>
                </a:gridCol>
                <a:gridCol w="7477277">
                  <a:extLst>
                    <a:ext uri="{9D8B030D-6E8A-4147-A177-3AD203B41FA5}">
                      <a16:colId xmlns:a16="http://schemas.microsoft.com/office/drawing/2014/main" val="20002"/>
                    </a:ext>
                  </a:extLst>
                </a:gridCol>
              </a:tblGrid>
              <a:tr h="408775">
                <a:tc>
                  <a:txBody>
                    <a:bodyPr/>
                    <a:lstStyle/>
                    <a:p>
                      <a:r>
                        <a:rPr lang="en-US" dirty="0"/>
                        <a:t>Attribute</a:t>
                      </a:r>
                    </a:p>
                  </a:txBody>
                  <a:tcPr/>
                </a:tc>
                <a:tc>
                  <a:txBody>
                    <a:bodyPr/>
                    <a:lstStyle/>
                    <a:p>
                      <a:r>
                        <a:rPr lang="en-US" dirty="0"/>
                        <a:t>Value</a:t>
                      </a:r>
                    </a:p>
                  </a:txBody>
                  <a:tcPr/>
                </a:tc>
                <a:tc>
                  <a:txBody>
                    <a:bodyPr/>
                    <a:lstStyle/>
                    <a:p>
                      <a:r>
                        <a:rPr lang="en-US" dirty="0"/>
                        <a:t>Description</a:t>
                      </a:r>
                    </a:p>
                  </a:txBody>
                  <a:tcPr/>
                </a:tc>
                <a:extLst>
                  <a:ext uri="{0D108BD9-81ED-4DB2-BD59-A6C34878D82A}">
                    <a16:rowId xmlns:a16="http://schemas.microsoft.com/office/drawing/2014/main" val="10000"/>
                  </a:ext>
                </a:extLst>
              </a:tr>
              <a:tr h="408775">
                <a:tc>
                  <a:txBody>
                    <a:bodyPr/>
                    <a:lstStyle/>
                    <a:p>
                      <a:r>
                        <a:rPr lang="en-US" sz="1800" kern="1200" dirty="0">
                          <a:solidFill>
                            <a:schemeClr val="dk1"/>
                          </a:solidFill>
                          <a:latin typeface="+mn-lt"/>
                          <a:ea typeface="+mn-ea"/>
                          <a:cs typeface="+mn-cs"/>
                          <a:hlinkClick r:id="" action="ppaction://noaction"/>
                        </a:rPr>
                        <a:t>charset</a:t>
                      </a:r>
                    </a:p>
                  </a:txBody>
                  <a:tcPr/>
                </a:tc>
                <a:tc>
                  <a:txBody>
                    <a:bodyPr/>
                    <a:lstStyle/>
                    <a:p>
                      <a:r>
                        <a:rPr lang="en-US" sz="1800" kern="1200" dirty="0" err="1">
                          <a:solidFill>
                            <a:schemeClr val="dk1"/>
                          </a:solidFill>
                          <a:latin typeface="Consolas" panose="020B0609020204030204" pitchFamily="49" charset="0"/>
                          <a:ea typeface="+mn-ea"/>
                          <a:cs typeface="+mn-cs"/>
                        </a:rPr>
                        <a:t>character_set</a:t>
                      </a:r>
                      <a:endParaRPr lang="en-US" sz="1800" kern="1200" dirty="0">
                        <a:solidFill>
                          <a:schemeClr val="dk1"/>
                        </a:solidFill>
                        <a:latin typeface="Consolas" panose="020B0609020204030204" pitchFamily="49" charset="0"/>
                        <a:ea typeface="+mn-ea"/>
                        <a:cs typeface="+mn-cs"/>
                      </a:endParaRPr>
                    </a:p>
                  </a:txBody>
                  <a:tcPr/>
                </a:tc>
                <a:tc>
                  <a:txBody>
                    <a:bodyPr/>
                    <a:lstStyle/>
                    <a:p>
                      <a:r>
                        <a:rPr lang="en-US" sz="1800" kern="1200" dirty="0">
                          <a:solidFill>
                            <a:schemeClr val="dk1"/>
                          </a:solidFill>
                          <a:latin typeface="+mn-lt"/>
                          <a:ea typeface="+mn-ea"/>
                          <a:cs typeface="+mn-cs"/>
                        </a:rPr>
                        <a:t>Specifies the character encoding for the HTML document </a:t>
                      </a:r>
                    </a:p>
                  </a:txBody>
                  <a:tcPr/>
                </a:tc>
                <a:extLst>
                  <a:ext uri="{0D108BD9-81ED-4DB2-BD59-A6C34878D82A}">
                    <a16:rowId xmlns:a16="http://schemas.microsoft.com/office/drawing/2014/main" val="10001"/>
                  </a:ext>
                </a:extLst>
              </a:tr>
              <a:tr h="1738696">
                <a:tc>
                  <a:txBody>
                    <a:bodyPr/>
                    <a:lstStyle/>
                    <a:p>
                      <a:pPr marL="0" marR="0">
                        <a:lnSpc>
                          <a:spcPct val="115000"/>
                        </a:lnSpc>
                        <a:spcBef>
                          <a:spcPts val="0"/>
                        </a:spcBef>
                        <a:spcAft>
                          <a:spcPts val="0"/>
                        </a:spcAft>
                      </a:pPr>
                      <a:r>
                        <a:rPr lang="en-US" sz="1800" kern="1200" dirty="0">
                          <a:solidFill>
                            <a:schemeClr val="dk1"/>
                          </a:solidFill>
                          <a:latin typeface="+mn-lt"/>
                          <a:ea typeface="+mn-ea"/>
                          <a:cs typeface="+mn-cs"/>
                          <a:hlinkClick r:id="" action="ppaction://noaction"/>
                        </a:rPr>
                        <a:t>name</a:t>
                      </a:r>
                      <a:endParaRPr lang="en-US" sz="1800" kern="1200" dirty="0">
                        <a:solidFill>
                          <a:schemeClr val="dk1"/>
                        </a:solidFill>
                        <a:latin typeface="+mn-lt"/>
                        <a:ea typeface="+mn-ea"/>
                        <a:cs typeface="+mn-cs"/>
                      </a:endParaRPr>
                    </a:p>
                  </a:txBody>
                  <a:tcPr marL="68580" marR="68580" marT="0" marB="0" anchor="ctr"/>
                </a:tc>
                <a:tc>
                  <a:txBody>
                    <a:bodyPr/>
                    <a:lstStyle/>
                    <a:p>
                      <a:pPr marL="0" marR="0">
                        <a:lnSpc>
                          <a:spcPct val="115000"/>
                        </a:lnSpc>
                        <a:spcBef>
                          <a:spcPts val="0"/>
                        </a:spcBef>
                        <a:spcAft>
                          <a:spcPts val="0"/>
                        </a:spcAft>
                      </a:pPr>
                      <a:r>
                        <a:rPr lang="en-US" sz="1800" kern="1200" dirty="0">
                          <a:solidFill>
                            <a:schemeClr val="dk1"/>
                          </a:solidFill>
                          <a:latin typeface="Consolas" panose="020B0609020204030204" pitchFamily="49" charset="0"/>
                          <a:ea typeface="+mn-ea"/>
                          <a:cs typeface="+mn-cs"/>
                        </a:rPr>
                        <a:t>author</a:t>
                      </a:r>
                      <a:br>
                        <a:rPr lang="en-US" sz="1800" kern="1200" dirty="0">
                          <a:solidFill>
                            <a:schemeClr val="dk1"/>
                          </a:solidFill>
                          <a:latin typeface="Consolas" panose="020B0609020204030204" pitchFamily="49" charset="0"/>
                          <a:ea typeface="+mn-ea"/>
                          <a:cs typeface="+mn-cs"/>
                        </a:rPr>
                      </a:br>
                      <a:r>
                        <a:rPr lang="en-US" sz="1800" kern="1200" dirty="0">
                          <a:solidFill>
                            <a:schemeClr val="dk1"/>
                          </a:solidFill>
                          <a:latin typeface="Consolas" panose="020B0609020204030204" pitchFamily="49" charset="0"/>
                          <a:ea typeface="+mn-ea"/>
                          <a:cs typeface="+mn-cs"/>
                        </a:rPr>
                        <a:t>description</a:t>
                      </a:r>
                      <a:br>
                        <a:rPr lang="en-US" sz="1800" kern="1200" dirty="0">
                          <a:solidFill>
                            <a:schemeClr val="dk1"/>
                          </a:solidFill>
                          <a:latin typeface="Consolas" panose="020B0609020204030204" pitchFamily="49" charset="0"/>
                          <a:ea typeface="+mn-ea"/>
                          <a:cs typeface="+mn-cs"/>
                        </a:rPr>
                      </a:br>
                      <a:r>
                        <a:rPr lang="en-US" sz="1800" i="0" kern="1200" dirty="0">
                          <a:solidFill>
                            <a:schemeClr val="dk1"/>
                          </a:solidFill>
                          <a:latin typeface="Consolas" panose="020B0609020204030204" pitchFamily="49" charset="0"/>
                          <a:ea typeface="+mn-ea"/>
                          <a:cs typeface="+mn-cs"/>
                        </a:rPr>
                        <a:t>keywords</a:t>
                      </a:r>
                    </a:p>
                    <a:p>
                      <a:pPr marL="0" marR="0">
                        <a:lnSpc>
                          <a:spcPct val="115000"/>
                        </a:lnSpc>
                        <a:spcBef>
                          <a:spcPts val="0"/>
                        </a:spcBef>
                        <a:spcAft>
                          <a:spcPts val="0"/>
                        </a:spcAft>
                      </a:pPr>
                      <a:r>
                        <a:rPr lang="en-US" sz="1800" i="0" kern="1200" dirty="0">
                          <a:solidFill>
                            <a:schemeClr val="dk1"/>
                          </a:solidFill>
                          <a:latin typeface="Consolas" panose="020B0609020204030204" pitchFamily="49" charset="0"/>
                          <a:ea typeface="+mn-ea"/>
                          <a:cs typeface="+mn-cs"/>
                        </a:rPr>
                        <a:t>robots</a:t>
                      </a:r>
                    </a:p>
                    <a:p>
                      <a:pPr marL="0" marR="0">
                        <a:lnSpc>
                          <a:spcPct val="115000"/>
                        </a:lnSpc>
                        <a:spcBef>
                          <a:spcPts val="0"/>
                        </a:spcBef>
                        <a:spcAft>
                          <a:spcPts val="0"/>
                        </a:spcAft>
                      </a:pPr>
                      <a:r>
                        <a:rPr lang="en-US" sz="1800" i="0" kern="1200" dirty="0">
                          <a:solidFill>
                            <a:schemeClr val="dk1"/>
                          </a:solidFill>
                          <a:latin typeface="Consolas" panose="020B0609020204030204" pitchFamily="49" charset="0"/>
                          <a:ea typeface="+mn-ea"/>
                          <a:cs typeface="+mn-cs"/>
                        </a:rPr>
                        <a:t>expires</a:t>
                      </a:r>
                    </a:p>
                  </a:txBody>
                  <a:tcPr marL="68580" marR="68580" marT="0" marB="0" anchor="ctr"/>
                </a:tc>
                <a:tc>
                  <a:txBody>
                    <a:bodyPr/>
                    <a:lstStyle/>
                    <a:p>
                      <a:pPr marL="0" marR="0" algn="just">
                        <a:lnSpc>
                          <a:spcPct val="115000"/>
                        </a:lnSpc>
                        <a:spcBef>
                          <a:spcPts val="0"/>
                        </a:spcBef>
                        <a:spcAft>
                          <a:spcPts val="0"/>
                        </a:spcAft>
                      </a:pPr>
                      <a:r>
                        <a:rPr lang="en-US" sz="1800" kern="1200" dirty="0">
                          <a:solidFill>
                            <a:schemeClr val="dk1"/>
                          </a:solidFill>
                          <a:latin typeface="+mn-lt"/>
                          <a:ea typeface="+mn-ea"/>
                          <a:cs typeface="+mn-cs"/>
                        </a:rPr>
                        <a:t>Specifies a name for the metadata</a:t>
                      </a:r>
                    </a:p>
                  </a:txBody>
                  <a:tcPr marL="68580" marR="68580" marT="0" marB="0" anchor="ctr"/>
                </a:tc>
                <a:extLst>
                  <a:ext uri="{0D108BD9-81ED-4DB2-BD59-A6C34878D82A}">
                    <a16:rowId xmlns:a16="http://schemas.microsoft.com/office/drawing/2014/main" val="10002"/>
                  </a:ext>
                </a:extLst>
              </a:tr>
              <a:tr h="1043216">
                <a:tc>
                  <a:txBody>
                    <a:bodyPr/>
                    <a:lstStyle/>
                    <a:p>
                      <a:pPr marL="0" marR="0">
                        <a:lnSpc>
                          <a:spcPct val="115000"/>
                        </a:lnSpc>
                        <a:spcBef>
                          <a:spcPts val="0"/>
                        </a:spcBef>
                        <a:spcAft>
                          <a:spcPts val="0"/>
                        </a:spcAft>
                      </a:pPr>
                      <a:r>
                        <a:rPr lang="en-US" sz="1800" kern="1200" dirty="0">
                          <a:solidFill>
                            <a:schemeClr val="dk1"/>
                          </a:solidFill>
                          <a:latin typeface="+mn-lt"/>
                          <a:ea typeface="+mn-ea"/>
                          <a:cs typeface="+mn-cs"/>
                          <a:hlinkClick r:id="" action="ppaction://noaction"/>
                        </a:rPr>
                        <a:t>http-equiv</a:t>
                      </a:r>
                      <a:endParaRPr lang="en-US" sz="1800" kern="1200" dirty="0">
                        <a:solidFill>
                          <a:schemeClr val="dk1"/>
                        </a:solidFill>
                        <a:latin typeface="+mn-lt"/>
                        <a:ea typeface="+mn-ea"/>
                        <a:cs typeface="+mn-cs"/>
                      </a:endParaRPr>
                    </a:p>
                  </a:txBody>
                  <a:tcPr marL="68580" marR="68580" marT="0" marB="0" anchor="ctr"/>
                </a:tc>
                <a:tc>
                  <a:txBody>
                    <a:bodyPr/>
                    <a:lstStyle/>
                    <a:p>
                      <a:pPr marL="0" marR="0">
                        <a:lnSpc>
                          <a:spcPct val="115000"/>
                        </a:lnSpc>
                        <a:spcBef>
                          <a:spcPts val="0"/>
                        </a:spcBef>
                        <a:spcAft>
                          <a:spcPts val="0"/>
                        </a:spcAft>
                      </a:pPr>
                      <a:r>
                        <a:rPr lang="en-US" sz="1800" kern="1200" dirty="0">
                          <a:solidFill>
                            <a:schemeClr val="dk1"/>
                          </a:solidFill>
                          <a:latin typeface="Consolas" panose="020B0609020204030204" pitchFamily="49" charset="0"/>
                          <a:ea typeface="+mn-ea"/>
                          <a:cs typeface="+mn-cs"/>
                        </a:rPr>
                        <a:t>content-type</a:t>
                      </a:r>
                    </a:p>
                    <a:p>
                      <a:pPr marL="0" marR="0">
                        <a:lnSpc>
                          <a:spcPct val="115000"/>
                        </a:lnSpc>
                        <a:spcBef>
                          <a:spcPts val="0"/>
                        </a:spcBef>
                        <a:spcAft>
                          <a:spcPts val="0"/>
                        </a:spcAft>
                      </a:pPr>
                      <a:r>
                        <a:rPr lang="en-US" sz="1800" kern="1200" dirty="0">
                          <a:solidFill>
                            <a:schemeClr val="dk1"/>
                          </a:solidFill>
                          <a:latin typeface="Consolas" panose="020B0609020204030204" pitchFamily="49" charset="0"/>
                          <a:ea typeface="+mn-ea"/>
                          <a:cs typeface="+mn-cs"/>
                        </a:rPr>
                        <a:t>default-style</a:t>
                      </a:r>
                      <a:br>
                        <a:rPr lang="en-US" sz="1800" kern="1200" dirty="0">
                          <a:solidFill>
                            <a:schemeClr val="dk1"/>
                          </a:solidFill>
                          <a:latin typeface="Consolas" panose="020B0609020204030204" pitchFamily="49" charset="0"/>
                          <a:ea typeface="+mn-ea"/>
                          <a:cs typeface="+mn-cs"/>
                        </a:rPr>
                      </a:br>
                      <a:r>
                        <a:rPr lang="en-US" sz="1800" kern="1200" dirty="0">
                          <a:solidFill>
                            <a:schemeClr val="dk1"/>
                          </a:solidFill>
                          <a:latin typeface="Consolas" panose="020B0609020204030204" pitchFamily="49" charset="0"/>
                          <a:ea typeface="+mn-ea"/>
                          <a:cs typeface="+mn-cs"/>
                        </a:rPr>
                        <a:t>refresh</a:t>
                      </a:r>
                    </a:p>
                  </a:txBody>
                  <a:tcPr marL="68580" marR="68580" marT="0" marB="0" anchor="ctr"/>
                </a:tc>
                <a:tc>
                  <a:txBody>
                    <a:bodyPr/>
                    <a:lstStyle/>
                    <a:p>
                      <a:pPr marL="0" marR="0" algn="just">
                        <a:lnSpc>
                          <a:spcPct val="115000"/>
                        </a:lnSpc>
                        <a:spcBef>
                          <a:spcPts val="0"/>
                        </a:spcBef>
                        <a:spcAft>
                          <a:spcPts val="0"/>
                        </a:spcAft>
                      </a:pPr>
                      <a:r>
                        <a:rPr lang="en-US" sz="1800" kern="1200" dirty="0">
                          <a:solidFill>
                            <a:schemeClr val="dk1"/>
                          </a:solidFill>
                          <a:latin typeface="+mn-lt"/>
                          <a:ea typeface="+mn-ea"/>
                          <a:cs typeface="+mn-cs"/>
                        </a:rPr>
                        <a:t>Provides an HTTP header for the information/value of the content attribute</a:t>
                      </a:r>
                    </a:p>
                  </a:txBody>
                  <a:tcPr marL="68580" marR="68580" marT="0" marB="0" anchor="ctr"/>
                </a:tc>
                <a:extLst>
                  <a:ext uri="{0D108BD9-81ED-4DB2-BD59-A6C34878D82A}">
                    <a16:rowId xmlns:a16="http://schemas.microsoft.com/office/drawing/2014/main" val="10003"/>
                  </a:ext>
                </a:extLst>
              </a:tr>
              <a:tr h="695480">
                <a:tc>
                  <a:txBody>
                    <a:bodyPr/>
                    <a:lstStyle/>
                    <a:p>
                      <a:pPr marL="0" marR="0">
                        <a:lnSpc>
                          <a:spcPct val="115000"/>
                        </a:lnSpc>
                        <a:spcBef>
                          <a:spcPts val="0"/>
                        </a:spcBef>
                        <a:spcAft>
                          <a:spcPts val="0"/>
                        </a:spcAft>
                      </a:pPr>
                      <a:r>
                        <a:rPr lang="en-US" sz="1800" kern="1200" dirty="0">
                          <a:solidFill>
                            <a:schemeClr val="dk1"/>
                          </a:solidFill>
                          <a:latin typeface="+mn-lt"/>
                          <a:ea typeface="+mn-ea"/>
                          <a:cs typeface="+mn-cs"/>
                          <a:hlinkClick r:id="" action="ppaction://noaction"/>
                        </a:rPr>
                        <a:t>content</a:t>
                      </a:r>
                      <a:endParaRPr lang="en-US" sz="1800" kern="1200" dirty="0">
                        <a:solidFill>
                          <a:schemeClr val="dk1"/>
                        </a:solidFill>
                        <a:latin typeface="+mn-lt"/>
                        <a:ea typeface="+mn-ea"/>
                        <a:cs typeface="+mn-cs"/>
                      </a:endParaRPr>
                    </a:p>
                  </a:txBody>
                  <a:tcPr marL="68580" marR="68580" marT="0" marB="0" anchor="ctr"/>
                </a:tc>
                <a:tc>
                  <a:txBody>
                    <a:bodyPr/>
                    <a:lstStyle/>
                    <a:p>
                      <a:pPr marL="0" marR="0">
                        <a:lnSpc>
                          <a:spcPct val="115000"/>
                        </a:lnSpc>
                        <a:spcBef>
                          <a:spcPts val="0"/>
                        </a:spcBef>
                        <a:spcAft>
                          <a:spcPts val="0"/>
                        </a:spcAft>
                      </a:pPr>
                      <a:r>
                        <a:rPr lang="en-US" sz="1800" kern="1200" dirty="0">
                          <a:solidFill>
                            <a:schemeClr val="dk1"/>
                          </a:solidFill>
                          <a:latin typeface="Consolas" panose="020B0609020204030204" pitchFamily="49" charset="0"/>
                          <a:ea typeface="+mn-ea"/>
                          <a:cs typeface="+mn-cs"/>
                        </a:rPr>
                        <a:t>text</a:t>
                      </a:r>
                    </a:p>
                  </a:txBody>
                  <a:tcPr marL="68580" marR="68580" marT="0" marB="0" anchor="ctr"/>
                </a:tc>
                <a:tc>
                  <a:txBody>
                    <a:bodyPr/>
                    <a:lstStyle/>
                    <a:p>
                      <a:pPr marL="0" marR="0" algn="just">
                        <a:lnSpc>
                          <a:spcPct val="115000"/>
                        </a:lnSpc>
                        <a:spcBef>
                          <a:spcPts val="0"/>
                        </a:spcBef>
                        <a:spcAft>
                          <a:spcPts val="0"/>
                        </a:spcAft>
                      </a:pPr>
                      <a:r>
                        <a:rPr lang="en-US" sz="1800" kern="1200" dirty="0">
                          <a:solidFill>
                            <a:schemeClr val="dk1"/>
                          </a:solidFill>
                          <a:latin typeface="+mn-lt"/>
                          <a:ea typeface="+mn-ea"/>
                          <a:cs typeface="+mn-cs"/>
                        </a:rPr>
                        <a:t>Gives the value associated with the http-equiv or name attribute</a:t>
                      </a:r>
                    </a:p>
                  </a:txBody>
                  <a:tcPr marL="68580" marR="68580" marT="0" marB="0" anchor="ctr"/>
                </a:tc>
                <a:extLst>
                  <a:ext uri="{0D108BD9-81ED-4DB2-BD59-A6C34878D82A}">
                    <a16:rowId xmlns:a16="http://schemas.microsoft.com/office/drawing/2014/main" val="10004"/>
                  </a:ext>
                </a:extLst>
              </a:tr>
              <a:tr h="695480">
                <a:tc>
                  <a:txBody>
                    <a:bodyPr/>
                    <a:lstStyle/>
                    <a:p>
                      <a:pPr marL="0" marR="0">
                        <a:lnSpc>
                          <a:spcPct val="115000"/>
                        </a:lnSpc>
                        <a:spcBef>
                          <a:spcPts val="0"/>
                        </a:spcBef>
                        <a:spcAft>
                          <a:spcPts val="0"/>
                        </a:spcAft>
                      </a:pPr>
                      <a:r>
                        <a:rPr lang="en-US" sz="1800" kern="1200" dirty="0" err="1">
                          <a:solidFill>
                            <a:schemeClr val="dk1"/>
                          </a:solidFill>
                          <a:latin typeface="+mn-lt"/>
                          <a:ea typeface="+mn-ea"/>
                          <a:cs typeface="+mn-cs"/>
                          <a:hlinkClick r:id="" action="ppaction://noaction"/>
                        </a:rPr>
                        <a:t>scheme</a:t>
                      </a:r>
                      <a:endParaRPr lang="en-US" sz="1800" kern="1200" dirty="0" err="1">
                        <a:solidFill>
                          <a:schemeClr val="dk1"/>
                        </a:solidFill>
                        <a:latin typeface="+mn-lt"/>
                        <a:ea typeface="+mn-ea"/>
                        <a:cs typeface="+mn-cs"/>
                      </a:endParaRPr>
                    </a:p>
                  </a:txBody>
                  <a:tcPr marL="68580" marR="68580" marT="0" marB="0" anchor="ctr"/>
                </a:tc>
                <a:tc>
                  <a:txBody>
                    <a:bodyPr/>
                    <a:lstStyle/>
                    <a:p>
                      <a:pPr marL="0" marR="0">
                        <a:lnSpc>
                          <a:spcPct val="115000"/>
                        </a:lnSpc>
                        <a:spcBef>
                          <a:spcPts val="0"/>
                        </a:spcBef>
                        <a:spcAft>
                          <a:spcPts val="0"/>
                        </a:spcAft>
                      </a:pPr>
                      <a:r>
                        <a:rPr lang="en-US" sz="1800" kern="1200" dirty="0">
                          <a:solidFill>
                            <a:schemeClr val="dk1"/>
                          </a:solidFill>
                          <a:latin typeface="Consolas" panose="020B0609020204030204" pitchFamily="49" charset="0"/>
                          <a:ea typeface="+mn-ea"/>
                          <a:cs typeface="+mn-cs"/>
                        </a:rPr>
                        <a:t>format/URI</a:t>
                      </a:r>
                    </a:p>
                    <a:p>
                      <a:pPr marL="0" marR="0">
                        <a:lnSpc>
                          <a:spcPct val="115000"/>
                        </a:lnSpc>
                        <a:spcBef>
                          <a:spcPts val="0"/>
                        </a:spcBef>
                        <a:spcAft>
                          <a:spcPts val="0"/>
                        </a:spcAft>
                      </a:pPr>
                      <a:r>
                        <a:rPr lang="en-US" sz="1800" kern="1200" dirty="0">
                          <a:solidFill>
                            <a:schemeClr val="dk1"/>
                          </a:solidFill>
                          <a:latin typeface="Consolas" panose="020B0609020204030204" pitchFamily="49" charset="0"/>
                          <a:ea typeface="+mn-ea"/>
                          <a:cs typeface="+mn-cs"/>
                        </a:rPr>
                        <a:t>USA/Europe</a:t>
                      </a:r>
                    </a:p>
                  </a:txBody>
                  <a:tcPr marL="68580" marR="68580" marT="0" marB="0" anchor="ctr"/>
                </a:tc>
                <a:tc>
                  <a:txBody>
                    <a:bodyPr/>
                    <a:lstStyle/>
                    <a:p>
                      <a:pPr marL="0" marR="0" algn="just">
                        <a:lnSpc>
                          <a:spcPct val="115000"/>
                        </a:lnSpc>
                        <a:spcBef>
                          <a:spcPts val="0"/>
                        </a:spcBef>
                        <a:spcAft>
                          <a:spcPts val="0"/>
                        </a:spcAft>
                      </a:pPr>
                      <a:r>
                        <a:rPr lang="en-US" sz="1800" kern="1200" dirty="0">
                          <a:solidFill>
                            <a:schemeClr val="dk1"/>
                          </a:solidFill>
                          <a:latin typeface="+mn-lt"/>
                          <a:ea typeface="+mn-ea"/>
                          <a:cs typeface="+mn-cs"/>
                        </a:rPr>
                        <a:t>Not supported in HTML5. Specifies a scheme to be used to interpret the value of the content attribute</a:t>
                      </a: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569644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HTML Formatting Tags</a:t>
            </a:r>
            <a:endParaRPr lang="en-US" dirty="0"/>
          </a:p>
        </p:txBody>
      </p:sp>
      <p:graphicFrame>
        <p:nvGraphicFramePr>
          <p:cNvPr id="4" name="Content Placeholder 6"/>
          <p:cNvGraphicFramePr>
            <a:graphicFrameLocks noGrp="1"/>
          </p:cNvGraphicFramePr>
          <p:nvPr>
            <p:ph idx="1"/>
          </p:nvPr>
        </p:nvGraphicFramePr>
        <p:xfrm>
          <a:off x="207277" y="926284"/>
          <a:ext cx="11783439" cy="5025938"/>
        </p:xfrm>
        <a:graphic>
          <a:graphicData uri="http://schemas.openxmlformats.org/drawingml/2006/table">
            <a:tbl>
              <a:tblPr firstRow="1" bandRow="1">
                <a:tableStyleId>{5C22544A-7EE6-4342-B048-85BDC9FD1C3A}</a:tableStyleId>
              </a:tblPr>
              <a:tblGrid>
                <a:gridCol w="1007124">
                  <a:extLst>
                    <a:ext uri="{9D8B030D-6E8A-4147-A177-3AD203B41FA5}">
                      <a16:colId xmlns:a16="http://schemas.microsoft.com/office/drawing/2014/main" val="20000"/>
                    </a:ext>
                  </a:extLst>
                </a:gridCol>
                <a:gridCol w="10776315">
                  <a:extLst>
                    <a:ext uri="{9D8B030D-6E8A-4147-A177-3AD203B41FA5}">
                      <a16:colId xmlns:a16="http://schemas.microsoft.com/office/drawing/2014/main" val="20001"/>
                    </a:ext>
                  </a:extLst>
                </a:gridCol>
              </a:tblGrid>
              <a:tr h="329491">
                <a:tc>
                  <a:txBody>
                    <a:bodyPr/>
                    <a:lstStyle/>
                    <a:p>
                      <a:pPr marL="0" algn="l" defTabSz="914400" rtl="0" eaLnBrk="1" latinLnBrk="0" hangingPunct="1">
                        <a:lnSpc>
                          <a:spcPct val="107000"/>
                        </a:lnSpc>
                        <a:spcBef>
                          <a:spcPts val="1000"/>
                        </a:spcBef>
                        <a:spcAft>
                          <a:spcPts val="1000"/>
                        </a:spcAft>
                      </a:pPr>
                      <a:r>
                        <a:rPr lang="en-IN" sz="1800" kern="1200" dirty="0"/>
                        <a:t>Tags</a:t>
                      </a:r>
                      <a:endParaRPr lang="en-IN" sz="1800" b="1" kern="1200" dirty="0">
                        <a:solidFill>
                          <a:schemeClr val="lt1"/>
                        </a:solidFill>
                        <a:latin typeface="+mn-lt"/>
                        <a:ea typeface="+mn-ea"/>
                        <a:cs typeface="+mn-cs"/>
                      </a:endParaRPr>
                    </a:p>
                  </a:txBody>
                  <a:tcPr marL="64583" marR="64583" marT="0" marB="0" anchor="ctr"/>
                </a:tc>
                <a:tc>
                  <a:txBody>
                    <a:bodyPr/>
                    <a:lstStyle/>
                    <a:p>
                      <a:pPr marL="0" algn="l" defTabSz="914400" rtl="0" eaLnBrk="1" latinLnBrk="0" hangingPunct="1">
                        <a:lnSpc>
                          <a:spcPct val="107000"/>
                        </a:lnSpc>
                        <a:spcBef>
                          <a:spcPts val="1000"/>
                        </a:spcBef>
                        <a:spcAft>
                          <a:spcPts val="1000"/>
                        </a:spcAft>
                      </a:pPr>
                      <a:r>
                        <a:rPr lang="en-IN" sz="1800" kern="1200" dirty="0"/>
                        <a:t>Description</a:t>
                      </a:r>
                      <a:endParaRPr lang="en-IN" sz="1800" b="1" kern="1200" dirty="0">
                        <a:solidFill>
                          <a:schemeClr val="lt1"/>
                        </a:solidFill>
                        <a:latin typeface="+mn-lt"/>
                        <a:ea typeface="+mn-ea"/>
                        <a:cs typeface="+mn-cs"/>
                      </a:endParaRPr>
                    </a:p>
                  </a:txBody>
                  <a:tcPr marL="64583" marR="64583" marT="0" marB="0" anchor="ctr"/>
                </a:tc>
                <a:extLst>
                  <a:ext uri="{0D108BD9-81ED-4DB2-BD59-A6C34878D82A}">
                    <a16:rowId xmlns:a16="http://schemas.microsoft.com/office/drawing/2014/main" val="10000"/>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t>&lt;b&gt;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Defines bold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1"/>
                  </a:ext>
                </a:extLst>
              </a:tr>
              <a:tr h="456453">
                <a:tc>
                  <a:txBody>
                    <a:bodyPr/>
                    <a:lstStyle/>
                    <a:p>
                      <a:pPr marL="0" marR="0" algn="just" defTabSz="914400" rtl="0" eaLnBrk="1" latinLnBrk="0" hangingPunct="1">
                        <a:lnSpc>
                          <a:spcPct val="115000"/>
                        </a:lnSpc>
                        <a:spcBef>
                          <a:spcPts val="0"/>
                        </a:spcBef>
                        <a:spcAft>
                          <a:spcPts val="0"/>
                        </a:spcAft>
                      </a:pPr>
                      <a:r>
                        <a:rPr lang="en-IN" sz="1800" b="1" kern="1200" dirty="0"/>
                        <a:t>&lt;</a:t>
                      </a:r>
                      <a:r>
                        <a:rPr lang="en-IN" sz="1800" b="1" kern="1200" dirty="0" err="1"/>
                        <a:t>i</a:t>
                      </a:r>
                      <a:r>
                        <a:rPr lang="en-IN" sz="1800" b="1" kern="1200" dirty="0"/>
                        <a:t>&gt;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Defines italic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2"/>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t>&lt;small&gt;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Defines smaller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3"/>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t>&lt;strong&gt;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Defines important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4"/>
                  </a:ext>
                </a:extLst>
              </a:tr>
              <a:tr h="723869">
                <a:tc>
                  <a:txBody>
                    <a:bodyPr/>
                    <a:lstStyle/>
                    <a:p>
                      <a:pPr marL="0" marR="0" algn="just" defTabSz="914400" rtl="0" eaLnBrk="1" latinLnBrk="0" hangingPunct="1">
                        <a:lnSpc>
                          <a:spcPct val="115000"/>
                        </a:lnSpc>
                        <a:spcBef>
                          <a:spcPts val="0"/>
                        </a:spcBef>
                        <a:spcAft>
                          <a:spcPts val="0"/>
                        </a:spcAft>
                      </a:pPr>
                      <a:r>
                        <a:rPr lang="en-IN" sz="1800" b="1" kern="1200" dirty="0"/>
                        <a:t>&lt;sub&gt;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The &lt;sub&gt; tag defines subscript text. Subscript text appears half a character below the baseline. Subscript text can be used for chemical formulas, like H</a:t>
                      </a:r>
                      <a:r>
                        <a:rPr lang="en-IN" sz="1800" kern="1200" baseline="-25000" dirty="0"/>
                        <a:t>2</a:t>
                      </a:r>
                      <a:r>
                        <a:rPr lang="en-IN" sz="1800" kern="1200" dirty="0"/>
                        <a:t>O.</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5"/>
                  </a:ext>
                </a:extLst>
              </a:tr>
              <a:tr h="723869">
                <a:tc>
                  <a:txBody>
                    <a:bodyPr/>
                    <a:lstStyle/>
                    <a:p>
                      <a:pPr marL="0" marR="0" algn="just" defTabSz="914400" rtl="0" eaLnBrk="1" latinLnBrk="0" hangingPunct="1">
                        <a:lnSpc>
                          <a:spcPct val="115000"/>
                        </a:lnSpc>
                        <a:spcBef>
                          <a:spcPts val="0"/>
                        </a:spcBef>
                        <a:spcAft>
                          <a:spcPts val="0"/>
                        </a:spcAft>
                      </a:pPr>
                      <a:r>
                        <a:rPr lang="en-IN" sz="1800" b="1" kern="1200" dirty="0"/>
                        <a:t>&lt;sup&gt;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The &lt;sup&gt; tag defines superscript text. Superscript text appears half a character above the baseline. Superscript text can be used for footnotes, like </a:t>
                      </a:r>
                      <a:r>
                        <a:rPr lang="en-IN" sz="1800" kern="1200" baseline="30000" dirty="0"/>
                        <a:t>WWW</a:t>
                      </a:r>
                      <a:r>
                        <a:rPr lang="en-IN" sz="1800" kern="1200" dirty="0"/>
                        <a:t> </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6"/>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t>&lt;mark&gt;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Defines Highlighted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7"/>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t>&lt;del&gt;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Defines deleted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8"/>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t>&lt;</a:t>
                      </a:r>
                      <a:r>
                        <a:rPr lang="en-IN" sz="1800" b="1" kern="1200" dirty="0" err="1"/>
                        <a:t>em</a:t>
                      </a:r>
                      <a:r>
                        <a:rPr lang="en-IN" sz="1800" b="1" kern="1200" dirty="0"/>
                        <a:t>&gt;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Defines emphasized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09"/>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t>&lt;</a:t>
                      </a:r>
                      <a:r>
                        <a:rPr lang="en-IN" sz="1800" b="1" kern="1200" dirty="0" err="1"/>
                        <a:t>tt</a:t>
                      </a:r>
                      <a:r>
                        <a:rPr lang="en-IN" sz="1800" b="1" kern="1200" dirty="0"/>
                        <a:t>&gt;</a:t>
                      </a:r>
                      <a:endParaRPr lang="en-IN" sz="1800" b="1" kern="1200" dirty="0">
                        <a:solidFill>
                          <a:schemeClr val="dk1"/>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t>The &lt;</a:t>
                      </a:r>
                      <a:r>
                        <a:rPr lang="en-IN" sz="1800" kern="1200" dirty="0" err="1"/>
                        <a:t>tt</a:t>
                      </a:r>
                      <a:r>
                        <a:rPr lang="en-IN" sz="1800" kern="1200" dirty="0"/>
                        <a:t>&gt; tag defines teletype text</a:t>
                      </a:r>
                      <a:endParaRPr lang="en-IN" sz="1800" kern="1200" dirty="0">
                        <a:solidFill>
                          <a:schemeClr val="dk1"/>
                        </a:solidFill>
                        <a:latin typeface="+mn-lt"/>
                        <a:ea typeface="+mn-ea"/>
                        <a:cs typeface="+mn-cs"/>
                      </a:endParaRPr>
                    </a:p>
                  </a:txBody>
                  <a:tcPr marL="64583" marR="64583" marT="0" marB="0" anchor="ctr"/>
                </a:tc>
                <a:extLst>
                  <a:ext uri="{0D108BD9-81ED-4DB2-BD59-A6C34878D82A}">
                    <a16:rowId xmlns:a16="http://schemas.microsoft.com/office/drawing/2014/main" val="10010"/>
                  </a:ext>
                </a:extLst>
              </a:tr>
              <a:tr h="349032">
                <a:tc>
                  <a:txBody>
                    <a:bodyPr/>
                    <a:lstStyle/>
                    <a:p>
                      <a:pPr marL="0" marR="0" algn="just" defTabSz="914400" rtl="0" eaLnBrk="1" latinLnBrk="0" hangingPunct="1">
                        <a:lnSpc>
                          <a:spcPct val="115000"/>
                        </a:lnSpc>
                        <a:spcBef>
                          <a:spcPts val="0"/>
                        </a:spcBef>
                        <a:spcAft>
                          <a:spcPts val="0"/>
                        </a:spcAft>
                      </a:pPr>
                      <a:r>
                        <a:rPr lang="en-IN" sz="1800" b="1" kern="1200" dirty="0">
                          <a:solidFill>
                            <a:srgbClr val="FF0000"/>
                          </a:solidFill>
                        </a:rPr>
                        <a:t>&lt;blink&gt;</a:t>
                      </a:r>
                      <a:endParaRPr lang="en-IN" sz="1800" b="1" kern="1200" dirty="0">
                        <a:solidFill>
                          <a:srgbClr val="FF0000"/>
                        </a:solidFill>
                        <a:latin typeface="+mn-lt"/>
                        <a:ea typeface="+mn-ea"/>
                        <a:cs typeface="+mn-cs"/>
                      </a:endParaRPr>
                    </a:p>
                  </a:txBody>
                  <a:tcPr marL="64583" marR="64583" marT="0" marB="0" anchor="ctr"/>
                </a:tc>
                <a:tc>
                  <a:txBody>
                    <a:bodyPr/>
                    <a:lstStyle/>
                    <a:p>
                      <a:pPr marL="0" marR="0" algn="just" defTabSz="914400" rtl="0" eaLnBrk="1" latinLnBrk="0" hangingPunct="1">
                        <a:lnSpc>
                          <a:spcPct val="115000"/>
                        </a:lnSpc>
                        <a:spcBef>
                          <a:spcPts val="0"/>
                        </a:spcBef>
                        <a:spcAft>
                          <a:spcPts val="0"/>
                        </a:spcAft>
                      </a:pPr>
                      <a:r>
                        <a:rPr lang="en-IN" sz="1800" kern="1200" dirty="0">
                          <a:solidFill>
                            <a:srgbClr val="FF0000"/>
                          </a:solidFill>
                        </a:rPr>
                        <a:t>The &lt;blink&gt; tag is used for blinking the text.</a:t>
                      </a:r>
                      <a:endParaRPr lang="en-IN" sz="1800" kern="1200" dirty="0">
                        <a:solidFill>
                          <a:srgbClr val="FF0000"/>
                        </a:solidFill>
                        <a:latin typeface="+mn-lt"/>
                        <a:ea typeface="+mn-ea"/>
                        <a:cs typeface="+mn-cs"/>
                      </a:endParaRPr>
                    </a:p>
                  </a:txBody>
                  <a:tcPr marL="64583" marR="64583"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40217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Forms</a:t>
            </a:r>
          </a:p>
        </p:txBody>
      </p:sp>
      <p:sp>
        <p:nvSpPr>
          <p:cNvPr id="3" name="Content Placeholder 2"/>
          <p:cNvSpPr>
            <a:spLocks noGrp="1"/>
          </p:cNvSpPr>
          <p:nvPr>
            <p:ph idx="1"/>
          </p:nvPr>
        </p:nvSpPr>
        <p:spPr/>
        <p:txBody>
          <a:bodyPr/>
          <a:lstStyle/>
          <a:p>
            <a:pPr marL="342900" lvl="0" indent="-342900" algn="l">
              <a:spcBef>
                <a:spcPct val="20000"/>
              </a:spcBef>
              <a:buClrTx/>
              <a:buFont typeface="Wingdings" panose="05000000000000000000" pitchFamily="2" charset="2"/>
              <a:buChar char="§"/>
              <a:defRPr/>
            </a:pPr>
            <a:r>
              <a:rPr lang="en-US" dirty="0">
                <a:ea typeface="Times New Roman" panose="02020603050405020304" pitchFamily="18" charset="0"/>
                <a:cs typeface="Times New Roman" panose="02020603050405020304" pitchFamily="18" charset="0"/>
              </a:rPr>
              <a:t>HTML forms are used to create GUIs on Web pages</a:t>
            </a:r>
          </a:p>
          <a:p>
            <a:pPr marL="742950" lvl="1" indent="-285750" algn="l">
              <a:spcBef>
                <a:spcPct val="20000"/>
              </a:spcBef>
              <a:buClrTx/>
              <a:buFont typeface="Arial" panose="020B0604020202020204" pitchFamily="34" charset="0"/>
              <a:buChar char="•"/>
              <a:defRPr/>
            </a:pPr>
            <a:r>
              <a:rPr lang="en-US" dirty="0">
                <a:ea typeface="Times New Roman" panose="02020603050405020304" pitchFamily="18" charset="0"/>
                <a:cs typeface="Times New Roman" panose="02020603050405020304" pitchFamily="18" charset="0"/>
              </a:rPr>
              <a:t>Usually the purpose is to ask the user for information</a:t>
            </a:r>
          </a:p>
          <a:p>
            <a:pPr marL="742950" lvl="1" indent="-285750" algn="l">
              <a:spcBef>
                <a:spcPct val="20000"/>
              </a:spcBef>
              <a:buClrTx/>
              <a:buFont typeface="Arial" panose="020B0604020202020204" pitchFamily="34" charset="0"/>
              <a:buChar char="•"/>
              <a:defRPr/>
            </a:pPr>
            <a:r>
              <a:rPr lang="en-US" dirty="0">
                <a:ea typeface="Times New Roman" panose="02020603050405020304" pitchFamily="18" charset="0"/>
                <a:cs typeface="Times New Roman" panose="02020603050405020304" pitchFamily="18" charset="0"/>
              </a:rPr>
              <a:t>The information is then sent back to the server</a:t>
            </a:r>
          </a:p>
          <a:p>
            <a:pPr marL="342900" lvl="0" indent="-342900" algn="l">
              <a:spcBef>
                <a:spcPct val="20000"/>
              </a:spcBef>
              <a:buClrTx/>
              <a:buFont typeface="Wingdings" panose="05000000000000000000" pitchFamily="2" charset="2"/>
              <a:buChar char="§"/>
              <a:defRPr/>
            </a:pPr>
            <a:r>
              <a:rPr lang="en-US" dirty="0">
                <a:ea typeface="Times New Roman" panose="02020603050405020304" pitchFamily="18" charset="0"/>
                <a:cs typeface="Times New Roman" panose="02020603050405020304" pitchFamily="18" charset="0"/>
              </a:rPr>
              <a:t>A </a:t>
            </a:r>
            <a:r>
              <a:rPr lang="en-US" dirty="0">
                <a:solidFill>
                  <a:schemeClr val="tx2"/>
                </a:solidFill>
                <a:ea typeface="Times New Roman" panose="02020603050405020304" pitchFamily="18" charset="0"/>
                <a:cs typeface="Times New Roman" panose="02020603050405020304" pitchFamily="18" charset="0"/>
              </a:rPr>
              <a:t>form</a:t>
            </a:r>
            <a:r>
              <a:rPr lang="en-US" dirty="0">
                <a:ea typeface="Times New Roman" panose="02020603050405020304" pitchFamily="18" charset="0"/>
                <a:cs typeface="Times New Roman" panose="02020603050405020304" pitchFamily="18" charset="0"/>
              </a:rPr>
              <a:t> is an area that can contain </a:t>
            </a:r>
            <a:r>
              <a:rPr lang="en-US" dirty="0">
                <a:solidFill>
                  <a:schemeClr val="tx2"/>
                </a:solidFill>
                <a:ea typeface="Times New Roman" panose="02020603050405020304" pitchFamily="18" charset="0"/>
                <a:cs typeface="Times New Roman" panose="02020603050405020304" pitchFamily="18" charset="0"/>
              </a:rPr>
              <a:t>form elements</a:t>
            </a:r>
          </a:p>
          <a:p>
            <a:pPr marL="742950" lvl="1" indent="-285750" algn="l">
              <a:spcBef>
                <a:spcPct val="20000"/>
              </a:spcBef>
              <a:buClrTx/>
              <a:buFont typeface="Arial" panose="020B0604020202020204" pitchFamily="34" charset="0"/>
              <a:buChar char="•"/>
              <a:defRPr/>
            </a:pPr>
            <a:r>
              <a:rPr lang="en-US" dirty="0">
                <a:ea typeface="Times New Roman" panose="02020603050405020304" pitchFamily="18" charset="0"/>
                <a:cs typeface="Times New Roman" panose="02020603050405020304" pitchFamily="18" charset="0"/>
              </a:rPr>
              <a:t>The syntax is: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&lt;form </a:t>
            </a:r>
            <a:r>
              <a:rPr lang="en-US" b="1" i="1" dirty="0">
                <a:solidFill>
                  <a:schemeClr val="hlink"/>
                </a:solidFill>
                <a:ea typeface="Times New Roman" panose="02020603050405020304" pitchFamily="18" charset="0"/>
                <a:cs typeface="Times New Roman" panose="02020603050405020304" pitchFamily="18" charset="0"/>
              </a:rPr>
              <a:t>parameters</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&gt;</a:t>
            </a:r>
            <a:r>
              <a:rPr lang="en-US" b="1" dirty="0">
                <a:solidFill>
                  <a:schemeClr val="hlink"/>
                </a:solidFill>
                <a:ea typeface="Times New Roman" panose="02020603050405020304" pitchFamily="18" charset="0"/>
                <a:cs typeface="Times New Roman" panose="02020603050405020304" pitchFamily="18" charset="0"/>
              </a:rPr>
              <a:t> </a:t>
            </a:r>
            <a:r>
              <a:rPr lang="en-US" b="1" i="1" dirty="0">
                <a:solidFill>
                  <a:schemeClr val="hlink"/>
                </a:solidFill>
                <a:ea typeface="Times New Roman" panose="02020603050405020304" pitchFamily="18" charset="0"/>
                <a:cs typeface="Times New Roman" panose="02020603050405020304" pitchFamily="18" charset="0"/>
              </a:rPr>
              <a:t>...form elements...</a:t>
            </a:r>
            <a:r>
              <a:rPr lang="en-US" dirty="0">
                <a:solidFill>
                  <a:schemeClr val="accent2"/>
                </a:solidFill>
                <a:ea typeface="Times New Roman" panose="02020603050405020304" pitchFamily="18" charset="0"/>
                <a:cs typeface="Times New Roman" panose="02020603050405020304" pitchFamily="18" charset="0"/>
              </a:rPr>
              <a:t>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&lt;/form&gt;</a:t>
            </a:r>
          </a:p>
          <a:p>
            <a:pPr marL="742950" lvl="1" indent="-285750" algn="l">
              <a:spcBef>
                <a:spcPct val="20000"/>
              </a:spcBef>
              <a:buClrTx/>
              <a:buFont typeface="Arial" panose="020B0604020202020204" pitchFamily="34" charset="0"/>
              <a:buChar char="•"/>
              <a:defRPr/>
            </a:pPr>
            <a:r>
              <a:rPr lang="en-US" dirty="0">
                <a:ea typeface="Times New Roman" panose="02020603050405020304" pitchFamily="18" charset="0"/>
                <a:cs typeface="Times New Roman" panose="02020603050405020304" pitchFamily="18" charset="0"/>
              </a:rPr>
              <a:t>Form elements include: buttons, checkboxes, text fields, radio buttons, drop-down menus, </a:t>
            </a:r>
            <a:r>
              <a:rPr lang="en-US" dirty="0" err="1">
                <a:ea typeface="Times New Roman" panose="02020603050405020304" pitchFamily="18" charset="0"/>
                <a:cs typeface="Times New Roman" panose="02020603050405020304" pitchFamily="18" charset="0"/>
              </a:rPr>
              <a:t>etc</a:t>
            </a:r>
            <a:endParaRPr lang="en-US" dirty="0">
              <a:ea typeface="Times New Roman" panose="02020603050405020304" pitchFamily="18" charset="0"/>
              <a:cs typeface="Times New Roman" panose="02020603050405020304" pitchFamily="18" charset="0"/>
            </a:endParaRPr>
          </a:p>
          <a:p>
            <a:pPr lvl="2" algn="l">
              <a:spcBef>
                <a:spcPct val="20000"/>
              </a:spcBef>
              <a:buClrTx/>
              <a:buFont typeface="Arial" pitchFamily="34" charset="0"/>
              <a:buChar char="•"/>
              <a:defRPr/>
            </a:pPr>
            <a:r>
              <a:rPr lang="en-US" dirty="0">
                <a:ea typeface="Times New Roman" panose="02020603050405020304" pitchFamily="18" charset="0"/>
                <a:cs typeface="Times New Roman" panose="02020603050405020304" pitchFamily="18" charset="0"/>
              </a:rPr>
              <a:t>Other kinds of HTML tags can be mixed in with the form elements</a:t>
            </a:r>
          </a:p>
          <a:p>
            <a:pPr marL="742950" lvl="1" indent="-285750" algn="l">
              <a:spcBef>
                <a:spcPct val="20000"/>
              </a:spcBef>
              <a:buClrTx/>
              <a:buFont typeface="Arial" panose="020B0604020202020204" pitchFamily="34" charset="0"/>
              <a:buChar char="•"/>
              <a:defRPr/>
            </a:pPr>
            <a:r>
              <a:rPr lang="en-US" dirty="0">
                <a:ea typeface="Times New Roman" panose="02020603050405020304" pitchFamily="18" charset="0"/>
                <a:cs typeface="Times New Roman" panose="02020603050405020304" pitchFamily="18" charset="0"/>
              </a:rPr>
              <a:t>A form usually contains a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Submit</a:t>
            </a:r>
            <a:r>
              <a:rPr lang="en-US" dirty="0">
                <a:ea typeface="Times New Roman" panose="02020603050405020304" pitchFamily="18" charset="0"/>
                <a:cs typeface="Times New Roman" panose="02020603050405020304" pitchFamily="18" charset="0"/>
              </a:rPr>
              <a:t> button to send the information in the form elements to the server</a:t>
            </a:r>
          </a:p>
          <a:p>
            <a:pPr marL="742950" lvl="1" indent="-285750" algn="l">
              <a:spcBef>
                <a:spcPct val="20000"/>
              </a:spcBef>
              <a:buClrTx/>
              <a:buFont typeface="Arial" panose="020B0604020202020204" pitchFamily="34" charset="0"/>
              <a:buChar char="•"/>
              <a:defRPr/>
            </a:pPr>
            <a:r>
              <a:rPr lang="en-US" dirty="0">
                <a:ea typeface="Times New Roman" panose="02020603050405020304" pitchFamily="18" charset="0"/>
                <a:cs typeface="Times New Roman" panose="02020603050405020304" pitchFamily="18" charset="0"/>
              </a:rPr>
              <a:t>The form’s </a:t>
            </a:r>
            <a:r>
              <a:rPr lang="en-US" b="1" i="1" dirty="0">
                <a:solidFill>
                  <a:schemeClr val="hlink"/>
                </a:solidFill>
                <a:ea typeface="Times New Roman" panose="02020603050405020304" pitchFamily="18" charset="0"/>
                <a:cs typeface="Times New Roman" panose="02020603050405020304" pitchFamily="18" charset="0"/>
              </a:rPr>
              <a:t>parameters</a:t>
            </a:r>
            <a:r>
              <a:rPr lang="en-US" dirty="0">
                <a:solidFill>
                  <a:schemeClr val="accent2"/>
                </a:solidFill>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tell browser how to send the information to the server (there are two different ways it could be sent)</a:t>
            </a:r>
          </a:p>
        </p:txBody>
      </p:sp>
    </p:spTree>
    <p:extLst>
      <p:ext uri="{BB962C8B-B14F-4D97-AF65-F5344CB8AC3E}">
        <p14:creationId xmlns:p14="http://schemas.microsoft.com/office/powerpoint/2010/main" val="426353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&lt;form&gt; Tag</a:t>
            </a:r>
          </a:p>
        </p:txBody>
      </p:sp>
      <p:sp>
        <p:nvSpPr>
          <p:cNvPr id="3" name="Content Placeholder 2"/>
          <p:cNvSpPr>
            <a:spLocks noGrp="1"/>
          </p:cNvSpPr>
          <p:nvPr>
            <p:ph idx="1"/>
          </p:nvPr>
        </p:nvSpPr>
        <p:spPr/>
        <p:txBody>
          <a:bodyPr/>
          <a:lstStyle/>
          <a:p>
            <a:pPr marL="342900" lvl="0" indent="-342900" algn="l">
              <a:spcBef>
                <a:spcPct val="20000"/>
              </a:spcBef>
              <a:buClrTx/>
              <a:buFont typeface="Wingdings" panose="05000000000000000000" pitchFamily="2" charset="2"/>
              <a:buChar char="§"/>
              <a:defRPr/>
            </a:pPr>
            <a:r>
              <a:rPr lang="en-US" dirty="0">
                <a:ea typeface="Times New Roman" panose="02020603050405020304" pitchFamily="18" charset="0"/>
                <a:cs typeface="Times New Roman" panose="02020603050405020304" pitchFamily="18" charset="0"/>
              </a:rPr>
              <a:t>The</a:t>
            </a:r>
            <a:r>
              <a:rPr lang="en-US" dirty="0">
                <a:solidFill>
                  <a:schemeClr val="accent2"/>
                </a:solidFill>
                <a:ea typeface="Times New Roman" panose="02020603050405020304" pitchFamily="18" charset="0"/>
                <a:cs typeface="Times New Roman" panose="02020603050405020304" pitchFamily="18" charset="0"/>
              </a:rPr>
              <a:t>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&lt;form </a:t>
            </a:r>
            <a:r>
              <a:rPr lang="en-US" b="1" i="1" dirty="0">
                <a:solidFill>
                  <a:schemeClr val="hlink"/>
                </a:solidFill>
                <a:ea typeface="Times New Roman" panose="02020603050405020304" pitchFamily="18" charset="0"/>
                <a:cs typeface="Times New Roman" panose="02020603050405020304" pitchFamily="18" charset="0"/>
              </a:rPr>
              <a:t>arguments</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&gt; ... &lt;/form&gt;</a:t>
            </a:r>
            <a:r>
              <a:rPr lang="en-US" dirty="0">
                <a:ea typeface="Times New Roman" panose="02020603050405020304" pitchFamily="18" charset="0"/>
                <a:cs typeface="Times New Roman" panose="02020603050405020304" pitchFamily="18" charset="0"/>
              </a:rPr>
              <a:t> tag encloses form elements (and probably other HTML as well)</a:t>
            </a:r>
          </a:p>
          <a:p>
            <a:pPr marL="342900" lvl="0" indent="-342900" algn="l">
              <a:spcBef>
                <a:spcPct val="20000"/>
              </a:spcBef>
              <a:buClrTx/>
              <a:buFont typeface="Wingdings" panose="05000000000000000000" pitchFamily="2" charset="2"/>
              <a:buChar char="§"/>
              <a:defRPr/>
            </a:pPr>
            <a:r>
              <a:rPr lang="en-US" dirty="0">
                <a:ea typeface="Times New Roman" panose="02020603050405020304" pitchFamily="18" charset="0"/>
                <a:cs typeface="Times New Roman" panose="02020603050405020304" pitchFamily="18" charset="0"/>
              </a:rPr>
              <a:t>The arguments to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form</a:t>
            </a:r>
            <a:r>
              <a:rPr lang="en-US" dirty="0">
                <a:ea typeface="Times New Roman" panose="02020603050405020304" pitchFamily="18" charset="0"/>
                <a:cs typeface="Times New Roman" panose="02020603050405020304" pitchFamily="18" charset="0"/>
              </a:rPr>
              <a:t> tell what to do with the user input</a:t>
            </a:r>
          </a:p>
          <a:p>
            <a:pPr marL="742950" lvl="1" indent="-285750" algn="l">
              <a:spcBef>
                <a:spcPct val="20000"/>
              </a:spcBef>
              <a:buClrTx/>
              <a:buFont typeface="Arial" panose="020B0604020202020204" pitchFamily="34" charset="0"/>
              <a:buChar char="•"/>
              <a:defRPr/>
            </a:pPr>
            <a:r>
              <a:rPr lang="en-US" dirty="0">
                <a:latin typeface="Trebuchet MS" pitchFamily="34" charset="0"/>
                <a:ea typeface="Times New Roman" panose="02020603050405020304" pitchFamily="18" charset="0"/>
                <a:cs typeface="Times New Roman" panose="02020603050405020304" pitchFamily="18" charset="0"/>
              </a:rPr>
              <a:t>action="</a:t>
            </a:r>
            <a:r>
              <a:rPr lang="en-US" b="1" i="1" dirty="0" err="1">
                <a:ea typeface="Times New Roman" panose="02020603050405020304" pitchFamily="18" charset="0"/>
                <a:cs typeface="Times New Roman" panose="02020603050405020304" pitchFamily="18" charset="0"/>
              </a:rPr>
              <a:t>url</a:t>
            </a:r>
            <a:r>
              <a:rPr lang="en-US" dirty="0">
                <a:ea typeface="Times New Roman" panose="02020603050405020304" pitchFamily="18" charset="0"/>
                <a:cs typeface="Times New Roman" panose="02020603050405020304" pitchFamily="18" charset="0"/>
              </a:rPr>
              <a:t>"</a:t>
            </a:r>
            <a:r>
              <a:rPr lang="en-US" dirty="0">
                <a:solidFill>
                  <a:schemeClr val="accent2"/>
                </a:solidFill>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(required)</a:t>
            </a:r>
          </a:p>
          <a:p>
            <a:pPr lvl="2" algn="l">
              <a:spcBef>
                <a:spcPct val="20000"/>
              </a:spcBef>
              <a:buClrTx/>
              <a:buFont typeface="Arial" pitchFamily="34" charset="0"/>
              <a:buChar char="•"/>
              <a:defRPr/>
            </a:pPr>
            <a:r>
              <a:rPr lang="en-US" dirty="0">
                <a:ea typeface="Times New Roman" panose="02020603050405020304" pitchFamily="18" charset="0"/>
                <a:cs typeface="Times New Roman" panose="02020603050405020304" pitchFamily="18" charset="0"/>
              </a:rPr>
              <a:t>Specifies where to send the data when the</a:t>
            </a:r>
            <a:r>
              <a:rPr lang="en-US" dirty="0">
                <a:solidFill>
                  <a:schemeClr val="accent2"/>
                </a:solidFill>
                <a:ea typeface="Times New Roman" panose="02020603050405020304" pitchFamily="18" charset="0"/>
                <a:cs typeface="Times New Roman" panose="02020603050405020304" pitchFamily="18" charset="0"/>
              </a:rPr>
              <a:t>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Submit</a:t>
            </a:r>
            <a:r>
              <a:rPr lang="en-US" dirty="0">
                <a:solidFill>
                  <a:schemeClr val="accent2"/>
                </a:solidFill>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button is clicked</a:t>
            </a:r>
          </a:p>
          <a:p>
            <a:pPr marL="742950" lvl="1" indent="-285750" algn="l">
              <a:spcBef>
                <a:spcPct val="20000"/>
              </a:spcBef>
              <a:buClrTx/>
              <a:buFont typeface="Arial" panose="020B0604020202020204" pitchFamily="34" charset="0"/>
              <a:buChar char="•"/>
              <a:defRPr/>
            </a:pPr>
            <a:r>
              <a:rPr lang="en-US" dirty="0">
                <a:latin typeface="Trebuchet MS" pitchFamily="34" charset="0"/>
                <a:ea typeface="Times New Roman" panose="02020603050405020304" pitchFamily="18" charset="0"/>
                <a:cs typeface="Times New Roman" panose="02020603050405020304" pitchFamily="18" charset="0"/>
              </a:rPr>
              <a:t>method="</a:t>
            </a:r>
            <a:r>
              <a:rPr lang="en-US" b="1" dirty="0">
                <a:latin typeface="Trebuchet MS" pitchFamily="34" charset="0"/>
                <a:ea typeface="Times New Roman" panose="02020603050405020304" pitchFamily="18" charset="0"/>
                <a:cs typeface="Times New Roman" panose="02020603050405020304" pitchFamily="18" charset="0"/>
              </a:rPr>
              <a:t>get</a:t>
            </a:r>
            <a:r>
              <a:rPr lang="en-US" dirty="0">
                <a:latin typeface="Trebuchet MS" pitchFamily="34" charset="0"/>
                <a:ea typeface="Times New Roman" panose="02020603050405020304" pitchFamily="18" charset="0"/>
                <a:cs typeface="Times New Roman" panose="02020603050405020304" pitchFamily="18" charset="0"/>
              </a:rPr>
              <a:t>"</a:t>
            </a:r>
            <a:r>
              <a:rPr lang="en-US" dirty="0">
                <a:ea typeface="Times New Roman" panose="02020603050405020304" pitchFamily="18" charset="0"/>
                <a:cs typeface="Times New Roman" panose="02020603050405020304" pitchFamily="18" charset="0"/>
              </a:rPr>
              <a:t>	(default)</a:t>
            </a:r>
          </a:p>
          <a:p>
            <a:pPr lvl="2" algn="l">
              <a:spcBef>
                <a:spcPct val="20000"/>
              </a:spcBef>
              <a:buClrTx/>
              <a:buFont typeface="Arial" pitchFamily="34" charset="0"/>
              <a:buChar char="•"/>
              <a:defRPr/>
            </a:pPr>
            <a:r>
              <a:rPr lang="en-US" dirty="0">
                <a:ea typeface="Times New Roman" panose="02020603050405020304" pitchFamily="18" charset="0"/>
                <a:cs typeface="Times New Roman" panose="02020603050405020304" pitchFamily="18" charset="0"/>
              </a:rPr>
              <a:t>Form data is sent as a URL with</a:t>
            </a:r>
            <a:r>
              <a:rPr lang="en-US" dirty="0">
                <a:solidFill>
                  <a:schemeClr val="accent2"/>
                </a:solidFill>
                <a:ea typeface="Times New Roman" panose="02020603050405020304" pitchFamily="18" charset="0"/>
                <a:cs typeface="Times New Roman" panose="02020603050405020304" pitchFamily="18" charset="0"/>
              </a:rPr>
              <a:t>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a:t>
            </a:r>
            <a:r>
              <a:rPr lang="en-US" dirty="0" err="1">
                <a:solidFill>
                  <a:schemeClr val="accent2"/>
                </a:solidFill>
                <a:latin typeface="Trebuchet MS" pitchFamily="34" charset="0"/>
                <a:ea typeface="Times New Roman" panose="02020603050405020304" pitchFamily="18" charset="0"/>
                <a:cs typeface="Times New Roman" panose="02020603050405020304" pitchFamily="18" charset="0"/>
              </a:rPr>
              <a:t>form_data</a:t>
            </a:r>
            <a:r>
              <a:rPr lang="en-US" dirty="0">
                <a:solidFill>
                  <a:schemeClr val="accent2"/>
                </a:solidFill>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info appended to the end</a:t>
            </a:r>
          </a:p>
          <a:p>
            <a:pPr lvl="2" algn="l">
              <a:spcBef>
                <a:spcPct val="20000"/>
              </a:spcBef>
              <a:buClrTx/>
              <a:buFont typeface="Arial" pitchFamily="34" charset="0"/>
              <a:buChar char="•"/>
              <a:defRPr/>
            </a:pPr>
            <a:r>
              <a:rPr lang="en-US" dirty="0">
                <a:ea typeface="Times New Roman" panose="02020603050405020304" pitchFamily="18" charset="0"/>
                <a:cs typeface="Times New Roman" panose="02020603050405020304" pitchFamily="18" charset="0"/>
              </a:rPr>
              <a:t>Can be used </a:t>
            </a:r>
            <a:r>
              <a:rPr lang="en-US" i="1" dirty="0">
                <a:ea typeface="Times New Roman" panose="02020603050405020304" pitchFamily="18" charset="0"/>
                <a:cs typeface="Times New Roman" panose="02020603050405020304" pitchFamily="18" charset="0"/>
              </a:rPr>
              <a:t>only</a:t>
            </a:r>
            <a:r>
              <a:rPr lang="en-US" dirty="0">
                <a:ea typeface="Times New Roman" panose="02020603050405020304" pitchFamily="18" charset="0"/>
                <a:cs typeface="Times New Roman" panose="02020603050405020304" pitchFamily="18" charset="0"/>
              </a:rPr>
              <a:t> if data is all ASCII and not more than 100 characters</a:t>
            </a:r>
          </a:p>
          <a:p>
            <a:pPr marL="742950" lvl="1" indent="-285750" algn="l">
              <a:spcBef>
                <a:spcPct val="20000"/>
              </a:spcBef>
              <a:buClrTx/>
              <a:buFont typeface="Arial" panose="020B0604020202020204" pitchFamily="34" charset="0"/>
              <a:buChar char="•"/>
              <a:defRPr/>
            </a:pPr>
            <a:r>
              <a:rPr lang="en-US" dirty="0">
                <a:latin typeface="Trebuchet MS" pitchFamily="34" charset="0"/>
                <a:ea typeface="Times New Roman" panose="02020603050405020304" pitchFamily="18" charset="0"/>
                <a:cs typeface="Times New Roman" panose="02020603050405020304" pitchFamily="18" charset="0"/>
              </a:rPr>
              <a:t>method="</a:t>
            </a:r>
            <a:r>
              <a:rPr lang="en-US" b="1" dirty="0">
                <a:latin typeface="Trebuchet MS" pitchFamily="34" charset="0"/>
                <a:ea typeface="Times New Roman" panose="02020603050405020304" pitchFamily="18" charset="0"/>
                <a:cs typeface="Times New Roman" panose="02020603050405020304" pitchFamily="18" charset="0"/>
              </a:rPr>
              <a:t>post</a:t>
            </a:r>
            <a:r>
              <a:rPr lang="en-US" dirty="0">
                <a:latin typeface="Trebuchet MS" pitchFamily="34" charset="0"/>
                <a:ea typeface="Times New Roman" panose="02020603050405020304" pitchFamily="18" charset="0"/>
                <a:cs typeface="Times New Roman" panose="02020603050405020304" pitchFamily="18" charset="0"/>
              </a:rPr>
              <a:t>"</a:t>
            </a:r>
          </a:p>
          <a:p>
            <a:pPr lvl="2" algn="l">
              <a:spcBef>
                <a:spcPct val="20000"/>
              </a:spcBef>
              <a:buClrTx/>
              <a:buFont typeface="Arial" pitchFamily="34" charset="0"/>
              <a:buChar char="•"/>
              <a:defRPr/>
            </a:pPr>
            <a:r>
              <a:rPr lang="en-US" dirty="0">
                <a:ea typeface="Times New Roman" panose="02020603050405020304" pitchFamily="18" charset="0"/>
                <a:cs typeface="Times New Roman" panose="02020603050405020304" pitchFamily="18" charset="0"/>
              </a:rPr>
              <a:t>Form data is sent in the body of the URL request</a:t>
            </a:r>
          </a:p>
          <a:p>
            <a:pPr lvl="2" algn="l">
              <a:spcBef>
                <a:spcPct val="20000"/>
              </a:spcBef>
              <a:buClrTx/>
              <a:buFont typeface="Arial" pitchFamily="34" charset="0"/>
              <a:buChar char="•"/>
              <a:defRPr/>
            </a:pPr>
            <a:r>
              <a:rPr lang="en-US" dirty="0">
                <a:ea typeface="Times New Roman" panose="02020603050405020304" pitchFamily="18" charset="0"/>
                <a:cs typeface="Times New Roman" panose="02020603050405020304" pitchFamily="18" charset="0"/>
              </a:rPr>
              <a:t>Cannot be bookmarked by most browsers</a:t>
            </a:r>
          </a:p>
          <a:p>
            <a:pPr marL="742950" lvl="1" indent="-285750" algn="l">
              <a:spcBef>
                <a:spcPct val="20000"/>
              </a:spcBef>
              <a:buClrTx/>
              <a:buFont typeface="Arial" panose="020B0604020202020204" pitchFamily="34" charset="0"/>
              <a:buChar char="•"/>
              <a:defRPr/>
            </a:pPr>
            <a:r>
              <a:rPr lang="en-US" dirty="0">
                <a:latin typeface="Trebuchet MS" pitchFamily="34" charset="0"/>
                <a:ea typeface="Times New Roman" panose="02020603050405020304" pitchFamily="18" charset="0"/>
                <a:cs typeface="Times New Roman" panose="02020603050405020304" pitchFamily="18" charset="0"/>
              </a:rPr>
              <a:t>target="</a:t>
            </a:r>
            <a:r>
              <a:rPr lang="en-US" b="1" i="1" dirty="0">
                <a:ea typeface="Times New Roman" panose="02020603050405020304" pitchFamily="18" charset="0"/>
                <a:cs typeface="Times New Roman" panose="02020603050405020304" pitchFamily="18" charset="0"/>
              </a:rPr>
              <a:t>target</a:t>
            </a:r>
            <a:r>
              <a:rPr lang="en-US" dirty="0">
                <a:latin typeface="Trebuchet MS" pitchFamily="34" charset="0"/>
                <a:ea typeface="Times New Roman" panose="02020603050405020304" pitchFamily="18" charset="0"/>
                <a:cs typeface="Times New Roman" panose="02020603050405020304" pitchFamily="18" charset="0"/>
              </a:rPr>
              <a:t>"</a:t>
            </a:r>
          </a:p>
          <a:p>
            <a:pPr lvl="2" algn="l">
              <a:spcBef>
                <a:spcPct val="20000"/>
              </a:spcBef>
              <a:buClrTx/>
              <a:buFont typeface="Arial" pitchFamily="34" charset="0"/>
              <a:buChar char="•"/>
              <a:defRPr/>
            </a:pPr>
            <a:r>
              <a:rPr lang="en-US" dirty="0">
                <a:ea typeface="Times New Roman" panose="02020603050405020304" pitchFamily="18" charset="0"/>
                <a:cs typeface="Times New Roman" panose="02020603050405020304" pitchFamily="18" charset="0"/>
              </a:rPr>
              <a:t>Tells where to open the page sent as a result of the request</a:t>
            </a:r>
          </a:p>
          <a:p>
            <a:pPr lvl="2" algn="l">
              <a:spcBef>
                <a:spcPct val="20000"/>
              </a:spcBef>
              <a:buClrTx/>
              <a:buFont typeface="Arial" pitchFamily="34" charset="0"/>
              <a:buChar char="•"/>
              <a:defRPr/>
            </a:pPr>
            <a:r>
              <a:rPr lang="en-US" b="1" i="1" dirty="0">
                <a:solidFill>
                  <a:schemeClr val="hlink"/>
                </a:solidFill>
                <a:ea typeface="Times New Roman" panose="02020603050405020304" pitchFamily="18" charset="0"/>
                <a:cs typeface="Times New Roman" panose="02020603050405020304" pitchFamily="18" charset="0"/>
              </a:rPr>
              <a:t>target</a:t>
            </a:r>
            <a:r>
              <a:rPr lang="en-US" b="1" dirty="0">
                <a:solidFill>
                  <a:schemeClr val="accent2"/>
                </a:solidFill>
                <a:ea typeface="Times New Roman" panose="02020603050405020304" pitchFamily="18" charset="0"/>
                <a:cs typeface="Times New Roman" panose="02020603050405020304" pitchFamily="18" charset="0"/>
              </a:rPr>
              <a:t>=</a:t>
            </a:r>
            <a:r>
              <a:rPr lang="en-US" dirty="0">
                <a:solidFill>
                  <a:schemeClr val="accent2"/>
                </a:solidFill>
                <a:ea typeface="Times New Roman" panose="02020603050405020304" pitchFamily="18" charset="0"/>
                <a:cs typeface="Times New Roman" panose="02020603050405020304" pitchFamily="18" charset="0"/>
              </a:rPr>
              <a:t>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_blank</a:t>
            </a:r>
            <a:r>
              <a:rPr lang="en-US" dirty="0">
                <a:solidFill>
                  <a:schemeClr val="accent2"/>
                </a:solidFill>
                <a:ea typeface="Times New Roman" panose="02020603050405020304" pitchFamily="18" charset="0"/>
                <a:cs typeface="Times New Roman" panose="02020603050405020304" pitchFamily="18" charset="0"/>
              </a:rPr>
              <a:t> </a:t>
            </a:r>
            <a:r>
              <a:rPr lang="en-US" dirty="0">
                <a:ea typeface="Times New Roman" panose="02020603050405020304" pitchFamily="18" charset="0"/>
                <a:cs typeface="Times New Roman" panose="02020603050405020304" pitchFamily="18" charset="0"/>
              </a:rPr>
              <a:t>means open in a new window</a:t>
            </a:r>
          </a:p>
          <a:p>
            <a:pPr lvl="2" algn="l">
              <a:spcBef>
                <a:spcPct val="20000"/>
              </a:spcBef>
              <a:buClrTx/>
              <a:buFont typeface="Arial" pitchFamily="34" charset="0"/>
              <a:buChar char="•"/>
              <a:defRPr/>
            </a:pPr>
            <a:r>
              <a:rPr lang="en-US" b="1" i="1" dirty="0">
                <a:solidFill>
                  <a:schemeClr val="hlink"/>
                </a:solidFill>
                <a:ea typeface="Times New Roman" panose="02020603050405020304" pitchFamily="18" charset="0"/>
                <a:cs typeface="Times New Roman" panose="02020603050405020304" pitchFamily="18" charset="0"/>
              </a:rPr>
              <a:t>target</a:t>
            </a:r>
            <a:r>
              <a:rPr lang="en-US" b="1" dirty="0">
                <a:solidFill>
                  <a:schemeClr val="accent2"/>
                </a:solidFill>
                <a:ea typeface="Times New Roman" panose="02020603050405020304" pitchFamily="18" charset="0"/>
                <a:cs typeface="Times New Roman" panose="02020603050405020304" pitchFamily="18" charset="0"/>
              </a:rPr>
              <a:t>=</a:t>
            </a:r>
            <a:r>
              <a:rPr lang="en-US" dirty="0">
                <a:solidFill>
                  <a:schemeClr val="accent2"/>
                </a:solidFill>
                <a:ea typeface="Times New Roman" panose="02020603050405020304" pitchFamily="18" charset="0"/>
                <a:cs typeface="Times New Roman" panose="02020603050405020304" pitchFamily="18" charset="0"/>
              </a:rPr>
              <a:t> </a:t>
            </a:r>
            <a:r>
              <a:rPr lang="en-US" dirty="0">
                <a:solidFill>
                  <a:schemeClr val="accent2"/>
                </a:solidFill>
                <a:latin typeface="Trebuchet MS" pitchFamily="34" charset="0"/>
                <a:ea typeface="Times New Roman" panose="02020603050405020304" pitchFamily="18" charset="0"/>
                <a:cs typeface="Times New Roman" panose="02020603050405020304" pitchFamily="18" charset="0"/>
              </a:rPr>
              <a:t>_top</a:t>
            </a:r>
            <a:r>
              <a:rPr lang="en-US" dirty="0">
                <a:ea typeface="Times New Roman" panose="02020603050405020304" pitchFamily="18" charset="0"/>
                <a:cs typeface="Times New Roman" panose="02020603050405020304" pitchFamily="18" charset="0"/>
              </a:rPr>
              <a:t> means use the same window</a:t>
            </a:r>
          </a:p>
          <a:p>
            <a:endParaRPr lang="en-US" dirty="0"/>
          </a:p>
        </p:txBody>
      </p:sp>
    </p:spTree>
    <p:extLst>
      <p:ext uri="{BB962C8B-B14F-4D97-AF65-F5344CB8AC3E}">
        <p14:creationId xmlns:p14="http://schemas.microsoft.com/office/powerpoint/2010/main" val="320219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0" end="10"/>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bldLvl="2"/>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 Elements</a:t>
            </a:r>
          </a:p>
        </p:txBody>
      </p:sp>
      <p:sp>
        <p:nvSpPr>
          <p:cNvPr id="3" name="Content Placeholder 2"/>
          <p:cNvSpPr>
            <a:spLocks noGrp="1"/>
          </p:cNvSpPr>
          <p:nvPr>
            <p:ph idx="1"/>
          </p:nvPr>
        </p:nvSpPr>
        <p:spPr/>
        <p:txBody>
          <a:bodyPr/>
          <a:lstStyle/>
          <a:p>
            <a:r>
              <a:rPr lang="en-US" dirty="0"/>
              <a:t>Input</a:t>
            </a:r>
          </a:p>
          <a:p>
            <a:r>
              <a:rPr lang="en-US" dirty="0"/>
              <a:t>Select</a:t>
            </a:r>
          </a:p>
          <a:p>
            <a:r>
              <a:rPr lang="en-US" dirty="0" err="1"/>
              <a:t>Textarea</a:t>
            </a:r>
            <a:endParaRPr lang="en-US" dirty="0"/>
          </a:p>
          <a:p>
            <a:r>
              <a:rPr lang="en-US" dirty="0"/>
              <a:t>Button</a:t>
            </a:r>
          </a:p>
          <a:p>
            <a:r>
              <a:rPr lang="en-US" dirty="0"/>
              <a:t>Label</a:t>
            </a:r>
          </a:p>
          <a:p>
            <a:r>
              <a:rPr lang="en-US" dirty="0" err="1"/>
              <a:t>Fieldset</a:t>
            </a:r>
            <a:endParaRPr lang="en-US" dirty="0"/>
          </a:p>
          <a:p>
            <a:r>
              <a:rPr lang="en-US" dirty="0"/>
              <a:t>Legend</a:t>
            </a:r>
          </a:p>
          <a:p>
            <a:r>
              <a:rPr lang="en-US" dirty="0"/>
              <a:t>Etc…</a:t>
            </a:r>
          </a:p>
          <a:p>
            <a:endParaRPr lang="en-US" dirty="0"/>
          </a:p>
        </p:txBody>
      </p:sp>
      <p:sp>
        <p:nvSpPr>
          <p:cNvPr id="4" name="TextBox 3"/>
          <p:cNvSpPr txBox="1"/>
          <p:nvPr/>
        </p:nvSpPr>
        <p:spPr>
          <a:xfrm>
            <a:off x="3627121" y="863444"/>
            <a:ext cx="2468879" cy="2585323"/>
          </a:xfrm>
          <a:prstGeom prst="rect">
            <a:avLst/>
          </a:prstGeom>
          <a:noFill/>
        </p:spPr>
        <p:txBody>
          <a:bodyPr wrap="square" rtlCol="0">
            <a:spAutoFit/>
          </a:bodyPr>
          <a:lstStyle/>
          <a:p>
            <a:r>
              <a:rPr lang="en-US" b="1" dirty="0"/>
              <a:t>Input Types (HTML4)</a:t>
            </a:r>
          </a:p>
          <a:p>
            <a:pPr marL="285750" indent="-285750">
              <a:buFont typeface="Wingdings" panose="05000000000000000000" pitchFamily="2" charset="2"/>
              <a:buChar char="§"/>
            </a:pPr>
            <a:r>
              <a:rPr lang="en-US" dirty="0"/>
              <a:t>text</a:t>
            </a:r>
          </a:p>
          <a:p>
            <a:pPr marL="285750" indent="-285750">
              <a:buFont typeface="Wingdings" panose="05000000000000000000" pitchFamily="2" charset="2"/>
              <a:buChar char="§"/>
            </a:pPr>
            <a:r>
              <a:rPr lang="en-US" dirty="0"/>
              <a:t>password</a:t>
            </a:r>
          </a:p>
          <a:p>
            <a:pPr marL="285750" indent="-285750">
              <a:buFont typeface="Wingdings" panose="05000000000000000000" pitchFamily="2" charset="2"/>
              <a:buChar char="§"/>
            </a:pPr>
            <a:r>
              <a:rPr lang="en-US" dirty="0"/>
              <a:t>checkbox</a:t>
            </a:r>
          </a:p>
          <a:p>
            <a:pPr marL="285750" indent="-285750">
              <a:buFont typeface="Wingdings" panose="05000000000000000000" pitchFamily="2" charset="2"/>
              <a:buChar char="§"/>
            </a:pPr>
            <a:r>
              <a:rPr lang="en-US" dirty="0"/>
              <a:t>radio</a:t>
            </a:r>
          </a:p>
          <a:p>
            <a:pPr marL="285750" indent="-285750">
              <a:buFont typeface="Wingdings" panose="05000000000000000000" pitchFamily="2" charset="2"/>
              <a:buChar char="§"/>
            </a:pPr>
            <a:r>
              <a:rPr lang="en-US" dirty="0"/>
              <a:t>submit</a:t>
            </a:r>
          </a:p>
          <a:p>
            <a:pPr marL="285750" indent="-285750">
              <a:buFont typeface="Wingdings" panose="05000000000000000000" pitchFamily="2" charset="2"/>
              <a:buChar char="§"/>
            </a:pPr>
            <a:r>
              <a:rPr lang="en-US" dirty="0"/>
              <a:t>button</a:t>
            </a:r>
          </a:p>
          <a:p>
            <a:pPr marL="285750" indent="-285750">
              <a:buFont typeface="Wingdings" panose="05000000000000000000" pitchFamily="2" charset="2"/>
              <a:buChar char="§"/>
            </a:pPr>
            <a:r>
              <a:rPr lang="en-US" dirty="0"/>
              <a:t>reset</a:t>
            </a:r>
          </a:p>
          <a:p>
            <a:pPr marL="285750" indent="-285750">
              <a:buFont typeface="Wingdings" panose="05000000000000000000" pitchFamily="2" charset="2"/>
              <a:buChar char="§"/>
            </a:pPr>
            <a:r>
              <a:rPr lang="en-US" dirty="0"/>
              <a:t>file</a:t>
            </a:r>
          </a:p>
        </p:txBody>
      </p:sp>
      <p:sp>
        <p:nvSpPr>
          <p:cNvPr id="5" name="TextBox 4"/>
          <p:cNvSpPr txBox="1"/>
          <p:nvPr/>
        </p:nvSpPr>
        <p:spPr>
          <a:xfrm>
            <a:off x="6084444" y="863444"/>
            <a:ext cx="2468879" cy="3693319"/>
          </a:xfrm>
          <a:prstGeom prst="rect">
            <a:avLst/>
          </a:prstGeom>
          <a:noFill/>
        </p:spPr>
        <p:txBody>
          <a:bodyPr wrap="square" rtlCol="0">
            <a:spAutoFit/>
          </a:bodyPr>
          <a:lstStyle/>
          <a:p>
            <a:r>
              <a:rPr lang="en-US" b="1" dirty="0"/>
              <a:t>Input Types (HTML5)</a:t>
            </a:r>
          </a:p>
          <a:p>
            <a:pPr marL="285750" indent="-285750">
              <a:buFont typeface="Wingdings" panose="05000000000000000000" pitchFamily="2" charset="2"/>
              <a:buChar char="§"/>
            </a:pPr>
            <a:r>
              <a:rPr lang="en-US" dirty="0"/>
              <a:t>number</a:t>
            </a:r>
          </a:p>
          <a:p>
            <a:pPr marL="285750" indent="-285750">
              <a:buFont typeface="Wingdings" panose="05000000000000000000" pitchFamily="2" charset="2"/>
              <a:buChar char="§"/>
            </a:pPr>
            <a:r>
              <a:rPr lang="en-US" dirty="0"/>
              <a:t>email</a:t>
            </a:r>
          </a:p>
          <a:p>
            <a:pPr marL="285750" indent="-285750">
              <a:buFont typeface="Wingdings" panose="05000000000000000000" pitchFamily="2" charset="2"/>
              <a:buChar char="§"/>
            </a:pPr>
            <a:r>
              <a:rPr lang="en-US" dirty="0"/>
              <a:t>search</a:t>
            </a:r>
          </a:p>
          <a:p>
            <a:pPr marL="285750" indent="-285750">
              <a:buFont typeface="Wingdings" panose="05000000000000000000" pitchFamily="2" charset="2"/>
              <a:buChar char="§"/>
            </a:pPr>
            <a:r>
              <a:rPr lang="en-US" dirty="0" err="1"/>
              <a:t>url</a:t>
            </a:r>
            <a:endParaRPr lang="en-US" dirty="0"/>
          </a:p>
          <a:p>
            <a:pPr marL="285750" indent="-285750">
              <a:buFont typeface="Wingdings" panose="05000000000000000000" pitchFamily="2" charset="2"/>
              <a:buChar char="§"/>
            </a:pPr>
            <a:r>
              <a:rPr lang="en-US" dirty="0" err="1"/>
              <a:t>tel</a:t>
            </a:r>
            <a:endParaRPr lang="en-US" dirty="0"/>
          </a:p>
          <a:p>
            <a:pPr marL="285750" indent="-285750">
              <a:buFont typeface="Wingdings" panose="05000000000000000000" pitchFamily="2" charset="2"/>
              <a:buChar char="§"/>
            </a:pPr>
            <a:r>
              <a:rPr lang="en-US" dirty="0"/>
              <a:t>range </a:t>
            </a:r>
          </a:p>
          <a:p>
            <a:pPr marL="285750" indent="-285750">
              <a:buFont typeface="Wingdings" panose="05000000000000000000" pitchFamily="2" charset="2"/>
              <a:buChar char="§"/>
            </a:pPr>
            <a:r>
              <a:rPr lang="en-US" dirty="0"/>
              <a:t>color</a:t>
            </a:r>
          </a:p>
          <a:p>
            <a:pPr marL="285750" indent="-285750">
              <a:buFont typeface="Wingdings" panose="05000000000000000000" pitchFamily="2" charset="2"/>
              <a:buChar char="§"/>
            </a:pPr>
            <a:r>
              <a:rPr lang="en-US" dirty="0"/>
              <a:t>date</a:t>
            </a:r>
          </a:p>
          <a:p>
            <a:pPr marL="285750" indent="-285750">
              <a:buFont typeface="Wingdings" panose="05000000000000000000" pitchFamily="2" charset="2"/>
              <a:buChar char="§"/>
            </a:pPr>
            <a:r>
              <a:rPr lang="en-US" dirty="0"/>
              <a:t>time</a:t>
            </a:r>
          </a:p>
          <a:p>
            <a:pPr marL="285750" indent="-285750">
              <a:buFont typeface="Wingdings" panose="05000000000000000000" pitchFamily="2" charset="2"/>
              <a:buChar char="§"/>
            </a:pPr>
            <a:r>
              <a:rPr lang="en-US" dirty="0" err="1"/>
              <a:t>datetime</a:t>
            </a:r>
            <a:r>
              <a:rPr lang="en-US" dirty="0"/>
              <a:t>-local</a:t>
            </a:r>
          </a:p>
          <a:p>
            <a:pPr marL="285750" indent="-285750">
              <a:buFont typeface="Wingdings" panose="05000000000000000000" pitchFamily="2" charset="2"/>
              <a:buChar char="§"/>
            </a:pPr>
            <a:r>
              <a:rPr lang="en-US" dirty="0"/>
              <a:t>month</a:t>
            </a:r>
          </a:p>
          <a:p>
            <a:pPr marL="285750" indent="-285750">
              <a:buFont typeface="Wingdings" panose="05000000000000000000" pitchFamily="2" charset="2"/>
              <a:buChar char="§"/>
            </a:pPr>
            <a:r>
              <a:rPr lang="en-US" dirty="0"/>
              <a:t>week</a:t>
            </a:r>
          </a:p>
        </p:txBody>
      </p:sp>
    </p:spTree>
    <p:extLst>
      <p:ext uri="{BB962C8B-B14F-4D97-AF65-F5344CB8AC3E}">
        <p14:creationId xmlns:p14="http://schemas.microsoft.com/office/powerpoint/2010/main" val="378524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 to HTML5</a:t>
            </a:r>
          </a:p>
        </p:txBody>
      </p:sp>
      <p:sp>
        <p:nvSpPr>
          <p:cNvPr id="3" name="Content Placeholder 2"/>
          <p:cNvSpPr>
            <a:spLocks noGrp="1"/>
          </p:cNvSpPr>
          <p:nvPr>
            <p:ph idx="1"/>
          </p:nvPr>
        </p:nvSpPr>
        <p:spPr/>
        <p:txBody>
          <a:bodyPr/>
          <a:lstStyle/>
          <a:p>
            <a:pPr lvl="0"/>
            <a:r>
              <a:rPr lang="en-IN" dirty="0"/>
              <a:t>It stands for Hypertext </a:t>
            </a:r>
            <a:r>
              <a:rPr lang="en-IN" dirty="0" err="1"/>
              <a:t>markup</a:t>
            </a:r>
            <a:r>
              <a:rPr lang="en-IN" dirty="0"/>
              <a:t> language version 5.</a:t>
            </a:r>
          </a:p>
          <a:p>
            <a:pPr lvl="0"/>
            <a:r>
              <a:rPr lang="en-IN" dirty="0"/>
              <a:t>HTML5 is the latest version of HTML.</a:t>
            </a:r>
          </a:p>
          <a:p>
            <a:r>
              <a:rPr lang="en-IN" dirty="0"/>
              <a:t>HTML5 is cooperation between the World Wide Web Consortium (W3C) and the Web Hypertext Application Technology Working Group (WHATWG).</a:t>
            </a:r>
          </a:p>
          <a:p>
            <a:r>
              <a:rPr lang="en-IN" b="1" dirty="0"/>
              <a:t>What is new </a:t>
            </a:r>
            <a:r>
              <a:rPr lang="en-IN" b="1"/>
              <a:t>in HTML5?</a:t>
            </a:r>
            <a:endParaRPr lang="en-IN" b="1" dirty="0"/>
          </a:p>
          <a:p>
            <a:pPr lvl="1"/>
            <a:r>
              <a:rPr lang="en-IN" dirty="0"/>
              <a:t>Support multimedia without flash player.</a:t>
            </a:r>
          </a:p>
          <a:p>
            <a:pPr lvl="1"/>
            <a:r>
              <a:rPr lang="en-IN" dirty="0"/>
              <a:t>So, we can include audio, video in our web page without installing flash player.</a:t>
            </a:r>
          </a:p>
          <a:p>
            <a:pPr lvl="1"/>
            <a:r>
              <a:rPr lang="en-IN" dirty="0"/>
              <a:t>We create drawing in our webpage using canvas without graphics software.</a:t>
            </a:r>
          </a:p>
          <a:p>
            <a:pPr lvl="1"/>
            <a:r>
              <a:rPr lang="en-IN" dirty="0"/>
              <a:t>We can trace user’s location.</a:t>
            </a:r>
          </a:p>
          <a:p>
            <a:pPr lvl="1"/>
            <a:r>
              <a:rPr lang="en-IN" dirty="0"/>
              <a:t>HTML5 coding structure is user friendly</a:t>
            </a:r>
          </a:p>
          <a:p>
            <a:pPr lvl="1"/>
            <a:r>
              <a:rPr lang="en-IN" dirty="0"/>
              <a:t>HTML5 program is run in latest version of Google chrome, Mozilla Firefox, Opera, Internet explorer 9.0</a:t>
            </a:r>
          </a:p>
          <a:p>
            <a:endParaRPr lang="en-IN" dirty="0"/>
          </a:p>
        </p:txBody>
      </p:sp>
    </p:spTree>
    <p:extLst>
      <p:ext uri="{BB962C8B-B14F-4D97-AF65-F5344CB8AC3E}">
        <p14:creationId xmlns:p14="http://schemas.microsoft.com/office/powerpoint/2010/main" val="1413248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Semantic Elements of HTML5</a:t>
            </a:r>
          </a:p>
        </p:txBody>
      </p:sp>
      <p:sp>
        <p:nvSpPr>
          <p:cNvPr id="3" name="Content Placeholder 2"/>
          <p:cNvSpPr>
            <a:spLocks noGrp="1"/>
          </p:cNvSpPr>
          <p:nvPr>
            <p:ph idx="1"/>
          </p:nvPr>
        </p:nvSpPr>
        <p:spPr/>
        <p:txBody>
          <a:bodyPr/>
          <a:lstStyle/>
          <a:p>
            <a:pPr lvl="0"/>
            <a:r>
              <a:rPr lang="en-IN" dirty="0"/>
              <a:t>A semantic element clearly describes its meaning to both the browser and the developer.</a:t>
            </a:r>
          </a:p>
          <a:p>
            <a:pPr lvl="0"/>
            <a:r>
              <a:rPr lang="en-IN" dirty="0"/>
              <a:t>Examples of non-semantic elements: &lt;div&gt; and &lt;span&gt; - Tells nothing about its content.</a:t>
            </a:r>
          </a:p>
          <a:p>
            <a:pPr lvl="0"/>
            <a:r>
              <a:rPr lang="en-IN" dirty="0"/>
              <a:t>Examples of semantic elements: &lt;form&gt; and &lt;table&gt; - Clearly defines its content.</a:t>
            </a:r>
          </a:p>
          <a:p>
            <a:pPr lvl="0"/>
            <a:r>
              <a:rPr lang="en-IN" dirty="0"/>
              <a:t>Many semantic elements which is used to develop any webpages are:</a:t>
            </a:r>
          </a:p>
          <a:p>
            <a:pPr lvl="1"/>
            <a:r>
              <a:rPr lang="en-IN" dirty="0"/>
              <a:t>&lt;header&gt;</a:t>
            </a:r>
          </a:p>
          <a:p>
            <a:pPr lvl="1"/>
            <a:r>
              <a:rPr lang="en-IN" dirty="0"/>
              <a:t>&lt;</a:t>
            </a:r>
            <a:r>
              <a:rPr lang="en-IN" dirty="0" err="1"/>
              <a:t>nav</a:t>
            </a:r>
            <a:r>
              <a:rPr lang="en-IN" dirty="0"/>
              <a:t>&gt;</a:t>
            </a:r>
          </a:p>
          <a:p>
            <a:pPr lvl="1"/>
            <a:r>
              <a:rPr lang="en-IN" dirty="0"/>
              <a:t>&lt;section&gt;</a:t>
            </a:r>
          </a:p>
          <a:p>
            <a:pPr lvl="1"/>
            <a:r>
              <a:rPr lang="en-IN" dirty="0"/>
              <a:t>&lt;article&gt;</a:t>
            </a:r>
          </a:p>
          <a:p>
            <a:pPr lvl="1"/>
            <a:r>
              <a:rPr lang="en-IN" dirty="0"/>
              <a:t>&lt;figure&gt;</a:t>
            </a:r>
          </a:p>
          <a:p>
            <a:pPr lvl="1"/>
            <a:r>
              <a:rPr lang="en-IN" dirty="0"/>
              <a:t>&lt;footer&gt;</a:t>
            </a:r>
          </a:p>
          <a:p>
            <a:pPr lvl="1"/>
            <a:r>
              <a:rPr lang="en-IN" dirty="0"/>
              <a:t>&lt;dialog&gt;</a:t>
            </a:r>
          </a:p>
          <a:p>
            <a:pPr lvl="1"/>
            <a:r>
              <a:rPr lang="en-IN" dirty="0"/>
              <a:t>&lt;aside&gt;</a:t>
            </a:r>
          </a:p>
        </p:txBody>
      </p:sp>
    </p:spTree>
    <p:extLst>
      <p:ext uri="{BB962C8B-B14F-4D97-AF65-F5344CB8AC3E}">
        <p14:creationId xmlns:p14="http://schemas.microsoft.com/office/powerpoint/2010/main" val="4283794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HTML5 Form Validation</a:t>
            </a:r>
          </a:p>
        </p:txBody>
      </p:sp>
      <p:sp>
        <p:nvSpPr>
          <p:cNvPr id="3" name="Content Placeholder 2"/>
          <p:cNvSpPr>
            <a:spLocks noGrp="1"/>
          </p:cNvSpPr>
          <p:nvPr>
            <p:ph idx="1"/>
          </p:nvPr>
        </p:nvSpPr>
        <p:spPr/>
        <p:txBody>
          <a:bodyPr/>
          <a:lstStyle/>
          <a:p>
            <a:r>
              <a:rPr lang="en-US" dirty="0"/>
              <a:t>Form validation is a “technical process where a web-form checks if the information provided by a user is correct.”</a:t>
            </a:r>
          </a:p>
          <a:p>
            <a:r>
              <a:rPr lang="en-US" dirty="0"/>
              <a:t>The form will either alert the user that something is not in correct format and need to fix to proceed, or the form will be validated and the user will be able to continue with their process.</a:t>
            </a:r>
          </a:p>
          <a:p>
            <a:r>
              <a:rPr lang="en-US" dirty="0"/>
              <a:t>Form can be validated both in Client-Side as well as Server-Side, it is recommended to validate the form in both the side.</a:t>
            </a:r>
          </a:p>
          <a:p>
            <a:r>
              <a:rPr lang="en-US" dirty="0"/>
              <a:t>Form validation generally performs two functions.</a:t>
            </a:r>
          </a:p>
          <a:p>
            <a:pPr marL="914400" lvl="1" indent="-457200">
              <a:buFont typeface="+mj-lt"/>
              <a:buAutoNum type="arabicPeriod"/>
            </a:pPr>
            <a:r>
              <a:rPr lang="en-US" b="1" dirty="0"/>
              <a:t>Basic Validation</a:t>
            </a:r>
          </a:p>
          <a:p>
            <a:pPr lvl="2"/>
            <a:r>
              <a:rPr lang="en-US" sz="2000" dirty="0"/>
              <a:t>Emptiness</a:t>
            </a:r>
          </a:p>
          <a:p>
            <a:pPr lvl="2"/>
            <a:r>
              <a:rPr lang="en-US" sz="2000" dirty="0"/>
              <a:t>Length Validation etc……</a:t>
            </a:r>
          </a:p>
          <a:p>
            <a:pPr marL="914400" lvl="1" indent="-457200">
              <a:buFont typeface="+mj-lt"/>
              <a:buAutoNum type="arabicPeriod"/>
            </a:pPr>
            <a:r>
              <a:rPr lang="en-US" b="1" dirty="0"/>
              <a:t>Data Format Validation</a:t>
            </a:r>
          </a:p>
          <a:p>
            <a:pPr marL="1314450" lvl="2" indent="-457200"/>
            <a:r>
              <a:rPr lang="en-US" sz="2000"/>
              <a:t>Secondly</a:t>
            </a:r>
            <a:r>
              <a:rPr lang="en-US" sz="2000" dirty="0"/>
              <a:t>, the data that is entered must be checked for correct </a:t>
            </a:r>
            <a:r>
              <a:rPr lang="en-US" sz="2000" b="1" dirty="0"/>
              <a:t>form</a:t>
            </a:r>
            <a:r>
              <a:rPr lang="en-US" sz="2000" dirty="0"/>
              <a:t> and </a:t>
            </a:r>
            <a:r>
              <a:rPr lang="en-US" sz="2000" b="1" dirty="0"/>
              <a:t>value</a:t>
            </a:r>
            <a:r>
              <a:rPr lang="en-US" sz="2000" dirty="0"/>
              <a:t>.</a:t>
            </a:r>
          </a:p>
          <a:p>
            <a:pPr marL="1314450" lvl="2" indent="-457200"/>
            <a:r>
              <a:rPr lang="en-US" sz="2000" dirty="0"/>
              <a:t>Email Validation</a:t>
            </a:r>
          </a:p>
          <a:p>
            <a:pPr marL="1314450" lvl="2" indent="-457200"/>
            <a:r>
              <a:rPr lang="en-US" sz="2000" dirty="0"/>
              <a:t>Mobile Number Validation</a:t>
            </a:r>
          </a:p>
          <a:p>
            <a:pPr marL="1314450" lvl="2" indent="-457200"/>
            <a:r>
              <a:rPr lang="en-US" sz="2000" dirty="0"/>
              <a:t>Enrollment Number Validation etc….</a:t>
            </a:r>
            <a:endParaRPr lang="en-US" sz="1600" dirty="0"/>
          </a:p>
        </p:txBody>
      </p:sp>
    </p:spTree>
    <p:extLst>
      <p:ext uri="{BB962C8B-B14F-4D97-AF65-F5344CB8AC3E}">
        <p14:creationId xmlns:p14="http://schemas.microsoft.com/office/powerpoint/2010/main" val="1654600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r>
              <a:rPr lang="en-US" dirty="0"/>
              <a:t>We can use </a:t>
            </a:r>
            <a:r>
              <a:rPr lang="en-US" b="1" dirty="0"/>
              <a:t>required </a:t>
            </a:r>
            <a:r>
              <a:rPr lang="en-US" dirty="0"/>
              <a:t>attribute in order to stop user sending empty data to server.</a:t>
            </a:r>
          </a:p>
          <a:p>
            <a:pPr marL="0" indent="0">
              <a:buNone/>
            </a:pPr>
            <a:endParaRPr lang="en-US" dirty="0"/>
          </a:p>
          <a:p>
            <a:r>
              <a:rPr lang="en-US" dirty="0"/>
              <a:t>We can use </a:t>
            </a:r>
            <a:r>
              <a:rPr lang="en-US" b="1" dirty="0"/>
              <a:t>pattern </a:t>
            </a:r>
            <a:r>
              <a:rPr lang="en-US" dirty="0"/>
              <a:t>attribute in order to force some format on user before sending the data to server.</a:t>
            </a:r>
          </a:p>
          <a:p>
            <a:pPr marL="0" indent="0">
              <a:buNone/>
            </a:pPr>
            <a:endParaRPr lang="en-US" dirty="0"/>
          </a:p>
          <a:p>
            <a:r>
              <a:rPr lang="en-US" dirty="0"/>
              <a:t>We can use </a:t>
            </a:r>
            <a:r>
              <a:rPr lang="en-US" b="1" dirty="0"/>
              <a:t>title</a:t>
            </a:r>
            <a:r>
              <a:rPr lang="en-US" dirty="0"/>
              <a:t> attribute for custom error message.</a:t>
            </a:r>
          </a:p>
          <a:p>
            <a:endParaRPr lang="en-US" dirty="0"/>
          </a:p>
        </p:txBody>
      </p:sp>
      <p:sp>
        <p:nvSpPr>
          <p:cNvPr id="4" name="Rectangle 3">
            <a:extLst>
              <a:ext uri="{FF2B5EF4-FFF2-40B4-BE49-F238E27FC236}">
                <a16:creationId xmlns:a16="http://schemas.microsoft.com/office/drawing/2014/main" id="{D456EBDA-49A4-A843-A786-6989C63A54AA}"/>
              </a:ext>
            </a:extLst>
          </p:cNvPr>
          <p:cNvSpPr/>
          <p:nvPr/>
        </p:nvSpPr>
        <p:spPr>
          <a:xfrm>
            <a:off x="1030948" y="1276507"/>
            <a:ext cx="5253475" cy="338554"/>
          </a:xfrm>
          <a:prstGeom prst="rect">
            <a:avLst/>
          </a:prstGeom>
          <a:solidFill>
            <a:schemeClr val="bg1">
              <a:lumMod val="95000"/>
            </a:schemeClr>
          </a:solidFill>
          <a:ln>
            <a:noFill/>
          </a:ln>
        </p:spPr>
        <p:txBody>
          <a:bodyPr wrap="square">
            <a:spAutoFit/>
          </a:bodyPr>
          <a:lstStyle/>
          <a:p>
            <a:r>
              <a:rPr lang="en-US" sz="1600" dirty="0">
                <a:solidFill>
                  <a:srgbClr val="800000"/>
                </a:solidFill>
                <a:latin typeface="Consolas" panose="020B0609020204030204" pitchFamily="49" charset="0"/>
              </a:rPr>
              <a:t>&lt;input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type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"text"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name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a:t>
            </a:r>
            <a:r>
              <a:rPr lang="en-US" sz="1600" dirty="0" err="1">
                <a:solidFill>
                  <a:srgbClr val="0000FF"/>
                </a:solidFill>
                <a:latin typeface="Consolas" panose="020B0609020204030204" pitchFamily="49" charset="0"/>
              </a:rPr>
              <a:t>txtName</a:t>
            </a:r>
            <a:r>
              <a:rPr lang="en-US" sz="1600" dirty="0">
                <a:solidFill>
                  <a:srgbClr val="0000FF"/>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required</a:t>
            </a:r>
            <a:r>
              <a:rPr lang="en-US" sz="1600" dirty="0">
                <a:solidFill>
                  <a:srgbClr val="800000"/>
                </a:solidFill>
                <a:latin typeface="Consolas" panose="020B0609020204030204" pitchFamily="49" charset="0"/>
              </a:rPr>
              <a:t>/&gt;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530955" y="1276507"/>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7" name="Rectangle 6">
            <a:extLst>
              <a:ext uri="{FF2B5EF4-FFF2-40B4-BE49-F238E27FC236}">
                <a16:creationId xmlns:a16="http://schemas.microsoft.com/office/drawing/2014/main" id="{D456EBDA-49A4-A843-A786-6989C63A54AA}"/>
              </a:ext>
            </a:extLst>
          </p:cNvPr>
          <p:cNvSpPr/>
          <p:nvPr/>
        </p:nvSpPr>
        <p:spPr>
          <a:xfrm>
            <a:off x="1030949" y="2526187"/>
            <a:ext cx="6425568" cy="338554"/>
          </a:xfrm>
          <a:prstGeom prst="rect">
            <a:avLst/>
          </a:prstGeom>
          <a:solidFill>
            <a:schemeClr val="bg1">
              <a:lumMod val="95000"/>
            </a:schemeClr>
          </a:solidFill>
          <a:ln>
            <a:noFill/>
          </a:ln>
        </p:spPr>
        <p:txBody>
          <a:bodyPr wrap="square">
            <a:spAutoFit/>
          </a:bodyPr>
          <a:lstStyle/>
          <a:p>
            <a:r>
              <a:rPr lang="en-US" sz="1600" dirty="0">
                <a:solidFill>
                  <a:srgbClr val="800000"/>
                </a:solidFill>
                <a:latin typeface="Consolas" panose="020B0609020204030204" pitchFamily="49" charset="0"/>
              </a:rPr>
              <a:t>&lt;input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type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"text"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name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a:t>
            </a:r>
            <a:r>
              <a:rPr lang="en-US" sz="1600" dirty="0" err="1">
                <a:solidFill>
                  <a:srgbClr val="0000FF"/>
                </a:solidFill>
                <a:latin typeface="Consolas" panose="020B0609020204030204" pitchFamily="49" charset="0"/>
              </a:rPr>
              <a:t>txtName</a:t>
            </a:r>
            <a:r>
              <a:rPr lang="en-US" sz="1600" dirty="0">
                <a:solidFill>
                  <a:srgbClr val="0000FF"/>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pattern</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"[0-9]{10}"</a:t>
            </a:r>
            <a:r>
              <a:rPr lang="en-US" sz="1600" dirty="0">
                <a:solidFill>
                  <a:srgbClr val="800000"/>
                </a:solidFill>
                <a:latin typeface="Consolas" panose="020B0609020204030204" pitchFamily="49" charset="0"/>
              </a:rPr>
              <a:t>/&gt;</a:t>
            </a:r>
            <a:endParaRPr lang="en-US" sz="1600" b="0" dirty="0">
              <a:solidFill>
                <a:srgbClr val="000000"/>
              </a:solidFill>
              <a:effectLst/>
              <a:latin typeface="Consolas" panose="020B0609020204030204" pitchFamily="49" charset="0"/>
            </a:endParaRPr>
          </a:p>
        </p:txBody>
      </p:sp>
      <p:sp>
        <p:nvSpPr>
          <p:cNvPr id="8" name="Rectangle 7">
            <a:extLst>
              <a:ext uri="{FF2B5EF4-FFF2-40B4-BE49-F238E27FC236}">
                <a16:creationId xmlns:a16="http://schemas.microsoft.com/office/drawing/2014/main" id="{35F9F4A0-4592-C04D-B2D0-0BF66A3BFA20}"/>
              </a:ext>
            </a:extLst>
          </p:cNvPr>
          <p:cNvSpPr/>
          <p:nvPr/>
        </p:nvSpPr>
        <p:spPr>
          <a:xfrm>
            <a:off x="530955" y="2526187"/>
            <a:ext cx="499993" cy="338554"/>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p:txBody>
      </p:sp>
      <p:sp>
        <p:nvSpPr>
          <p:cNvPr id="9" name="Rectangle 8">
            <a:extLst>
              <a:ext uri="{FF2B5EF4-FFF2-40B4-BE49-F238E27FC236}">
                <a16:creationId xmlns:a16="http://schemas.microsoft.com/office/drawing/2014/main" id="{D456EBDA-49A4-A843-A786-6989C63A54AA}"/>
              </a:ext>
            </a:extLst>
          </p:cNvPr>
          <p:cNvSpPr/>
          <p:nvPr/>
        </p:nvSpPr>
        <p:spPr>
          <a:xfrm>
            <a:off x="1030949" y="3437313"/>
            <a:ext cx="7049022" cy="1077218"/>
          </a:xfrm>
          <a:prstGeom prst="rect">
            <a:avLst/>
          </a:prstGeom>
          <a:solidFill>
            <a:schemeClr val="bg1">
              <a:lumMod val="95000"/>
            </a:schemeClr>
          </a:solidFill>
          <a:ln>
            <a:noFill/>
          </a:ln>
        </p:spPr>
        <p:txBody>
          <a:bodyPr wrap="square">
            <a:spAutoFit/>
          </a:bodyPr>
          <a:lstStyle/>
          <a:p>
            <a:r>
              <a:rPr lang="en-US" sz="1600" dirty="0">
                <a:solidFill>
                  <a:srgbClr val="800000"/>
                </a:solidFill>
                <a:latin typeface="Consolas" panose="020B0609020204030204" pitchFamily="49" charset="0"/>
              </a:rPr>
              <a:t>&lt;input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type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"text"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name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a:t>
            </a:r>
            <a:r>
              <a:rPr lang="en-US" sz="1600" dirty="0" err="1">
                <a:solidFill>
                  <a:srgbClr val="0000FF"/>
                </a:solidFill>
                <a:latin typeface="Consolas" panose="020B0609020204030204" pitchFamily="49" charset="0"/>
              </a:rPr>
              <a:t>txtName</a:t>
            </a:r>
            <a:r>
              <a:rPr lang="en-US" sz="1600" dirty="0">
                <a:solidFill>
                  <a:srgbClr val="0000FF"/>
                </a:solidFill>
                <a:latin typeface="Consolas" panose="020B0609020204030204" pitchFamily="49" charset="0"/>
              </a:rPr>
              <a:t>"</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pattern</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"[0-9]{10}"</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title</a:t>
            </a:r>
            <a:r>
              <a:rPr lang="en-US" sz="1600" dirty="0">
                <a:solidFill>
                  <a:srgbClr val="000000"/>
                </a:solidFill>
                <a:latin typeface="Consolas" panose="020B0609020204030204" pitchFamily="49" charset="0"/>
              </a:rPr>
              <a:t>=</a:t>
            </a:r>
            <a:r>
              <a:rPr lang="en-US" sz="1600" dirty="0">
                <a:solidFill>
                  <a:srgbClr val="0000FF"/>
                </a:solidFill>
                <a:latin typeface="Consolas" panose="020B0609020204030204" pitchFamily="49" charset="0"/>
              </a:rPr>
              <a:t>"Please enter 10 digit mobile number"</a:t>
            </a:r>
            <a:endParaRPr lang="en-US" sz="1600" dirty="0">
              <a:solidFill>
                <a:srgbClr val="000000"/>
              </a:solidFill>
              <a:latin typeface="Consolas" panose="020B0609020204030204" pitchFamily="49" charset="0"/>
            </a:endParaRPr>
          </a:p>
          <a:p>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required</a:t>
            </a:r>
            <a:r>
              <a:rPr lang="en-US" sz="1600" dirty="0">
                <a:solidFill>
                  <a:srgbClr val="800000"/>
                </a:solidFill>
                <a:latin typeface="Consolas" panose="020B0609020204030204" pitchFamily="49" charset="0"/>
              </a:rPr>
              <a:t>/&gt;</a:t>
            </a:r>
            <a:r>
              <a:rPr lang="en-US" sz="1600" dirty="0">
                <a:solidFill>
                  <a:srgbClr val="000000"/>
                </a:solidFill>
                <a:latin typeface="Consolas" panose="020B0609020204030204" pitchFamily="49" charset="0"/>
              </a:rPr>
              <a:t> </a:t>
            </a:r>
            <a:endParaRPr lang="en-US" sz="1600" b="0" dirty="0">
              <a:solidFill>
                <a:srgbClr val="000000"/>
              </a:solidFill>
              <a:effectLst/>
              <a:latin typeface="Consolas" panose="020B0609020204030204" pitchFamily="49" charset="0"/>
            </a:endParaRPr>
          </a:p>
        </p:txBody>
      </p:sp>
      <p:sp>
        <p:nvSpPr>
          <p:cNvPr id="10" name="Rectangle 9">
            <a:extLst>
              <a:ext uri="{FF2B5EF4-FFF2-40B4-BE49-F238E27FC236}">
                <a16:creationId xmlns:a16="http://schemas.microsoft.com/office/drawing/2014/main" id="{35F9F4A0-4592-C04D-B2D0-0BF66A3BFA20}"/>
              </a:ext>
            </a:extLst>
          </p:cNvPr>
          <p:cNvSpPr/>
          <p:nvPr/>
        </p:nvSpPr>
        <p:spPr>
          <a:xfrm>
            <a:off x="530955" y="3437313"/>
            <a:ext cx="499993" cy="107721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87887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bg/>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bg/>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bg/>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uiExpand="1" build="p" animBg="1"/>
      <p:bldP spid="5" grpId="0" animBg="1"/>
      <p:bldP spid="7" grpId="0" build="p" animBg="1"/>
      <p:bldP spid="8" grpId="0" animBg="1"/>
      <p:bldP spid="9" grpId="0" build="p"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t>Fieldset</a:t>
            </a:r>
            <a:r>
              <a:rPr lang="en-IN" dirty="0"/>
              <a:t> and Legend</a:t>
            </a:r>
          </a:p>
        </p:txBody>
      </p:sp>
      <p:sp>
        <p:nvSpPr>
          <p:cNvPr id="3" name="Content Placeholder 2"/>
          <p:cNvSpPr>
            <a:spLocks noGrp="1"/>
          </p:cNvSpPr>
          <p:nvPr>
            <p:ph idx="1"/>
          </p:nvPr>
        </p:nvSpPr>
        <p:spPr/>
        <p:txBody>
          <a:bodyPr/>
          <a:lstStyle/>
          <a:p>
            <a:pPr lvl="0"/>
            <a:r>
              <a:rPr lang="en-IN" dirty="0"/>
              <a:t>The HTML &lt;</a:t>
            </a:r>
            <a:r>
              <a:rPr lang="en-IN" dirty="0" err="1"/>
              <a:t>fieldset</a:t>
            </a:r>
            <a:r>
              <a:rPr lang="en-IN" dirty="0"/>
              <a:t>&gt; tag is used for grouping related form elements. </a:t>
            </a:r>
          </a:p>
          <a:p>
            <a:pPr lvl="0"/>
            <a:r>
              <a:rPr lang="en-IN" dirty="0"/>
              <a:t>The use of this tag is optional while creating an HTML form but using &lt;</a:t>
            </a:r>
            <a:r>
              <a:rPr lang="en-IN" dirty="0" err="1"/>
              <a:t>fieldset</a:t>
            </a:r>
            <a:r>
              <a:rPr lang="en-IN" dirty="0"/>
              <a:t>&gt;, it is easy to understand the purpose of grouped elements of form.</a:t>
            </a:r>
          </a:p>
          <a:p>
            <a:r>
              <a:rPr lang="en-IN" dirty="0"/>
              <a:t>The &lt;legend&gt; tag is used with the &lt;</a:t>
            </a:r>
            <a:r>
              <a:rPr lang="en-IN" dirty="0" err="1"/>
              <a:t>fieldset</a:t>
            </a:r>
            <a:r>
              <a:rPr lang="en-IN" dirty="0"/>
              <a:t>&gt; element as a first child to define the caption for the grouped related fields.</a:t>
            </a:r>
          </a:p>
        </p:txBody>
      </p:sp>
      <p:sp>
        <p:nvSpPr>
          <p:cNvPr id="4" name="Rectangle 3">
            <a:extLst>
              <a:ext uri="{FF2B5EF4-FFF2-40B4-BE49-F238E27FC236}">
                <a16:creationId xmlns:a16="http://schemas.microsoft.com/office/drawing/2014/main" id="{D456EBDA-49A4-A843-A786-6989C63A54AA}"/>
              </a:ext>
            </a:extLst>
          </p:cNvPr>
          <p:cNvSpPr/>
          <p:nvPr/>
        </p:nvSpPr>
        <p:spPr>
          <a:xfrm>
            <a:off x="987817" y="3014612"/>
            <a:ext cx="6266998" cy="3046988"/>
          </a:xfrm>
          <a:prstGeom prst="rect">
            <a:avLst/>
          </a:prstGeom>
          <a:solidFill>
            <a:schemeClr val="bg1">
              <a:lumMod val="95000"/>
            </a:schemeClr>
          </a:solidFill>
          <a:ln>
            <a:noFill/>
          </a:ln>
        </p:spPr>
        <p:txBody>
          <a:bodyPr wrap="square">
            <a:spAutoFit/>
          </a:bodyPr>
          <a:lstStyle/>
          <a:p>
            <a:r>
              <a:rPr lang="en-US" sz="1600" dirty="0">
                <a:solidFill>
                  <a:srgbClr val="800000"/>
                </a:solidFill>
                <a:latin typeface="Consolas" panose="020B0609020204030204" pitchFamily="49" charset="0"/>
              </a:rPr>
              <a:t>&lt;form&gt;  </a:t>
            </a:r>
          </a:p>
          <a:p>
            <a:r>
              <a:rPr lang="en-US" sz="1600" dirty="0">
                <a:solidFill>
                  <a:srgbClr val="800000"/>
                </a:solidFill>
                <a:latin typeface="Consolas" panose="020B0609020204030204" pitchFamily="49" charset="0"/>
              </a:rPr>
              <a:t>     &lt;</a:t>
            </a:r>
            <a:r>
              <a:rPr lang="en-US" sz="1600" dirty="0" err="1">
                <a:solidFill>
                  <a:srgbClr val="800000"/>
                </a:solidFill>
                <a:latin typeface="Consolas" panose="020B0609020204030204" pitchFamily="49" charset="0"/>
              </a:rPr>
              <a:t>fieldset</a:t>
            </a:r>
            <a:r>
              <a:rPr lang="en-US" sz="1600" dirty="0">
                <a:solidFill>
                  <a:srgbClr val="800000"/>
                </a:solidFill>
                <a:latin typeface="Consolas" panose="020B0609020204030204" pitchFamily="49" charset="0"/>
              </a:rPr>
              <a:t>&gt;  </a:t>
            </a:r>
          </a:p>
          <a:p>
            <a:r>
              <a:rPr lang="en-US" sz="1600" dirty="0">
                <a:solidFill>
                  <a:srgbClr val="800000"/>
                </a:solidFill>
                <a:latin typeface="Consolas" panose="020B0609020204030204" pitchFamily="49" charset="0"/>
              </a:rPr>
              <a:t>            &lt;legend&gt;</a:t>
            </a:r>
            <a:r>
              <a:rPr lang="en-US" sz="1600" dirty="0">
                <a:latin typeface="Consolas" panose="020B0609020204030204" pitchFamily="49" charset="0"/>
              </a:rPr>
              <a:t>User basic information:</a:t>
            </a:r>
            <a:r>
              <a:rPr lang="en-US" sz="1600" dirty="0">
                <a:solidFill>
                  <a:srgbClr val="800000"/>
                </a:solidFill>
                <a:latin typeface="Consolas" panose="020B0609020204030204" pitchFamily="49" charset="0"/>
              </a:rPr>
              <a:t>&lt;/legend&gt;  </a:t>
            </a:r>
          </a:p>
          <a:p>
            <a:r>
              <a:rPr lang="en-US" sz="1600" dirty="0">
                <a:solidFill>
                  <a:srgbClr val="800000"/>
                </a:solidFill>
                <a:latin typeface="Consolas" panose="020B0609020204030204" pitchFamily="49" charset="0"/>
              </a:rPr>
              <a:t>            </a:t>
            </a:r>
          </a:p>
          <a:p>
            <a:r>
              <a:rPr lang="en-US" sz="1600" dirty="0">
                <a:solidFill>
                  <a:srgbClr val="800000"/>
                </a:solidFill>
                <a:latin typeface="Consolas" panose="020B0609020204030204" pitchFamily="49" charset="0"/>
              </a:rPr>
              <a:t>            &lt;label&gt;</a:t>
            </a:r>
            <a:r>
              <a:rPr lang="en-US" sz="1600" dirty="0">
                <a:latin typeface="Consolas" panose="020B0609020204030204" pitchFamily="49" charset="0"/>
              </a:rPr>
              <a:t>First Name</a:t>
            </a:r>
            <a:r>
              <a:rPr lang="en-US" sz="1600" dirty="0">
                <a:solidFill>
                  <a:srgbClr val="800000"/>
                </a:solidFill>
                <a:latin typeface="Consolas" panose="020B0609020204030204" pitchFamily="49" charset="0"/>
              </a:rPr>
              <a:t>&lt;/label&gt;&lt;</a:t>
            </a:r>
            <a:r>
              <a:rPr lang="en-US" sz="1600" dirty="0" err="1">
                <a:solidFill>
                  <a:srgbClr val="800000"/>
                </a:solidFill>
                <a:latin typeface="Consolas" panose="020B0609020204030204" pitchFamily="49" charset="0"/>
              </a:rPr>
              <a:t>br</a:t>
            </a:r>
            <a:r>
              <a:rPr lang="en-US" sz="1600" dirty="0">
                <a:solidFill>
                  <a:srgbClr val="800000"/>
                </a:solidFill>
                <a:latin typeface="Consolas" panose="020B0609020204030204" pitchFamily="49" charset="0"/>
              </a:rPr>
              <a:t>&gt;  </a:t>
            </a:r>
          </a:p>
          <a:p>
            <a:r>
              <a:rPr lang="en-US" sz="1600" dirty="0">
                <a:solidFill>
                  <a:srgbClr val="800000"/>
                </a:solidFill>
                <a:latin typeface="Consolas" panose="020B0609020204030204" pitchFamily="49" charset="0"/>
              </a:rPr>
              <a:t>            &lt;input </a:t>
            </a:r>
            <a:r>
              <a:rPr lang="en-US" sz="1600" dirty="0">
                <a:solidFill>
                  <a:srgbClr val="FF0000"/>
                </a:solidFill>
                <a:latin typeface="Consolas" panose="020B0609020204030204" pitchFamily="49" charset="0"/>
              </a:rPr>
              <a:t>type</a:t>
            </a:r>
            <a:r>
              <a:rPr lang="en-US" sz="1600" dirty="0">
                <a:latin typeface="Consolas" panose="020B0609020204030204" pitchFamily="49" charset="0"/>
              </a:rPr>
              <a:t>=</a:t>
            </a:r>
            <a:r>
              <a:rPr lang="en-US" sz="1600" dirty="0">
                <a:solidFill>
                  <a:srgbClr val="0000FF"/>
                </a:solidFill>
                <a:latin typeface="Consolas" panose="020B0609020204030204" pitchFamily="49" charset="0"/>
              </a:rPr>
              <a:t>"text" </a:t>
            </a:r>
            <a:r>
              <a:rPr lang="en-US" sz="1600" dirty="0">
                <a:solidFill>
                  <a:srgbClr val="FF0000"/>
                </a:solidFill>
                <a:latin typeface="Consolas" panose="020B0609020204030204" pitchFamily="49" charset="0"/>
              </a:rPr>
              <a:t>name</a:t>
            </a:r>
            <a:r>
              <a:rPr lang="en-US" sz="1600" dirty="0">
                <a:latin typeface="Consolas" panose="020B0609020204030204" pitchFamily="49" charset="0"/>
              </a:rPr>
              <a:t>=</a:t>
            </a:r>
            <a:r>
              <a:rPr lang="en-US" sz="1600" dirty="0">
                <a:solidFill>
                  <a:srgbClr val="0000FF"/>
                </a:solidFill>
                <a:latin typeface="Consolas" panose="020B0609020204030204" pitchFamily="49" charset="0"/>
              </a:rPr>
              <a:t>"</a:t>
            </a:r>
            <a:r>
              <a:rPr lang="en-US" sz="1600" dirty="0" err="1">
                <a:solidFill>
                  <a:srgbClr val="0000FF"/>
                </a:solidFill>
                <a:latin typeface="Consolas" panose="020B0609020204030204" pitchFamily="49" charset="0"/>
              </a:rPr>
              <a:t>fname</a:t>
            </a:r>
            <a:r>
              <a:rPr lang="en-US" sz="1600" dirty="0">
                <a:solidFill>
                  <a:srgbClr val="0000FF"/>
                </a:solidFill>
                <a:latin typeface="Consolas" panose="020B0609020204030204" pitchFamily="49" charset="0"/>
              </a:rPr>
              <a:t>"</a:t>
            </a:r>
            <a:r>
              <a:rPr lang="en-US" sz="1600" dirty="0">
                <a:solidFill>
                  <a:srgbClr val="800000"/>
                </a:solidFill>
                <a:latin typeface="Consolas" panose="020B0609020204030204" pitchFamily="49" charset="0"/>
              </a:rPr>
              <a:t>&gt;&lt;</a:t>
            </a:r>
            <a:r>
              <a:rPr lang="en-US" sz="1600" dirty="0" err="1">
                <a:solidFill>
                  <a:srgbClr val="800000"/>
                </a:solidFill>
                <a:latin typeface="Consolas" panose="020B0609020204030204" pitchFamily="49" charset="0"/>
              </a:rPr>
              <a:t>br</a:t>
            </a:r>
            <a:r>
              <a:rPr lang="en-US" sz="1600" dirty="0">
                <a:solidFill>
                  <a:srgbClr val="800000"/>
                </a:solidFill>
                <a:latin typeface="Consolas" panose="020B0609020204030204" pitchFamily="49" charset="0"/>
              </a:rPr>
              <a:t>&gt;  </a:t>
            </a:r>
          </a:p>
          <a:p>
            <a:r>
              <a:rPr lang="en-US" sz="1600" dirty="0">
                <a:solidFill>
                  <a:srgbClr val="800000"/>
                </a:solidFill>
                <a:latin typeface="Consolas" panose="020B0609020204030204" pitchFamily="49" charset="0"/>
              </a:rPr>
              <a:t>            &lt;label&gt;</a:t>
            </a:r>
            <a:r>
              <a:rPr lang="en-US" sz="1600" dirty="0">
                <a:latin typeface="Consolas" panose="020B0609020204030204" pitchFamily="49" charset="0"/>
              </a:rPr>
              <a:t>Last Name</a:t>
            </a:r>
            <a:r>
              <a:rPr lang="en-US" sz="1600" dirty="0">
                <a:solidFill>
                  <a:srgbClr val="800000"/>
                </a:solidFill>
                <a:latin typeface="Consolas" panose="020B0609020204030204" pitchFamily="49" charset="0"/>
              </a:rPr>
              <a:t>&lt;/label&gt;&lt;</a:t>
            </a:r>
            <a:r>
              <a:rPr lang="en-US" sz="1600" dirty="0" err="1">
                <a:solidFill>
                  <a:srgbClr val="800000"/>
                </a:solidFill>
                <a:latin typeface="Consolas" panose="020B0609020204030204" pitchFamily="49" charset="0"/>
              </a:rPr>
              <a:t>br</a:t>
            </a:r>
            <a:r>
              <a:rPr lang="en-US" sz="1600" dirty="0">
                <a:solidFill>
                  <a:srgbClr val="800000"/>
                </a:solidFill>
                <a:latin typeface="Consolas" panose="020B0609020204030204" pitchFamily="49" charset="0"/>
              </a:rPr>
              <a:t>&gt;  </a:t>
            </a:r>
          </a:p>
          <a:p>
            <a:r>
              <a:rPr lang="en-US" sz="1600" dirty="0">
                <a:solidFill>
                  <a:srgbClr val="800000"/>
                </a:solidFill>
                <a:latin typeface="Consolas" panose="020B0609020204030204" pitchFamily="49" charset="0"/>
              </a:rPr>
              <a:t>            &lt;input </a:t>
            </a:r>
            <a:r>
              <a:rPr lang="en-US" sz="1600" dirty="0">
                <a:solidFill>
                  <a:srgbClr val="FF0000"/>
                </a:solidFill>
                <a:latin typeface="Consolas" panose="020B0609020204030204" pitchFamily="49" charset="0"/>
              </a:rPr>
              <a:t>type</a:t>
            </a:r>
            <a:r>
              <a:rPr lang="en-US" sz="1600" dirty="0">
                <a:latin typeface="Consolas" panose="020B0609020204030204" pitchFamily="49" charset="0"/>
              </a:rPr>
              <a:t>=</a:t>
            </a:r>
            <a:r>
              <a:rPr lang="en-US" sz="1600" dirty="0">
                <a:solidFill>
                  <a:srgbClr val="0000FF"/>
                </a:solidFill>
                <a:latin typeface="Consolas" panose="020B0609020204030204" pitchFamily="49" charset="0"/>
              </a:rPr>
              <a:t>"text" </a:t>
            </a:r>
            <a:r>
              <a:rPr lang="en-US" sz="1600" dirty="0">
                <a:solidFill>
                  <a:srgbClr val="FF0000"/>
                </a:solidFill>
                <a:latin typeface="Consolas" panose="020B0609020204030204" pitchFamily="49" charset="0"/>
              </a:rPr>
              <a:t>name</a:t>
            </a:r>
            <a:r>
              <a:rPr lang="en-US" sz="1600" dirty="0">
                <a:latin typeface="Consolas" panose="020B0609020204030204" pitchFamily="49" charset="0"/>
              </a:rPr>
              <a:t>=</a:t>
            </a:r>
            <a:r>
              <a:rPr lang="en-US" sz="1600" dirty="0">
                <a:solidFill>
                  <a:srgbClr val="0000FF"/>
                </a:solidFill>
                <a:latin typeface="Consolas" panose="020B0609020204030204" pitchFamily="49" charset="0"/>
              </a:rPr>
              <a:t>"</a:t>
            </a:r>
            <a:r>
              <a:rPr lang="en-US" sz="1600" dirty="0" err="1">
                <a:solidFill>
                  <a:srgbClr val="0000FF"/>
                </a:solidFill>
                <a:latin typeface="Consolas" panose="020B0609020204030204" pitchFamily="49" charset="0"/>
              </a:rPr>
              <a:t>lname</a:t>
            </a:r>
            <a:r>
              <a:rPr lang="en-US" sz="1600" dirty="0">
                <a:solidFill>
                  <a:srgbClr val="0000FF"/>
                </a:solidFill>
                <a:latin typeface="Consolas" panose="020B0609020204030204" pitchFamily="49" charset="0"/>
              </a:rPr>
              <a:t>"</a:t>
            </a:r>
            <a:r>
              <a:rPr lang="en-US" sz="1600" dirty="0">
                <a:solidFill>
                  <a:srgbClr val="800000"/>
                </a:solidFill>
                <a:latin typeface="Consolas" panose="020B0609020204030204" pitchFamily="49" charset="0"/>
              </a:rPr>
              <a:t>&gt;&lt;</a:t>
            </a:r>
            <a:r>
              <a:rPr lang="en-US" sz="1600" dirty="0" err="1">
                <a:solidFill>
                  <a:srgbClr val="800000"/>
                </a:solidFill>
                <a:latin typeface="Consolas" panose="020B0609020204030204" pitchFamily="49" charset="0"/>
              </a:rPr>
              <a:t>br</a:t>
            </a:r>
            <a:r>
              <a:rPr lang="en-US" sz="1600" dirty="0">
                <a:solidFill>
                  <a:srgbClr val="800000"/>
                </a:solidFill>
                <a:latin typeface="Consolas" panose="020B0609020204030204" pitchFamily="49" charset="0"/>
              </a:rPr>
              <a:t>&gt;  </a:t>
            </a:r>
          </a:p>
          <a:p>
            <a:r>
              <a:rPr lang="en-US" sz="1600" dirty="0">
                <a:solidFill>
                  <a:srgbClr val="800000"/>
                </a:solidFill>
                <a:latin typeface="Consolas" panose="020B0609020204030204" pitchFamily="49" charset="0"/>
              </a:rPr>
              <a:t>            &lt;label&gt;</a:t>
            </a:r>
            <a:r>
              <a:rPr lang="en-US" sz="1600" dirty="0">
                <a:latin typeface="Consolas" panose="020B0609020204030204" pitchFamily="49" charset="0"/>
              </a:rPr>
              <a:t>Enter Email</a:t>
            </a:r>
            <a:r>
              <a:rPr lang="en-US" sz="1600" dirty="0">
                <a:solidFill>
                  <a:srgbClr val="800000"/>
                </a:solidFill>
                <a:latin typeface="Consolas" panose="020B0609020204030204" pitchFamily="49" charset="0"/>
              </a:rPr>
              <a:t>&lt;/label&gt;&lt;</a:t>
            </a:r>
            <a:r>
              <a:rPr lang="en-US" sz="1600" dirty="0" err="1">
                <a:solidFill>
                  <a:srgbClr val="800000"/>
                </a:solidFill>
                <a:latin typeface="Consolas" panose="020B0609020204030204" pitchFamily="49" charset="0"/>
              </a:rPr>
              <a:t>br</a:t>
            </a:r>
            <a:r>
              <a:rPr lang="en-US" sz="1600" dirty="0">
                <a:solidFill>
                  <a:srgbClr val="800000"/>
                </a:solidFill>
                <a:latin typeface="Consolas" panose="020B0609020204030204" pitchFamily="49" charset="0"/>
              </a:rPr>
              <a:t>&gt;  </a:t>
            </a:r>
          </a:p>
          <a:p>
            <a:r>
              <a:rPr lang="en-US" sz="1600" dirty="0">
                <a:solidFill>
                  <a:srgbClr val="800000"/>
                </a:solidFill>
                <a:latin typeface="Consolas" panose="020B0609020204030204" pitchFamily="49" charset="0"/>
              </a:rPr>
              <a:t>            &lt;input </a:t>
            </a:r>
            <a:r>
              <a:rPr lang="en-US" sz="1600" dirty="0">
                <a:solidFill>
                  <a:srgbClr val="FF0000"/>
                </a:solidFill>
                <a:latin typeface="Consolas" panose="020B0609020204030204" pitchFamily="49" charset="0"/>
              </a:rPr>
              <a:t>type</a:t>
            </a:r>
            <a:r>
              <a:rPr lang="en-US" sz="1600" dirty="0">
                <a:latin typeface="Consolas" panose="020B0609020204030204" pitchFamily="49" charset="0"/>
              </a:rPr>
              <a:t>=</a:t>
            </a:r>
            <a:r>
              <a:rPr lang="en-US" sz="1600" dirty="0">
                <a:solidFill>
                  <a:srgbClr val="0000FF"/>
                </a:solidFill>
                <a:latin typeface="Consolas" panose="020B0609020204030204" pitchFamily="49" charset="0"/>
              </a:rPr>
              <a:t>"email" </a:t>
            </a:r>
            <a:r>
              <a:rPr lang="en-US" sz="1600" dirty="0">
                <a:solidFill>
                  <a:srgbClr val="FF0000"/>
                </a:solidFill>
                <a:latin typeface="Consolas" panose="020B0609020204030204" pitchFamily="49" charset="0"/>
              </a:rPr>
              <a:t>name</a:t>
            </a:r>
            <a:r>
              <a:rPr lang="en-US" sz="1600" dirty="0">
                <a:latin typeface="Consolas" panose="020B0609020204030204" pitchFamily="49" charset="0"/>
              </a:rPr>
              <a:t>=</a:t>
            </a:r>
            <a:r>
              <a:rPr lang="en-US" sz="1600" dirty="0">
                <a:solidFill>
                  <a:srgbClr val="0000FF"/>
                </a:solidFill>
                <a:latin typeface="Consolas" panose="020B0609020204030204" pitchFamily="49" charset="0"/>
              </a:rPr>
              <a:t>"email"</a:t>
            </a:r>
            <a:r>
              <a:rPr lang="en-US" sz="1600" dirty="0">
                <a:solidFill>
                  <a:srgbClr val="800000"/>
                </a:solidFill>
                <a:latin typeface="Consolas" panose="020B0609020204030204" pitchFamily="49" charset="0"/>
              </a:rPr>
              <a:t>&gt;&lt;</a:t>
            </a:r>
            <a:r>
              <a:rPr lang="en-US" sz="1600" dirty="0" err="1">
                <a:solidFill>
                  <a:srgbClr val="800000"/>
                </a:solidFill>
                <a:latin typeface="Consolas" panose="020B0609020204030204" pitchFamily="49" charset="0"/>
              </a:rPr>
              <a:t>br</a:t>
            </a:r>
            <a:r>
              <a:rPr lang="en-US" sz="1600" dirty="0">
                <a:solidFill>
                  <a:srgbClr val="800000"/>
                </a:solidFill>
                <a:latin typeface="Consolas" panose="020B0609020204030204" pitchFamily="49" charset="0"/>
              </a:rPr>
              <a:t>&gt;&lt;</a:t>
            </a:r>
            <a:r>
              <a:rPr lang="en-US" sz="1600" dirty="0" err="1">
                <a:solidFill>
                  <a:srgbClr val="800000"/>
                </a:solidFill>
                <a:latin typeface="Consolas" panose="020B0609020204030204" pitchFamily="49" charset="0"/>
              </a:rPr>
              <a:t>br</a:t>
            </a:r>
            <a:r>
              <a:rPr lang="en-US" sz="1600" dirty="0">
                <a:solidFill>
                  <a:srgbClr val="800000"/>
                </a:solidFill>
                <a:latin typeface="Consolas" panose="020B0609020204030204" pitchFamily="49" charset="0"/>
              </a:rPr>
              <a:t>&gt;  </a:t>
            </a:r>
          </a:p>
          <a:p>
            <a:r>
              <a:rPr lang="en-US" sz="1600" dirty="0">
                <a:solidFill>
                  <a:srgbClr val="800000"/>
                </a:solidFill>
                <a:latin typeface="Consolas" panose="020B0609020204030204" pitchFamily="49" charset="0"/>
              </a:rPr>
              <a:t>     &lt;/</a:t>
            </a:r>
            <a:r>
              <a:rPr lang="en-US" sz="1600" dirty="0" err="1">
                <a:solidFill>
                  <a:srgbClr val="800000"/>
                </a:solidFill>
                <a:latin typeface="Consolas" panose="020B0609020204030204" pitchFamily="49" charset="0"/>
              </a:rPr>
              <a:t>fieldset</a:t>
            </a:r>
            <a:r>
              <a:rPr lang="en-US" sz="1600" dirty="0">
                <a:solidFill>
                  <a:srgbClr val="800000"/>
                </a:solidFill>
                <a:latin typeface="Consolas" panose="020B0609020204030204" pitchFamily="49" charset="0"/>
              </a:rPr>
              <a:t>&gt;</a:t>
            </a:r>
          </a:p>
          <a:p>
            <a:r>
              <a:rPr lang="en-US" sz="1600" dirty="0">
                <a:solidFill>
                  <a:srgbClr val="800000"/>
                </a:solidFill>
                <a:latin typeface="Consolas" panose="020B0609020204030204" pitchFamily="49" charset="0"/>
              </a:rPr>
              <a:t>&lt;/form&gt;</a:t>
            </a:r>
            <a:endParaRPr lang="en-US" sz="1600"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35F9F4A0-4592-C04D-B2D0-0BF66A3BFA20}"/>
              </a:ext>
            </a:extLst>
          </p:cNvPr>
          <p:cNvSpPr/>
          <p:nvPr/>
        </p:nvSpPr>
        <p:spPr>
          <a:xfrm>
            <a:off x="487823" y="3014612"/>
            <a:ext cx="499993" cy="3046988"/>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p:txBody>
      </p:sp>
      <p:pic>
        <p:nvPicPr>
          <p:cNvPr id="6" name="Picture 5"/>
          <p:cNvPicPr>
            <a:picLocks noChangeAspect="1"/>
          </p:cNvPicPr>
          <p:nvPr/>
        </p:nvPicPr>
        <p:blipFill>
          <a:blip r:embed="rId2"/>
          <a:stretch>
            <a:fillRect/>
          </a:stretch>
        </p:blipFill>
        <p:spPr>
          <a:xfrm>
            <a:off x="7496137" y="3581880"/>
            <a:ext cx="4323362" cy="1656941"/>
          </a:xfrm>
          <a:prstGeom prst="rect">
            <a:avLst/>
          </a:prstGeom>
        </p:spPr>
      </p:pic>
      <p:sp>
        <p:nvSpPr>
          <p:cNvPr id="7" name="TextBox 6"/>
          <p:cNvSpPr txBox="1"/>
          <p:nvPr/>
        </p:nvSpPr>
        <p:spPr>
          <a:xfrm>
            <a:off x="7496137" y="3120215"/>
            <a:ext cx="1103187" cy="461665"/>
          </a:xfrm>
          <a:prstGeom prst="rect">
            <a:avLst/>
          </a:prstGeom>
          <a:noFill/>
        </p:spPr>
        <p:txBody>
          <a:bodyPr wrap="none" rtlCol="0">
            <a:spAutoFit/>
          </a:bodyPr>
          <a:lstStyle/>
          <a:p>
            <a:r>
              <a:rPr lang="en-IN" sz="2400" b="1" dirty="0"/>
              <a:t>Output</a:t>
            </a:r>
            <a:endParaRPr lang="en-US" b="1" dirty="0"/>
          </a:p>
        </p:txBody>
      </p:sp>
    </p:spTree>
    <p:extLst>
      <p:ext uri="{BB962C8B-B14F-4D97-AF65-F5344CB8AC3E}">
        <p14:creationId xmlns:p14="http://schemas.microsoft.com/office/powerpoint/2010/main" val="1448841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bg/>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
                                            <p:txEl>
                                              <p:pRg st="8" end="8"/>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uiExpand="1" build="p" animBg="1"/>
      <p:bldP spid="5" grpId="0" animBg="1"/>
      <p:bldP spid="7"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Media Tags</a:t>
            </a:r>
          </a:p>
        </p:txBody>
      </p:sp>
      <p:sp>
        <p:nvSpPr>
          <p:cNvPr id="3" name="Content Placeholder 2"/>
          <p:cNvSpPr>
            <a:spLocks noGrp="1"/>
          </p:cNvSpPr>
          <p:nvPr>
            <p:ph idx="1"/>
          </p:nvPr>
        </p:nvSpPr>
        <p:spPr/>
        <p:txBody>
          <a:bodyPr/>
          <a:lstStyle/>
          <a:p>
            <a:r>
              <a:rPr lang="en-US" dirty="0"/>
              <a:t>Video tag</a:t>
            </a:r>
          </a:p>
          <a:p>
            <a:r>
              <a:rPr lang="en-US" dirty="0"/>
              <a:t>Audio tag</a:t>
            </a:r>
          </a:p>
        </p:txBody>
      </p:sp>
    </p:spTree>
    <p:extLst>
      <p:ext uri="{BB962C8B-B14F-4D97-AF65-F5344CB8AC3E}">
        <p14:creationId xmlns:p14="http://schemas.microsoft.com/office/powerpoint/2010/main" val="3677475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Video Tag</a:t>
            </a:r>
          </a:p>
        </p:txBody>
      </p:sp>
      <p:sp>
        <p:nvSpPr>
          <p:cNvPr id="3" name="Content Placeholder 2"/>
          <p:cNvSpPr>
            <a:spLocks noGrp="1"/>
          </p:cNvSpPr>
          <p:nvPr>
            <p:ph idx="1"/>
          </p:nvPr>
        </p:nvSpPr>
        <p:spPr/>
        <p:txBody>
          <a:bodyPr/>
          <a:lstStyle/>
          <a:p>
            <a:r>
              <a:rPr lang="en-US" dirty="0"/>
              <a:t>The HTML &lt;video&gt; element is used to show a video on a web page.</a:t>
            </a:r>
          </a:p>
          <a:p>
            <a:r>
              <a:rPr lang="en-US" dirty="0"/>
              <a:t>The controls attribute adds video controls, like play, pause, and volume.</a:t>
            </a:r>
          </a:p>
          <a:p>
            <a:r>
              <a:rPr lang="en-US" dirty="0"/>
              <a:t>The width and height attributes are used to set width and height respectively.</a:t>
            </a:r>
          </a:p>
          <a:p>
            <a:r>
              <a:rPr lang="en-US" dirty="0"/>
              <a:t>The </a:t>
            </a:r>
            <a:r>
              <a:rPr lang="en-US" dirty="0" err="1"/>
              <a:t>autoplay</a:t>
            </a:r>
            <a:r>
              <a:rPr lang="en-US" dirty="0"/>
              <a:t> attribute </a:t>
            </a:r>
            <a:r>
              <a:rPr lang="en-IN" dirty="0"/>
              <a:t>start a video automatically.</a:t>
            </a:r>
          </a:p>
          <a:p>
            <a:r>
              <a:rPr lang="en-US" dirty="0"/>
              <a:t>The muted attribute will mute your video sound.</a:t>
            </a:r>
          </a:p>
          <a:p>
            <a:r>
              <a:rPr lang="en-US" dirty="0"/>
              <a:t>The &lt;source&gt; element allows you to specify alternative video files in </a:t>
            </a:r>
            <a:r>
              <a:rPr lang="en-US" dirty="0" err="1"/>
              <a:t>src</a:t>
            </a:r>
            <a:r>
              <a:rPr lang="en-US" dirty="0"/>
              <a:t> attribute which the browser may choose from. The browser will use the first recognized format.</a:t>
            </a:r>
          </a:p>
          <a:p>
            <a:r>
              <a:rPr lang="en-US" dirty="0"/>
              <a:t>The text written in between the &lt;video&gt; and &lt;/video&gt; tags will display only if browser do not support the &lt;video&gt; element.</a:t>
            </a:r>
            <a:endParaRPr lang="en-IN" dirty="0">
              <a:solidFill>
                <a:srgbClr val="0000CD"/>
              </a:solidFill>
              <a:latin typeface="Consolas" panose="020B0609020204030204" pitchFamily="49" charset="0"/>
            </a:endParaRPr>
          </a:p>
        </p:txBody>
      </p:sp>
      <p:sp>
        <p:nvSpPr>
          <p:cNvPr id="6" name="Rectangle 5">
            <a:extLst>
              <a:ext uri="{FF2B5EF4-FFF2-40B4-BE49-F238E27FC236}">
                <a16:creationId xmlns:a16="http://schemas.microsoft.com/office/drawing/2014/main" id="{D456EBDA-49A4-A843-A786-6989C63A54AA}"/>
              </a:ext>
            </a:extLst>
          </p:cNvPr>
          <p:cNvSpPr/>
          <p:nvPr/>
        </p:nvSpPr>
        <p:spPr>
          <a:xfrm>
            <a:off x="3141454" y="4739901"/>
            <a:ext cx="6511504" cy="1200329"/>
          </a:xfrm>
          <a:prstGeom prst="rect">
            <a:avLst/>
          </a:prstGeom>
          <a:solidFill>
            <a:schemeClr val="bg1">
              <a:lumMod val="95000"/>
            </a:schemeClr>
          </a:solidFill>
          <a:ln>
            <a:noFill/>
          </a:ln>
        </p:spPr>
        <p:txBody>
          <a:bodyPr wrap="square">
            <a:spAutoFit/>
          </a:bodyPr>
          <a:lstStyle/>
          <a:p>
            <a:pPr lvl="0">
              <a:lnSpc>
                <a:spcPct val="90000"/>
              </a:lnSpc>
              <a:spcBef>
                <a:spcPts val="1000"/>
              </a:spcBef>
              <a:buClr>
                <a:srgbClr val="B84742"/>
              </a:buClr>
            </a:pPr>
            <a:r>
              <a:rPr lang="en-IN" sz="1600" dirty="0">
                <a:solidFill>
                  <a:srgbClr val="0000CD"/>
                </a:solidFill>
                <a:latin typeface="Consolas" panose="020B0609020204030204" pitchFamily="49" charset="0"/>
              </a:rPr>
              <a:t>&lt;</a:t>
            </a:r>
            <a:r>
              <a:rPr lang="en-IN" sz="1600" dirty="0">
                <a:solidFill>
                  <a:srgbClr val="A52A2A"/>
                </a:solidFill>
                <a:latin typeface="Consolas" panose="020B0609020204030204" pitchFamily="49" charset="0"/>
              </a:rPr>
              <a:t>video</a:t>
            </a:r>
            <a:r>
              <a:rPr lang="en-IN" sz="1600" dirty="0">
                <a:solidFill>
                  <a:srgbClr val="FF0000"/>
                </a:solidFill>
                <a:latin typeface="Consolas" panose="020B0609020204030204" pitchFamily="49" charset="0"/>
              </a:rPr>
              <a:t> width</a:t>
            </a:r>
            <a:r>
              <a:rPr lang="en-IN" sz="1600" dirty="0">
                <a:solidFill>
                  <a:srgbClr val="0000CD"/>
                </a:solidFill>
                <a:latin typeface="Consolas" panose="020B0609020204030204" pitchFamily="49" charset="0"/>
              </a:rPr>
              <a:t>="300"</a:t>
            </a:r>
            <a:r>
              <a:rPr lang="en-IN" sz="1600" dirty="0">
                <a:solidFill>
                  <a:srgbClr val="FF0000"/>
                </a:solidFill>
                <a:latin typeface="Consolas" panose="020B0609020204030204" pitchFamily="49" charset="0"/>
              </a:rPr>
              <a:t> height</a:t>
            </a:r>
            <a:r>
              <a:rPr lang="en-IN" sz="1600" dirty="0">
                <a:solidFill>
                  <a:srgbClr val="0000CD"/>
                </a:solidFill>
                <a:latin typeface="Consolas" panose="020B0609020204030204" pitchFamily="49" charset="0"/>
              </a:rPr>
              <a:t>="200"</a:t>
            </a:r>
            <a:r>
              <a:rPr lang="en-IN" sz="1600" dirty="0">
                <a:solidFill>
                  <a:srgbClr val="FF0000"/>
                </a:solidFill>
                <a:latin typeface="Consolas" panose="020B0609020204030204" pitchFamily="49" charset="0"/>
              </a:rPr>
              <a:t> controls </a:t>
            </a:r>
            <a:r>
              <a:rPr lang="en-IN" sz="1600" dirty="0" err="1">
                <a:solidFill>
                  <a:srgbClr val="FF0000"/>
                </a:solidFill>
                <a:latin typeface="Consolas" panose="020B0609020204030204" pitchFamily="49" charset="0"/>
              </a:rPr>
              <a:t>autoplay</a:t>
            </a:r>
            <a:r>
              <a:rPr lang="en-IN" sz="1600" dirty="0">
                <a:solidFill>
                  <a:srgbClr val="FF0000"/>
                </a:solidFill>
                <a:latin typeface="Consolas" panose="020B0609020204030204" pitchFamily="49" charset="0"/>
              </a:rPr>
              <a:t> muted</a:t>
            </a:r>
            <a:r>
              <a:rPr lang="en-IN" sz="1600" dirty="0">
                <a:solidFill>
                  <a:srgbClr val="0000CD"/>
                </a:solidFill>
                <a:latin typeface="Consolas" panose="020B0609020204030204" pitchFamily="49" charset="0"/>
              </a:rPr>
              <a:t>&gt;</a:t>
            </a:r>
            <a:r>
              <a:rPr lang="en-IN" sz="1600" dirty="0">
                <a:solidFill>
                  <a:srgbClr val="212121"/>
                </a:solidFill>
                <a:latin typeface="Consolas" panose="020B0609020204030204" pitchFamily="49" charset="0"/>
              </a:rPr>
              <a:t/>
            </a:r>
            <a:br>
              <a:rPr lang="en-IN" sz="1600" dirty="0">
                <a:solidFill>
                  <a:srgbClr val="212121"/>
                </a:solidFill>
                <a:latin typeface="Consolas" panose="020B0609020204030204" pitchFamily="49" charset="0"/>
              </a:rPr>
            </a:br>
            <a:r>
              <a:rPr lang="en-IN" sz="1600" dirty="0">
                <a:solidFill>
                  <a:srgbClr val="000000"/>
                </a:solidFill>
                <a:latin typeface="Consolas" panose="020B0609020204030204" pitchFamily="49" charset="0"/>
              </a:rPr>
              <a:t>  </a:t>
            </a:r>
            <a:r>
              <a:rPr lang="en-IN" sz="1600" dirty="0">
                <a:solidFill>
                  <a:srgbClr val="0000CD"/>
                </a:solidFill>
                <a:latin typeface="Consolas" panose="020B0609020204030204" pitchFamily="49" charset="0"/>
              </a:rPr>
              <a:t>&lt;</a:t>
            </a:r>
            <a:r>
              <a:rPr lang="en-IN" sz="1600" dirty="0">
                <a:solidFill>
                  <a:srgbClr val="A52A2A"/>
                </a:solidFill>
                <a:latin typeface="Consolas" panose="020B0609020204030204" pitchFamily="49" charset="0"/>
              </a:rPr>
              <a:t>source</a:t>
            </a:r>
            <a:r>
              <a:rPr lang="en-IN" sz="1600" dirty="0">
                <a:solidFill>
                  <a:srgbClr val="FF0000"/>
                </a:solidFill>
                <a:latin typeface="Consolas" panose="020B0609020204030204" pitchFamily="49" charset="0"/>
              </a:rPr>
              <a:t> </a:t>
            </a:r>
            <a:r>
              <a:rPr lang="en-IN" sz="1600" dirty="0" err="1">
                <a:solidFill>
                  <a:srgbClr val="FF0000"/>
                </a:solidFill>
                <a:latin typeface="Consolas" panose="020B0609020204030204" pitchFamily="49" charset="0"/>
              </a:rPr>
              <a:t>src</a:t>
            </a:r>
            <a:r>
              <a:rPr lang="en-IN" sz="1600" dirty="0">
                <a:solidFill>
                  <a:srgbClr val="0000CD"/>
                </a:solidFill>
                <a:latin typeface="Consolas" panose="020B0609020204030204" pitchFamily="49" charset="0"/>
              </a:rPr>
              <a:t>="video.mp4"</a:t>
            </a:r>
            <a:r>
              <a:rPr lang="en-IN" sz="1600" dirty="0">
                <a:solidFill>
                  <a:srgbClr val="FF0000"/>
                </a:solidFill>
                <a:latin typeface="Consolas" panose="020B0609020204030204" pitchFamily="49" charset="0"/>
              </a:rPr>
              <a:t> type</a:t>
            </a:r>
            <a:r>
              <a:rPr lang="en-IN" sz="1600" dirty="0">
                <a:solidFill>
                  <a:srgbClr val="0000CD"/>
                </a:solidFill>
                <a:latin typeface="Consolas" panose="020B0609020204030204" pitchFamily="49" charset="0"/>
              </a:rPr>
              <a:t>="video/mp4"&gt;</a:t>
            </a:r>
            <a:r>
              <a:rPr lang="en-IN" sz="1600" dirty="0">
                <a:solidFill>
                  <a:srgbClr val="212121"/>
                </a:solidFill>
                <a:latin typeface="Consolas" panose="020B0609020204030204" pitchFamily="49" charset="0"/>
              </a:rPr>
              <a:t/>
            </a:r>
            <a:br>
              <a:rPr lang="en-IN" sz="1600" dirty="0">
                <a:solidFill>
                  <a:srgbClr val="212121"/>
                </a:solidFill>
                <a:latin typeface="Consolas" panose="020B0609020204030204" pitchFamily="49" charset="0"/>
              </a:rPr>
            </a:br>
            <a:r>
              <a:rPr lang="en-IN" sz="1600" dirty="0">
                <a:solidFill>
                  <a:srgbClr val="000000"/>
                </a:solidFill>
                <a:latin typeface="Consolas" panose="020B0609020204030204" pitchFamily="49" charset="0"/>
              </a:rPr>
              <a:t>  </a:t>
            </a:r>
            <a:r>
              <a:rPr lang="en-IN" sz="1600" dirty="0">
                <a:solidFill>
                  <a:srgbClr val="0000CD"/>
                </a:solidFill>
                <a:latin typeface="Consolas" panose="020B0609020204030204" pitchFamily="49" charset="0"/>
              </a:rPr>
              <a:t>&lt;</a:t>
            </a:r>
            <a:r>
              <a:rPr lang="en-IN" sz="1600" dirty="0">
                <a:solidFill>
                  <a:srgbClr val="A52A2A"/>
                </a:solidFill>
                <a:latin typeface="Consolas" panose="020B0609020204030204" pitchFamily="49" charset="0"/>
              </a:rPr>
              <a:t>source</a:t>
            </a:r>
            <a:r>
              <a:rPr lang="en-IN" sz="1600" dirty="0">
                <a:solidFill>
                  <a:srgbClr val="FF0000"/>
                </a:solidFill>
                <a:latin typeface="Consolas" panose="020B0609020204030204" pitchFamily="49" charset="0"/>
              </a:rPr>
              <a:t> </a:t>
            </a:r>
            <a:r>
              <a:rPr lang="en-IN" sz="1600" dirty="0" err="1">
                <a:solidFill>
                  <a:srgbClr val="FF0000"/>
                </a:solidFill>
                <a:latin typeface="Consolas" panose="020B0609020204030204" pitchFamily="49" charset="0"/>
              </a:rPr>
              <a:t>src</a:t>
            </a:r>
            <a:r>
              <a:rPr lang="en-IN" sz="1600" dirty="0">
                <a:solidFill>
                  <a:srgbClr val="0000CD"/>
                </a:solidFill>
                <a:latin typeface="Consolas" panose="020B0609020204030204" pitchFamily="49" charset="0"/>
              </a:rPr>
              <a:t>="video.ogg"</a:t>
            </a:r>
            <a:r>
              <a:rPr lang="en-IN" sz="1600" dirty="0">
                <a:solidFill>
                  <a:srgbClr val="FF0000"/>
                </a:solidFill>
                <a:latin typeface="Consolas" panose="020B0609020204030204" pitchFamily="49" charset="0"/>
              </a:rPr>
              <a:t> type</a:t>
            </a:r>
            <a:r>
              <a:rPr lang="en-IN" sz="1600" dirty="0">
                <a:solidFill>
                  <a:srgbClr val="0000CD"/>
                </a:solidFill>
                <a:latin typeface="Consolas" panose="020B0609020204030204" pitchFamily="49" charset="0"/>
              </a:rPr>
              <a:t>="video/</a:t>
            </a:r>
            <a:r>
              <a:rPr lang="en-IN" sz="1600" dirty="0" err="1">
                <a:solidFill>
                  <a:srgbClr val="0000CD"/>
                </a:solidFill>
                <a:latin typeface="Consolas" panose="020B0609020204030204" pitchFamily="49" charset="0"/>
              </a:rPr>
              <a:t>ogg</a:t>
            </a:r>
            <a:r>
              <a:rPr lang="en-IN" sz="1600" dirty="0">
                <a:solidFill>
                  <a:srgbClr val="0000CD"/>
                </a:solidFill>
                <a:latin typeface="Consolas" panose="020B0609020204030204" pitchFamily="49" charset="0"/>
              </a:rPr>
              <a:t>"&gt;</a:t>
            </a:r>
            <a:r>
              <a:rPr lang="en-IN" sz="1600" dirty="0">
                <a:solidFill>
                  <a:srgbClr val="212121"/>
                </a:solidFill>
                <a:latin typeface="Consolas" panose="020B0609020204030204" pitchFamily="49" charset="0"/>
              </a:rPr>
              <a:t/>
            </a:r>
            <a:br>
              <a:rPr lang="en-IN" sz="1600" dirty="0">
                <a:solidFill>
                  <a:srgbClr val="212121"/>
                </a:solidFill>
                <a:latin typeface="Consolas" panose="020B0609020204030204" pitchFamily="49" charset="0"/>
              </a:rPr>
            </a:br>
            <a:r>
              <a:rPr lang="en-IN" sz="1600" dirty="0">
                <a:solidFill>
                  <a:srgbClr val="212121"/>
                </a:solidFill>
                <a:latin typeface="Consolas" panose="020B0609020204030204" pitchFamily="49" charset="0"/>
              </a:rPr>
              <a:t>  T</a:t>
            </a:r>
            <a:r>
              <a:rPr lang="en-IN" sz="1600" dirty="0">
                <a:solidFill>
                  <a:srgbClr val="000000"/>
                </a:solidFill>
                <a:latin typeface="Consolas" panose="020B0609020204030204" pitchFamily="49" charset="0"/>
              </a:rPr>
              <a:t>he video tag is not supported in your browser.</a:t>
            </a:r>
            <a:r>
              <a:rPr lang="en-IN" sz="1600" dirty="0">
                <a:solidFill>
                  <a:srgbClr val="212121"/>
                </a:solidFill>
                <a:latin typeface="Consolas" panose="020B0609020204030204" pitchFamily="49" charset="0"/>
              </a:rPr>
              <a:t/>
            </a:r>
            <a:br>
              <a:rPr lang="en-IN" sz="1600" dirty="0">
                <a:solidFill>
                  <a:srgbClr val="212121"/>
                </a:solidFill>
                <a:latin typeface="Consolas" panose="020B0609020204030204" pitchFamily="49" charset="0"/>
              </a:rPr>
            </a:br>
            <a:r>
              <a:rPr lang="en-IN" sz="1600" dirty="0">
                <a:solidFill>
                  <a:srgbClr val="0000CD"/>
                </a:solidFill>
                <a:latin typeface="Consolas" panose="020B0609020204030204" pitchFamily="49" charset="0"/>
              </a:rPr>
              <a:t>&lt;</a:t>
            </a:r>
            <a:r>
              <a:rPr lang="en-IN" sz="1600" dirty="0">
                <a:solidFill>
                  <a:srgbClr val="A52A2A"/>
                </a:solidFill>
                <a:latin typeface="Consolas" panose="020B0609020204030204" pitchFamily="49" charset="0"/>
              </a:rPr>
              <a:t>/video</a:t>
            </a:r>
            <a:r>
              <a:rPr lang="en-IN" sz="1600" dirty="0">
                <a:solidFill>
                  <a:srgbClr val="0000CD"/>
                </a:solidFill>
                <a:latin typeface="Consolas" panose="020B0609020204030204" pitchFamily="49" charset="0"/>
              </a:rPr>
              <a:t>&gt;</a:t>
            </a:r>
            <a:endParaRPr lang="en-US" sz="1600" dirty="0">
              <a:solidFill>
                <a:srgbClr val="212121"/>
              </a:solidFill>
              <a:latin typeface="Consolas" panose="020B0609020204030204" pitchFamily="49" charset="0"/>
            </a:endParaRPr>
          </a:p>
        </p:txBody>
      </p:sp>
      <p:sp>
        <p:nvSpPr>
          <p:cNvPr id="7" name="Rectangle 6">
            <a:extLst>
              <a:ext uri="{FF2B5EF4-FFF2-40B4-BE49-F238E27FC236}">
                <a16:creationId xmlns:a16="http://schemas.microsoft.com/office/drawing/2014/main" id="{35F9F4A0-4592-C04D-B2D0-0BF66A3BFA20}"/>
              </a:ext>
            </a:extLst>
          </p:cNvPr>
          <p:cNvSpPr/>
          <p:nvPr/>
        </p:nvSpPr>
        <p:spPr>
          <a:xfrm>
            <a:off x="2641461" y="4739901"/>
            <a:ext cx="499993" cy="118800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600907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
                                            <p:bg/>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animBg="1"/>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Audio Tag</a:t>
            </a:r>
          </a:p>
        </p:txBody>
      </p:sp>
      <p:sp>
        <p:nvSpPr>
          <p:cNvPr id="3" name="Content Placeholder 2"/>
          <p:cNvSpPr>
            <a:spLocks noGrp="1"/>
          </p:cNvSpPr>
          <p:nvPr>
            <p:ph idx="1"/>
          </p:nvPr>
        </p:nvSpPr>
        <p:spPr/>
        <p:txBody>
          <a:bodyPr/>
          <a:lstStyle/>
          <a:p>
            <a:r>
              <a:rPr lang="en-US" dirty="0"/>
              <a:t>The HTML &lt;audio&gt; element is used to play an audio file on a web page.</a:t>
            </a:r>
          </a:p>
          <a:p>
            <a:r>
              <a:rPr lang="en-US" dirty="0"/>
              <a:t>The controls attribute adds </a:t>
            </a:r>
            <a:r>
              <a:rPr lang="en-IN" dirty="0"/>
              <a:t>audio </a:t>
            </a:r>
            <a:r>
              <a:rPr lang="en-US" dirty="0"/>
              <a:t>controls, like play, pause, and volume.</a:t>
            </a:r>
          </a:p>
          <a:p>
            <a:r>
              <a:rPr lang="en-US" dirty="0"/>
              <a:t>The </a:t>
            </a:r>
            <a:r>
              <a:rPr lang="en-US" dirty="0" err="1"/>
              <a:t>autoplay</a:t>
            </a:r>
            <a:r>
              <a:rPr lang="en-US" dirty="0"/>
              <a:t> attribute </a:t>
            </a:r>
            <a:r>
              <a:rPr lang="en-IN" dirty="0"/>
              <a:t>start a audio automatically.</a:t>
            </a:r>
          </a:p>
          <a:p>
            <a:r>
              <a:rPr lang="en-US" dirty="0"/>
              <a:t>The muted attribute will mute your </a:t>
            </a:r>
            <a:r>
              <a:rPr lang="en-IN" dirty="0"/>
              <a:t>audio </a:t>
            </a:r>
            <a:r>
              <a:rPr lang="en-US" dirty="0"/>
              <a:t>sound.</a:t>
            </a:r>
          </a:p>
          <a:p>
            <a:r>
              <a:rPr lang="en-US" dirty="0"/>
              <a:t>The &lt;source&gt; element allows you to specify alternative </a:t>
            </a:r>
            <a:r>
              <a:rPr lang="en-IN" dirty="0"/>
              <a:t>audio </a:t>
            </a:r>
            <a:r>
              <a:rPr lang="en-US" dirty="0"/>
              <a:t>files in </a:t>
            </a:r>
            <a:r>
              <a:rPr lang="en-US" dirty="0" err="1"/>
              <a:t>src</a:t>
            </a:r>
            <a:r>
              <a:rPr lang="en-US" dirty="0"/>
              <a:t> attribute which the browser may choose from. The browser will use the first recognized format.</a:t>
            </a:r>
          </a:p>
          <a:p>
            <a:r>
              <a:rPr lang="en-US" dirty="0"/>
              <a:t>The text written in between the &lt;audio&gt; and &lt;/audio&gt; tags will display only if browser do not support the &lt;audio&gt; element.</a:t>
            </a:r>
            <a:endParaRPr lang="en-IN" dirty="0">
              <a:solidFill>
                <a:srgbClr val="0000CD"/>
              </a:solidFill>
              <a:latin typeface="Consolas" panose="020B0609020204030204" pitchFamily="49" charset="0"/>
            </a:endParaRPr>
          </a:p>
        </p:txBody>
      </p:sp>
      <p:sp>
        <p:nvSpPr>
          <p:cNvPr id="6" name="Rectangle 5">
            <a:extLst>
              <a:ext uri="{FF2B5EF4-FFF2-40B4-BE49-F238E27FC236}">
                <a16:creationId xmlns:a16="http://schemas.microsoft.com/office/drawing/2014/main" id="{D456EBDA-49A4-A843-A786-6989C63A54AA}"/>
              </a:ext>
            </a:extLst>
          </p:cNvPr>
          <p:cNvSpPr/>
          <p:nvPr/>
        </p:nvSpPr>
        <p:spPr>
          <a:xfrm>
            <a:off x="3141454" y="4739901"/>
            <a:ext cx="5924901" cy="1200329"/>
          </a:xfrm>
          <a:prstGeom prst="rect">
            <a:avLst/>
          </a:prstGeom>
          <a:solidFill>
            <a:schemeClr val="bg1">
              <a:lumMod val="95000"/>
            </a:schemeClr>
          </a:solidFill>
          <a:ln>
            <a:noFill/>
          </a:ln>
        </p:spPr>
        <p:txBody>
          <a:bodyPr wrap="square">
            <a:spAutoFit/>
          </a:bodyPr>
          <a:lstStyle/>
          <a:p>
            <a:pPr lvl="0">
              <a:lnSpc>
                <a:spcPct val="90000"/>
              </a:lnSpc>
              <a:spcBef>
                <a:spcPts val="1000"/>
              </a:spcBef>
              <a:buClr>
                <a:srgbClr val="B84742"/>
              </a:buClr>
            </a:pPr>
            <a:r>
              <a:rPr lang="en-IN" sz="1600" i="1" dirty="0">
                <a:solidFill>
                  <a:srgbClr val="0000CD"/>
                </a:solidFill>
                <a:latin typeface="Consolas" panose="020B0609020204030204" pitchFamily="49" charset="0"/>
              </a:rPr>
              <a:t>&lt;</a:t>
            </a:r>
            <a:r>
              <a:rPr lang="en-IN" sz="1600" i="1" dirty="0">
                <a:solidFill>
                  <a:srgbClr val="A52A2A"/>
                </a:solidFill>
                <a:latin typeface="Consolas" panose="020B0609020204030204" pitchFamily="49" charset="0"/>
              </a:rPr>
              <a:t>audio</a:t>
            </a:r>
            <a:r>
              <a:rPr lang="en-IN" sz="1600" i="1" dirty="0">
                <a:solidFill>
                  <a:srgbClr val="FF0000"/>
                </a:solidFill>
                <a:latin typeface="Consolas" panose="020B0609020204030204" pitchFamily="49" charset="0"/>
              </a:rPr>
              <a:t> controls </a:t>
            </a:r>
            <a:r>
              <a:rPr lang="en-IN" sz="1600" i="1" dirty="0" err="1">
                <a:solidFill>
                  <a:srgbClr val="FF0000"/>
                </a:solidFill>
                <a:latin typeface="Consolas" panose="020B0609020204030204" pitchFamily="49" charset="0"/>
              </a:rPr>
              <a:t>autoplay</a:t>
            </a:r>
            <a:r>
              <a:rPr lang="en-IN" sz="1600" i="1" dirty="0">
                <a:solidFill>
                  <a:srgbClr val="FF0000"/>
                </a:solidFill>
                <a:latin typeface="Consolas" panose="020B0609020204030204" pitchFamily="49" charset="0"/>
              </a:rPr>
              <a:t> muted</a:t>
            </a:r>
            <a:r>
              <a:rPr lang="en-IN" sz="1600" i="1" dirty="0">
                <a:solidFill>
                  <a:srgbClr val="0000CD"/>
                </a:solidFill>
                <a:latin typeface="Consolas" panose="020B0609020204030204" pitchFamily="49" charset="0"/>
              </a:rPr>
              <a:t>&gt;</a:t>
            </a:r>
            <a:r>
              <a:rPr lang="en-IN" sz="1600" i="1" dirty="0"/>
              <a:t/>
            </a:r>
            <a:br>
              <a:rPr lang="en-IN" sz="1600" i="1" dirty="0"/>
            </a:br>
            <a:r>
              <a:rPr lang="en-IN" sz="1600" i="1" dirty="0">
                <a:solidFill>
                  <a:srgbClr val="000000"/>
                </a:solidFill>
                <a:latin typeface="Consolas" panose="020B0609020204030204" pitchFamily="49" charset="0"/>
              </a:rPr>
              <a:t>  </a:t>
            </a:r>
            <a:r>
              <a:rPr lang="en-IN" sz="1600" i="1" dirty="0">
                <a:solidFill>
                  <a:srgbClr val="0000CD"/>
                </a:solidFill>
                <a:latin typeface="Consolas" panose="020B0609020204030204" pitchFamily="49" charset="0"/>
              </a:rPr>
              <a:t>&lt;</a:t>
            </a:r>
            <a:r>
              <a:rPr lang="en-IN" sz="1600" i="1" dirty="0">
                <a:solidFill>
                  <a:srgbClr val="A52A2A"/>
                </a:solidFill>
                <a:latin typeface="Consolas" panose="020B0609020204030204" pitchFamily="49" charset="0"/>
              </a:rPr>
              <a:t>source</a:t>
            </a:r>
            <a:r>
              <a:rPr lang="en-IN" sz="1600" i="1" dirty="0">
                <a:solidFill>
                  <a:srgbClr val="FF0000"/>
                </a:solidFill>
                <a:latin typeface="Consolas" panose="020B0609020204030204" pitchFamily="49" charset="0"/>
              </a:rPr>
              <a:t> </a:t>
            </a:r>
            <a:r>
              <a:rPr lang="en-IN" sz="1600" i="1" dirty="0" err="1">
                <a:solidFill>
                  <a:srgbClr val="FF0000"/>
                </a:solidFill>
                <a:latin typeface="Consolas" panose="020B0609020204030204" pitchFamily="49" charset="0"/>
              </a:rPr>
              <a:t>src</a:t>
            </a:r>
            <a:r>
              <a:rPr lang="en-IN" sz="1600" i="1" dirty="0">
                <a:solidFill>
                  <a:srgbClr val="0000CD"/>
                </a:solidFill>
                <a:latin typeface="Consolas" panose="020B0609020204030204" pitchFamily="49" charset="0"/>
              </a:rPr>
              <a:t>="myaudio.ogg"</a:t>
            </a:r>
            <a:r>
              <a:rPr lang="en-IN" sz="1600" i="1" dirty="0">
                <a:solidFill>
                  <a:srgbClr val="FF0000"/>
                </a:solidFill>
                <a:latin typeface="Consolas" panose="020B0609020204030204" pitchFamily="49" charset="0"/>
              </a:rPr>
              <a:t> type</a:t>
            </a:r>
            <a:r>
              <a:rPr lang="en-IN" sz="1600" i="1" dirty="0">
                <a:solidFill>
                  <a:srgbClr val="0000CD"/>
                </a:solidFill>
                <a:latin typeface="Consolas" panose="020B0609020204030204" pitchFamily="49" charset="0"/>
              </a:rPr>
              <a:t>="audio/</a:t>
            </a:r>
            <a:r>
              <a:rPr lang="en-IN" sz="1600" i="1" dirty="0" err="1">
                <a:solidFill>
                  <a:srgbClr val="0000CD"/>
                </a:solidFill>
                <a:latin typeface="Consolas" panose="020B0609020204030204" pitchFamily="49" charset="0"/>
              </a:rPr>
              <a:t>ogg</a:t>
            </a:r>
            <a:r>
              <a:rPr lang="en-IN" sz="1600" i="1" dirty="0">
                <a:solidFill>
                  <a:srgbClr val="0000CD"/>
                </a:solidFill>
                <a:latin typeface="Consolas" panose="020B0609020204030204" pitchFamily="49" charset="0"/>
              </a:rPr>
              <a:t>"&gt;</a:t>
            </a:r>
            <a:r>
              <a:rPr lang="en-IN" sz="1600" i="1" dirty="0"/>
              <a:t/>
            </a:r>
            <a:br>
              <a:rPr lang="en-IN" sz="1600" i="1" dirty="0"/>
            </a:br>
            <a:r>
              <a:rPr lang="en-IN" sz="1600" i="1" dirty="0">
                <a:solidFill>
                  <a:srgbClr val="000000"/>
                </a:solidFill>
                <a:latin typeface="Consolas" panose="020B0609020204030204" pitchFamily="49" charset="0"/>
              </a:rPr>
              <a:t>  </a:t>
            </a:r>
            <a:r>
              <a:rPr lang="en-IN" sz="1600" i="1" dirty="0">
                <a:solidFill>
                  <a:srgbClr val="0000CD"/>
                </a:solidFill>
                <a:latin typeface="Consolas" panose="020B0609020204030204" pitchFamily="49" charset="0"/>
              </a:rPr>
              <a:t>&lt;</a:t>
            </a:r>
            <a:r>
              <a:rPr lang="en-IN" sz="1600" i="1" dirty="0">
                <a:solidFill>
                  <a:srgbClr val="A52A2A"/>
                </a:solidFill>
                <a:latin typeface="Consolas" panose="020B0609020204030204" pitchFamily="49" charset="0"/>
              </a:rPr>
              <a:t>source</a:t>
            </a:r>
            <a:r>
              <a:rPr lang="en-IN" sz="1600" i="1" dirty="0">
                <a:solidFill>
                  <a:srgbClr val="FF0000"/>
                </a:solidFill>
                <a:latin typeface="Consolas" panose="020B0609020204030204" pitchFamily="49" charset="0"/>
              </a:rPr>
              <a:t> </a:t>
            </a:r>
            <a:r>
              <a:rPr lang="en-IN" sz="1600" i="1" dirty="0" err="1">
                <a:solidFill>
                  <a:srgbClr val="FF0000"/>
                </a:solidFill>
                <a:latin typeface="Consolas" panose="020B0609020204030204" pitchFamily="49" charset="0"/>
              </a:rPr>
              <a:t>src</a:t>
            </a:r>
            <a:r>
              <a:rPr lang="en-IN" sz="1600" i="1">
                <a:solidFill>
                  <a:srgbClr val="0000CD"/>
                </a:solidFill>
                <a:latin typeface="Consolas" panose="020B0609020204030204" pitchFamily="49" charset="0"/>
              </a:rPr>
              <a:t>="myaudio.mp3</a:t>
            </a:r>
            <a:r>
              <a:rPr lang="en-IN" sz="1600" i="1" dirty="0">
                <a:solidFill>
                  <a:srgbClr val="0000CD"/>
                </a:solidFill>
                <a:latin typeface="Consolas" panose="020B0609020204030204" pitchFamily="49" charset="0"/>
              </a:rPr>
              <a:t>"</a:t>
            </a:r>
            <a:r>
              <a:rPr lang="en-IN" sz="1600" i="1" dirty="0">
                <a:solidFill>
                  <a:srgbClr val="FF0000"/>
                </a:solidFill>
                <a:latin typeface="Consolas" panose="020B0609020204030204" pitchFamily="49" charset="0"/>
              </a:rPr>
              <a:t> type</a:t>
            </a:r>
            <a:r>
              <a:rPr lang="en-IN" sz="1600" i="1" dirty="0">
                <a:solidFill>
                  <a:srgbClr val="0000CD"/>
                </a:solidFill>
                <a:latin typeface="Consolas" panose="020B0609020204030204" pitchFamily="49" charset="0"/>
              </a:rPr>
              <a:t>="audio/mpeg"&gt;</a:t>
            </a:r>
            <a:r>
              <a:rPr lang="en-IN" sz="1600" i="1" dirty="0"/>
              <a:t/>
            </a:r>
            <a:br>
              <a:rPr lang="en-IN" sz="1600" i="1" dirty="0"/>
            </a:br>
            <a:r>
              <a:rPr lang="en-IN" sz="1600" i="1" dirty="0"/>
              <a:t>     </a:t>
            </a:r>
            <a:r>
              <a:rPr lang="en-IN" sz="1600" i="1" dirty="0">
                <a:solidFill>
                  <a:srgbClr val="212121"/>
                </a:solidFill>
                <a:latin typeface="Consolas" panose="020B0609020204030204" pitchFamily="49" charset="0"/>
              </a:rPr>
              <a:t>T</a:t>
            </a:r>
            <a:r>
              <a:rPr lang="en-IN" sz="1600" i="1" dirty="0">
                <a:solidFill>
                  <a:srgbClr val="000000"/>
                </a:solidFill>
                <a:latin typeface="Consolas" panose="020B0609020204030204" pitchFamily="49" charset="0"/>
              </a:rPr>
              <a:t>he audio tag is not supported in your browser. </a:t>
            </a:r>
            <a:r>
              <a:rPr lang="en-IN" sz="1600" i="1" dirty="0">
                <a:solidFill>
                  <a:srgbClr val="0000CD"/>
                </a:solidFill>
                <a:latin typeface="Consolas" panose="020B0609020204030204" pitchFamily="49" charset="0"/>
              </a:rPr>
              <a:t>&lt;</a:t>
            </a:r>
            <a:r>
              <a:rPr lang="en-IN" sz="1600" i="1" dirty="0">
                <a:solidFill>
                  <a:srgbClr val="A52A2A"/>
                </a:solidFill>
                <a:latin typeface="Consolas" panose="020B0609020204030204" pitchFamily="49" charset="0"/>
              </a:rPr>
              <a:t>/audio</a:t>
            </a:r>
            <a:r>
              <a:rPr lang="en-IN" sz="1600" dirty="0">
                <a:solidFill>
                  <a:srgbClr val="0000CD"/>
                </a:solidFill>
                <a:latin typeface="Consolas" panose="020B0609020204030204" pitchFamily="49" charset="0"/>
              </a:rPr>
              <a:t>&gt;</a:t>
            </a:r>
            <a:endParaRPr lang="en-US" sz="1600" dirty="0">
              <a:solidFill>
                <a:srgbClr val="212121"/>
              </a:solidFill>
              <a:latin typeface="Consolas" panose="020B0609020204030204" pitchFamily="49" charset="0"/>
            </a:endParaRPr>
          </a:p>
        </p:txBody>
      </p:sp>
      <p:sp>
        <p:nvSpPr>
          <p:cNvPr id="7" name="Rectangle 6">
            <a:extLst>
              <a:ext uri="{FF2B5EF4-FFF2-40B4-BE49-F238E27FC236}">
                <a16:creationId xmlns:a16="http://schemas.microsoft.com/office/drawing/2014/main" id="{35F9F4A0-4592-C04D-B2D0-0BF66A3BFA20}"/>
              </a:ext>
            </a:extLst>
          </p:cNvPr>
          <p:cNvSpPr/>
          <p:nvPr/>
        </p:nvSpPr>
        <p:spPr>
          <a:xfrm>
            <a:off x="2641461" y="4739901"/>
            <a:ext cx="499993" cy="1188000"/>
          </a:xfrm>
          <a:prstGeom prst="rect">
            <a:avLst/>
          </a:prstGeom>
          <a:solidFill>
            <a:schemeClr val="bg1">
              <a:lumMod val="85000"/>
            </a:schemeClr>
          </a:solidFill>
          <a:ln>
            <a:noFill/>
          </a:ln>
        </p:spPr>
        <p:txBody>
          <a:bodyPr wrap="square">
            <a:spAutoFit/>
          </a:bodyPr>
          <a:lstStyle/>
          <a:p>
            <a:pPr algn="r"/>
            <a:r>
              <a:rPr lang="en-US" sz="1600" b="1" dirty="0">
                <a:solidFill>
                  <a:schemeClr val="tx1">
                    <a:lumMod val="75000"/>
                    <a:lumOff val="25000"/>
                  </a:schemeClr>
                </a:solidFill>
                <a:latin typeface="Consolas" panose="020B0609020204030204" pitchFamily="49" charset="0"/>
              </a:rPr>
              <a:t>1</a:t>
            </a: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a:p>
            <a:pPr algn="r"/>
            <a:endParaRPr lang="en-US" sz="1600" b="1" dirty="0">
              <a:solidFill>
                <a:schemeClr val="tx1">
                  <a:lumMod val="75000"/>
                  <a:lumOff val="25000"/>
                </a:schemeClr>
              </a:solidFill>
              <a:latin typeface="Consolas" panose="020B0609020204030204" pitchFamily="49" charset="0"/>
            </a:endParaRPr>
          </a:p>
        </p:txBody>
      </p:sp>
    </p:spTree>
    <p:extLst>
      <p:ext uri="{BB962C8B-B14F-4D97-AF65-F5344CB8AC3E}">
        <p14:creationId xmlns:p14="http://schemas.microsoft.com/office/powerpoint/2010/main" val="3215493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bg/>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build="p" animBg="1"/>
      <p:bldP spid="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604"/>
        <p:cNvGrpSpPr/>
        <p:nvPr/>
      </p:nvGrpSpPr>
      <p:grpSpPr>
        <a:xfrm>
          <a:off x="0" y="0"/>
          <a:ext cx="0" cy="0"/>
          <a:chOff x="0" y="0"/>
          <a:chExt cx="0" cy="0"/>
        </a:xfrm>
      </p:grpSpPr>
      <p:sp>
        <p:nvSpPr>
          <p:cNvPr id="1605" name="Google Shape;1605;g3f25f4df594_0_8371"/>
          <p:cNvSpPr/>
          <p:nvPr/>
        </p:nvSpPr>
        <p:spPr>
          <a:xfrm>
            <a:off x="0" y="0"/>
            <a:ext cx="12192000" cy="6858000"/>
          </a:xfrm>
          <a:prstGeom prst="rect">
            <a:avLst/>
          </a:prstGeom>
          <a:solidFill>
            <a:srgbClr val="FFFFF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606" name="Google Shape;1606;g3f25f4df594_0_8371"/>
          <p:cNvPicPr preferRelativeResize="0"/>
          <p:nvPr/>
        </p:nvPicPr>
        <p:blipFill rotWithShape="1">
          <a:blip r:embed="rId3">
            <a:alphaModFix/>
          </a:blip>
          <a:srcRect l="20" t="86221" r="1787" b="4191"/>
          <a:stretch/>
        </p:blipFill>
        <p:spPr>
          <a:xfrm>
            <a:off x="0" y="0"/>
            <a:ext cx="12192000" cy="711300"/>
          </a:xfrm>
          <a:prstGeom prst="rect">
            <a:avLst/>
          </a:prstGeom>
          <a:noFill/>
          <a:ln>
            <a:noFill/>
          </a:ln>
        </p:spPr>
      </p:pic>
      <p:sp>
        <p:nvSpPr>
          <p:cNvPr id="1607" name="Google Shape;1607;g3f25f4df594_0_8371"/>
          <p:cNvSpPr/>
          <p:nvPr/>
        </p:nvSpPr>
        <p:spPr>
          <a:xfrm>
            <a:off x="0" y="0"/>
            <a:ext cx="12192000" cy="711300"/>
          </a:xfrm>
          <a:prstGeom prst="rect">
            <a:avLst/>
          </a:prstGeom>
          <a:solidFill>
            <a:srgbClr val="C0C0C0">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08" name="Google Shape;1608;g3f25f4df594_0_8371"/>
          <p:cNvSpPr txBox="1"/>
          <p:nvPr/>
        </p:nvSpPr>
        <p:spPr>
          <a:xfrm>
            <a:off x="209550" y="0"/>
            <a:ext cx="11430000" cy="711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400" b="1">
                <a:solidFill>
                  <a:srgbClr val="363636"/>
                </a:solidFill>
                <a:latin typeface="Roboto Condensed"/>
                <a:ea typeface="Roboto Condensed"/>
                <a:cs typeface="Roboto Condensed"/>
                <a:sym typeface="Roboto Condensed"/>
              </a:rPr>
              <a:t>Web Design Issues </a:t>
            </a:r>
            <a:r>
              <a:rPr lang="en-US" sz="1800" b="0">
                <a:solidFill>
                  <a:srgbClr val="555555"/>
                </a:solidFill>
                <a:latin typeface="Roboto Condensed"/>
                <a:ea typeface="Roboto Condensed"/>
                <a:cs typeface="Roboto Condensed"/>
                <a:sym typeface="Roboto Condensed"/>
              </a:rPr>
              <a:t>— Common Problems to Avoid</a:t>
            </a:r>
            <a:endParaRPr sz="3400" b="1">
              <a:solidFill>
                <a:srgbClr val="363636"/>
              </a:solidFill>
              <a:latin typeface="Roboto Condensed"/>
              <a:ea typeface="Roboto Condensed"/>
              <a:cs typeface="Roboto Condensed"/>
              <a:sym typeface="Roboto Condensed"/>
            </a:endParaRPr>
          </a:p>
        </p:txBody>
      </p:sp>
      <p:sp>
        <p:nvSpPr>
          <p:cNvPr id="1609" name="Google Shape;1609;g3f25f4df594_0_8371"/>
          <p:cNvSpPr txBox="1"/>
          <p:nvPr/>
        </p:nvSpPr>
        <p:spPr>
          <a:xfrm>
            <a:off x="571500" y="1047750"/>
            <a:ext cx="5334000" cy="457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600" b="1" dirty="0">
                <a:solidFill>
                  <a:srgbClr val="A52A2A"/>
                </a:solidFill>
                <a:latin typeface="Consolas"/>
                <a:ea typeface="Consolas"/>
                <a:cs typeface="Consolas"/>
                <a:sym typeface="Consolas"/>
              </a:rPr>
              <a:t>Technical Issues</a:t>
            </a:r>
            <a:endParaRPr sz="3600" b="1" dirty="0">
              <a:solidFill>
                <a:srgbClr val="A52A2A"/>
              </a:solidFill>
              <a:latin typeface="Consolas"/>
              <a:ea typeface="Consolas"/>
              <a:cs typeface="Consolas"/>
              <a:sym typeface="Consolas"/>
            </a:endParaRPr>
          </a:p>
          <a:p>
            <a:pPr lvl="0">
              <a:spcBef>
                <a:spcPts val="800"/>
              </a:spcBef>
            </a:pPr>
            <a:r>
              <a:rPr lang="en-US" sz="3200" b="0" dirty="0">
                <a:solidFill>
                  <a:srgbClr val="212121"/>
                </a:solidFill>
                <a:latin typeface="Roboto Condensed"/>
                <a:ea typeface="Roboto Condensed"/>
                <a:cs typeface="Roboto Condensed"/>
                <a:sym typeface="Roboto Condensed"/>
              </a:rPr>
              <a:t>-    </a:t>
            </a:r>
            <a:r>
              <a:rPr lang="en-US" sz="3200" dirty="0">
                <a:solidFill>
                  <a:srgbClr val="212121"/>
                </a:solidFill>
                <a:ea typeface="Roboto Condensed"/>
                <a:cs typeface="Roboto Condensed"/>
                <a:sym typeface="Roboto Condensed"/>
              </a:rPr>
              <a:t>Browser &amp; Operating Systems</a:t>
            </a:r>
            <a:endParaRPr sz="3200" b="0" dirty="0">
              <a:solidFill>
                <a:srgbClr val="212121"/>
              </a:solidFill>
              <a:latin typeface="Roboto Condensed"/>
              <a:ea typeface="Roboto Condensed"/>
              <a:cs typeface="Roboto Condensed"/>
              <a:sym typeface="Roboto Condensed"/>
            </a:endParaRPr>
          </a:p>
          <a:p>
            <a:pPr lvl="0"/>
            <a:r>
              <a:rPr lang="en-US" sz="3200" b="0" dirty="0">
                <a:solidFill>
                  <a:srgbClr val="212121"/>
                </a:solidFill>
                <a:latin typeface="Roboto Condensed"/>
                <a:ea typeface="Roboto Condensed"/>
                <a:cs typeface="Roboto Condensed"/>
                <a:sym typeface="Roboto Condensed"/>
              </a:rPr>
              <a:t>-    </a:t>
            </a:r>
            <a:r>
              <a:rPr lang="en-US" sz="3200" dirty="0">
                <a:solidFill>
                  <a:srgbClr val="212121"/>
                </a:solidFill>
                <a:ea typeface="Roboto Condensed"/>
                <a:cs typeface="Roboto Condensed"/>
                <a:sym typeface="Roboto Condensed"/>
              </a:rPr>
              <a:t>Bandwidth and Cache</a:t>
            </a:r>
            <a:endParaRPr sz="3200" b="0" dirty="0">
              <a:solidFill>
                <a:srgbClr val="212121"/>
              </a:solidFill>
              <a:latin typeface="Roboto Condensed"/>
              <a:ea typeface="Roboto Condensed"/>
              <a:cs typeface="Roboto Condensed"/>
              <a:sym typeface="Roboto Condensed"/>
            </a:endParaRPr>
          </a:p>
          <a:p>
            <a:pPr lvl="0"/>
            <a:r>
              <a:rPr lang="en-US" sz="3200" b="0" dirty="0">
                <a:solidFill>
                  <a:srgbClr val="212121"/>
                </a:solidFill>
                <a:latin typeface="Roboto Condensed"/>
                <a:ea typeface="Roboto Condensed"/>
                <a:cs typeface="Roboto Condensed"/>
                <a:sym typeface="Roboto Condensed"/>
              </a:rPr>
              <a:t>-    </a:t>
            </a:r>
            <a:r>
              <a:rPr lang="en-US" sz="3200" dirty="0">
                <a:solidFill>
                  <a:srgbClr val="212121"/>
                </a:solidFill>
                <a:ea typeface="Roboto Condensed"/>
                <a:cs typeface="Roboto Condensed"/>
                <a:sym typeface="Roboto Condensed"/>
              </a:rPr>
              <a:t>Display Resolution</a:t>
            </a:r>
            <a:endParaRPr sz="3200" b="0" dirty="0">
              <a:solidFill>
                <a:srgbClr val="212121"/>
              </a:solidFill>
              <a:latin typeface="Roboto Condensed"/>
              <a:ea typeface="Roboto Condensed"/>
              <a:cs typeface="Roboto Condensed"/>
              <a:sym typeface="Roboto Condensed"/>
            </a:endParaRPr>
          </a:p>
          <a:p>
            <a:pPr lvl="0"/>
            <a:r>
              <a:rPr lang="en-US" sz="3200" b="0" dirty="0">
                <a:solidFill>
                  <a:srgbClr val="212121"/>
                </a:solidFill>
                <a:latin typeface="Roboto Condensed"/>
                <a:ea typeface="Roboto Condensed"/>
                <a:cs typeface="Roboto Condensed"/>
                <a:sym typeface="Roboto Condensed"/>
              </a:rPr>
              <a:t>-    </a:t>
            </a:r>
            <a:r>
              <a:rPr lang="en-US" sz="3200" dirty="0">
                <a:solidFill>
                  <a:srgbClr val="212121"/>
                </a:solidFill>
                <a:ea typeface="Roboto Condensed"/>
                <a:cs typeface="Roboto Condensed"/>
                <a:sym typeface="Roboto Condensed"/>
              </a:rPr>
              <a:t>Look &amp; Feel</a:t>
            </a:r>
          </a:p>
          <a:p>
            <a:pPr marL="457200" lvl="0" indent="-457200">
              <a:buFontTx/>
              <a:buChar char="-"/>
            </a:pPr>
            <a:r>
              <a:rPr lang="en-US" sz="3200" dirty="0">
                <a:solidFill>
                  <a:srgbClr val="212121"/>
                </a:solidFill>
                <a:ea typeface="Roboto Condensed"/>
                <a:cs typeface="Roboto Condensed"/>
                <a:sym typeface="Roboto Condensed"/>
              </a:rPr>
              <a:t>Page Layout and Linking</a:t>
            </a:r>
          </a:p>
          <a:p>
            <a:pPr marL="457200" lvl="0" indent="-457200">
              <a:buFontTx/>
              <a:buChar char="-"/>
            </a:pPr>
            <a:r>
              <a:rPr lang="en-IN" sz="3200" dirty="0">
                <a:solidFill>
                  <a:srgbClr val="212121"/>
                </a:solidFill>
                <a:ea typeface="Roboto Condensed"/>
                <a:cs typeface="Roboto Condensed"/>
                <a:sym typeface="Roboto Condensed"/>
              </a:rPr>
              <a:t>Locating Information</a:t>
            </a:r>
          </a:p>
          <a:p>
            <a:pPr marL="457200" lvl="0" indent="-457200">
              <a:buFontTx/>
              <a:buChar char="-"/>
            </a:pPr>
            <a:r>
              <a:rPr lang="en-IN" sz="3200" dirty="0">
                <a:solidFill>
                  <a:srgbClr val="212121"/>
                </a:solidFill>
                <a:ea typeface="Roboto Condensed"/>
                <a:cs typeface="Roboto Condensed"/>
                <a:sym typeface="Roboto Condensed"/>
              </a:rPr>
              <a:t>Sitemap</a:t>
            </a:r>
            <a:endParaRPr sz="3200" b="0" dirty="0">
              <a:solidFill>
                <a:srgbClr val="212121"/>
              </a:solidFill>
              <a:latin typeface="Roboto Condensed"/>
              <a:ea typeface="Roboto Condensed"/>
              <a:cs typeface="Roboto Condensed"/>
              <a:sym typeface="Roboto Condensed"/>
            </a:endParaRPr>
          </a:p>
          <a:p>
            <a:pPr marL="457200" lvl="0" indent="-355600" algn="l" rtl="0">
              <a:spcBef>
                <a:spcPts val="0"/>
              </a:spcBef>
              <a:spcAft>
                <a:spcPts val="800"/>
              </a:spcAft>
              <a:buClr>
                <a:srgbClr val="A52A2A"/>
              </a:buClr>
              <a:buSzPts val="2000"/>
              <a:buFont typeface="Consolas"/>
              <a:buChar char="●"/>
            </a:pPr>
            <a:r>
              <a:rPr lang="en-US" sz="3200" b="0" dirty="0">
                <a:solidFill>
                  <a:srgbClr val="212121"/>
                </a:solidFill>
                <a:latin typeface="Roboto Condensed"/>
                <a:ea typeface="Roboto Condensed"/>
                <a:cs typeface="Roboto Condensed"/>
                <a:sym typeface="Roboto Condensed"/>
              </a:rPr>
              <a:t>- No HTTPS security</a:t>
            </a:r>
            <a:endParaRPr sz="3200" b="0" dirty="0">
              <a:solidFill>
                <a:srgbClr val="212121"/>
              </a:solidFill>
              <a:latin typeface="Roboto Condensed"/>
              <a:ea typeface="Roboto Condensed"/>
              <a:cs typeface="Roboto Condensed"/>
              <a:sym typeface="Roboto Condensed"/>
            </a:endParaRPr>
          </a:p>
        </p:txBody>
      </p:sp>
      <p:sp>
        <p:nvSpPr>
          <p:cNvPr id="1610" name="Google Shape;1610;g3f25f4df594_0_8371"/>
          <p:cNvSpPr/>
          <p:nvPr/>
        </p:nvSpPr>
        <p:spPr>
          <a:xfrm>
            <a:off x="6286500" y="1047750"/>
            <a:ext cx="5334000" cy="4572000"/>
          </a:xfrm>
          <a:prstGeom prst="roundRect">
            <a:avLst>
              <a:gd name="adj" fmla="val 2083"/>
            </a:avLst>
          </a:prstGeom>
          <a:solidFill>
            <a:srgbClr val="F2F2F2"/>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11" name="Google Shape;1611;g3f25f4df594_0_8371"/>
          <p:cNvSpPr txBox="1"/>
          <p:nvPr/>
        </p:nvSpPr>
        <p:spPr>
          <a:xfrm>
            <a:off x="6524550" y="1046138"/>
            <a:ext cx="4857900" cy="409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3200" b="1" dirty="0">
                <a:solidFill>
                  <a:srgbClr val="A52A2A"/>
                </a:solidFill>
                <a:latin typeface="Consolas"/>
                <a:ea typeface="Consolas"/>
                <a:cs typeface="Consolas"/>
                <a:sym typeface="Consolas"/>
              </a:rPr>
              <a:t>Usability Issues</a:t>
            </a:r>
            <a:endParaRPr sz="3200" b="1" dirty="0">
              <a:solidFill>
                <a:srgbClr val="A52A2A"/>
              </a:solidFill>
              <a:latin typeface="Consolas"/>
              <a:ea typeface="Consolas"/>
              <a:cs typeface="Consolas"/>
              <a:sym typeface="Consolas"/>
            </a:endParaRPr>
          </a:p>
          <a:p>
            <a:pPr marL="0" lvl="0" indent="0" algn="l" rtl="0">
              <a:spcBef>
                <a:spcPts val="800"/>
              </a:spcBef>
              <a:spcAft>
                <a:spcPts val="0"/>
              </a:spcAft>
              <a:buNone/>
            </a:pPr>
            <a:r>
              <a:rPr lang="en-US" sz="2800" b="0" dirty="0">
                <a:solidFill>
                  <a:srgbClr val="212121"/>
                </a:solidFill>
                <a:latin typeface="Roboto Condensed"/>
                <a:ea typeface="Roboto Condensed"/>
                <a:cs typeface="Roboto Condensed"/>
                <a:sym typeface="Roboto Condensed"/>
              </a:rPr>
              <a:t>- Too many fonts and colors</a:t>
            </a:r>
            <a:endParaRPr sz="2800" b="0" dirty="0">
              <a:solidFill>
                <a:srgbClr val="212121"/>
              </a:solidFill>
              <a:latin typeface="Roboto Condensed"/>
              <a:ea typeface="Roboto Condensed"/>
              <a:cs typeface="Roboto Condensed"/>
              <a:sym typeface="Roboto Condensed"/>
            </a:endParaRPr>
          </a:p>
          <a:p>
            <a:pPr marL="0" lvl="0" indent="0" algn="l" rtl="0">
              <a:spcBef>
                <a:spcPts val="0"/>
              </a:spcBef>
              <a:spcAft>
                <a:spcPts val="0"/>
              </a:spcAft>
              <a:buNone/>
            </a:pPr>
            <a:r>
              <a:rPr lang="en-US" sz="2800" b="0" dirty="0">
                <a:solidFill>
                  <a:srgbClr val="212121"/>
                </a:solidFill>
                <a:latin typeface="Roboto Condensed"/>
                <a:ea typeface="Roboto Condensed"/>
                <a:cs typeface="Roboto Condensed"/>
                <a:sym typeface="Roboto Condensed"/>
              </a:rPr>
              <a:t>- Poor color contrast</a:t>
            </a:r>
            <a:endParaRPr sz="2800" b="0" dirty="0">
              <a:solidFill>
                <a:srgbClr val="212121"/>
              </a:solidFill>
              <a:latin typeface="Roboto Condensed"/>
              <a:ea typeface="Roboto Condensed"/>
              <a:cs typeface="Roboto Condensed"/>
              <a:sym typeface="Roboto Condensed"/>
            </a:endParaRPr>
          </a:p>
          <a:p>
            <a:pPr marL="0" lvl="0" indent="0" algn="l" rtl="0">
              <a:spcBef>
                <a:spcPts val="0"/>
              </a:spcBef>
              <a:spcAft>
                <a:spcPts val="0"/>
              </a:spcAft>
              <a:buNone/>
            </a:pPr>
            <a:r>
              <a:rPr lang="en-US" sz="2800" b="0" dirty="0">
                <a:solidFill>
                  <a:srgbClr val="212121"/>
                </a:solidFill>
                <a:latin typeface="Roboto Condensed"/>
                <a:ea typeface="Roboto Condensed"/>
                <a:cs typeface="Roboto Condensed"/>
                <a:sym typeface="Roboto Condensed"/>
              </a:rPr>
              <a:t>- Cluttered layout</a:t>
            </a:r>
            <a:endParaRPr sz="2800" b="0" dirty="0">
              <a:solidFill>
                <a:srgbClr val="212121"/>
              </a:solidFill>
              <a:latin typeface="Roboto Condensed"/>
              <a:ea typeface="Roboto Condensed"/>
              <a:cs typeface="Roboto Condensed"/>
              <a:sym typeface="Roboto Condensed"/>
            </a:endParaRPr>
          </a:p>
          <a:p>
            <a:pPr marL="0" lvl="0" indent="0" algn="l" rtl="0">
              <a:spcBef>
                <a:spcPts val="0"/>
              </a:spcBef>
              <a:spcAft>
                <a:spcPts val="0"/>
              </a:spcAft>
              <a:buNone/>
            </a:pPr>
            <a:r>
              <a:rPr lang="en-US" sz="2800" b="0" dirty="0">
                <a:solidFill>
                  <a:srgbClr val="212121"/>
                </a:solidFill>
                <a:latin typeface="Roboto Condensed"/>
                <a:ea typeface="Roboto Condensed"/>
                <a:cs typeface="Roboto Condensed"/>
                <a:sym typeface="Roboto Condensed"/>
              </a:rPr>
              <a:t>- No clear navigation</a:t>
            </a:r>
            <a:endParaRPr sz="2800" b="0" dirty="0">
              <a:solidFill>
                <a:srgbClr val="212121"/>
              </a:solidFill>
              <a:latin typeface="Roboto Condensed"/>
              <a:ea typeface="Roboto Condensed"/>
              <a:cs typeface="Roboto Condensed"/>
              <a:sym typeface="Roboto Condensed"/>
            </a:endParaRPr>
          </a:p>
          <a:p>
            <a:pPr marL="0" lvl="0" indent="0" algn="l" rtl="0">
              <a:spcBef>
                <a:spcPts val="0"/>
              </a:spcBef>
              <a:spcAft>
                <a:spcPts val="0"/>
              </a:spcAft>
              <a:buNone/>
            </a:pPr>
            <a:r>
              <a:rPr lang="en-US" sz="2800" b="0" dirty="0">
                <a:solidFill>
                  <a:srgbClr val="212121"/>
                </a:solidFill>
                <a:latin typeface="Roboto Condensed"/>
                <a:ea typeface="Roboto Condensed"/>
                <a:cs typeface="Roboto Condensed"/>
                <a:sym typeface="Roboto Condensed"/>
              </a:rPr>
              <a:t>- Pop-ups and intrusive ads</a:t>
            </a:r>
            <a:endParaRPr sz="2800" b="0" dirty="0">
              <a:solidFill>
                <a:srgbClr val="212121"/>
              </a:solidFill>
              <a:latin typeface="Roboto Condensed"/>
              <a:ea typeface="Roboto Condensed"/>
              <a:cs typeface="Roboto Condensed"/>
              <a:sym typeface="Roboto Condensed"/>
            </a:endParaRPr>
          </a:p>
          <a:p>
            <a:pPr marL="0" lvl="0" indent="0" algn="l" rtl="0">
              <a:spcBef>
                <a:spcPts val="0"/>
              </a:spcBef>
              <a:spcAft>
                <a:spcPts val="0"/>
              </a:spcAft>
              <a:buNone/>
            </a:pPr>
            <a:r>
              <a:rPr lang="en-US" sz="2800" b="0" dirty="0">
                <a:solidFill>
                  <a:srgbClr val="212121"/>
                </a:solidFill>
                <a:latin typeface="Roboto Condensed"/>
                <a:ea typeface="Roboto Condensed"/>
                <a:cs typeface="Roboto Condensed"/>
                <a:sym typeface="Roboto Condensed"/>
              </a:rPr>
              <a:t>- Inconsistent styling</a:t>
            </a:r>
            <a:endParaRPr sz="2800" b="0" dirty="0">
              <a:solidFill>
                <a:srgbClr val="212121"/>
              </a:solidFill>
              <a:latin typeface="Roboto Condensed"/>
              <a:ea typeface="Roboto Condensed"/>
              <a:cs typeface="Roboto Condensed"/>
              <a:sym typeface="Roboto Condensed"/>
            </a:endParaRPr>
          </a:p>
          <a:p>
            <a:pPr marL="457200" lvl="0" indent="-355600" algn="l" rtl="0">
              <a:spcBef>
                <a:spcPts val="0"/>
              </a:spcBef>
              <a:spcAft>
                <a:spcPts val="800"/>
              </a:spcAft>
              <a:buClr>
                <a:srgbClr val="A52A2A"/>
              </a:buClr>
              <a:buSzPts val="2000"/>
              <a:buFont typeface="Consolas"/>
              <a:buChar char="●"/>
            </a:pPr>
            <a:r>
              <a:rPr lang="en-US" sz="2800" b="0" dirty="0">
                <a:solidFill>
                  <a:srgbClr val="212121"/>
                </a:solidFill>
                <a:latin typeface="Roboto Condensed"/>
                <a:ea typeface="Roboto Condensed"/>
                <a:cs typeface="Roboto Condensed"/>
                <a:sym typeface="Roboto Condensed"/>
              </a:rPr>
              <a:t>- No feedback on form errors</a:t>
            </a:r>
            <a:endParaRPr sz="2800" b="0" dirty="0">
              <a:solidFill>
                <a:srgbClr val="212121"/>
              </a:solidFill>
              <a:latin typeface="Roboto Condensed"/>
              <a:ea typeface="Roboto Condensed"/>
              <a:cs typeface="Roboto Condensed"/>
              <a:sym typeface="Roboto Condensed"/>
            </a:endParaRPr>
          </a:p>
        </p:txBody>
      </p:sp>
      <p:sp>
        <p:nvSpPr>
          <p:cNvPr id="1612" name="Google Shape;1612;g3f25f4df594_0_8371"/>
          <p:cNvSpPr/>
          <p:nvPr/>
        </p:nvSpPr>
        <p:spPr>
          <a:xfrm>
            <a:off x="571500" y="5810250"/>
            <a:ext cx="11049000" cy="381000"/>
          </a:xfrm>
          <a:prstGeom prst="roundRect">
            <a:avLst>
              <a:gd name="adj" fmla="val 12500"/>
            </a:avLst>
          </a:prstGeom>
          <a:solidFill>
            <a:srgbClr val="FFF8E1"/>
          </a:solidFill>
          <a:ln w="9525" cap="flat" cmpd="sng">
            <a:solidFill>
              <a:srgbClr val="FFE082"/>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13" name="Google Shape;1613;g3f25f4df594_0_8371"/>
          <p:cNvSpPr txBox="1"/>
          <p:nvPr/>
        </p:nvSpPr>
        <p:spPr>
          <a:xfrm>
            <a:off x="666750" y="5810250"/>
            <a:ext cx="108585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2000" b="1" dirty="0">
                <a:solidFill>
                  <a:srgbClr val="666666"/>
                </a:solidFill>
                <a:latin typeface="Roboto Condensed"/>
                <a:ea typeface="Roboto Condensed"/>
                <a:cs typeface="Roboto Condensed"/>
                <a:sym typeface="Roboto Condensed"/>
              </a:rPr>
              <a:t>BOTTOM NOTE: </a:t>
            </a:r>
            <a:r>
              <a:rPr lang="en-US" sz="2000" b="0" dirty="0">
                <a:solidFill>
                  <a:srgbClr val="666666"/>
                </a:solidFill>
                <a:latin typeface="Roboto Condensed Light"/>
                <a:ea typeface="Roboto Condensed Light"/>
                <a:cs typeface="Roboto Condensed Light"/>
                <a:sym typeface="Roboto Condensed Light"/>
              </a:rPr>
              <a:t>Test your website on mobile, tablet AND desktop — 60%+ of users browse on mobile.</a:t>
            </a:r>
            <a:endParaRPr sz="2000" b="1" dirty="0">
              <a:solidFill>
                <a:srgbClr val="666666"/>
              </a:solidFill>
              <a:latin typeface="Roboto Condensed"/>
              <a:ea typeface="Roboto Condensed"/>
              <a:cs typeface="Roboto Condensed"/>
              <a:sym typeface="Roboto Condensed"/>
            </a:endParaRPr>
          </a:p>
        </p:txBody>
      </p:sp>
      <p:sp>
        <p:nvSpPr>
          <p:cNvPr id="1614" name="Google Shape;1614;g3f25f4df594_0_8371"/>
          <p:cNvSpPr/>
          <p:nvPr/>
        </p:nvSpPr>
        <p:spPr>
          <a:xfrm>
            <a:off x="0" y="6600825"/>
            <a:ext cx="12192000" cy="257100"/>
          </a:xfrm>
          <a:prstGeom prst="rect">
            <a:avLst/>
          </a:prstGeom>
          <a:solidFill>
            <a:srgbClr val="DFDFDF"/>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615" name="Google Shape;1615;g3f25f4df594_0_8371"/>
          <p:cNvSpPr txBox="1"/>
          <p:nvPr/>
        </p:nvSpPr>
        <p:spPr>
          <a:xfrm>
            <a:off x="838200" y="6600825"/>
            <a:ext cx="2743200" cy="257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US" sz="1200" b="0">
                <a:solidFill>
                  <a:srgbClr val="363636"/>
                </a:solidFill>
                <a:latin typeface="Roboto Condensed Light"/>
                <a:ea typeface="Roboto Condensed Light"/>
                <a:cs typeface="Roboto Condensed Light"/>
                <a:sym typeface="Roboto Condensed Light"/>
              </a:rPr>
              <a:t>Prof. Dharmik P Vasiyani</a:t>
            </a:r>
            <a:endParaRPr sz="1200" b="0">
              <a:solidFill>
                <a:srgbClr val="363636"/>
              </a:solidFill>
              <a:latin typeface="Roboto Condensed Light"/>
              <a:ea typeface="Roboto Condensed Light"/>
              <a:cs typeface="Roboto Condensed Light"/>
              <a:sym typeface="Roboto Condensed Light"/>
            </a:endParaRPr>
          </a:p>
        </p:txBody>
      </p:sp>
      <p:sp>
        <p:nvSpPr>
          <p:cNvPr id="1616" name="Google Shape;1616;g3f25f4df594_0_8371"/>
          <p:cNvSpPr txBox="1"/>
          <p:nvPr/>
        </p:nvSpPr>
        <p:spPr>
          <a:xfrm>
            <a:off x="3648075" y="6600825"/>
            <a:ext cx="4886400" cy="2571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US" sz="1200" b="0">
                <a:solidFill>
                  <a:srgbClr val="363636"/>
                </a:solidFill>
                <a:latin typeface="Roboto Condensed Light"/>
                <a:ea typeface="Roboto Condensed Light"/>
                <a:cs typeface="Roboto Condensed Light"/>
                <a:sym typeface="Roboto Condensed Light"/>
              </a:rPr>
              <a:t>#2301CS363 (WT-I) ⬥ Unit 01 – HTML</a:t>
            </a:r>
            <a:endParaRPr sz="1200" b="0">
              <a:solidFill>
                <a:srgbClr val="363636"/>
              </a:solidFill>
              <a:latin typeface="Roboto Condensed Light"/>
              <a:ea typeface="Roboto Condensed Light"/>
              <a:cs typeface="Roboto Condensed Light"/>
              <a:sym typeface="Roboto Condensed Light"/>
            </a:endParaRPr>
          </a:p>
        </p:txBody>
      </p:sp>
      <p:grpSp>
        <p:nvGrpSpPr>
          <p:cNvPr id="1617" name="Google Shape;1617;g3f25f4df594_0_8371"/>
          <p:cNvGrpSpPr/>
          <p:nvPr/>
        </p:nvGrpSpPr>
        <p:grpSpPr>
          <a:xfrm>
            <a:off x="10677525" y="6038850"/>
            <a:ext cx="1333500" cy="400200"/>
            <a:chOff x="0" y="0"/>
            <a:chExt cx="1333500" cy="400200"/>
          </a:xfrm>
        </p:grpSpPr>
        <p:pic>
          <p:nvPicPr>
            <p:cNvPr id="1618" name="Google Shape;1618;g3f25f4df594_0_8371"/>
            <p:cNvPicPr preferRelativeResize="0"/>
            <p:nvPr/>
          </p:nvPicPr>
          <p:blipFill rotWithShape="1">
            <a:blip r:embed="rId4">
              <a:alphaModFix/>
            </a:blip>
            <a:srcRect t="651" b="661"/>
            <a:stretch/>
          </p:blipFill>
          <p:spPr>
            <a:xfrm>
              <a:off x="0" y="0"/>
              <a:ext cx="1333500" cy="400200"/>
            </a:xfrm>
            <a:prstGeom prst="rect">
              <a:avLst/>
            </a:prstGeom>
            <a:noFill/>
            <a:ln>
              <a:noFill/>
            </a:ln>
          </p:spPr>
        </p:pic>
        <p:sp>
          <p:nvSpPr>
            <p:cNvPr id="1619" name="Google Shape;1619;g3f25f4df594_0_8371"/>
            <p:cNvSpPr/>
            <p:nvPr/>
          </p:nvSpPr>
          <p:spPr>
            <a:xfrm>
              <a:off x="0" y="0"/>
              <a:ext cx="1333500" cy="400200"/>
            </a:xfrm>
            <a:prstGeom prst="rect">
              <a:avLst/>
            </a:prstGeom>
            <a:solidFill>
              <a:srgbClr val="FFFFFF">
                <a:alpha val="6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 grpId="0"/>
      <p:bldP spid="1611" grpId="0"/>
      <p:bldP spid="1613"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p:txBody>
          <a:bodyPr/>
          <a:lstStyle/>
          <a:p>
            <a:r>
              <a:rPr lang="en-IN" dirty="0"/>
              <a:t>dharmik.vasiyani@darshan.ac.in</a:t>
            </a:r>
            <a:endParaRPr lang="en-US" dirty="0"/>
          </a:p>
        </p:txBody>
      </p:sp>
      <p:sp>
        <p:nvSpPr>
          <p:cNvPr id="3" name="Text Placeholder 2"/>
          <p:cNvSpPr>
            <a:spLocks noGrp="1"/>
          </p:cNvSpPr>
          <p:nvPr>
            <p:ph type="body" sz="quarter" idx="12"/>
          </p:nvPr>
        </p:nvSpPr>
        <p:spPr/>
        <p:txBody>
          <a:bodyPr/>
          <a:lstStyle/>
          <a:p>
            <a:r>
              <a:rPr lang="en-IN"/>
              <a:t>9924664064</a:t>
            </a:r>
            <a:endParaRPr lang="en-US" dirty="0"/>
          </a:p>
        </p:txBody>
      </p:sp>
      <p:sp>
        <p:nvSpPr>
          <p:cNvPr id="4" name="Text Placeholder 3"/>
          <p:cNvSpPr>
            <a:spLocks noGrp="1"/>
          </p:cNvSpPr>
          <p:nvPr>
            <p:ph type="body" sz="quarter" idx="13"/>
          </p:nvPr>
        </p:nvSpPr>
        <p:spPr/>
        <p:txBody>
          <a:bodyPr/>
          <a:lstStyle/>
          <a:p>
            <a:r>
              <a:rPr lang="en-IN" dirty="0"/>
              <a:t>Computer Engineering Department</a:t>
            </a:r>
            <a:endParaRPr lang="en-US" dirty="0"/>
          </a:p>
        </p:txBody>
      </p:sp>
      <p:sp>
        <p:nvSpPr>
          <p:cNvPr id="5" name="Text Placeholder 4"/>
          <p:cNvSpPr>
            <a:spLocks noGrp="1"/>
          </p:cNvSpPr>
          <p:nvPr>
            <p:ph type="body" sz="quarter" idx="14"/>
          </p:nvPr>
        </p:nvSpPr>
        <p:spPr/>
        <p:txBody>
          <a:bodyPr/>
          <a:lstStyle/>
          <a:p>
            <a:r>
              <a:rPr lang="en-IN" dirty="0" err="1"/>
              <a:t>Prof.</a:t>
            </a:r>
            <a:r>
              <a:rPr lang="en-IN" dirty="0"/>
              <a:t> </a:t>
            </a:r>
            <a:r>
              <a:rPr lang="en-IN" dirty="0" err="1"/>
              <a:t>Dharmik</a:t>
            </a:r>
            <a:r>
              <a:rPr lang="en-IN" dirty="0"/>
              <a:t> P </a:t>
            </a:r>
            <a:r>
              <a:rPr lang="en-IN" dirty="0" err="1"/>
              <a:t>Vasiynai</a:t>
            </a:r>
            <a:endParaRPr lang="en-US" dirty="0"/>
          </a:p>
        </p:txBody>
      </p:sp>
      <p:sp>
        <p:nvSpPr>
          <p:cNvPr id="6" name="Text Placeholder 5"/>
          <p:cNvSpPr>
            <a:spLocks noGrp="1"/>
          </p:cNvSpPr>
          <p:nvPr>
            <p:ph type="body" sz="quarter" idx="16"/>
          </p:nvPr>
        </p:nvSpPr>
        <p:spPr/>
        <p:txBody>
          <a:bodyPr/>
          <a:lstStyle/>
          <a:p>
            <a:r>
              <a:rPr lang="en-IN" dirty="0"/>
              <a:t>Web Designing </a:t>
            </a:r>
          </a:p>
          <a:p>
            <a:r>
              <a:rPr lang="en-IN" dirty="0"/>
              <a:t>DU#</a:t>
            </a:r>
            <a:r>
              <a:rPr lang="en-US" dirty="0"/>
              <a:t>2101CS104</a:t>
            </a:r>
          </a:p>
        </p:txBody>
      </p:sp>
      <p:pic>
        <p:nvPicPr>
          <p:cNvPr id="8" name="Picture Placeholder 7"/>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tretch>
            <a:fillRect/>
          </a:stretch>
        </p:blipFill>
        <p:spPr>
          <a:xfrm>
            <a:off x="356700" y="5216429"/>
            <a:ext cx="1372512" cy="1353599"/>
          </a:xfrm>
        </p:spPr>
      </p:pic>
    </p:spTree>
    <p:extLst>
      <p:ext uri="{BB962C8B-B14F-4D97-AF65-F5344CB8AC3E}">
        <p14:creationId xmlns:p14="http://schemas.microsoft.com/office/powerpoint/2010/main" val="3121899175"/>
      </p:ext>
    </p:extLst>
  </p:cSld>
  <p:clrMapOvr>
    <a:masterClrMapping/>
  </p:clrMapOvr>
</p:sld>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4869</TotalTime>
  <Words>5037</Words>
  <Application>Microsoft Office PowerPoint</Application>
  <PresentationFormat>Widescreen</PresentationFormat>
  <Paragraphs>785</Paragraphs>
  <Slides>60</Slides>
  <Notes>3</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60</vt:i4>
      </vt:variant>
    </vt:vector>
  </HeadingPairs>
  <TitlesOfParts>
    <vt:vector size="76" baseType="lpstr">
      <vt:lpstr>Corbel</vt:lpstr>
      <vt:lpstr>Trebuchet MS</vt:lpstr>
      <vt:lpstr>Roboto Condensed</vt:lpstr>
      <vt:lpstr>Calibri</vt:lpstr>
      <vt:lpstr>Consolas</vt:lpstr>
      <vt:lpstr>Segoe UI Black</vt:lpstr>
      <vt:lpstr>Wingdings 3</vt:lpstr>
      <vt:lpstr>Roboto Condensed Light</vt:lpstr>
      <vt:lpstr>Wingdings</vt:lpstr>
      <vt:lpstr>Noto Sans Symbols</vt:lpstr>
      <vt:lpstr>SimSun</vt:lpstr>
      <vt:lpstr>Courier New</vt:lpstr>
      <vt:lpstr>Times New Roman</vt:lpstr>
      <vt:lpstr>Wingdings 2</vt:lpstr>
      <vt:lpstr>Arial</vt:lpstr>
      <vt:lpstr>Office Theme</vt:lpstr>
      <vt:lpstr>Unit-01  HTML</vt:lpstr>
      <vt:lpstr>PowerPoint Presentation</vt:lpstr>
      <vt:lpstr>Course Outcomes</vt:lpstr>
      <vt:lpstr>What is Internet?</vt:lpstr>
      <vt:lpstr>PowerPoint Presentation</vt:lpstr>
      <vt:lpstr>What is WWW?</vt:lpstr>
      <vt:lpstr>What is a Web Page?</vt:lpstr>
      <vt:lpstr>How the Web Works?</vt:lpstr>
      <vt:lpstr>HTTP request</vt:lpstr>
      <vt:lpstr>HTTP request</vt:lpstr>
      <vt:lpstr>HTTP Request (Example)</vt:lpstr>
      <vt:lpstr>HTTP Response</vt:lpstr>
      <vt:lpstr>HTTP Response</vt:lpstr>
      <vt:lpstr>HTTP Status Codes with reason phrase</vt:lpstr>
      <vt:lpstr>HTTP Response (Example)</vt:lpstr>
      <vt:lpstr>Introduction to Web Technologies</vt:lpstr>
      <vt:lpstr>Introduction to Web Technologies (Cont.)</vt:lpstr>
      <vt:lpstr>Concept of Effective Web Design</vt:lpstr>
      <vt:lpstr>Web Design Issues</vt:lpstr>
      <vt:lpstr>a) Browser &amp; Operating Systems</vt:lpstr>
      <vt:lpstr>b) Bandwidth and Cache</vt:lpstr>
      <vt:lpstr>c) Display Resolution</vt:lpstr>
      <vt:lpstr>d) Look &amp; Feel &amp; e) Page Layout and Linking</vt:lpstr>
      <vt:lpstr>f) Locating Information &amp; g) Making Design User-Centric</vt:lpstr>
      <vt:lpstr>h) Sitemap </vt:lpstr>
      <vt:lpstr>Planning a Website</vt:lpstr>
      <vt:lpstr>Effective Navigation</vt:lpstr>
      <vt:lpstr>Effective Navigation</vt:lpstr>
      <vt:lpstr>Creating HTML Pages</vt:lpstr>
      <vt:lpstr>First HTML Page</vt:lpstr>
      <vt:lpstr>HTML Structure</vt:lpstr>
      <vt:lpstr>First HTML Page</vt:lpstr>
      <vt:lpstr>Basic HTML Tags</vt:lpstr>
      <vt:lpstr>Headings</vt:lpstr>
      <vt:lpstr>&lt;p&gt; paragraph</vt:lpstr>
      <vt:lpstr>Colors</vt:lpstr>
      <vt:lpstr>Fonts</vt:lpstr>
      <vt:lpstr>List</vt:lpstr>
      <vt:lpstr>Ordered List (OL)</vt:lpstr>
      <vt:lpstr>Unordered List (UL)</vt:lpstr>
      <vt:lpstr>Definition / Description List (DL)</vt:lpstr>
      <vt:lpstr>&lt;a&gt; Anchor Tag (Hyperlinks)</vt:lpstr>
      <vt:lpstr>Images</vt:lpstr>
      <vt:lpstr>Table</vt:lpstr>
      <vt:lpstr>META Tag</vt:lpstr>
      <vt:lpstr>Meta Tag Attributes</vt:lpstr>
      <vt:lpstr>HTML Formatting Tags</vt:lpstr>
      <vt:lpstr>HTML Forms</vt:lpstr>
      <vt:lpstr>The &lt;form&gt; Tag</vt:lpstr>
      <vt:lpstr>Form Elements</vt:lpstr>
      <vt:lpstr>Introduction to HTML5</vt:lpstr>
      <vt:lpstr>Semantic Elements of HTML5</vt:lpstr>
      <vt:lpstr>HTML5 Form Validation</vt:lpstr>
      <vt:lpstr>Cont.</vt:lpstr>
      <vt:lpstr>Fieldset and Legend</vt:lpstr>
      <vt:lpstr>Media Tags</vt:lpstr>
      <vt:lpstr>Video Tag</vt:lpstr>
      <vt:lpstr>Audio Tag</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704</cp:revision>
  <dcterms:created xsi:type="dcterms:W3CDTF">2020-05-01T05:09:15Z</dcterms:created>
  <dcterms:modified xsi:type="dcterms:W3CDTF">2026-08-01T03:35:49Z</dcterms:modified>
</cp:coreProperties>
</file>