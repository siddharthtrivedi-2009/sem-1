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68"/>
  </p:notesMasterIdLst>
  <p:handoutMasterIdLst>
    <p:handoutMasterId r:id="rId169"/>
  </p:handoutMasterIdLst>
  <p:sldIdLst>
    <p:sldId id="865" r:id="rId2"/>
    <p:sldId id="265" r:id="rId3"/>
    <p:sldId id="868" r:id="rId4"/>
    <p:sldId id="728" r:id="rId5"/>
    <p:sldId id="869" r:id="rId6"/>
    <p:sldId id="1141" r:id="rId7"/>
    <p:sldId id="1142" r:id="rId8"/>
    <p:sldId id="1143" r:id="rId9"/>
    <p:sldId id="1144" r:id="rId10"/>
    <p:sldId id="874" r:id="rId11"/>
    <p:sldId id="875" r:id="rId12"/>
    <p:sldId id="876" r:id="rId13"/>
    <p:sldId id="877" r:id="rId14"/>
    <p:sldId id="878" r:id="rId15"/>
    <p:sldId id="879" r:id="rId16"/>
    <p:sldId id="1145" r:id="rId17"/>
    <p:sldId id="1146" r:id="rId18"/>
    <p:sldId id="1147" r:id="rId19"/>
    <p:sldId id="1148" r:id="rId20"/>
    <p:sldId id="1149" r:id="rId21"/>
    <p:sldId id="1150" r:id="rId22"/>
    <p:sldId id="1151" r:id="rId23"/>
    <p:sldId id="1152" r:id="rId24"/>
    <p:sldId id="1153" r:id="rId25"/>
    <p:sldId id="1154" r:id="rId26"/>
    <p:sldId id="883" r:id="rId27"/>
    <p:sldId id="1124" r:id="rId28"/>
    <p:sldId id="1126" r:id="rId29"/>
    <p:sldId id="1127" r:id="rId30"/>
    <p:sldId id="1128" r:id="rId31"/>
    <p:sldId id="1129" r:id="rId32"/>
    <p:sldId id="1130" r:id="rId33"/>
    <p:sldId id="1131" r:id="rId34"/>
    <p:sldId id="1132" r:id="rId35"/>
    <p:sldId id="1133" r:id="rId36"/>
    <p:sldId id="1164" r:id="rId37"/>
    <p:sldId id="1155" r:id="rId38"/>
    <p:sldId id="1156" r:id="rId39"/>
    <p:sldId id="1165" r:id="rId40"/>
    <p:sldId id="1157" r:id="rId41"/>
    <p:sldId id="1158" r:id="rId42"/>
    <p:sldId id="1166" r:id="rId43"/>
    <p:sldId id="1167" r:id="rId44"/>
    <p:sldId id="1168" r:id="rId45"/>
    <p:sldId id="1176" r:id="rId46"/>
    <p:sldId id="1169" r:id="rId47"/>
    <p:sldId id="1170" r:id="rId48"/>
    <p:sldId id="1171" r:id="rId49"/>
    <p:sldId id="1172" r:id="rId50"/>
    <p:sldId id="1173" r:id="rId51"/>
    <p:sldId id="1177" r:id="rId52"/>
    <p:sldId id="1178" r:id="rId53"/>
    <p:sldId id="1179" r:id="rId54"/>
    <p:sldId id="1180" r:id="rId55"/>
    <p:sldId id="1181" r:id="rId56"/>
    <p:sldId id="1182" r:id="rId57"/>
    <p:sldId id="1183" r:id="rId58"/>
    <p:sldId id="1184" r:id="rId59"/>
    <p:sldId id="1185" r:id="rId60"/>
    <p:sldId id="1190" r:id="rId61"/>
    <p:sldId id="1186" r:id="rId62"/>
    <p:sldId id="1187" r:id="rId63"/>
    <p:sldId id="1188" r:id="rId64"/>
    <p:sldId id="1191" r:id="rId65"/>
    <p:sldId id="1192" r:id="rId66"/>
    <p:sldId id="1193" r:id="rId67"/>
    <p:sldId id="1194" r:id="rId68"/>
    <p:sldId id="1195" r:id="rId69"/>
    <p:sldId id="1196" r:id="rId70"/>
    <p:sldId id="1197" r:id="rId71"/>
    <p:sldId id="1198" r:id="rId72"/>
    <p:sldId id="1199" r:id="rId73"/>
    <p:sldId id="1200" r:id="rId74"/>
    <p:sldId id="1201" r:id="rId75"/>
    <p:sldId id="1202" r:id="rId76"/>
    <p:sldId id="1203" r:id="rId77"/>
    <p:sldId id="1204" r:id="rId78"/>
    <p:sldId id="1206" r:id="rId79"/>
    <p:sldId id="1207" r:id="rId80"/>
    <p:sldId id="1205" r:id="rId81"/>
    <p:sldId id="1209" r:id="rId82"/>
    <p:sldId id="1217" r:id="rId83"/>
    <p:sldId id="1210" r:id="rId84"/>
    <p:sldId id="1211" r:id="rId85"/>
    <p:sldId id="1218" r:id="rId86"/>
    <p:sldId id="1212" r:id="rId87"/>
    <p:sldId id="1213" r:id="rId88"/>
    <p:sldId id="1214" r:id="rId89"/>
    <p:sldId id="1215" r:id="rId90"/>
    <p:sldId id="1219" r:id="rId91"/>
    <p:sldId id="1220" r:id="rId92"/>
    <p:sldId id="1222" r:id="rId93"/>
    <p:sldId id="1223" r:id="rId94"/>
    <p:sldId id="1224" r:id="rId95"/>
    <p:sldId id="1277" r:id="rId96"/>
    <p:sldId id="1278" r:id="rId97"/>
    <p:sldId id="1279" r:id="rId98"/>
    <p:sldId id="1226" r:id="rId99"/>
    <p:sldId id="1228" r:id="rId100"/>
    <p:sldId id="1225" r:id="rId101"/>
    <p:sldId id="1227" r:id="rId102"/>
    <p:sldId id="1229" r:id="rId103"/>
    <p:sldId id="1230" r:id="rId104"/>
    <p:sldId id="1231" r:id="rId105"/>
    <p:sldId id="1232" r:id="rId106"/>
    <p:sldId id="1233" r:id="rId107"/>
    <p:sldId id="1234" r:id="rId108"/>
    <p:sldId id="1235" r:id="rId109"/>
    <p:sldId id="1280" r:id="rId110"/>
    <p:sldId id="1281" r:id="rId111"/>
    <p:sldId id="1282" r:id="rId112"/>
    <p:sldId id="1283" r:id="rId113"/>
    <p:sldId id="1284" r:id="rId114"/>
    <p:sldId id="1240" r:id="rId115"/>
    <p:sldId id="1241" r:id="rId116"/>
    <p:sldId id="1242" r:id="rId117"/>
    <p:sldId id="1236" r:id="rId118"/>
    <p:sldId id="1244" r:id="rId119"/>
    <p:sldId id="1245" r:id="rId120"/>
    <p:sldId id="1246" r:id="rId121"/>
    <p:sldId id="1247" r:id="rId122"/>
    <p:sldId id="1286" r:id="rId123"/>
    <p:sldId id="1287" r:id="rId124"/>
    <p:sldId id="1288" r:id="rId125"/>
    <p:sldId id="1248" r:id="rId126"/>
    <p:sldId id="1249" r:id="rId127"/>
    <p:sldId id="1250" r:id="rId128"/>
    <p:sldId id="1289" r:id="rId129"/>
    <p:sldId id="1251" r:id="rId130"/>
    <p:sldId id="1255" r:id="rId131"/>
    <p:sldId id="1253" r:id="rId132"/>
    <p:sldId id="1254" r:id="rId133"/>
    <p:sldId id="1258" r:id="rId134"/>
    <p:sldId id="1291" r:id="rId135"/>
    <p:sldId id="1292" r:id="rId136"/>
    <p:sldId id="1293" r:id="rId137"/>
    <p:sldId id="1294" r:id="rId138"/>
    <p:sldId id="1295" r:id="rId139"/>
    <p:sldId id="1296" r:id="rId140"/>
    <p:sldId id="1297" r:id="rId141"/>
    <p:sldId id="1298" r:id="rId142"/>
    <p:sldId id="1259" r:id="rId143"/>
    <p:sldId id="1260" r:id="rId144"/>
    <p:sldId id="1262" r:id="rId145"/>
    <p:sldId id="1261" r:id="rId146"/>
    <p:sldId id="1263" r:id="rId147"/>
    <p:sldId id="1305" r:id="rId148"/>
    <p:sldId id="1306" r:id="rId149"/>
    <p:sldId id="1266" r:id="rId150"/>
    <p:sldId id="1268" r:id="rId151"/>
    <p:sldId id="1267" r:id="rId152"/>
    <p:sldId id="1270" r:id="rId153"/>
    <p:sldId id="1271" r:id="rId154"/>
    <p:sldId id="1299" r:id="rId155"/>
    <p:sldId id="1300" r:id="rId156"/>
    <p:sldId id="1301" r:id="rId157"/>
    <p:sldId id="1302" r:id="rId158"/>
    <p:sldId id="1272" r:id="rId159"/>
    <p:sldId id="1273" r:id="rId160"/>
    <p:sldId id="1274" r:id="rId161"/>
    <p:sldId id="1304" r:id="rId162"/>
    <p:sldId id="1303" r:id="rId163"/>
    <p:sldId id="1275" r:id="rId164"/>
    <p:sldId id="1307" r:id="rId165"/>
    <p:sldId id="1276" r:id="rId166"/>
    <p:sldId id="264" r:id="rId167"/>
  </p:sldIdLst>
  <p:sldSz cx="12192000" cy="6858000"/>
  <p:notesSz cx="6858000" cy="9144000"/>
  <p:embeddedFontLst>
    <p:embeddedFont>
      <p:font typeface="Calibri" panose="020F0502020204030204" pitchFamily="34" charset="0"/>
      <p:regular r:id="rId170"/>
      <p:bold r:id="rId171"/>
      <p:italic r:id="rId172"/>
      <p:boldItalic r:id="rId173"/>
    </p:embeddedFont>
    <p:embeddedFont>
      <p:font typeface="Cambria" panose="02040503050406030204" pitchFamily="18" charset="0"/>
      <p:regular r:id="rId174"/>
      <p:bold r:id="rId175"/>
      <p:italic r:id="rId176"/>
      <p:boldItalic r:id="rId177"/>
    </p:embeddedFont>
    <p:embeddedFont>
      <p:font typeface="Cambria Math" panose="02040503050406030204" pitchFamily="18" charset="0"/>
      <p:regular r:id="rId178"/>
    </p:embeddedFont>
    <p:embeddedFont>
      <p:font typeface="Roboto Condensed" panose="02000000000000000000" pitchFamily="2" charset="0"/>
      <p:regular r:id="rId179"/>
      <p:bold r:id="rId180"/>
      <p:italic r:id="rId181"/>
      <p:boldItalic r:id="rId182"/>
    </p:embeddedFont>
    <p:embeddedFont>
      <p:font typeface="Roboto Condensed Light" panose="02000000000000000000" pitchFamily="2" charset="0"/>
      <p:regular r:id="rId183"/>
      <p:italic r:id="rId184"/>
    </p:embeddedFont>
    <p:embeddedFont>
      <p:font typeface="Wingdings 3" panose="05040102010807070707" pitchFamily="18" charset="2"/>
      <p:regular r:id="rId18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modifyVerifier cryptProviderType="rsaAES" cryptAlgorithmClass="hash" cryptAlgorithmType="typeAny" cryptAlgorithmSid="14" spinCount="100000" saltData="GbFQqnEPsSFvvy9e4gCj2g==" hashData="CDo22RGw3Qk7SDAURfrpn1kaWrtDBGgz1cj3y1at7/G/fIKaNPrvPAzxJ2tSHLKrv4+PMt1K9TwpBhDA4Cz4MQ=="/>
  <p:extLst>
    <p:ext uri="{521415D9-36F7-43E2-AB2F-B90AF26B5E84}">
      <p14:sectionLst xmlns:p14="http://schemas.microsoft.com/office/powerpoint/2010/main">
        <p14:section name="Default Section" id="{52390557-2A6E-468D-8401-98D6D0EE2411}">
          <p14:sldIdLst>
            <p14:sldId id="865"/>
            <p14:sldId id="265"/>
            <p14:sldId id="868"/>
          </p14:sldIdLst>
        </p14:section>
        <p14:section name="Introduction" id="{5E3E94B6-4ED5-4E28-9B26-E14BF004EBCB}">
          <p14:sldIdLst>
            <p14:sldId id="728"/>
            <p14:sldId id="869"/>
            <p14:sldId id="1141"/>
            <p14:sldId id="1142"/>
            <p14:sldId id="1143"/>
            <p14:sldId id="1144"/>
          </p14:sldIdLst>
        </p14:section>
        <p14:section name="M1 : Vector Space" id="{85F46A39-81BF-4C56-A4C7-5B928F11A833}">
          <p14:sldIdLst>
            <p14:sldId id="874"/>
            <p14:sldId id="875"/>
            <p14:sldId id="876"/>
            <p14:sldId id="877"/>
            <p14:sldId id="878"/>
            <p14:sldId id="879"/>
            <p14:sldId id="1145"/>
            <p14:sldId id="1146"/>
            <p14:sldId id="1147"/>
            <p14:sldId id="1148"/>
            <p14:sldId id="1149"/>
            <p14:sldId id="1150"/>
            <p14:sldId id="1151"/>
            <p14:sldId id="1152"/>
            <p14:sldId id="1153"/>
            <p14:sldId id="1154"/>
            <p14:sldId id="883"/>
            <p14:sldId id="1124"/>
            <p14:sldId id="1126"/>
            <p14:sldId id="1127"/>
            <p14:sldId id="1128"/>
            <p14:sldId id="1129"/>
            <p14:sldId id="1130"/>
            <p14:sldId id="1131"/>
            <p14:sldId id="1132"/>
            <p14:sldId id="1133"/>
            <p14:sldId id="1164"/>
            <p14:sldId id="1155"/>
            <p14:sldId id="1156"/>
            <p14:sldId id="1165"/>
            <p14:sldId id="1157"/>
            <p14:sldId id="1158"/>
            <p14:sldId id="1166"/>
            <p14:sldId id="1167"/>
            <p14:sldId id="1168"/>
            <p14:sldId id="1176"/>
            <p14:sldId id="1169"/>
            <p14:sldId id="1170"/>
            <p14:sldId id="1171"/>
            <p14:sldId id="1172"/>
            <p14:sldId id="1173"/>
            <p14:sldId id="1177"/>
            <p14:sldId id="1178"/>
            <p14:sldId id="1179"/>
            <p14:sldId id="1180"/>
            <p14:sldId id="1181"/>
            <p14:sldId id="1182"/>
            <p14:sldId id="1183"/>
            <p14:sldId id="1184"/>
            <p14:sldId id="1185"/>
            <p14:sldId id="1190"/>
            <p14:sldId id="1186"/>
            <p14:sldId id="1187"/>
            <p14:sldId id="1188"/>
            <p14:sldId id="1191"/>
            <p14:sldId id="1192"/>
            <p14:sldId id="1193"/>
            <p14:sldId id="1194"/>
            <p14:sldId id="1195"/>
            <p14:sldId id="1196"/>
            <p14:sldId id="1197"/>
            <p14:sldId id="1198"/>
            <p14:sldId id="1199"/>
            <p14:sldId id="1200"/>
            <p14:sldId id="1201"/>
            <p14:sldId id="1202"/>
            <p14:sldId id="1203"/>
          </p14:sldIdLst>
        </p14:section>
        <p14:section name="M2: Subspaces" id="{4B92EAA0-4B7D-4D49-B9E1-7F87310A4B8C}">
          <p14:sldIdLst>
            <p14:sldId id="1204"/>
            <p14:sldId id="1206"/>
            <p14:sldId id="1207"/>
            <p14:sldId id="1205"/>
            <p14:sldId id="1209"/>
            <p14:sldId id="1217"/>
            <p14:sldId id="1210"/>
            <p14:sldId id="1211"/>
            <p14:sldId id="1218"/>
            <p14:sldId id="1212"/>
            <p14:sldId id="1213"/>
            <p14:sldId id="1214"/>
            <p14:sldId id="1215"/>
            <p14:sldId id="1219"/>
            <p14:sldId id="1220"/>
            <p14:sldId id="1222"/>
          </p14:sldIdLst>
        </p14:section>
        <p14:section name="M3: Linear Combination and Span" id="{14265CE6-F948-4072-803D-E098CBA37D06}">
          <p14:sldIdLst>
            <p14:sldId id="1223"/>
            <p14:sldId id="1224"/>
            <p14:sldId id="1277"/>
            <p14:sldId id="1278"/>
            <p14:sldId id="1279"/>
            <p14:sldId id="1226"/>
            <p14:sldId id="1228"/>
            <p14:sldId id="1225"/>
            <p14:sldId id="1227"/>
            <p14:sldId id="1229"/>
            <p14:sldId id="1230"/>
            <p14:sldId id="1231"/>
            <p14:sldId id="1232"/>
            <p14:sldId id="1233"/>
            <p14:sldId id="1234"/>
            <p14:sldId id="1235"/>
            <p14:sldId id="1280"/>
            <p14:sldId id="1281"/>
            <p14:sldId id="1282"/>
            <p14:sldId id="1283"/>
            <p14:sldId id="1284"/>
            <p14:sldId id="1240"/>
            <p14:sldId id="1241"/>
            <p14:sldId id="1242"/>
            <p14:sldId id="1236"/>
            <p14:sldId id="1244"/>
            <p14:sldId id="1245"/>
            <p14:sldId id="1246"/>
          </p14:sldIdLst>
        </p14:section>
        <p14:section name="M4: LI &amp; LD" id="{AD3DD89E-55EA-483A-8162-159B5A67D440}">
          <p14:sldIdLst>
            <p14:sldId id="1247"/>
            <p14:sldId id="1286"/>
            <p14:sldId id="1287"/>
            <p14:sldId id="1288"/>
            <p14:sldId id="1248"/>
            <p14:sldId id="1249"/>
            <p14:sldId id="1250"/>
            <p14:sldId id="1289"/>
            <p14:sldId id="1251"/>
            <p14:sldId id="1255"/>
            <p14:sldId id="1253"/>
            <p14:sldId id="1254"/>
          </p14:sldIdLst>
        </p14:section>
        <p14:section name="M5: Basis &amp; Dimension" id="{9EBD8E47-5A8C-4053-9D1F-67B0DC1E3865}">
          <p14:sldIdLst>
            <p14:sldId id="1258"/>
            <p14:sldId id="1291"/>
            <p14:sldId id="1292"/>
            <p14:sldId id="1293"/>
            <p14:sldId id="1294"/>
            <p14:sldId id="1295"/>
            <p14:sldId id="1296"/>
            <p14:sldId id="1297"/>
            <p14:sldId id="1298"/>
            <p14:sldId id="1259"/>
            <p14:sldId id="1260"/>
            <p14:sldId id="1262"/>
            <p14:sldId id="1261"/>
            <p14:sldId id="1263"/>
            <p14:sldId id="1305"/>
            <p14:sldId id="1306"/>
            <p14:sldId id="1266"/>
            <p14:sldId id="1268"/>
            <p14:sldId id="1267"/>
            <p14:sldId id="1270"/>
          </p14:sldIdLst>
        </p14:section>
        <p14:section name="M6: RS, CS &amp; NS" id="{D34E7434-1A09-4482-AA37-23924FC70F10}">
          <p14:sldIdLst>
            <p14:sldId id="1271"/>
            <p14:sldId id="1299"/>
            <p14:sldId id="1300"/>
            <p14:sldId id="1301"/>
            <p14:sldId id="1302"/>
            <p14:sldId id="1272"/>
            <p14:sldId id="1273"/>
            <p14:sldId id="1274"/>
            <p14:sldId id="1304"/>
            <p14:sldId id="1303"/>
            <p14:sldId id="1275"/>
            <p14:sldId id="1307"/>
            <p14:sldId id="1276"/>
            <p14:sldId id="2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3940" userDrawn="1">
          <p15:clr>
            <a:srgbClr val="A4A3A4"/>
          </p15:clr>
        </p15:guide>
        <p15:guide id="4" orient="horz" pos="2260" userDrawn="1">
          <p15:clr>
            <a:srgbClr val="A4A3A4"/>
          </p15:clr>
        </p15:guide>
        <p15:guide id="5" pos="40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ELL" initials="D" lastIdx="1" clrIdx="0">
    <p:extLst>
      <p:ext uri="{19B8F6BF-5375-455C-9EA6-DF929625EA0E}">
        <p15:presenceInfo xmlns:p15="http://schemas.microsoft.com/office/powerpoint/2012/main" userId="DELL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002060"/>
    <a:srgbClr val="EEEEEE"/>
    <a:srgbClr val="DBDBDB"/>
    <a:srgbClr val="616161"/>
    <a:srgbClr val="CE5151"/>
    <a:srgbClr val="00B0F0"/>
    <a:srgbClr val="3A4A6A"/>
    <a:srgbClr val="354F7F"/>
    <a:srgbClr val="D102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899" autoAdjust="0"/>
    <p:restoredTop sz="87791" autoAdjust="0"/>
  </p:normalViewPr>
  <p:slideViewPr>
    <p:cSldViewPr snapToGrid="0">
      <p:cViewPr varScale="1">
        <p:scale>
          <a:sx n="62" d="100"/>
          <a:sy n="62" d="100"/>
        </p:scale>
        <p:origin x="532" y="52"/>
      </p:cViewPr>
      <p:guideLst>
        <p:guide orient="horz" pos="2160"/>
        <p:guide pos="3840"/>
        <p:guide pos="3940"/>
        <p:guide orient="horz" pos="2260"/>
        <p:guide pos="4040"/>
      </p:guideLst>
    </p:cSldViewPr>
  </p:slideViewPr>
  <p:outlineViewPr>
    <p:cViewPr>
      <p:scale>
        <a:sx n="33" d="100"/>
        <a:sy n="33" d="100"/>
      </p:scale>
      <p:origin x="0" y="-35476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15860"/>
    </p:cViewPr>
  </p:sorterViewPr>
  <p:notesViewPr>
    <p:cSldViewPr snapToGrid="0">
      <p:cViewPr varScale="1">
        <p:scale>
          <a:sx n="67" d="100"/>
          <a:sy n="67" d="100"/>
        </p:scale>
        <p:origin x="3228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font" Target="fonts/font1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font" Target="fonts/font12.fntdata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font" Target="fonts/font2.fntdata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font" Target="fonts/font13.fntdata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font" Target="fonts/font3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openxmlformats.org/officeDocument/2006/relationships/font" Target="fonts/font14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font" Target="fonts/font9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font" Target="fonts/font4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font" Target="fonts/font15.fntdata"/><Relationship Id="rId189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font" Target="fonts/font5.fntdata"/><Relationship Id="rId179" Type="http://schemas.openxmlformats.org/officeDocument/2006/relationships/font" Target="fonts/font10.fntdata"/><Relationship Id="rId190" Type="http://schemas.openxmlformats.org/officeDocument/2006/relationships/tableStyles" Target="tableStyle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handoutMaster" Target="handoutMasters/handoutMaster1.xml"/><Relationship Id="rId185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font" Target="fonts/font11.fntdata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font" Target="fonts/font6.fntdata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commentAuthors" Target="commentAuthor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font" Target="fonts/font7.fntdata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font" Target="fonts/font8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0691E0-E0E7-464F-892B-71ACC2518A4D}" type="datetimeFigureOut">
              <a:rPr lang="en-US" smtClean="0"/>
              <a:t>9/22/2026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53689D-5810-4E66-9D5F-1657D824CF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70960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8E3F3-8B31-41D2-AA9B-9796555DB866}" type="datetimeFigureOut">
              <a:rPr lang="en-US" smtClean="0"/>
              <a:t>9/22/2026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79BDEF-6165-4E72-B1A6-6E8034CEC24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6013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874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6684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34850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60766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61111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9324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0833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4413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54251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62853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77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0820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93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96285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64972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7297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4851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41962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92751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0011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926489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8697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0560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80760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18167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461034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37998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1854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5290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77202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50E60-4637-2FC3-A357-BF01A3313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B65A0B-8F0C-2E0A-875E-924122843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391644-31B1-3100-052A-A4843CC710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80FA2-23A6-5249-3DFE-385B497AD7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25901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778F4-EC29-0DA9-EE3F-529E448F2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030A3B-EBDB-E07D-5366-B1D9CC5DAF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358EBE-E1BC-61C9-D84D-59DAED1843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532E68-3C54-422D-DEAB-CBF7786026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72356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75B4A-FCAC-C44E-6467-E4D565863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177F22-3086-5D5F-BABE-67F88BA7D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847B23-1067-883B-55A5-2FB5644C6C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23A2-E9CF-DD72-C7CB-FC4FA0313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305024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6C9F1-3C1A-4BA8-32AA-B09FC1FD2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94C17B-37F9-3A6F-B1D6-9CDDB13F9A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D3878A-4A98-B701-D618-EF92F3C4D8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B8EF0F-9F44-01E9-625D-0F8553FD66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93851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24CE7-D61B-7F1F-0A63-0A03DD5C3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934DF3-79B1-4C6B-8DAB-7A3DEAC10E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F073F3-AC4F-DE25-1124-7CD58240D5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29C0D-6AE0-B938-B7B5-B021322793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54505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059DE-1622-3624-9F25-054DA5261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2164BF-2ED6-83A9-4685-FD293CF6E8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9CCCA7-A097-92CD-2A69-A4A55DE09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52F7-69E1-5678-2CAE-D2791B0C81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20383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D15A8-EB40-0CEE-C522-EDCE8CE80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95DEF6-140F-DE83-73B9-54D8EEBC88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133942-501C-87A6-5AD3-4FA25B289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73A96B-2F76-3F60-6A65-003A1A081B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55216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E8114-AAC8-4F9E-2EF6-EF4256044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A659B4-1C4B-BD54-73B9-C22C66FE8D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0467DE-835E-B9FA-F991-E08406360F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7CF7B5-5EE3-2C0F-3106-691DD65626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803819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19B63-7839-A235-2733-966E608FB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1AA3BF-9D81-A375-77F1-3BE192B974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FF2CA7-E084-C6AC-EF02-91274643C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E26B1-641F-2CEB-7474-D1EC852A9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24434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6A263-4157-2486-1BFD-B06A81124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D387E9-8267-54C8-430A-055975D37F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60E48-3A2C-D0B4-FFBD-05825D09E1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AD9E1-86BA-B67E-6B4F-C6CF7E4FB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76955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3BF61-6498-AC3D-C2BB-543880D46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44E40-B4AD-84E4-4705-D7E5262A60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8C02-5BCE-F313-B1D7-13109918F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1F835-B9C4-41EA-11EA-59F91FF532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9BDEF-6165-4E72-B1A6-6E8034CEC248}" type="slidenum">
              <a:rPr lang="en-US" smtClean="0"/>
              <a:t>165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6260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jpeg"/></Relationships>
</file>

<file path=ppt/slideLayouts/_rels/slideLayout1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jpeg"/></Relationships>
</file>

<file path=ppt/slideLayouts/_rels/slideLayout12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jpeg"/></Relationships>
</file>

<file path=ppt/slideLayouts/_rels/slideLayout1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jpeg"/></Relationships>
</file>

<file path=ppt/slideLayouts/_rels/slideLayout14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jpeg"/></Relationships>
</file>

<file path=ppt/slideLayouts/_rels/slideLayout15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jpeg"/></Relationships>
</file>

<file path=ppt/slideLayouts/_rels/slideLayout16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jpeg"/></Relationships>
</file>

<file path=ppt/slideLayouts/_rels/slideLayout17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jpeg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11" Type="http://schemas.openxmlformats.org/officeDocument/2006/relationships/image" Target="../media/image14.png"/><Relationship Id="rId5" Type="http://schemas.openxmlformats.org/officeDocument/2006/relationships/image" Target="../media/image9.png"/><Relationship Id="rId10" Type="http://schemas.openxmlformats.org/officeDocument/2006/relationships/image" Target="../media/image12.png"/><Relationship Id="rId4" Type="http://schemas.openxmlformats.org/officeDocument/2006/relationships/image" Target="../media/image8.png"/><Relationship Id="rId9" Type="http://schemas.openxmlformats.org/officeDocument/2006/relationships/image" Target="../media/image11.jpeg"/></Relationships>
</file>

<file path=ppt/slideLayouts/_rels/slideLayout19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2.png"/><Relationship Id="rId5" Type="http://schemas.openxmlformats.org/officeDocument/2006/relationships/image" Target="../media/image8.png"/><Relationship Id="rId10" Type="http://schemas.openxmlformats.org/officeDocument/2006/relationships/image" Target="../media/image11.jpeg"/><Relationship Id="rId4" Type="http://schemas.openxmlformats.org/officeDocument/2006/relationships/image" Target="../media/image7.png"/><Relationship Id="rId9" Type="http://schemas.openxmlformats.org/officeDocument/2006/relationships/image" Target="../media/image15.jpeg"/></Relationships>
</file>

<file path=ppt/slideLayouts/_rels/slideLayout20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- Logo on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9A329F3-B4EA-403B-BD1C-FDD65D8E9D3F}"/>
              </a:ext>
            </a:extLst>
          </p:cNvPr>
          <p:cNvGrpSpPr/>
          <p:nvPr userDrawn="1"/>
        </p:nvGrpSpPr>
        <p:grpSpPr>
          <a:xfrm>
            <a:off x="10721798" y="852808"/>
            <a:ext cx="1339023" cy="407045"/>
            <a:chOff x="10721798" y="852808"/>
            <a:chExt cx="1339023" cy="40704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0325C5E-F004-43A9-9277-53A0BD206A7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1798" y="852808"/>
              <a:ext cx="1339022" cy="407045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B63808E-204C-4894-A747-B51DDC7425CA}"/>
                </a:ext>
              </a:extLst>
            </p:cNvPr>
            <p:cNvSpPr/>
            <p:nvPr userDrawn="1"/>
          </p:nvSpPr>
          <p:spPr>
            <a:xfrm>
              <a:off x="10721799" y="852808"/>
              <a:ext cx="1339022" cy="40704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CD05EDD-7D4D-4F15-B3BB-F4E2E35E1780}"/>
              </a:ext>
            </a:extLst>
          </p:cNvPr>
          <p:cNvSpPr/>
          <p:nvPr userDrawn="1"/>
        </p:nvSpPr>
        <p:spPr>
          <a:xfrm>
            <a:off x="0" y="6604000"/>
            <a:ext cx="12191998" cy="254000"/>
          </a:xfrm>
          <a:prstGeom prst="roundRect">
            <a:avLst>
              <a:gd name="adj" fmla="val 0"/>
            </a:avLst>
          </a:prstGeom>
          <a:solidFill>
            <a:srgbClr val="DFDF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Slide Number Placeholder 3">
            <a:extLst>
              <a:ext uri="{FF2B5EF4-FFF2-40B4-BE49-F238E27FC236}">
                <a16:creationId xmlns:a16="http://schemas.microsoft.com/office/drawing/2014/main" id="{FE084249-8DB7-4B0A-AA7A-A1A407FC0773}"/>
              </a:ext>
            </a:extLst>
          </p:cNvPr>
          <p:cNvSpPr txBox="1">
            <a:spLocks/>
          </p:cNvSpPr>
          <p:nvPr userDrawn="1"/>
        </p:nvSpPr>
        <p:spPr>
          <a:xfrm>
            <a:off x="8610600" y="6604000"/>
            <a:ext cx="2743200" cy="25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DF2434F-F1F1-4B15-80AA-A2C3BF057F48}" type="slidenum">
              <a:rPr lang="en-US" b="1" smtClean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</a:rPr>
              <a:pPr/>
              <a:t>‹#›</a:t>
            </a:fld>
            <a:endParaRPr lang="en-US" b="1" dirty="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pic>
        <p:nvPicPr>
          <p:cNvPr id="18" name="Shape 56">
            <a:extLst>
              <a:ext uri="{FF2B5EF4-FFF2-40B4-BE49-F238E27FC236}">
                <a16:creationId xmlns:a16="http://schemas.microsoft.com/office/drawing/2014/main" id="{ACB01872-4321-4181-A609-1C503C074C10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 t="86739" r="1768" b="3535"/>
          <a:stretch/>
        </p:blipFill>
        <p:spPr>
          <a:xfrm>
            <a:off x="0" y="0"/>
            <a:ext cx="12192000" cy="711201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CD07E8-CBAA-45BA-85CF-1233D4AA86C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0" y="1"/>
            <a:ext cx="12192000" cy="711200"/>
          </a:xfrm>
          <a:solidFill>
            <a:srgbClr val="C0C0C0">
              <a:alpha val="50000"/>
            </a:srgbClr>
          </a:solidFill>
          <a:ln>
            <a:noFill/>
          </a:ln>
        </p:spPr>
        <p:txBody>
          <a:bodyPr lIns="216000" tIns="108000" rIns="216000" bIns="108000">
            <a:normAutofit/>
          </a:bodyPr>
          <a:lstStyle>
            <a:lvl1pPr>
              <a:defRPr lang="en-US" sz="3400" b="1" kern="1200" dirty="0">
                <a:solidFill>
                  <a:schemeClr val="tx1">
                    <a:lumMod val="90000"/>
                    <a:lumOff val="10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5596C8C-2163-45E8-B709-8118C381771F}"/>
              </a:ext>
            </a:extLst>
          </p:cNvPr>
          <p:cNvCxnSpPr/>
          <p:nvPr userDrawn="1"/>
        </p:nvCxnSpPr>
        <p:spPr>
          <a:xfrm>
            <a:off x="0" y="711201"/>
            <a:ext cx="1219200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86BF578-C91A-4942-95D5-11408C3CCACF}"/>
              </a:ext>
            </a:extLst>
          </p:cNvPr>
          <p:cNvCxnSpPr/>
          <p:nvPr userDrawn="1"/>
        </p:nvCxnSpPr>
        <p:spPr>
          <a:xfrm>
            <a:off x="0" y="6595977"/>
            <a:ext cx="12192000" cy="0"/>
          </a:xfrm>
          <a:prstGeom prst="line">
            <a:avLst/>
          </a:prstGeom>
          <a:ln w="12700">
            <a:solidFill>
              <a:schemeClr val="bg1">
                <a:lumMod val="75000"/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F4971-704E-42EF-A852-52D75741FB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80" y="863444"/>
            <a:ext cx="11929641" cy="5590565"/>
          </a:xfrm>
        </p:spPr>
        <p:txBody>
          <a:bodyPr>
            <a:noAutofit/>
          </a:bodyPr>
          <a:lstStyle>
            <a:lvl1pPr marL="265113" indent="-265113" algn="just">
              <a:buClr>
                <a:schemeClr val="accent6"/>
              </a:buClr>
              <a:buFont typeface="Wingdings 3" panose="05040102010807070707" pitchFamily="18" charset="2"/>
              <a:buChar char=""/>
              <a:defRPr sz="2800">
                <a:solidFill>
                  <a:srgbClr val="002060"/>
                </a:solidFill>
              </a:defRPr>
            </a:lvl1pPr>
            <a:lvl2pPr marL="809625" indent="-352425" algn="just">
              <a:buClr>
                <a:schemeClr val="accent6"/>
              </a:buClr>
              <a:buFont typeface="Wingdings 3" panose="05040102010807070707" pitchFamily="18" charset="2"/>
              <a:buChar char=""/>
              <a:defRPr sz="2800">
                <a:solidFill>
                  <a:srgbClr val="002060"/>
                </a:solidFill>
              </a:defRPr>
            </a:lvl2pPr>
            <a:lvl3pPr marL="1143000" indent="-228600" algn="just">
              <a:buClr>
                <a:schemeClr val="accent6"/>
              </a:buClr>
              <a:buFont typeface="Wingdings" panose="05000000000000000000" pitchFamily="2" charset="2"/>
              <a:buChar char="§"/>
              <a:defRPr sz="2800">
                <a:solidFill>
                  <a:srgbClr val="002060"/>
                </a:solidFill>
              </a:defRPr>
            </a:lvl3pPr>
            <a:lvl4pPr algn="just">
              <a:buClr>
                <a:schemeClr val="accent6"/>
              </a:buClr>
              <a:defRPr sz="2800">
                <a:solidFill>
                  <a:srgbClr val="002060"/>
                </a:solidFill>
              </a:defRPr>
            </a:lvl4pPr>
            <a:lvl5pPr algn="just">
              <a:buClr>
                <a:schemeClr val="accent6"/>
              </a:buClr>
              <a:defRPr sz="2800">
                <a:solidFill>
                  <a:srgbClr val="00206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CA463A36-7025-4394-9467-8A3EC3425B00}"/>
              </a:ext>
            </a:extLst>
          </p:cNvPr>
          <p:cNvSpPr txBox="1">
            <a:spLocks/>
          </p:cNvSpPr>
          <p:nvPr userDrawn="1"/>
        </p:nvSpPr>
        <p:spPr>
          <a:xfrm>
            <a:off x="838200" y="6604000"/>
            <a:ext cx="2743200" cy="25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kern="1200" dirty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rPr>
              <a:t>Prof. Nishant Khiraiya</a:t>
            </a:r>
          </a:p>
        </p:txBody>
      </p:sp>
      <p:sp>
        <p:nvSpPr>
          <p:cNvPr id="21" name="Footer Placeholder 2">
            <a:extLst>
              <a:ext uri="{FF2B5EF4-FFF2-40B4-BE49-F238E27FC236}">
                <a16:creationId xmlns:a16="http://schemas.microsoft.com/office/drawing/2014/main" id="{BF2BE79E-EA17-4AB9-8CB5-714A52A6B2F5}"/>
              </a:ext>
            </a:extLst>
          </p:cNvPr>
          <p:cNvSpPr txBox="1">
            <a:spLocks/>
          </p:cNvSpPr>
          <p:nvPr userDrawn="1"/>
        </p:nvSpPr>
        <p:spPr>
          <a:xfrm>
            <a:off x="3976258" y="6604000"/>
            <a:ext cx="4239482" cy="25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kern="1200" dirty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rPr>
              <a:t>#2601HS101 (Mathematics – I)   </a:t>
            </a:r>
            <a:r>
              <a:rPr lang="en-US" dirty="0">
                <a:solidFill>
                  <a:schemeClr val="tx1">
                    <a:lumMod val="90000"/>
                    <a:lumOff val="10000"/>
                  </a:schemeClr>
                </a:solidFill>
                <a:latin typeface="Wingdings" panose="05000000000000000000" pitchFamily="2" charset="2"/>
                <a:ea typeface="Roboto Condensed Light" panose="02000000000000000000" pitchFamily="2" charset="0"/>
              </a:rPr>
              <a:t></a:t>
            </a:r>
            <a:r>
              <a:rPr lang="en-US" sz="1200" b="0" kern="1200" dirty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rPr>
              <a:t>   Unit 2 – Vector Space</a:t>
            </a:r>
          </a:p>
        </p:txBody>
      </p:sp>
    </p:spTree>
    <p:extLst>
      <p:ext uri="{BB962C8B-B14F-4D97-AF65-F5344CB8AC3E}">
        <p14:creationId xmlns:p14="http://schemas.microsoft.com/office/powerpoint/2010/main" val="1306942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- Logo on B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19E228D-B2BD-4EFA-9FE9-86D81DDC600E}"/>
              </a:ext>
            </a:extLst>
          </p:cNvPr>
          <p:cNvGrpSpPr/>
          <p:nvPr userDrawn="1"/>
        </p:nvGrpSpPr>
        <p:grpSpPr>
          <a:xfrm>
            <a:off x="10721797" y="6047527"/>
            <a:ext cx="1339023" cy="407045"/>
            <a:chOff x="10721798" y="852808"/>
            <a:chExt cx="1339023" cy="407045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0ED7292-9BDD-4D31-8064-11177842F8C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1798" y="852808"/>
              <a:ext cx="1339022" cy="407045"/>
            </a:xfrm>
            <a:prstGeom prst="rect">
              <a:avLst/>
            </a:prstGeom>
          </p:spPr>
        </p:pic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F0757EE-ABB9-45D2-B479-D5AB8FB14DF1}"/>
                </a:ext>
              </a:extLst>
            </p:cNvPr>
            <p:cNvSpPr/>
            <p:nvPr userDrawn="1"/>
          </p:nvSpPr>
          <p:spPr>
            <a:xfrm>
              <a:off x="10721799" y="852808"/>
              <a:ext cx="1339022" cy="40704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CD05EDD-7D4D-4F15-B3BB-F4E2E35E1780}"/>
              </a:ext>
            </a:extLst>
          </p:cNvPr>
          <p:cNvSpPr/>
          <p:nvPr userDrawn="1"/>
        </p:nvSpPr>
        <p:spPr>
          <a:xfrm>
            <a:off x="0" y="6604000"/>
            <a:ext cx="12191998" cy="254000"/>
          </a:xfrm>
          <a:prstGeom prst="roundRect">
            <a:avLst>
              <a:gd name="adj" fmla="val 0"/>
            </a:avLst>
          </a:prstGeom>
          <a:solidFill>
            <a:srgbClr val="DFDF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Slide Number Placeholder 3">
            <a:extLst>
              <a:ext uri="{FF2B5EF4-FFF2-40B4-BE49-F238E27FC236}">
                <a16:creationId xmlns:a16="http://schemas.microsoft.com/office/drawing/2014/main" id="{FE084249-8DB7-4B0A-AA7A-A1A407FC0773}"/>
              </a:ext>
            </a:extLst>
          </p:cNvPr>
          <p:cNvSpPr txBox="1">
            <a:spLocks/>
          </p:cNvSpPr>
          <p:nvPr userDrawn="1"/>
        </p:nvSpPr>
        <p:spPr>
          <a:xfrm>
            <a:off x="8610600" y="6604000"/>
            <a:ext cx="2743200" cy="25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DF2434F-F1F1-4B15-80AA-A2C3BF057F48}" type="slidenum">
              <a:rPr lang="en-US" b="1" smtClean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</a:rPr>
              <a:pPr/>
              <a:t>‹#›</a:t>
            </a:fld>
            <a:endParaRPr lang="en-US" b="1" dirty="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pic>
        <p:nvPicPr>
          <p:cNvPr id="18" name="Shape 56">
            <a:extLst>
              <a:ext uri="{FF2B5EF4-FFF2-40B4-BE49-F238E27FC236}">
                <a16:creationId xmlns:a16="http://schemas.microsoft.com/office/drawing/2014/main" id="{ACB01872-4321-4181-A609-1C503C074C10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 t="86739" r="1768" b="3535"/>
          <a:stretch/>
        </p:blipFill>
        <p:spPr>
          <a:xfrm>
            <a:off x="0" y="0"/>
            <a:ext cx="12192000" cy="711201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CD07E8-CBAA-45BA-85CF-1233D4AA8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11200"/>
          </a:xfrm>
          <a:solidFill>
            <a:srgbClr val="C0C0C0">
              <a:alpha val="50000"/>
            </a:srgbClr>
          </a:solidFill>
          <a:ln>
            <a:noFill/>
          </a:ln>
        </p:spPr>
        <p:txBody>
          <a:bodyPr lIns="216000" tIns="108000" rIns="216000" bIns="108000">
            <a:normAutofit/>
          </a:bodyPr>
          <a:lstStyle>
            <a:lvl1pPr>
              <a:defRPr lang="en-US" sz="3400" b="1" kern="1200" dirty="0">
                <a:solidFill>
                  <a:schemeClr val="tx1">
                    <a:lumMod val="90000"/>
                    <a:lumOff val="10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5596C8C-2163-45E8-B709-8118C381771F}"/>
              </a:ext>
            </a:extLst>
          </p:cNvPr>
          <p:cNvCxnSpPr/>
          <p:nvPr userDrawn="1"/>
        </p:nvCxnSpPr>
        <p:spPr>
          <a:xfrm>
            <a:off x="0" y="711201"/>
            <a:ext cx="1219200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86BF578-C91A-4942-95D5-11408C3CCACF}"/>
              </a:ext>
            </a:extLst>
          </p:cNvPr>
          <p:cNvCxnSpPr/>
          <p:nvPr userDrawn="1"/>
        </p:nvCxnSpPr>
        <p:spPr>
          <a:xfrm>
            <a:off x="0" y="6606251"/>
            <a:ext cx="12192000" cy="0"/>
          </a:xfrm>
          <a:prstGeom prst="line">
            <a:avLst/>
          </a:prstGeom>
          <a:ln w="12700">
            <a:solidFill>
              <a:schemeClr val="bg1">
                <a:lumMod val="75000"/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F4971-704E-42EF-A852-52D75741FB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80" y="863444"/>
            <a:ext cx="11929641" cy="5590565"/>
          </a:xfrm>
        </p:spPr>
        <p:txBody>
          <a:bodyPr>
            <a:noAutofit/>
          </a:bodyPr>
          <a:lstStyle>
            <a:lvl1pPr marL="265113" indent="-265113" algn="just">
              <a:lnSpc>
                <a:spcPct val="130000"/>
              </a:lnSpc>
              <a:buClr>
                <a:schemeClr val="accent6"/>
              </a:buClr>
              <a:buFont typeface="Wingdings 3" panose="05040102010807070707" pitchFamily="18" charset="2"/>
              <a:buChar char=""/>
              <a:defRPr sz="2800">
                <a:solidFill>
                  <a:srgbClr val="002060"/>
                </a:solidFill>
              </a:defRPr>
            </a:lvl1pPr>
            <a:lvl2pPr marL="809625" indent="-352425" algn="just">
              <a:lnSpc>
                <a:spcPct val="130000"/>
              </a:lnSpc>
              <a:buClr>
                <a:schemeClr val="accent6"/>
              </a:buClr>
              <a:buFont typeface="Wingdings 3" panose="05040102010807070707" pitchFamily="18" charset="2"/>
              <a:buChar char=""/>
              <a:defRPr sz="2800">
                <a:solidFill>
                  <a:srgbClr val="002060"/>
                </a:solidFill>
              </a:defRPr>
            </a:lvl2pPr>
            <a:lvl3pPr marL="1143000" indent="-228600" algn="just">
              <a:lnSpc>
                <a:spcPct val="130000"/>
              </a:lnSpc>
              <a:buClr>
                <a:schemeClr val="accent6"/>
              </a:buClr>
              <a:buFont typeface="Wingdings" panose="05000000000000000000" pitchFamily="2" charset="2"/>
              <a:buChar char="§"/>
              <a:defRPr sz="2800">
                <a:solidFill>
                  <a:srgbClr val="002060"/>
                </a:solidFill>
              </a:defRPr>
            </a:lvl3pPr>
            <a:lvl4pPr algn="just">
              <a:lnSpc>
                <a:spcPct val="130000"/>
              </a:lnSpc>
              <a:buClr>
                <a:schemeClr val="accent6"/>
              </a:buClr>
              <a:defRPr sz="2800">
                <a:solidFill>
                  <a:srgbClr val="002060"/>
                </a:solidFill>
              </a:defRPr>
            </a:lvl4pPr>
            <a:lvl5pPr algn="just">
              <a:lnSpc>
                <a:spcPct val="130000"/>
              </a:lnSpc>
              <a:buClr>
                <a:schemeClr val="accent6"/>
              </a:buClr>
              <a:defRPr sz="2800">
                <a:solidFill>
                  <a:srgbClr val="00206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CA463A36-7025-4394-9467-8A3EC3425B00}"/>
              </a:ext>
            </a:extLst>
          </p:cNvPr>
          <p:cNvSpPr txBox="1">
            <a:spLocks/>
          </p:cNvSpPr>
          <p:nvPr userDrawn="1"/>
        </p:nvSpPr>
        <p:spPr>
          <a:xfrm>
            <a:off x="838200" y="6604000"/>
            <a:ext cx="2743200" cy="25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kern="1200" dirty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rPr>
              <a:t>Prof. Nishant Khiraiya</a:t>
            </a:r>
          </a:p>
        </p:txBody>
      </p:sp>
      <p:sp>
        <p:nvSpPr>
          <p:cNvPr id="21" name="Footer Placeholder 2">
            <a:extLst>
              <a:ext uri="{FF2B5EF4-FFF2-40B4-BE49-F238E27FC236}">
                <a16:creationId xmlns:a16="http://schemas.microsoft.com/office/drawing/2014/main" id="{BF2BE79E-EA17-4AB9-8CB5-714A52A6B2F5}"/>
              </a:ext>
            </a:extLst>
          </p:cNvPr>
          <p:cNvSpPr txBox="1">
            <a:spLocks/>
          </p:cNvSpPr>
          <p:nvPr userDrawn="1"/>
        </p:nvSpPr>
        <p:spPr>
          <a:xfrm>
            <a:off x="3933652" y="6604000"/>
            <a:ext cx="4324696" cy="25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kern="1200" dirty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rPr>
              <a:t>#2601HS101 (Mathematics – I)   </a:t>
            </a:r>
            <a:r>
              <a:rPr lang="en-US" dirty="0">
                <a:solidFill>
                  <a:schemeClr val="tx1">
                    <a:lumMod val="90000"/>
                    <a:lumOff val="10000"/>
                  </a:schemeClr>
                </a:solidFill>
                <a:latin typeface="Wingdings" panose="05000000000000000000" pitchFamily="2" charset="2"/>
                <a:ea typeface="Roboto Condensed Light" panose="02000000000000000000" pitchFamily="2" charset="0"/>
              </a:rPr>
              <a:t></a:t>
            </a:r>
            <a:r>
              <a:rPr lang="en-US" sz="1200" b="0" kern="1200" dirty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rPr>
              <a:t>   Unit 2 – Vector Space</a:t>
            </a:r>
          </a:p>
        </p:txBody>
      </p:sp>
    </p:spTree>
    <p:extLst>
      <p:ext uri="{BB962C8B-B14F-4D97-AF65-F5344CB8AC3E}">
        <p14:creationId xmlns:p14="http://schemas.microsoft.com/office/powerpoint/2010/main" val="529939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- Logo on B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AE04132C-088A-4457-A3C3-1DC6427585FC}"/>
              </a:ext>
            </a:extLst>
          </p:cNvPr>
          <p:cNvGrpSpPr/>
          <p:nvPr userDrawn="1"/>
        </p:nvGrpSpPr>
        <p:grpSpPr>
          <a:xfrm>
            <a:off x="131179" y="6047527"/>
            <a:ext cx="1339023" cy="407045"/>
            <a:chOff x="10721798" y="852808"/>
            <a:chExt cx="1339023" cy="407045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49C31A0-0173-45C3-B715-F73A797EA64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1798" y="852808"/>
              <a:ext cx="1339022" cy="407045"/>
            </a:xfrm>
            <a:prstGeom prst="rect">
              <a:avLst/>
            </a:prstGeom>
          </p:spPr>
        </p:pic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6EB3A16-1B2C-44F3-A559-3929B9A2E162}"/>
                </a:ext>
              </a:extLst>
            </p:cNvPr>
            <p:cNvSpPr/>
            <p:nvPr userDrawn="1"/>
          </p:nvSpPr>
          <p:spPr>
            <a:xfrm>
              <a:off x="10721799" y="852808"/>
              <a:ext cx="1339022" cy="40704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CD05EDD-7D4D-4F15-B3BB-F4E2E35E1780}"/>
              </a:ext>
            </a:extLst>
          </p:cNvPr>
          <p:cNvSpPr/>
          <p:nvPr userDrawn="1"/>
        </p:nvSpPr>
        <p:spPr>
          <a:xfrm>
            <a:off x="0" y="6604000"/>
            <a:ext cx="12191998" cy="254000"/>
          </a:xfrm>
          <a:prstGeom prst="roundRect">
            <a:avLst>
              <a:gd name="adj" fmla="val 0"/>
            </a:avLst>
          </a:prstGeom>
          <a:solidFill>
            <a:srgbClr val="DFDF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Date Placeholder 1">
            <a:extLst>
              <a:ext uri="{FF2B5EF4-FFF2-40B4-BE49-F238E27FC236}">
                <a16:creationId xmlns:a16="http://schemas.microsoft.com/office/drawing/2014/main" id="{CA463A36-7025-4394-9467-8A3EC3425B00}"/>
              </a:ext>
            </a:extLst>
          </p:cNvPr>
          <p:cNvSpPr txBox="1">
            <a:spLocks/>
          </p:cNvSpPr>
          <p:nvPr userDrawn="1"/>
        </p:nvSpPr>
        <p:spPr>
          <a:xfrm>
            <a:off x="838200" y="6604000"/>
            <a:ext cx="2743200" cy="25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kern="1200" dirty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rPr>
              <a:t>Prof. Nishant Khiraiya</a:t>
            </a:r>
          </a:p>
        </p:txBody>
      </p:sp>
      <p:sp>
        <p:nvSpPr>
          <p:cNvPr id="23" name="Slide Number Placeholder 3">
            <a:extLst>
              <a:ext uri="{FF2B5EF4-FFF2-40B4-BE49-F238E27FC236}">
                <a16:creationId xmlns:a16="http://schemas.microsoft.com/office/drawing/2014/main" id="{FE084249-8DB7-4B0A-AA7A-A1A407FC0773}"/>
              </a:ext>
            </a:extLst>
          </p:cNvPr>
          <p:cNvSpPr txBox="1">
            <a:spLocks/>
          </p:cNvSpPr>
          <p:nvPr userDrawn="1"/>
        </p:nvSpPr>
        <p:spPr>
          <a:xfrm>
            <a:off x="8610600" y="6604000"/>
            <a:ext cx="2743200" cy="25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DF2434F-F1F1-4B15-80AA-A2C3BF057F48}" type="slidenum">
              <a:rPr lang="en-US" b="1" smtClean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</a:rPr>
              <a:pPr/>
              <a:t>‹#›</a:t>
            </a:fld>
            <a:endParaRPr lang="en-US" b="1" dirty="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pic>
        <p:nvPicPr>
          <p:cNvPr id="18" name="Shape 56">
            <a:extLst>
              <a:ext uri="{FF2B5EF4-FFF2-40B4-BE49-F238E27FC236}">
                <a16:creationId xmlns:a16="http://schemas.microsoft.com/office/drawing/2014/main" id="{ACB01872-4321-4181-A609-1C503C074C10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 t="86739" r="1768" b="3535"/>
          <a:stretch/>
        </p:blipFill>
        <p:spPr>
          <a:xfrm>
            <a:off x="0" y="0"/>
            <a:ext cx="12192000" cy="711201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CD07E8-CBAA-45BA-85CF-1233D4AA8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11200"/>
          </a:xfrm>
          <a:solidFill>
            <a:srgbClr val="C0C0C0">
              <a:alpha val="50000"/>
            </a:srgbClr>
          </a:solidFill>
          <a:ln>
            <a:noFill/>
          </a:ln>
        </p:spPr>
        <p:txBody>
          <a:bodyPr lIns="216000" tIns="108000" rIns="216000" bIns="108000">
            <a:normAutofit/>
          </a:bodyPr>
          <a:lstStyle>
            <a:lvl1pPr>
              <a:defRPr lang="en-US" sz="3400" b="1" kern="1200" dirty="0">
                <a:solidFill>
                  <a:schemeClr val="tx1">
                    <a:lumMod val="90000"/>
                    <a:lumOff val="10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5596C8C-2163-45E8-B709-8118C381771F}"/>
              </a:ext>
            </a:extLst>
          </p:cNvPr>
          <p:cNvCxnSpPr/>
          <p:nvPr userDrawn="1"/>
        </p:nvCxnSpPr>
        <p:spPr>
          <a:xfrm>
            <a:off x="0" y="711201"/>
            <a:ext cx="1219200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86BF578-C91A-4942-95D5-11408C3CCACF}"/>
              </a:ext>
            </a:extLst>
          </p:cNvPr>
          <p:cNvCxnSpPr/>
          <p:nvPr userDrawn="1"/>
        </p:nvCxnSpPr>
        <p:spPr>
          <a:xfrm>
            <a:off x="0" y="6606251"/>
            <a:ext cx="12192000" cy="0"/>
          </a:xfrm>
          <a:prstGeom prst="line">
            <a:avLst/>
          </a:prstGeom>
          <a:ln w="12700">
            <a:solidFill>
              <a:schemeClr val="bg1">
                <a:lumMod val="75000"/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F4971-704E-42EF-A852-52D75741FB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80" y="863444"/>
            <a:ext cx="11929641" cy="5590565"/>
          </a:xfrm>
        </p:spPr>
        <p:txBody>
          <a:bodyPr>
            <a:noAutofit/>
          </a:bodyPr>
          <a:lstStyle>
            <a:lvl1pPr marL="265113" indent="-265113" algn="just">
              <a:buClr>
                <a:schemeClr val="accent6"/>
              </a:buClr>
              <a:buFont typeface="Wingdings 3" panose="05040102010807070707" pitchFamily="18" charset="2"/>
              <a:buChar char=""/>
              <a:defRPr sz="2800">
                <a:solidFill>
                  <a:srgbClr val="002060"/>
                </a:solidFill>
              </a:defRPr>
            </a:lvl1pPr>
            <a:lvl2pPr marL="809625" indent="-352425" algn="just">
              <a:buClr>
                <a:schemeClr val="accent6"/>
              </a:buClr>
              <a:buFont typeface="Wingdings 3" panose="05040102010807070707" pitchFamily="18" charset="2"/>
              <a:buChar char=""/>
              <a:defRPr sz="2800">
                <a:solidFill>
                  <a:srgbClr val="002060"/>
                </a:solidFill>
              </a:defRPr>
            </a:lvl2pPr>
            <a:lvl3pPr marL="1143000" indent="-228600" algn="just">
              <a:buClr>
                <a:schemeClr val="accent6"/>
              </a:buClr>
              <a:buFont typeface="Wingdings" panose="05000000000000000000" pitchFamily="2" charset="2"/>
              <a:buChar char="§"/>
              <a:defRPr sz="2800">
                <a:solidFill>
                  <a:srgbClr val="002060"/>
                </a:solidFill>
              </a:defRPr>
            </a:lvl3pPr>
            <a:lvl4pPr algn="just">
              <a:buClr>
                <a:schemeClr val="accent6"/>
              </a:buClr>
              <a:defRPr sz="2800">
                <a:solidFill>
                  <a:srgbClr val="002060"/>
                </a:solidFill>
              </a:defRPr>
            </a:lvl4pPr>
            <a:lvl5pPr algn="just">
              <a:buClr>
                <a:schemeClr val="accent6"/>
              </a:buClr>
              <a:defRPr sz="2800">
                <a:solidFill>
                  <a:srgbClr val="00206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2">
            <a:extLst>
              <a:ext uri="{FF2B5EF4-FFF2-40B4-BE49-F238E27FC236}">
                <a16:creationId xmlns:a16="http://schemas.microsoft.com/office/drawing/2014/main" id="{BF2BE79E-EA17-4AB9-8CB5-714A52A6B2F5}"/>
              </a:ext>
            </a:extLst>
          </p:cNvPr>
          <p:cNvSpPr txBox="1">
            <a:spLocks/>
          </p:cNvSpPr>
          <p:nvPr userDrawn="1"/>
        </p:nvSpPr>
        <p:spPr>
          <a:xfrm>
            <a:off x="3933652" y="6604000"/>
            <a:ext cx="4324696" cy="25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kern="1200" dirty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rPr>
              <a:t>#2601HS101 (Mathematics – I)   </a:t>
            </a:r>
            <a:r>
              <a:rPr lang="en-US" dirty="0">
                <a:solidFill>
                  <a:schemeClr val="tx1">
                    <a:lumMod val="90000"/>
                    <a:lumOff val="10000"/>
                  </a:schemeClr>
                </a:solidFill>
                <a:latin typeface="Wingdings" panose="05000000000000000000" pitchFamily="2" charset="2"/>
                <a:ea typeface="Roboto Condensed Light" panose="02000000000000000000" pitchFamily="2" charset="0"/>
              </a:rPr>
              <a:t></a:t>
            </a:r>
            <a:r>
              <a:rPr lang="en-US" sz="1200" b="0" kern="1200" dirty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rPr>
              <a:t>   Unit 2 – Vector Space</a:t>
            </a:r>
          </a:p>
        </p:txBody>
      </p:sp>
    </p:spTree>
    <p:extLst>
      <p:ext uri="{BB962C8B-B14F-4D97-AF65-F5344CB8AC3E}">
        <p14:creationId xmlns:p14="http://schemas.microsoft.com/office/powerpoint/2010/main" val="3385785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7171932-FFF4-4D27-9425-8CB5D27A92F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581" b="21180"/>
          <a:stretch/>
        </p:blipFill>
        <p:spPr>
          <a:xfrm rot="16200000">
            <a:off x="9807099" y="606901"/>
            <a:ext cx="2991808" cy="177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639DF2A-5426-428D-B32D-78E9191D8A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9646" t="18062" r="2731" b="17724"/>
          <a:stretch/>
        </p:blipFill>
        <p:spPr>
          <a:xfrm>
            <a:off x="0" y="401568"/>
            <a:ext cx="543946" cy="7721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8C6168-C8A4-4660-9D38-045657B80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49" y="2578895"/>
            <a:ext cx="10515600" cy="2852737"/>
          </a:xfrm>
        </p:spPr>
        <p:txBody>
          <a:bodyPr anchor="b">
            <a:normAutofit/>
          </a:bodyPr>
          <a:lstStyle>
            <a:lvl1pPr>
              <a:defRPr lang="en-US" sz="6000" b="1" kern="1200" dirty="0">
                <a:gradFill flip="none" rotWithShape="1">
                  <a:gsLst>
                    <a:gs pos="0">
                      <a:srgbClr val="1D3064"/>
                    </a:gs>
                    <a:gs pos="100000">
                      <a:schemeClr val="tx2"/>
                    </a:gs>
                  </a:gsLst>
                  <a:lin ang="0" scaled="1"/>
                  <a:tileRect/>
                </a:gradFill>
                <a:effectLst/>
                <a:latin typeface="+mn-lt"/>
                <a:ea typeface="+mn-ea"/>
                <a:cs typeface="+mn-cs"/>
              </a:defRPr>
            </a:lvl1pPr>
          </a:lstStyle>
          <a:p>
            <a:r>
              <a:rPr lang="en-US" dirty="0"/>
              <a:t>Write here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6C89DA-344D-4448-822C-2826084EF12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Write here Section Subtitle</a:t>
            </a:r>
          </a:p>
        </p:txBody>
      </p:sp>
      <p:sp>
        <p:nvSpPr>
          <p:cNvPr id="8" name="Freeform 17">
            <a:extLst>
              <a:ext uri="{FF2B5EF4-FFF2-40B4-BE49-F238E27FC236}">
                <a16:creationId xmlns:a16="http://schemas.microsoft.com/office/drawing/2014/main" id="{910DC0DC-3FC7-402D-8C9F-62D3ACC8DC86}"/>
              </a:ext>
            </a:extLst>
          </p:cNvPr>
          <p:cNvSpPr>
            <a:spLocks/>
          </p:cNvSpPr>
          <p:nvPr userDrawn="1"/>
        </p:nvSpPr>
        <p:spPr bwMode="auto">
          <a:xfrm>
            <a:off x="0" y="5905332"/>
            <a:ext cx="1901425" cy="952668"/>
          </a:xfrm>
          <a:custGeom>
            <a:avLst/>
            <a:gdLst>
              <a:gd name="T0" fmla="*/ 2048 w 2048"/>
              <a:gd name="T1" fmla="*/ 1024 h 1024"/>
              <a:gd name="T2" fmla="*/ 0 w 2048"/>
              <a:gd name="T3" fmla="*/ 1024 h 1024"/>
              <a:gd name="T4" fmla="*/ 0 w 2048"/>
              <a:gd name="T5" fmla="*/ 0 h 1024"/>
              <a:gd name="T6" fmla="*/ 2048 w 2048"/>
              <a:gd name="T7" fmla="*/ 1024 h 1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1024">
                <a:moveTo>
                  <a:pt x="2048" y="1024"/>
                </a:moveTo>
                <a:cubicBezTo>
                  <a:pt x="0" y="1024"/>
                  <a:pt x="0" y="1024"/>
                  <a:pt x="0" y="1024"/>
                </a:cubicBezTo>
                <a:cubicBezTo>
                  <a:pt x="0" y="0"/>
                  <a:pt x="0" y="0"/>
                  <a:pt x="0" y="0"/>
                </a:cubicBezTo>
                <a:cubicBezTo>
                  <a:pt x="880" y="66"/>
                  <a:pt x="1621" y="411"/>
                  <a:pt x="2048" y="1024"/>
                </a:cubicBezTo>
                <a:close/>
              </a:path>
            </a:pathLst>
          </a:custGeom>
          <a:gradFill>
            <a:gsLst>
              <a:gs pos="0">
                <a:srgbClr val="1D3064"/>
              </a:gs>
              <a:gs pos="50000">
                <a:srgbClr val="1D3064"/>
              </a:gs>
              <a:gs pos="100000">
                <a:schemeClr val="tx2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04132C-088A-4457-A3C3-1DC6427585FC}"/>
              </a:ext>
            </a:extLst>
          </p:cNvPr>
          <p:cNvGrpSpPr/>
          <p:nvPr userDrawn="1"/>
        </p:nvGrpSpPr>
        <p:grpSpPr>
          <a:xfrm>
            <a:off x="10677938" y="6350844"/>
            <a:ext cx="1339023" cy="407045"/>
            <a:chOff x="10721798" y="852808"/>
            <a:chExt cx="1339023" cy="407045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49C31A0-0173-45C3-B715-F73A797EA64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1798" y="852808"/>
              <a:ext cx="1339022" cy="407045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6EB3A16-1B2C-44F3-A559-3929B9A2E162}"/>
                </a:ext>
              </a:extLst>
            </p:cNvPr>
            <p:cNvSpPr/>
            <p:nvPr userDrawn="1"/>
          </p:nvSpPr>
          <p:spPr>
            <a:xfrm>
              <a:off x="10721799" y="852808"/>
              <a:ext cx="1339022" cy="40704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77903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ck - Logo on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D17CCA1-DDAA-4D6C-AAE4-2ECFF46CFEAB}"/>
              </a:ext>
            </a:extLst>
          </p:cNvPr>
          <p:cNvSpPr/>
          <p:nvPr userDrawn="1"/>
        </p:nvSpPr>
        <p:spPr>
          <a:xfrm>
            <a:off x="0" y="6604000"/>
            <a:ext cx="12191998" cy="254000"/>
          </a:xfrm>
          <a:prstGeom prst="roundRect">
            <a:avLst>
              <a:gd name="adj" fmla="val 0"/>
            </a:avLst>
          </a:prstGeom>
          <a:solidFill>
            <a:srgbClr val="DFDF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Date Placeholder 1">
            <a:extLst>
              <a:ext uri="{FF2B5EF4-FFF2-40B4-BE49-F238E27FC236}">
                <a16:creationId xmlns:a16="http://schemas.microsoft.com/office/drawing/2014/main" id="{F2FD45BD-9964-4102-8DE9-72CDDDD20A49}"/>
              </a:ext>
            </a:extLst>
          </p:cNvPr>
          <p:cNvSpPr txBox="1">
            <a:spLocks/>
          </p:cNvSpPr>
          <p:nvPr userDrawn="1"/>
        </p:nvSpPr>
        <p:spPr>
          <a:xfrm>
            <a:off x="838200" y="6604000"/>
            <a:ext cx="2743200" cy="25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kern="1200" dirty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rPr>
              <a:t>Prof. Nishant Khiraiya</a:t>
            </a:r>
          </a:p>
        </p:txBody>
      </p:sp>
      <p:sp>
        <p:nvSpPr>
          <p:cNvPr id="18" name="Slide Number Placeholder 3">
            <a:extLst>
              <a:ext uri="{FF2B5EF4-FFF2-40B4-BE49-F238E27FC236}">
                <a16:creationId xmlns:a16="http://schemas.microsoft.com/office/drawing/2014/main" id="{32768103-D8F5-4649-8107-E4B3B8C554BB}"/>
              </a:ext>
            </a:extLst>
          </p:cNvPr>
          <p:cNvSpPr txBox="1">
            <a:spLocks/>
          </p:cNvSpPr>
          <p:nvPr userDrawn="1"/>
        </p:nvSpPr>
        <p:spPr>
          <a:xfrm>
            <a:off x="8610600" y="6604000"/>
            <a:ext cx="2743200" cy="25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DF2434F-F1F1-4B15-80AA-A2C3BF057F48}" type="slidenum">
              <a:rPr lang="en-US" b="1" smtClean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</a:rPr>
              <a:pPr/>
              <a:t>‹#›</a:t>
            </a:fld>
            <a:endParaRPr lang="en-US" b="1" dirty="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6C86632-7EFD-4A64-85B1-0CE7D13E0C97}"/>
              </a:ext>
            </a:extLst>
          </p:cNvPr>
          <p:cNvCxnSpPr/>
          <p:nvPr userDrawn="1"/>
        </p:nvCxnSpPr>
        <p:spPr>
          <a:xfrm>
            <a:off x="0" y="6606251"/>
            <a:ext cx="12192000" cy="0"/>
          </a:xfrm>
          <a:prstGeom prst="line">
            <a:avLst/>
          </a:prstGeom>
          <a:ln w="12700">
            <a:solidFill>
              <a:schemeClr val="bg1">
                <a:lumMod val="75000"/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AA5C57A-F840-488A-AACF-E658D398FCEC}"/>
              </a:ext>
            </a:extLst>
          </p:cNvPr>
          <p:cNvGrpSpPr/>
          <p:nvPr userDrawn="1"/>
        </p:nvGrpSpPr>
        <p:grpSpPr>
          <a:xfrm>
            <a:off x="10304203" y="212531"/>
            <a:ext cx="1649043" cy="501287"/>
            <a:chOff x="10721798" y="852808"/>
            <a:chExt cx="1339023" cy="407045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B8F12B0-F30C-4955-8E3F-625C9D2A74C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1798" y="852808"/>
              <a:ext cx="1339022" cy="407045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508BA0B-FE99-4953-98B0-D2708C070068}"/>
                </a:ext>
              </a:extLst>
            </p:cNvPr>
            <p:cNvSpPr/>
            <p:nvPr userDrawn="1"/>
          </p:nvSpPr>
          <p:spPr>
            <a:xfrm>
              <a:off x="10721799" y="852808"/>
              <a:ext cx="1339022" cy="40704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BF2BE79E-EA17-4AB9-8CB5-714A52A6B2F5}"/>
              </a:ext>
            </a:extLst>
          </p:cNvPr>
          <p:cNvSpPr txBox="1">
            <a:spLocks/>
          </p:cNvSpPr>
          <p:nvPr userDrawn="1"/>
        </p:nvSpPr>
        <p:spPr>
          <a:xfrm>
            <a:off x="3933652" y="6604000"/>
            <a:ext cx="4324696" cy="25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kern="1200" dirty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rPr>
              <a:t>#2601HS101 (Mathematics – I)   </a:t>
            </a:r>
            <a:r>
              <a:rPr lang="en-US" dirty="0">
                <a:solidFill>
                  <a:schemeClr val="tx1">
                    <a:lumMod val="90000"/>
                    <a:lumOff val="10000"/>
                  </a:schemeClr>
                </a:solidFill>
                <a:latin typeface="Wingdings" panose="05000000000000000000" pitchFamily="2" charset="2"/>
                <a:ea typeface="Roboto Condensed Light" panose="02000000000000000000" pitchFamily="2" charset="0"/>
              </a:rPr>
              <a:t></a:t>
            </a:r>
            <a:r>
              <a:rPr lang="en-US" sz="1200" b="0" kern="1200" dirty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rPr>
              <a:t>   Unit 2 – Vector Space</a:t>
            </a:r>
          </a:p>
        </p:txBody>
      </p:sp>
    </p:spTree>
    <p:extLst>
      <p:ext uri="{BB962C8B-B14F-4D97-AF65-F5344CB8AC3E}">
        <p14:creationId xmlns:p14="http://schemas.microsoft.com/office/powerpoint/2010/main" val="4185281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ck - Logo on B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D17CCA1-DDAA-4D6C-AAE4-2ECFF46CFEAB}"/>
              </a:ext>
            </a:extLst>
          </p:cNvPr>
          <p:cNvSpPr/>
          <p:nvPr userDrawn="1"/>
        </p:nvSpPr>
        <p:spPr>
          <a:xfrm>
            <a:off x="0" y="6604000"/>
            <a:ext cx="12191998" cy="254000"/>
          </a:xfrm>
          <a:prstGeom prst="roundRect">
            <a:avLst>
              <a:gd name="adj" fmla="val 0"/>
            </a:avLst>
          </a:prstGeom>
          <a:solidFill>
            <a:srgbClr val="DFDF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Date Placeholder 1">
            <a:extLst>
              <a:ext uri="{FF2B5EF4-FFF2-40B4-BE49-F238E27FC236}">
                <a16:creationId xmlns:a16="http://schemas.microsoft.com/office/drawing/2014/main" id="{F2FD45BD-9964-4102-8DE9-72CDDDD20A49}"/>
              </a:ext>
            </a:extLst>
          </p:cNvPr>
          <p:cNvSpPr txBox="1">
            <a:spLocks/>
          </p:cNvSpPr>
          <p:nvPr userDrawn="1"/>
        </p:nvSpPr>
        <p:spPr>
          <a:xfrm>
            <a:off x="838200" y="6604000"/>
            <a:ext cx="2743200" cy="25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kern="1200" dirty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rPr>
              <a:t>Prof. Nishant Khiraiya</a:t>
            </a:r>
          </a:p>
        </p:txBody>
      </p:sp>
      <p:sp>
        <p:nvSpPr>
          <p:cNvPr id="18" name="Slide Number Placeholder 3">
            <a:extLst>
              <a:ext uri="{FF2B5EF4-FFF2-40B4-BE49-F238E27FC236}">
                <a16:creationId xmlns:a16="http://schemas.microsoft.com/office/drawing/2014/main" id="{32768103-D8F5-4649-8107-E4B3B8C554BB}"/>
              </a:ext>
            </a:extLst>
          </p:cNvPr>
          <p:cNvSpPr txBox="1">
            <a:spLocks/>
          </p:cNvSpPr>
          <p:nvPr userDrawn="1"/>
        </p:nvSpPr>
        <p:spPr>
          <a:xfrm>
            <a:off x="8610600" y="6604000"/>
            <a:ext cx="2743200" cy="25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DF2434F-F1F1-4B15-80AA-A2C3BF057F48}" type="slidenum">
              <a:rPr lang="en-US" b="1" smtClean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</a:rPr>
              <a:pPr/>
              <a:t>‹#›</a:t>
            </a:fld>
            <a:endParaRPr lang="en-US" b="1" dirty="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6C86632-7EFD-4A64-85B1-0CE7D13E0C97}"/>
              </a:ext>
            </a:extLst>
          </p:cNvPr>
          <p:cNvCxnSpPr/>
          <p:nvPr userDrawn="1"/>
        </p:nvCxnSpPr>
        <p:spPr>
          <a:xfrm>
            <a:off x="0" y="6606251"/>
            <a:ext cx="12192000" cy="0"/>
          </a:xfrm>
          <a:prstGeom prst="line">
            <a:avLst/>
          </a:prstGeom>
          <a:ln w="12700">
            <a:solidFill>
              <a:schemeClr val="bg1">
                <a:lumMod val="75000"/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FD38B6F-D549-4D28-B5DA-3AF636652084}"/>
              </a:ext>
            </a:extLst>
          </p:cNvPr>
          <p:cNvGrpSpPr/>
          <p:nvPr userDrawn="1"/>
        </p:nvGrpSpPr>
        <p:grpSpPr>
          <a:xfrm>
            <a:off x="10357991" y="5976558"/>
            <a:ext cx="1649043" cy="501287"/>
            <a:chOff x="10721798" y="852808"/>
            <a:chExt cx="1339023" cy="407045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38C9597-8AB6-41B2-8903-FB3D0B47ADD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1798" y="852808"/>
              <a:ext cx="1339022" cy="407045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CB3A116-446D-49CC-96A6-7C8DB2B53F5A}"/>
                </a:ext>
              </a:extLst>
            </p:cNvPr>
            <p:cNvSpPr/>
            <p:nvPr userDrawn="1"/>
          </p:nvSpPr>
          <p:spPr>
            <a:xfrm>
              <a:off x="10721799" y="852808"/>
              <a:ext cx="1339022" cy="40704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BF2BE79E-EA17-4AB9-8CB5-714A52A6B2F5}"/>
              </a:ext>
            </a:extLst>
          </p:cNvPr>
          <p:cNvSpPr txBox="1">
            <a:spLocks/>
          </p:cNvSpPr>
          <p:nvPr userDrawn="1"/>
        </p:nvSpPr>
        <p:spPr>
          <a:xfrm>
            <a:off x="3933652" y="6604000"/>
            <a:ext cx="4324696" cy="25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kern="1200" dirty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rPr>
              <a:t>#2601HS101 (Mathematics – I)   </a:t>
            </a:r>
            <a:r>
              <a:rPr lang="en-US" dirty="0">
                <a:solidFill>
                  <a:schemeClr val="tx1">
                    <a:lumMod val="90000"/>
                    <a:lumOff val="10000"/>
                  </a:schemeClr>
                </a:solidFill>
                <a:latin typeface="Wingdings" panose="05000000000000000000" pitchFamily="2" charset="2"/>
                <a:ea typeface="Roboto Condensed Light" panose="02000000000000000000" pitchFamily="2" charset="0"/>
              </a:rPr>
              <a:t></a:t>
            </a:r>
            <a:r>
              <a:rPr lang="en-US" sz="1200" b="0" kern="1200" dirty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rPr>
              <a:t>   Unit 2 – Vector Space</a:t>
            </a:r>
          </a:p>
        </p:txBody>
      </p:sp>
    </p:spTree>
    <p:extLst>
      <p:ext uri="{BB962C8B-B14F-4D97-AF65-F5344CB8AC3E}">
        <p14:creationId xmlns:p14="http://schemas.microsoft.com/office/powerpoint/2010/main" val="1879831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lete Blan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8FD38B6F-D549-4D28-B5DA-3AF636652084}"/>
              </a:ext>
            </a:extLst>
          </p:cNvPr>
          <p:cNvGrpSpPr/>
          <p:nvPr userDrawn="1"/>
        </p:nvGrpSpPr>
        <p:grpSpPr>
          <a:xfrm>
            <a:off x="131179" y="6000405"/>
            <a:ext cx="1649043" cy="501287"/>
            <a:chOff x="10721798" y="852808"/>
            <a:chExt cx="1339023" cy="407045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538C9597-8AB6-41B2-8903-FB3D0B47ADD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1798" y="852808"/>
              <a:ext cx="1339022" cy="407045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CB3A116-446D-49CC-96A6-7C8DB2B53F5A}"/>
                </a:ext>
              </a:extLst>
            </p:cNvPr>
            <p:cNvSpPr/>
            <p:nvPr userDrawn="1"/>
          </p:nvSpPr>
          <p:spPr>
            <a:xfrm>
              <a:off x="10721799" y="852808"/>
              <a:ext cx="1339022" cy="40704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0" name="Rectangle: Rounded Corners 10">
            <a:extLst>
              <a:ext uri="{FF2B5EF4-FFF2-40B4-BE49-F238E27FC236}">
                <a16:creationId xmlns:a16="http://schemas.microsoft.com/office/drawing/2014/main" id="{5D17CCA1-DDAA-4D6C-AAE4-2ECFF46CFEAB}"/>
              </a:ext>
            </a:extLst>
          </p:cNvPr>
          <p:cNvSpPr/>
          <p:nvPr userDrawn="1"/>
        </p:nvSpPr>
        <p:spPr>
          <a:xfrm>
            <a:off x="0" y="6604000"/>
            <a:ext cx="12191998" cy="254000"/>
          </a:xfrm>
          <a:prstGeom prst="roundRect">
            <a:avLst>
              <a:gd name="adj" fmla="val 0"/>
            </a:avLst>
          </a:prstGeom>
          <a:solidFill>
            <a:srgbClr val="DFDF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: Rounded Corners 10">
            <a:extLst>
              <a:ext uri="{FF2B5EF4-FFF2-40B4-BE49-F238E27FC236}">
                <a16:creationId xmlns:a16="http://schemas.microsoft.com/office/drawing/2014/main" id="{5D17CCA1-DDAA-4D6C-AAE4-2ECFF46CFEAB}"/>
              </a:ext>
            </a:extLst>
          </p:cNvPr>
          <p:cNvSpPr/>
          <p:nvPr userDrawn="1"/>
        </p:nvSpPr>
        <p:spPr>
          <a:xfrm>
            <a:off x="0" y="6604000"/>
            <a:ext cx="12191998" cy="254000"/>
          </a:xfrm>
          <a:prstGeom prst="roundRect">
            <a:avLst>
              <a:gd name="adj" fmla="val 0"/>
            </a:avLst>
          </a:prstGeom>
          <a:solidFill>
            <a:srgbClr val="DFDF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Date Placeholder 1">
            <a:extLst>
              <a:ext uri="{FF2B5EF4-FFF2-40B4-BE49-F238E27FC236}">
                <a16:creationId xmlns:a16="http://schemas.microsoft.com/office/drawing/2014/main" id="{F2FD45BD-9964-4102-8DE9-72CDDDD20A49}"/>
              </a:ext>
            </a:extLst>
          </p:cNvPr>
          <p:cNvSpPr txBox="1">
            <a:spLocks/>
          </p:cNvSpPr>
          <p:nvPr userDrawn="1"/>
        </p:nvSpPr>
        <p:spPr>
          <a:xfrm>
            <a:off x="838200" y="6604000"/>
            <a:ext cx="2743200" cy="25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kern="1200" dirty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rPr>
              <a:t>Prof. Nishant Khiraiya</a:t>
            </a:r>
          </a:p>
        </p:txBody>
      </p:sp>
      <p:sp>
        <p:nvSpPr>
          <p:cNvPr id="24" name="Slide Number Placeholder 3">
            <a:extLst>
              <a:ext uri="{FF2B5EF4-FFF2-40B4-BE49-F238E27FC236}">
                <a16:creationId xmlns:a16="http://schemas.microsoft.com/office/drawing/2014/main" id="{32768103-D8F5-4649-8107-E4B3B8C554BB}"/>
              </a:ext>
            </a:extLst>
          </p:cNvPr>
          <p:cNvSpPr txBox="1">
            <a:spLocks/>
          </p:cNvSpPr>
          <p:nvPr userDrawn="1"/>
        </p:nvSpPr>
        <p:spPr>
          <a:xfrm>
            <a:off x="8610600" y="6604000"/>
            <a:ext cx="2743200" cy="25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DF2434F-F1F1-4B15-80AA-A2C3BF057F48}" type="slidenum">
              <a:rPr lang="en-US" b="1" smtClean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</a:rPr>
              <a:pPr/>
              <a:t>‹#›</a:t>
            </a:fld>
            <a:endParaRPr lang="en-US" b="1" dirty="0">
              <a:solidFill>
                <a:schemeClr val="tx1">
                  <a:lumMod val="90000"/>
                  <a:lumOff val="10000"/>
                </a:schemeClr>
              </a:solidFill>
              <a:latin typeface="+mn-lt"/>
            </a:endParaRPr>
          </a:p>
        </p:txBody>
      </p:sp>
      <p:sp>
        <p:nvSpPr>
          <p:cNvPr id="25" name="Footer Placeholder 2">
            <a:extLst>
              <a:ext uri="{FF2B5EF4-FFF2-40B4-BE49-F238E27FC236}">
                <a16:creationId xmlns:a16="http://schemas.microsoft.com/office/drawing/2014/main" id="{BF2BE79E-EA17-4AB9-8CB5-714A52A6B2F5}"/>
              </a:ext>
            </a:extLst>
          </p:cNvPr>
          <p:cNvSpPr txBox="1">
            <a:spLocks/>
          </p:cNvSpPr>
          <p:nvPr userDrawn="1"/>
        </p:nvSpPr>
        <p:spPr>
          <a:xfrm>
            <a:off x="3933652" y="6604000"/>
            <a:ext cx="4324696" cy="25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kern="1200" dirty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rPr>
              <a:t>#2601HS101 (Mathematics – I)   </a:t>
            </a:r>
            <a:r>
              <a:rPr lang="en-US" dirty="0">
                <a:solidFill>
                  <a:schemeClr val="tx1">
                    <a:lumMod val="90000"/>
                    <a:lumOff val="10000"/>
                  </a:schemeClr>
                </a:solidFill>
                <a:latin typeface="Wingdings" panose="05000000000000000000" pitchFamily="2" charset="2"/>
                <a:ea typeface="Roboto Condensed Light" panose="02000000000000000000" pitchFamily="2" charset="0"/>
              </a:rPr>
              <a:t></a:t>
            </a:r>
            <a:r>
              <a:rPr lang="en-US" sz="1200" b="0" kern="1200" dirty="0"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rPr>
              <a:t>   Unit 2 – Vector Space</a:t>
            </a:r>
          </a:p>
        </p:txBody>
      </p:sp>
    </p:spTree>
    <p:extLst>
      <p:ext uri="{BB962C8B-B14F-4D97-AF65-F5344CB8AC3E}">
        <p14:creationId xmlns:p14="http://schemas.microsoft.com/office/powerpoint/2010/main" val="3620674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lete Blan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4779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mplete Blan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D71C1D1-D056-4C60-9F03-E6291617B71F}"/>
              </a:ext>
            </a:extLst>
          </p:cNvPr>
          <p:cNvSpPr txBox="1"/>
          <p:nvPr userDrawn="1"/>
        </p:nvSpPr>
        <p:spPr>
          <a:xfrm>
            <a:off x="375920" y="457200"/>
            <a:ext cx="418576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How to Crop Circular Photo?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0451329-7800-417A-9D19-D93464C6306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013200" y="1808163"/>
            <a:ext cx="3890962" cy="3890962"/>
          </a:xfrm>
          <a:custGeom>
            <a:avLst/>
            <a:gdLst>
              <a:gd name="connsiteX0" fmla="*/ 1945481 w 3890962"/>
              <a:gd name="connsiteY0" fmla="*/ 0 h 3890962"/>
              <a:gd name="connsiteX1" fmla="*/ 3890962 w 3890962"/>
              <a:gd name="connsiteY1" fmla="*/ 1945481 h 3890962"/>
              <a:gd name="connsiteX2" fmla="*/ 1945481 w 3890962"/>
              <a:gd name="connsiteY2" fmla="*/ 3890962 h 3890962"/>
              <a:gd name="connsiteX3" fmla="*/ 0 w 3890962"/>
              <a:gd name="connsiteY3" fmla="*/ 1945481 h 3890962"/>
              <a:gd name="connsiteX4" fmla="*/ 1945481 w 3890962"/>
              <a:gd name="connsiteY4" fmla="*/ 0 h 389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90962" h="3890962">
                <a:moveTo>
                  <a:pt x="1945481" y="0"/>
                </a:moveTo>
                <a:cubicBezTo>
                  <a:pt x="3019940" y="0"/>
                  <a:pt x="3890962" y="871022"/>
                  <a:pt x="3890962" y="1945481"/>
                </a:cubicBezTo>
                <a:cubicBezTo>
                  <a:pt x="3890962" y="3019940"/>
                  <a:pt x="3019940" y="3890962"/>
                  <a:pt x="1945481" y="3890962"/>
                </a:cubicBezTo>
                <a:cubicBezTo>
                  <a:pt x="871022" y="3890962"/>
                  <a:pt x="0" y="3019940"/>
                  <a:pt x="0" y="1945481"/>
                </a:cubicBezTo>
                <a:cubicBezTo>
                  <a:pt x="0" y="871022"/>
                  <a:pt x="871022" y="0"/>
                  <a:pt x="1945481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87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- Te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292D9CA8-FA74-4E19-A847-B04F90FC15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50" b="2500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A9211E-289E-4822-AE7F-7B95A873EBBD}"/>
              </a:ext>
            </a:extLst>
          </p:cNvPr>
          <p:cNvSpPr txBox="1"/>
          <p:nvPr userDrawn="1"/>
        </p:nvSpPr>
        <p:spPr>
          <a:xfrm>
            <a:off x="1837677" y="5802204"/>
            <a:ext cx="4514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Darshan Institute of Engineering &amp; Technology, Rajkot</a:t>
            </a:r>
          </a:p>
        </p:txBody>
      </p:sp>
      <p:sp>
        <p:nvSpPr>
          <p:cNvPr id="22" name="Freeform 13">
            <a:extLst>
              <a:ext uri="{FF2B5EF4-FFF2-40B4-BE49-F238E27FC236}">
                <a16:creationId xmlns:a16="http://schemas.microsoft.com/office/drawing/2014/main" id="{EB889181-F145-4E62-A282-E5B77978D1F3}"/>
              </a:ext>
            </a:extLst>
          </p:cNvPr>
          <p:cNvSpPr>
            <a:spLocks/>
          </p:cNvSpPr>
          <p:nvPr userDrawn="1"/>
        </p:nvSpPr>
        <p:spPr bwMode="auto">
          <a:xfrm>
            <a:off x="2554514" y="1"/>
            <a:ext cx="5255702" cy="1335004"/>
          </a:xfrm>
          <a:custGeom>
            <a:avLst/>
            <a:gdLst>
              <a:gd name="T0" fmla="*/ 2048 w 2048"/>
              <a:gd name="T1" fmla="*/ 0 h 517"/>
              <a:gd name="T2" fmla="*/ 1934 w 2048"/>
              <a:gd name="T3" fmla="*/ 72 h 517"/>
              <a:gd name="T4" fmla="*/ 0 w 2048"/>
              <a:gd name="T5" fmla="*/ 0 h 517"/>
              <a:gd name="T6" fmla="*/ 2048 w 2048"/>
              <a:gd name="T7" fmla="*/ 0 h 5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517">
                <a:moveTo>
                  <a:pt x="2048" y="0"/>
                </a:moveTo>
                <a:cubicBezTo>
                  <a:pt x="2011" y="25"/>
                  <a:pt x="1973" y="49"/>
                  <a:pt x="1934" y="72"/>
                </a:cubicBezTo>
                <a:cubicBezTo>
                  <a:pt x="1177" y="517"/>
                  <a:pt x="332" y="480"/>
                  <a:pt x="0" y="0"/>
                </a:cubicBezTo>
                <a:lnTo>
                  <a:pt x="2048" y="0"/>
                </a:lnTo>
                <a:close/>
              </a:path>
            </a:pathLst>
          </a:custGeom>
          <a:gradFill>
            <a:gsLst>
              <a:gs pos="10000">
                <a:schemeClr val="accent4">
                  <a:lumMod val="50000"/>
                </a:schemeClr>
              </a:gs>
              <a:gs pos="100000">
                <a:srgbClr val="009788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sp>
        <p:nvSpPr>
          <p:cNvPr id="23" name="Freeform 17">
            <a:extLst>
              <a:ext uri="{FF2B5EF4-FFF2-40B4-BE49-F238E27FC236}">
                <a16:creationId xmlns:a16="http://schemas.microsoft.com/office/drawing/2014/main" id="{5E9DA42E-B221-4BBE-B651-F7171591BCD7}"/>
              </a:ext>
            </a:extLst>
          </p:cNvPr>
          <p:cNvSpPr>
            <a:spLocks/>
          </p:cNvSpPr>
          <p:nvPr userDrawn="1"/>
        </p:nvSpPr>
        <p:spPr bwMode="auto">
          <a:xfrm>
            <a:off x="0" y="5905331"/>
            <a:ext cx="1901425" cy="952668"/>
          </a:xfrm>
          <a:custGeom>
            <a:avLst/>
            <a:gdLst>
              <a:gd name="T0" fmla="*/ 2048 w 2048"/>
              <a:gd name="T1" fmla="*/ 1024 h 1024"/>
              <a:gd name="T2" fmla="*/ 0 w 2048"/>
              <a:gd name="T3" fmla="*/ 1024 h 1024"/>
              <a:gd name="T4" fmla="*/ 0 w 2048"/>
              <a:gd name="T5" fmla="*/ 0 h 1024"/>
              <a:gd name="T6" fmla="*/ 2048 w 2048"/>
              <a:gd name="T7" fmla="*/ 1024 h 1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1024">
                <a:moveTo>
                  <a:pt x="2048" y="1024"/>
                </a:moveTo>
                <a:cubicBezTo>
                  <a:pt x="0" y="1024"/>
                  <a:pt x="0" y="1024"/>
                  <a:pt x="0" y="1024"/>
                </a:cubicBezTo>
                <a:cubicBezTo>
                  <a:pt x="0" y="0"/>
                  <a:pt x="0" y="0"/>
                  <a:pt x="0" y="0"/>
                </a:cubicBezTo>
                <a:cubicBezTo>
                  <a:pt x="880" y="66"/>
                  <a:pt x="1621" y="411"/>
                  <a:pt x="2048" y="1024"/>
                </a:cubicBezTo>
                <a:close/>
              </a:path>
            </a:pathLst>
          </a:custGeom>
          <a:gradFill>
            <a:gsLst>
              <a:gs pos="10000">
                <a:schemeClr val="accent4">
                  <a:lumMod val="50000"/>
                </a:schemeClr>
              </a:gs>
              <a:gs pos="100000">
                <a:srgbClr val="009788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3D6466C-3EE8-434C-B5AB-98205AEEA67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8334" y="4602222"/>
            <a:ext cx="3383666" cy="225577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CAA64A4-91BA-448F-9474-7895F9C6DBD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861" y="2096941"/>
            <a:ext cx="2813885" cy="2119207"/>
          </a:xfrm>
          <a:prstGeom prst="rect">
            <a:avLst/>
          </a:prstGeom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79C5D16-8087-4587-9A0A-A0570C73E0E7}"/>
              </a:ext>
            </a:extLst>
          </p:cNvPr>
          <p:cNvCxnSpPr/>
          <p:nvPr/>
        </p:nvCxnSpPr>
        <p:spPr>
          <a:xfrm>
            <a:off x="1926694" y="6124097"/>
            <a:ext cx="43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73F48F6-739E-4659-B107-DABA716A2F34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559490" y="1122364"/>
            <a:ext cx="7035300" cy="2578780"/>
          </a:xfrm>
        </p:spPr>
        <p:txBody>
          <a:bodyPr wrap="square" anchor="t">
            <a:noAutofit/>
          </a:bodyPr>
          <a:lstStyle>
            <a:lvl1pPr algn="l">
              <a:defRPr lang="en-US" sz="6600" b="1" kern="1200" dirty="0">
                <a:solidFill>
                  <a:schemeClr val="tx1">
                    <a:lumMod val="90000"/>
                    <a:lumOff val="1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Segoe UI Black" panose="020B0A02040204020203" pitchFamily="34" charset="0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812EDA6-C656-492A-A9CA-44B03C63913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232297"/>
            <a:ext cx="182880" cy="1828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27AEF91-6492-4B0C-A844-2296473B58D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505320"/>
            <a:ext cx="182880" cy="182880"/>
          </a:xfrm>
          <a:prstGeom prst="rect">
            <a:avLst/>
          </a:prstGeom>
        </p:spPr>
      </p:pic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28AA7FF-D902-41DB-A12A-45135201E8C2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2180943" y="6175935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Email Address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F1EDDD62-43C6-4DEE-BBD9-CD0004E7EB03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2183874" y="646021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Phone No.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A2C7AAB1-B948-41DB-961F-028BB57DF5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37678" y="553776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Department Name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C96060B2-EF39-4FB2-9CFA-77C6391DCF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37677" y="5273332"/>
            <a:ext cx="5581039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kern="1200" dirty="0">
                <a:gradFill flip="none" rotWithShape="1">
                  <a:gsLst>
                    <a:gs pos="10000">
                      <a:schemeClr val="accent4">
                        <a:lumMod val="50000"/>
                      </a:schemeClr>
                    </a:gs>
                    <a:gs pos="100000">
                      <a:srgbClr val="009788"/>
                    </a:gs>
                  </a:gsLst>
                  <a:lin ang="0" scaled="1"/>
                  <a:tileRect/>
                </a:gra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your Author Name (i.e. Prof. Jay R </a:t>
            </a:r>
            <a:r>
              <a:rPr lang="en-US" dirty="0" err="1"/>
              <a:t>Dhamsaniya</a:t>
            </a:r>
            <a:r>
              <a:rPr lang="en-US" dirty="0"/>
              <a:t>)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34C1356C-E4AA-4B27-A93C-BE84F5D9C6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023" t="18062" r="2731" b="17724"/>
          <a:stretch/>
        </p:blipFill>
        <p:spPr>
          <a:xfrm>
            <a:off x="63248" y="837717"/>
            <a:ext cx="1087893" cy="772151"/>
          </a:xfrm>
          <a:prstGeom prst="rect">
            <a:avLst/>
          </a:prstGeom>
        </p:spPr>
      </p:pic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070A7F06-98AB-45B4-A79D-A6DF8C25DC8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81756" y="20384"/>
            <a:ext cx="4646358" cy="734653"/>
          </a:xfr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Subject Name (Short Name)</a:t>
            </a:r>
          </a:p>
          <a:p>
            <a:pPr lvl="0"/>
            <a:r>
              <a:rPr lang="en-US" dirty="0"/>
              <a:t>GTU # Subject Code</a:t>
            </a:r>
          </a:p>
        </p:txBody>
      </p:sp>
      <p:pic>
        <p:nvPicPr>
          <p:cNvPr id="20" name="Picture 19" descr="User icon Royalty Free Vector Image - VectorStock">
            <a:extLst>
              <a:ext uri="{FF2B5EF4-FFF2-40B4-BE49-F238E27FC236}">
                <a16:creationId xmlns:a16="http://schemas.microsoft.com/office/drawing/2014/main" id="{4A8E0F54-DC01-449D-B951-DC7CBAFD954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30" t="21389" r="26030" b="34222"/>
          <a:stretch>
            <a:fillRect/>
          </a:stretch>
        </p:blipFill>
        <p:spPr bwMode="auto">
          <a:xfrm>
            <a:off x="353568" y="5211250"/>
            <a:ext cx="1353600" cy="1353600"/>
          </a:xfrm>
          <a:custGeom>
            <a:avLst/>
            <a:gdLst>
              <a:gd name="connsiteX0" fmla="*/ 1522095 w 3044190"/>
              <a:gd name="connsiteY0" fmla="*/ 0 h 3044190"/>
              <a:gd name="connsiteX1" fmla="*/ 3044190 w 3044190"/>
              <a:gd name="connsiteY1" fmla="*/ 1522095 h 3044190"/>
              <a:gd name="connsiteX2" fmla="*/ 1522095 w 3044190"/>
              <a:gd name="connsiteY2" fmla="*/ 3044190 h 3044190"/>
              <a:gd name="connsiteX3" fmla="*/ 0 w 3044190"/>
              <a:gd name="connsiteY3" fmla="*/ 1522095 h 3044190"/>
              <a:gd name="connsiteX4" fmla="*/ 1522095 w 3044190"/>
              <a:gd name="connsiteY4" fmla="*/ 0 h 304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190" h="3044190">
                <a:moveTo>
                  <a:pt x="1522095" y="0"/>
                </a:moveTo>
                <a:cubicBezTo>
                  <a:pt x="2362725" y="0"/>
                  <a:pt x="3044190" y="681465"/>
                  <a:pt x="3044190" y="1522095"/>
                </a:cubicBezTo>
                <a:cubicBezTo>
                  <a:pt x="3044190" y="2362725"/>
                  <a:pt x="2362725" y="3044190"/>
                  <a:pt x="1522095" y="3044190"/>
                </a:cubicBezTo>
                <a:cubicBezTo>
                  <a:pt x="681465" y="3044190"/>
                  <a:pt x="0" y="2362725"/>
                  <a:pt x="0" y="1522095"/>
                </a:cubicBezTo>
                <a:cubicBezTo>
                  <a:pt x="0" y="681465"/>
                  <a:pt x="681465" y="0"/>
                  <a:pt x="1522095" y="0"/>
                </a:cubicBezTo>
                <a:close/>
              </a:path>
            </a:pathLst>
          </a:custGeom>
          <a:noFill/>
          <a:ln w="12700"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65D60AFC-04BC-4FCA-A89D-6FCD04B6DC3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3569" y="5211251"/>
            <a:ext cx="1353599" cy="1353599"/>
          </a:xfrm>
          <a:custGeom>
            <a:avLst/>
            <a:gdLst>
              <a:gd name="connsiteX0" fmla="*/ 1945481 w 3890962"/>
              <a:gd name="connsiteY0" fmla="*/ 0 h 3890962"/>
              <a:gd name="connsiteX1" fmla="*/ 3890962 w 3890962"/>
              <a:gd name="connsiteY1" fmla="*/ 1945481 h 3890962"/>
              <a:gd name="connsiteX2" fmla="*/ 1945481 w 3890962"/>
              <a:gd name="connsiteY2" fmla="*/ 3890962 h 3890962"/>
              <a:gd name="connsiteX3" fmla="*/ 0 w 3890962"/>
              <a:gd name="connsiteY3" fmla="*/ 1945481 h 3890962"/>
              <a:gd name="connsiteX4" fmla="*/ 1945481 w 3890962"/>
              <a:gd name="connsiteY4" fmla="*/ 0 h 389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90962" h="3890962">
                <a:moveTo>
                  <a:pt x="1945481" y="0"/>
                </a:moveTo>
                <a:cubicBezTo>
                  <a:pt x="3019940" y="0"/>
                  <a:pt x="3890962" y="871022"/>
                  <a:pt x="3890962" y="1945481"/>
                </a:cubicBezTo>
                <a:cubicBezTo>
                  <a:pt x="3890962" y="3019940"/>
                  <a:pt x="3019940" y="3890962"/>
                  <a:pt x="1945481" y="3890962"/>
                </a:cubicBezTo>
                <a:cubicBezTo>
                  <a:pt x="871022" y="3890962"/>
                  <a:pt x="0" y="3019940"/>
                  <a:pt x="0" y="1945481"/>
                </a:cubicBezTo>
                <a:cubicBezTo>
                  <a:pt x="0" y="871022"/>
                  <a:pt x="871022" y="0"/>
                  <a:pt x="1945481" y="0"/>
                </a:cubicBezTo>
                <a:close/>
              </a:path>
            </a:pathLst>
          </a:custGeom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endParaRPr lang="en-US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65C24A8B-C009-4A74-9481-67BB67CA49B0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249" y="320499"/>
            <a:ext cx="2976891" cy="90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946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- Cy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292D9CA8-FA74-4E19-A847-B04F90FC15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50" b="2500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A9211E-289E-4822-AE7F-7B95A873EBBD}"/>
              </a:ext>
            </a:extLst>
          </p:cNvPr>
          <p:cNvSpPr txBox="1"/>
          <p:nvPr userDrawn="1"/>
        </p:nvSpPr>
        <p:spPr>
          <a:xfrm>
            <a:off x="1837677" y="5802204"/>
            <a:ext cx="4514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Darshan Institute of Engineering &amp; Technology, Rajkot</a:t>
            </a:r>
          </a:p>
        </p:txBody>
      </p:sp>
      <p:sp>
        <p:nvSpPr>
          <p:cNvPr id="22" name="Freeform 13">
            <a:extLst>
              <a:ext uri="{FF2B5EF4-FFF2-40B4-BE49-F238E27FC236}">
                <a16:creationId xmlns:a16="http://schemas.microsoft.com/office/drawing/2014/main" id="{EB889181-F145-4E62-A282-E5B77978D1F3}"/>
              </a:ext>
            </a:extLst>
          </p:cNvPr>
          <p:cNvSpPr>
            <a:spLocks/>
          </p:cNvSpPr>
          <p:nvPr userDrawn="1"/>
        </p:nvSpPr>
        <p:spPr bwMode="auto">
          <a:xfrm>
            <a:off x="2554514" y="1"/>
            <a:ext cx="5255702" cy="1335004"/>
          </a:xfrm>
          <a:custGeom>
            <a:avLst/>
            <a:gdLst>
              <a:gd name="T0" fmla="*/ 2048 w 2048"/>
              <a:gd name="T1" fmla="*/ 0 h 517"/>
              <a:gd name="T2" fmla="*/ 1934 w 2048"/>
              <a:gd name="T3" fmla="*/ 72 h 517"/>
              <a:gd name="T4" fmla="*/ 0 w 2048"/>
              <a:gd name="T5" fmla="*/ 0 h 517"/>
              <a:gd name="T6" fmla="*/ 2048 w 2048"/>
              <a:gd name="T7" fmla="*/ 0 h 5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517">
                <a:moveTo>
                  <a:pt x="2048" y="0"/>
                </a:moveTo>
                <a:cubicBezTo>
                  <a:pt x="2011" y="25"/>
                  <a:pt x="1973" y="49"/>
                  <a:pt x="1934" y="72"/>
                </a:cubicBezTo>
                <a:cubicBezTo>
                  <a:pt x="1177" y="517"/>
                  <a:pt x="332" y="480"/>
                  <a:pt x="0" y="0"/>
                </a:cubicBezTo>
                <a:lnTo>
                  <a:pt x="2048" y="0"/>
                </a:lnTo>
                <a:close/>
              </a:path>
            </a:pathLst>
          </a:custGeom>
          <a:gradFill>
            <a:gsLst>
              <a:gs pos="10000">
                <a:schemeClr val="accent2">
                  <a:lumMod val="50000"/>
                </a:schemeClr>
              </a:gs>
              <a:gs pos="100000">
                <a:schemeClr val="accent2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sp>
        <p:nvSpPr>
          <p:cNvPr id="23" name="Freeform 17">
            <a:extLst>
              <a:ext uri="{FF2B5EF4-FFF2-40B4-BE49-F238E27FC236}">
                <a16:creationId xmlns:a16="http://schemas.microsoft.com/office/drawing/2014/main" id="{5E9DA42E-B221-4BBE-B651-F7171591BCD7}"/>
              </a:ext>
            </a:extLst>
          </p:cNvPr>
          <p:cNvSpPr>
            <a:spLocks/>
          </p:cNvSpPr>
          <p:nvPr userDrawn="1"/>
        </p:nvSpPr>
        <p:spPr bwMode="auto">
          <a:xfrm>
            <a:off x="0" y="5905331"/>
            <a:ext cx="1901425" cy="952668"/>
          </a:xfrm>
          <a:custGeom>
            <a:avLst/>
            <a:gdLst>
              <a:gd name="T0" fmla="*/ 2048 w 2048"/>
              <a:gd name="T1" fmla="*/ 1024 h 1024"/>
              <a:gd name="T2" fmla="*/ 0 w 2048"/>
              <a:gd name="T3" fmla="*/ 1024 h 1024"/>
              <a:gd name="T4" fmla="*/ 0 w 2048"/>
              <a:gd name="T5" fmla="*/ 0 h 1024"/>
              <a:gd name="T6" fmla="*/ 2048 w 2048"/>
              <a:gd name="T7" fmla="*/ 1024 h 1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1024">
                <a:moveTo>
                  <a:pt x="2048" y="1024"/>
                </a:moveTo>
                <a:cubicBezTo>
                  <a:pt x="0" y="1024"/>
                  <a:pt x="0" y="1024"/>
                  <a:pt x="0" y="1024"/>
                </a:cubicBezTo>
                <a:cubicBezTo>
                  <a:pt x="0" y="0"/>
                  <a:pt x="0" y="0"/>
                  <a:pt x="0" y="0"/>
                </a:cubicBezTo>
                <a:cubicBezTo>
                  <a:pt x="880" y="66"/>
                  <a:pt x="1621" y="411"/>
                  <a:pt x="2048" y="1024"/>
                </a:cubicBezTo>
                <a:close/>
              </a:path>
            </a:pathLst>
          </a:custGeom>
          <a:gradFill>
            <a:gsLst>
              <a:gs pos="10000">
                <a:schemeClr val="accent2">
                  <a:lumMod val="50000"/>
                </a:schemeClr>
              </a:gs>
              <a:gs pos="100000">
                <a:schemeClr val="accent2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3D6466C-3EE8-434C-B5AB-98205AEEA67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8334" y="4602222"/>
            <a:ext cx="3383666" cy="225577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CAA64A4-91BA-448F-9474-7895F9C6DBD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861" y="2096941"/>
            <a:ext cx="2813885" cy="2119207"/>
          </a:xfrm>
          <a:prstGeom prst="rect">
            <a:avLst/>
          </a:prstGeom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79C5D16-8087-4587-9A0A-A0570C73E0E7}"/>
              </a:ext>
            </a:extLst>
          </p:cNvPr>
          <p:cNvCxnSpPr/>
          <p:nvPr/>
        </p:nvCxnSpPr>
        <p:spPr>
          <a:xfrm>
            <a:off x="1926694" y="6124097"/>
            <a:ext cx="43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73F48F6-739E-4659-B107-DABA716A2F34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559490" y="1122364"/>
            <a:ext cx="7035300" cy="2578780"/>
          </a:xfrm>
        </p:spPr>
        <p:txBody>
          <a:bodyPr wrap="square" anchor="t">
            <a:noAutofit/>
          </a:bodyPr>
          <a:lstStyle>
            <a:lvl1pPr algn="l">
              <a:defRPr lang="en-US" sz="6600" b="1" kern="1200" dirty="0">
                <a:solidFill>
                  <a:schemeClr val="tx1">
                    <a:lumMod val="90000"/>
                    <a:lumOff val="1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Segoe UI Black" panose="020B0A02040204020203" pitchFamily="34" charset="0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812EDA6-C656-492A-A9CA-44B03C63913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232297"/>
            <a:ext cx="182880" cy="1828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27AEF91-6492-4B0C-A844-2296473B58D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505320"/>
            <a:ext cx="182880" cy="182880"/>
          </a:xfrm>
          <a:prstGeom prst="rect">
            <a:avLst/>
          </a:prstGeom>
        </p:spPr>
      </p:pic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28AA7FF-D902-41DB-A12A-45135201E8C2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2180943" y="6175935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Email Address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F1EDDD62-43C6-4DEE-BBD9-CD0004E7EB03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2183874" y="646021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Phone No.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A2C7AAB1-B948-41DB-961F-028BB57DF5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37678" y="553776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Department Name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C96060B2-EF39-4FB2-9CFA-77C6391DCF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37677" y="5273332"/>
            <a:ext cx="5581039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kern="1200" dirty="0">
                <a:gradFill flip="none" rotWithShape="1">
                  <a:gsLst>
                    <a:gs pos="10000">
                      <a:schemeClr val="accent2">
                        <a:lumMod val="50000"/>
                      </a:schemeClr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your Author Name (i.e. Prof. Jay R </a:t>
            </a:r>
            <a:r>
              <a:rPr lang="en-US" dirty="0" err="1"/>
              <a:t>Dhamsaniya</a:t>
            </a:r>
            <a:r>
              <a:rPr lang="en-US" dirty="0"/>
              <a:t>)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34C1356C-E4AA-4B27-A93C-BE84F5D9C6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023" t="18062" r="2731" b="17724"/>
          <a:stretch/>
        </p:blipFill>
        <p:spPr>
          <a:xfrm>
            <a:off x="63248" y="837717"/>
            <a:ext cx="1087893" cy="772151"/>
          </a:xfrm>
          <a:prstGeom prst="rect">
            <a:avLst/>
          </a:prstGeom>
        </p:spPr>
      </p:pic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070A7F06-98AB-45B4-A79D-A6DF8C25DC8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81756" y="20384"/>
            <a:ext cx="4646358" cy="734653"/>
          </a:xfr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Subject Name (Short Name)</a:t>
            </a:r>
          </a:p>
          <a:p>
            <a:pPr lvl="0"/>
            <a:r>
              <a:rPr lang="en-US" dirty="0"/>
              <a:t>GTU # Subject Code</a:t>
            </a:r>
          </a:p>
        </p:txBody>
      </p:sp>
      <p:pic>
        <p:nvPicPr>
          <p:cNvPr id="30" name="Picture 29" descr="User icon Royalty Free Vector Image - VectorStock">
            <a:extLst>
              <a:ext uri="{FF2B5EF4-FFF2-40B4-BE49-F238E27FC236}">
                <a16:creationId xmlns:a16="http://schemas.microsoft.com/office/drawing/2014/main" id="{5F55812D-505A-4B1A-9EB5-16DCD08F2B8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30" t="21389" r="26030" b="34222"/>
          <a:stretch>
            <a:fillRect/>
          </a:stretch>
        </p:blipFill>
        <p:spPr bwMode="auto">
          <a:xfrm>
            <a:off x="353568" y="5211250"/>
            <a:ext cx="1353600" cy="1353600"/>
          </a:xfrm>
          <a:custGeom>
            <a:avLst/>
            <a:gdLst>
              <a:gd name="connsiteX0" fmla="*/ 1522095 w 3044190"/>
              <a:gd name="connsiteY0" fmla="*/ 0 h 3044190"/>
              <a:gd name="connsiteX1" fmla="*/ 3044190 w 3044190"/>
              <a:gd name="connsiteY1" fmla="*/ 1522095 h 3044190"/>
              <a:gd name="connsiteX2" fmla="*/ 1522095 w 3044190"/>
              <a:gd name="connsiteY2" fmla="*/ 3044190 h 3044190"/>
              <a:gd name="connsiteX3" fmla="*/ 0 w 3044190"/>
              <a:gd name="connsiteY3" fmla="*/ 1522095 h 3044190"/>
              <a:gd name="connsiteX4" fmla="*/ 1522095 w 3044190"/>
              <a:gd name="connsiteY4" fmla="*/ 0 h 304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190" h="3044190">
                <a:moveTo>
                  <a:pt x="1522095" y="0"/>
                </a:moveTo>
                <a:cubicBezTo>
                  <a:pt x="2362725" y="0"/>
                  <a:pt x="3044190" y="681465"/>
                  <a:pt x="3044190" y="1522095"/>
                </a:cubicBezTo>
                <a:cubicBezTo>
                  <a:pt x="3044190" y="2362725"/>
                  <a:pt x="2362725" y="3044190"/>
                  <a:pt x="1522095" y="3044190"/>
                </a:cubicBezTo>
                <a:cubicBezTo>
                  <a:pt x="681465" y="3044190"/>
                  <a:pt x="0" y="2362725"/>
                  <a:pt x="0" y="1522095"/>
                </a:cubicBezTo>
                <a:cubicBezTo>
                  <a:pt x="0" y="681465"/>
                  <a:pt x="681465" y="0"/>
                  <a:pt x="1522095" y="0"/>
                </a:cubicBezTo>
                <a:close/>
              </a:path>
            </a:pathLst>
          </a:custGeom>
          <a:noFill/>
          <a:ln w="12700"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0974588E-8956-4BF5-BF58-B7E42070A56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3569" y="5211251"/>
            <a:ext cx="1353599" cy="1353599"/>
          </a:xfrm>
          <a:custGeom>
            <a:avLst/>
            <a:gdLst>
              <a:gd name="connsiteX0" fmla="*/ 1945481 w 3890962"/>
              <a:gd name="connsiteY0" fmla="*/ 0 h 3890962"/>
              <a:gd name="connsiteX1" fmla="*/ 3890962 w 3890962"/>
              <a:gd name="connsiteY1" fmla="*/ 1945481 h 3890962"/>
              <a:gd name="connsiteX2" fmla="*/ 1945481 w 3890962"/>
              <a:gd name="connsiteY2" fmla="*/ 3890962 h 3890962"/>
              <a:gd name="connsiteX3" fmla="*/ 0 w 3890962"/>
              <a:gd name="connsiteY3" fmla="*/ 1945481 h 3890962"/>
              <a:gd name="connsiteX4" fmla="*/ 1945481 w 3890962"/>
              <a:gd name="connsiteY4" fmla="*/ 0 h 389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90962" h="3890962">
                <a:moveTo>
                  <a:pt x="1945481" y="0"/>
                </a:moveTo>
                <a:cubicBezTo>
                  <a:pt x="3019940" y="0"/>
                  <a:pt x="3890962" y="871022"/>
                  <a:pt x="3890962" y="1945481"/>
                </a:cubicBezTo>
                <a:cubicBezTo>
                  <a:pt x="3890962" y="3019940"/>
                  <a:pt x="3019940" y="3890962"/>
                  <a:pt x="1945481" y="3890962"/>
                </a:cubicBezTo>
                <a:cubicBezTo>
                  <a:pt x="871022" y="3890962"/>
                  <a:pt x="0" y="3019940"/>
                  <a:pt x="0" y="1945481"/>
                </a:cubicBezTo>
                <a:cubicBezTo>
                  <a:pt x="0" y="871022"/>
                  <a:pt x="871022" y="0"/>
                  <a:pt x="1945481" y="0"/>
                </a:cubicBezTo>
                <a:close/>
              </a:path>
            </a:pathLst>
          </a:custGeom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DCFBA18-DBB7-4232-9BDC-C0D95AE93AF0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249" y="320499"/>
            <a:ext cx="2976891" cy="90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7843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- Light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292D9CA8-FA74-4E19-A847-B04F90FC15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50" b="2500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A9211E-289E-4822-AE7F-7B95A873EBBD}"/>
              </a:ext>
            </a:extLst>
          </p:cNvPr>
          <p:cNvSpPr txBox="1"/>
          <p:nvPr userDrawn="1"/>
        </p:nvSpPr>
        <p:spPr>
          <a:xfrm>
            <a:off x="1837677" y="5802204"/>
            <a:ext cx="4514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Darshan Institute of Engineering &amp; Technology, Rajkot</a:t>
            </a:r>
          </a:p>
        </p:txBody>
      </p:sp>
      <p:sp>
        <p:nvSpPr>
          <p:cNvPr id="22" name="Freeform 13">
            <a:extLst>
              <a:ext uri="{FF2B5EF4-FFF2-40B4-BE49-F238E27FC236}">
                <a16:creationId xmlns:a16="http://schemas.microsoft.com/office/drawing/2014/main" id="{EB889181-F145-4E62-A282-E5B77978D1F3}"/>
              </a:ext>
            </a:extLst>
          </p:cNvPr>
          <p:cNvSpPr>
            <a:spLocks/>
          </p:cNvSpPr>
          <p:nvPr userDrawn="1"/>
        </p:nvSpPr>
        <p:spPr bwMode="auto">
          <a:xfrm>
            <a:off x="2554514" y="1"/>
            <a:ext cx="5255702" cy="1335004"/>
          </a:xfrm>
          <a:custGeom>
            <a:avLst/>
            <a:gdLst>
              <a:gd name="T0" fmla="*/ 2048 w 2048"/>
              <a:gd name="T1" fmla="*/ 0 h 517"/>
              <a:gd name="T2" fmla="*/ 1934 w 2048"/>
              <a:gd name="T3" fmla="*/ 72 h 517"/>
              <a:gd name="T4" fmla="*/ 0 w 2048"/>
              <a:gd name="T5" fmla="*/ 0 h 517"/>
              <a:gd name="T6" fmla="*/ 2048 w 2048"/>
              <a:gd name="T7" fmla="*/ 0 h 5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517">
                <a:moveTo>
                  <a:pt x="2048" y="0"/>
                </a:moveTo>
                <a:cubicBezTo>
                  <a:pt x="2011" y="25"/>
                  <a:pt x="1973" y="49"/>
                  <a:pt x="1934" y="72"/>
                </a:cubicBezTo>
                <a:cubicBezTo>
                  <a:pt x="1177" y="517"/>
                  <a:pt x="332" y="480"/>
                  <a:pt x="0" y="0"/>
                </a:cubicBezTo>
                <a:lnTo>
                  <a:pt x="2048" y="0"/>
                </a:lnTo>
                <a:close/>
              </a:path>
            </a:pathLst>
          </a:custGeom>
          <a:gradFill>
            <a:gsLst>
              <a:gs pos="10000">
                <a:schemeClr val="accent3">
                  <a:lumMod val="50000"/>
                </a:schemeClr>
              </a:gs>
              <a:gs pos="100000">
                <a:schemeClr val="accent3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sp>
        <p:nvSpPr>
          <p:cNvPr id="23" name="Freeform 17">
            <a:extLst>
              <a:ext uri="{FF2B5EF4-FFF2-40B4-BE49-F238E27FC236}">
                <a16:creationId xmlns:a16="http://schemas.microsoft.com/office/drawing/2014/main" id="{5E9DA42E-B221-4BBE-B651-F7171591BCD7}"/>
              </a:ext>
            </a:extLst>
          </p:cNvPr>
          <p:cNvSpPr>
            <a:spLocks/>
          </p:cNvSpPr>
          <p:nvPr userDrawn="1"/>
        </p:nvSpPr>
        <p:spPr bwMode="auto">
          <a:xfrm>
            <a:off x="0" y="5905331"/>
            <a:ext cx="1901425" cy="952668"/>
          </a:xfrm>
          <a:custGeom>
            <a:avLst/>
            <a:gdLst>
              <a:gd name="T0" fmla="*/ 2048 w 2048"/>
              <a:gd name="T1" fmla="*/ 1024 h 1024"/>
              <a:gd name="T2" fmla="*/ 0 w 2048"/>
              <a:gd name="T3" fmla="*/ 1024 h 1024"/>
              <a:gd name="T4" fmla="*/ 0 w 2048"/>
              <a:gd name="T5" fmla="*/ 0 h 1024"/>
              <a:gd name="T6" fmla="*/ 2048 w 2048"/>
              <a:gd name="T7" fmla="*/ 1024 h 1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1024">
                <a:moveTo>
                  <a:pt x="2048" y="1024"/>
                </a:moveTo>
                <a:cubicBezTo>
                  <a:pt x="0" y="1024"/>
                  <a:pt x="0" y="1024"/>
                  <a:pt x="0" y="1024"/>
                </a:cubicBezTo>
                <a:cubicBezTo>
                  <a:pt x="0" y="0"/>
                  <a:pt x="0" y="0"/>
                  <a:pt x="0" y="0"/>
                </a:cubicBezTo>
                <a:cubicBezTo>
                  <a:pt x="880" y="66"/>
                  <a:pt x="1621" y="411"/>
                  <a:pt x="2048" y="1024"/>
                </a:cubicBezTo>
                <a:close/>
              </a:path>
            </a:pathLst>
          </a:custGeom>
          <a:gradFill>
            <a:gsLst>
              <a:gs pos="10000">
                <a:schemeClr val="accent3">
                  <a:lumMod val="50000"/>
                </a:schemeClr>
              </a:gs>
              <a:gs pos="100000">
                <a:schemeClr val="accent3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3D6466C-3EE8-434C-B5AB-98205AEEA67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8334" y="4602222"/>
            <a:ext cx="3383666" cy="225577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CAA64A4-91BA-448F-9474-7895F9C6DBD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861" y="2096941"/>
            <a:ext cx="2813885" cy="2119207"/>
          </a:xfrm>
          <a:prstGeom prst="rect">
            <a:avLst/>
          </a:prstGeom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79C5D16-8087-4587-9A0A-A0570C73E0E7}"/>
              </a:ext>
            </a:extLst>
          </p:cNvPr>
          <p:cNvCxnSpPr/>
          <p:nvPr/>
        </p:nvCxnSpPr>
        <p:spPr>
          <a:xfrm>
            <a:off x="1926694" y="6124097"/>
            <a:ext cx="43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73F48F6-739E-4659-B107-DABA716A2F34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559490" y="1122364"/>
            <a:ext cx="7035300" cy="2578780"/>
          </a:xfrm>
        </p:spPr>
        <p:txBody>
          <a:bodyPr wrap="square" anchor="t">
            <a:noAutofit/>
          </a:bodyPr>
          <a:lstStyle>
            <a:lvl1pPr algn="l">
              <a:defRPr lang="en-US" sz="6600" b="1" kern="1200" dirty="0">
                <a:solidFill>
                  <a:schemeClr val="tx1">
                    <a:lumMod val="90000"/>
                    <a:lumOff val="1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Segoe UI Black" panose="020B0A02040204020203" pitchFamily="34" charset="0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812EDA6-C656-492A-A9CA-44B03C63913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232297"/>
            <a:ext cx="182880" cy="1828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27AEF91-6492-4B0C-A844-2296473B58D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505320"/>
            <a:ext cx="182880" cy="182880"/>
          </a:xfrm>
          <a:prstGeom prst="rect">
            <a:avLst/>
          </a:prstGeom>
        </p:spPr>
      </p:pic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28AA7FF-D902-41DB-A12A-45135201E8C2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2180943" y="6175935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Email Address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F1EDDD62-43C6-4DEE-BBD9-CD0004E7EB03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2183874" y="646021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Phone No.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A2C7AAB1-B948-41DB-961F-028BB57DF5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37678" y="553776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Department Name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C96060B2-EF39-4FB2-9CFA-77C6391DCF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37677" y="5273332"/>
            <a:ext cx="5581039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kern="1200" dirty="0">
                <a:gradFill flip="none" rotWithShape="1">
                  <a:gsLst>
                    <a:gs pos="10000">
                      <a:schemeClr val="accent3">
                        <a:lumMod val="50000"/>
                      </a:schemeClr>
                    </a:gs>
                    <a:gs pos="100000">
                      <a:schemeClr val="accent3"/>
                    </a:gs>
                  </a:gsLst>
                  <a:lin ang="0" scaled="1"/>
                  <a:tileRect/>
                </a:gra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your Author Name (i.e. Prof. Jay R </a:t>
            </a:r>
            <a:r>
              <a:rPr lang="en-US" dirty="0" err="1"/>
              <a:t>Dhamsaniya</a:t>
            </a:r>
            <a:r>
              <a:rPr lang="en-US" dirty="0"/>
              <a:t>)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34C1356C-E4AA-4B27-A93C-BE84F5D9C6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023" t="18062" r="2731" b="17724"/>
          <a:stretch/>
        </p:blipFill>
        <p:spPr>
          <a:xfrm>
            <a:off x="63248" y="837717"/>
            <a:ext cx="1087893" cy="772151"/>
          </a:xfrm>
          <a:prstGeom prst="rect">
            <a:avLst/>
          </a:prstGeom>
        </p:spPr>
      </p:pic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070A7F06-98AB-45B4-A79D-A6DF8C25DC8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81756" y="20384"/>
            <a:ext cx="4646358" cy="734653"/>
          </a:xfr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Subject Name (Short Name)</a:t>
            </a:r>
          </a:p>
          <a:p>
            <a:pPr lvl="0"/>
            <a:r>
              <a:rPr lang="en-US" dirty="0"/>
              <a:t>GTU # Subject Code</a:t>
            </a:r>
          </a:p>
        </p:txBody>
      </p:sp>
      <p:pic>
        <p:nvPicPr>
          <p:cNvPr id="21" name="Picture 20" descr="User icon Royalty Free Vector Image - VectorStock">
            <a:extLst>
              <a:ext uri="{FF2B5EF4-FFF2-40B4-BE49-F238E27FC236}">
                <a16:creationId xmlns:a16="http://schemas.microsoft.com/office/drawing/2014/main" id="{AE6570A8-081D-45CE-A0DD-F78F5EDB0F9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30" t="21389" r="26030" b="34222"/>
          <a:stretch>
            <a:fillRect/>
          </a:stretch>
        </p:blipFill>
        <p:spPr bwMode="auto">
          <a:xfrm>
            <a:off x="353568" y="5211250"/>
            <a:ext cx="1353600" cy="1353600"/>
          </a:xfrm>
          <a:custGeom>
            <a:avLst/>
            <a:gdLst>
              <a:gd name="connsiteX0" fmla="*/ 1522095 w 3044190"/>
              <a:gd name="connsiteY0" fmla="*/ 0 h 3044190"/>
              <a:gd name="connsiteX1" fmla="*/ 3044190 w 3044190"/>
              <a:gd name="connsiteY1" fmla="*/ 1522095 h 3044190"/>
              <a:gd name="connsiteX2" fmla="*/ 1522095 w 3044190"/>
              <a:gd name="connsiteY2" fmla="*/ 3044190 h 3044190"/>
              <a:gd name="connsiteX3" fmla="*/ 0 w 3044190"/>
              <a:gd name="connsiteY3" fmla="*/ 1522095 h 3044190"/>
              <a:gd name="connsiteX4" fmla="*/ 1522095 w 3044190"/>
              <a:gd name="connsiteY4" fmla="*/ 0 h 304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190" h="3044190">
                <a:moveTo>
                  <a:pt x="1522095" y="0"/>
                </a:moveTo>
                <a:cubicBezTo>
                  <a:pt x="2362725" y="0"/>
                  <a:pt x="3044190" y="681465"/>
                  <a:pt x="3044190" y="1522095"/>
                </a:cubicBezTo>
                <a:cubicBezTo>
                  <a:pt x="3044190" y="2362725"/>
                  <a:pt x="2362725" y="3044190"/>
                  <a:pt x="1522095" y="3044190"/>
                </a:cubicBezTo>
                <a:cubicBezTo>
                  <a:pt x="681465" y="3044190"/>
                  <a:pt x="0" y="2362725"/>
                  <a:pt x="0" y="1522095"/>
                </a:cubicBezTo>
                <a:cubicBezTo>
                  <a:pt x="0" y="681465"/>
                  <a:pt x="681465" y="0"/>
                  <a:pt x="1522095" y="0"/>
                </a:cubicBezTo>
                <a:close/>
              </a:path>
            </a:pathLst>
          </a:custGeom>
          <a:noFill/>
          <a:ln w="12700"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0B000B32-CB56-440D-9FAE-7DE703A93A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3569" y="5211251"/>
            <a:ext cx="1353599" cy="1353599"/>
          </a:xfrm>
          <a:custGeom>
            <a:avLst/>
            <a:gdLst>
              <a:gd name="connsiteX0" fmla="*/ 1945481 w 3890962"/>
              <a:gd name="connsiteY0" fmla="*/ 0 h 3890962"/>
              <a:gd name="connsiteX1" fmla="*/ 3890962 w 3890962"/>
              <a:gd name="connsiteY1" fmla="*/ 1945481 h 3890962"/>
              <a:gd name="connsiteX2" fmla="*/ 1945481 w 3890962"/>
              <a:gd name="connsiteY2" fmla="*/ 3890962 h 3890962"/>
              <a:gd name="connsiteX3" fmla="*/ 0 w 3890962"/>
              <a:gd name="connsiteY3" fmla="*/ 1945481 h 3890962"/>
              <a:gd name="connsiteX4" fmla="*/ 1945481 w 3890962"/>
              <a:gd name="connsiteY4" fmla="*/ 0 h 389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90962" h="3890962">
                <a:moveTo>
                  <a:pt x="1945481" y="0"/>
                </a:moveTo>
                <a:cubicBezTo>
                  <a:pt x="3019940" y="0"/>
                  <a:pt x="3890962" y="871022"/>
                  <a:pt x="3890962" y="1945481"/>
                </a:cubicBezTo>
                <a:cubicBezTo>
                  <a:pt x="3890962" y="3019940"/>
                  <a:pt x="3019940" y="3890962"/>
                  <a:pt x="1945481" y="3890962"/>
                </a:cubicBezTo>
                <a:cubicBezTo>
                  <a:pt x="871022" y="3890962"/>
                  <a:pt x="0" y="3019940"/>
                  <a:pt x="0" y="1945481"/>
                </a:cubicBezTo>
                <a:cubicBezTo>
                  <a:pt x="0" y="871022"/>
                  <a:pt x="871022" y="0"/>
                  <a:pt x="1945481" y="0"/>
                </a:cubicBezTo>
                <a:close/>
              </a:path>
            </a:pathLst>
          </a:custGeom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endParaRPr lang="en-US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E75AD4F-9BB9-4005-AB78-4A6D388A4CD6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249" y="320499"/>
            <a:ext cx="2976891" cy="90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9577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- A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292D9CA8-FA74-4E19-A847-B04F90FC15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50" b="2500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A9211E-289E-4822-AE7F-7B95A873EBBD}"/>
              </a:ext>
            </a:extLst>
          </p:cNvPr>
          <p:cNvSpPr txBox="1"/>
          <p:nvPr userDrawn="1"/>
        </p:nvSpPr>
        <p:spPr>
          <a:xfrm>
            <a:off x="1837677" y="5802204"/>
            <a:ext cx="4514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Darshan Institute of Engineering &amp; Technology, Rajkot</a:t>
            </a:r>
          </a:p>
        </p:txBody>
      </p:sp>
      <p:sp>
        <p:nvSpPr>
          <p:cNvPr id="22" name="Freeform 13">
            <a:extLst>
              <a:ext uri="{FF2B5EF4-FFF2-40B4-BE49-F238E27FC236}">
                <a16:creationId xmlns:a16="http://schemas.microsoft.com/office/drawing/2014/main" id="{EB889181-F145-4E62-A282-E5B77978D1F3}"/>
              </a:ext>
            </a:extLst>
          </p:cNvPr>
          <p:cNvSpPr>
            <a:spLocks/>
          </p:cNvSpPr>
          <p:nvPr userDrawn="1"/>
        </p:nvSpPr>
        <p:spPr bwMode="auto">
          <a:xfrm>
            <a:off x="2554514" y="1"/>
            <a:ext cx="5255702" cy="1335004"/>
          </a:xfrm>
          <a:custGeom>
            <a:avLst/>
            <a:gdLst>
              <a:gd name="T0" fmla="*/ 2048 w 2048"/>
              <a:gd name="T1" fmla="*/ 0 h 517"/>
              <a:gd name="T2" fmla="*/ 1934 w 2048"/>
              <a:gd name="T3" fmla="*/ 72 h 517"/>
              <a:gd name="T4" fmla="*/ 0 w 2048"/>
              <a:gd name="T5" fmla="*/ 0 h 517"/>
              <a:gd name="T6" fmla="*/ 2048 w 2048"/>
              <a:gd name="T7" fmla="*/ 0 h 5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517">
                <a:moveTo>
                  <a:pt x="2048" y="0"/>
                </a:moveTo>
                <a:cubicBezTo>
                  <a:pt x="2011" y="25"/>
                  <a:pt x="1973" y="49"/>
                  <a:pt x="1934" y="72"/>
                </a:cubicBezTo>
                <a:cubicBezTo>
                  <a:pt x="1177" y="517"/>
                  <a:pt x="332" y="480"/>
                  <a:pt x="0" y="0"/>
                </a:cubicBezTo>
                <a:lnTo>
                  <a:pt x="2048" y="0"/>
                </a:lnTo>
                <a:close/>
              </a:path>
            </a:pathLst>
          </a:custGeom>
          <a:gradFill>
            <a:gsLst>
              <a:gs pos="10000">
                <a:schemeClr val="accent5">
                  <a:lumMod val="50000"/>
                </a:schemeClr>
              </a:gs>
              <a:gs pos="100000">
                <a:schemeClr val="accent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sp>
        <p:nvSpPr>
          <p:cNvPr id="23" name="Freeform 17">
            <a:extLst>
              <a:ext uri="{FF2B5EF4-FFF2-40B4-BE49-F238E27FC236}">
                <a16:creationId xmlns:a16="http://schemas.microsoft.com/office/drawing/2014/main" id="{5E9DA42E-B221-4BBE-B651-F7171591BCD7}"/>
              </a:ext>
            </a:extLst>
          </p:cNvPr>
          <p:cNvSpPr>
            <a:spLocks/>
          </p:cNvSpPr>
          <p:nvPr userDrawn="1"/>
        </p:nvSpPr>
        <p:spPr bwMode="auto">
          <a:xfrm>
            <a:off x="0" y="5905331"/>
            <a:ext cx="1901425" cy="952668"/>
          </a:xfrm>
          <a:custGeom>
            <a:avLst/>
            <a:gdLst>
              <a:gd name="T0" fmla="*/ 2048 w 2048"/>
              <a:gd name="T1" fmla="*/ 1024 h 1024"/>
              <a:gd name="T2" fmla="*/ 0 w 2048"/>
              <a:gd name="T3" fmla="*/ 1024 h 1024"/>
              <a:gd name="T4" fmla="*/ 0 w 2048"/>
              <a:gd name="T5" fmla="*/ 0 h 1024"/>
              <a:gd name="T6" fmla="*/ 2048 w 2048"/>
              <a:gd name="T7" fmla="*/ 1024 h 1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1024">
                <a:moveTo>
                  <a:pt x="2048" y="1024"/>
                </a:moveTo>
                <a:cubicBezTo>
                  <a:pt x="0" y="1024"/>
                  <a:pt x="0" y="1024"/>
                  <a:pt x="0" y="1024"/>
                </a:cubicBezTo>
                <a:cubicBezTo>
                  <a:pt x="0" y="0"/>
                  <a:pt x="0" y="0"/>
                  <a:pt x="0" y="0"/>
                </a:cubicBezTo>
                <a:cubicBezTo>
                  <a:pt x="880" y="66"/>
                  <a:pt x="1621" y="411"/>
                  <a:pt x="2048" y="1024"/>
                </a:cubicBezTo>
                <a:close/>
              </a:path>
            </a:pathLst>
          </a:custGeom>
          <a:gradFill>
            <a:gsLst>
              <a:gs pos="10000">
                <a:schemeClr val="accent5">
                  <a:lumMod val="50000"/>
                </a:schemeClr>
              </a:gs>
              <a:gs pos="100000">
                <a:schemeClr val="accent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3D6466C-3EE8-434C-B5AB-98205AEEA67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8334" y="4602222"/>
            <a:ext cx="3383666" cy="225577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CAA64A4-91BA-448F-9474-7895F9C6DBD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861" y="2096941"/>
            <a:ext cx="2813885" cy="2119207"/>
          </a:xfrm>
          <a:prstGeom prst="rect">
            <a:avLst/>
          </a:prstGeom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79C5D16-8087-4587-9A0A-A0570C73E0E7}"/>
              </a:ext>
            </a:extLst>
          </p:cNvPr>
          <p:cNvCxnSpPr/>
          <p:nvPr/>
        </p:nvCxnSpPr>
        <p:spPr>
          <a:xfrm>
            <a:off x="1926694" y="6124097"/>
            <a:ext cx="43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73F48F6-739E-4659-B107-DABA716A2F34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559490" y="1122364"/>
            <a:ext cx="7035300" cy="2578780"/>
          </a:xfrm>
        </p:spPr>
        <p:txBody>
          <a:bodyPr wrap="square" anchor="t">
            <a:noAutofit/>
          </a:bodyPr>
          <a:lstStyle>
            <a:lvl1pPr algn="l">
              <a:defRPr lang="en-US" sz="6600" b="1" kern="1200" dirty="0">
                <a:solidFill>
                  <a:schemeClr val="tx1">
                    <a:lumMod val="90000"/>
                    <a:lumOff val="1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Segoe UI Black" panose="020B0A02040204020203" pitchFamily="34" charset="0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812EDA6-C656-492A-A9CA-44B03C63913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232297"/>
            <a:ext cx="182880" cy="1828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27AEF91-6492-4B0C-A844-2296473B58D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505320"/>
            <a:ext cx="182880" cy="182880"/>
          </a:xfrm>
          <a:prstGeom prst="rect">
            <a:avLst/>
          </a:prstGeom>
        </p:spPr>
      </p:pic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28AA7FF-D902-41DB-A12A-45135201E8C2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2180943" y="6175935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Email Address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F1EDDD62-43C6-4DEE-BBD9-CD0004E7EB03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2183874" y="646021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Phone No.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A2C7AAB1-B948-41DB-961F-028BB57DF5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37678" y="553776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Department Name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C96060B2-EF39-4FB2-9CFA-77C6391DCF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37677" y="5273332"/>
            <a:ext cx="5581039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kern="1200" dirty="0">
                <a:gradFill flip="none" rotWithShape="1">
                  <a:gsLst>
                    <a:gs pos="10000">
                      <a:schemeClr val="accent5">
                        <a:lumMod val="75000"/>
                      </a:schemeClr>
                    </a:gs>
                    <a:gs pos="100000">
                      <a:schemeClr val="accent5"/>
                    </a:gs>
                  </a:gsLst>
                  <a:lin ang="0" scaled="1"/>
                  <a:tileRect/>
                </a:gra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your Author Name (i.e. Prof. Jay R </a:t>
            </a:r>
            <a:r>
              <a:rPr lang="en-US" dirty="0" err="1"/>
              <a:t>Dhamsaniya</a:t>
            </a:r>
            <a:r>
              <a:rPr lang="en-US" dirty="0"/>
              <a:t>)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34C1356C-E4AA-4B27-A93C-BE84F5D9C6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023" t="18062" r="2731" b="17724"/>
          <a:stretch/>
        </p:blipFill>
        <p:spPr>
          <a:xfrm>
            <a:off x="63248" y="837717"/>
            <a:ext cx="1087893" cy="772151"/>
          </a:xfrm>
          <a:prstGeom prst="rect">
            <a:avLst/>
          </a:prstGeom>
        </p:spPr>
      </p:pic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070A7F06-98AB-45B4-A79D-A6DF8C25DC8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81756" y="20384"/>
            <a:ext cx="4646358" cy="734653"/>
          </a:xfr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Subject Name (Short Name)</a:t>
            </a:r>
          </a:p>
          <a:p>
            <a:pPr lvl="0"/>
            <a:r>
              <a:rPr lang="en-US" dirty="0"/>
              <a:t>GTU # Subject Code</a:t>
            </a:r>
          </a:p>
        </p:txBody>
      </p:sp>
      <p:pic>
        <p:nvPicPr>
          <p:cNvPr id="21" name="Picture 20" descr="User icon Royalty Free Vector Image - VectorStock">
            <a:extLst>
              <a:ext uri="{FF2B5EF4-FFF2-40B4-BE49-F238E27FC236}">
                <a16:creationId xmlns:a16="http://schemas.microsoft.com/office/drawing/2014/main" id="{00C9ED70-1CC8-4EF2-BE10-AAFE24AAC5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30" t="21389" r="26030" b="34222"/>
          <a:stretch>
            <a:fillRect/>
          </a:stretch>
        </p:blipFill>
        <p:spPr bwMode="auto">
          <a:xfrm>
            <a:off x="353568" y="5211250"/>
            <a:ext cx="1353600" cy="1353600"/>
          </a:xfrm>
          <a:custGeom>
            <a:avLst/>
            <a:gdLst>
              <a:gd name="connsiteX0" fmla="*/ 1522095 w 3044190"/>
              <a:gd name="connsiteY0" fmla="*/ 0 h 3044190"/>
              <a:gd name="connsiteX1" fmla="*/ 3044190 w 3044190"/>
              <a:gd name="connsiteY1" fmla="*/ 1522095 h 3044190"/>
              <a:gd name="connsiteX2" fmla="*/ 1522095 w 3044190"/>
              <a:gd name="connsiteY2" fmla="*/ 3044190 h 3044190"/>
              <a:gd name="connsiteX3" fmla="*/ 0 w 3044190"/>
              <a:gd name="connsiteY3" fmla="*/ 1522095 h 3044190"/>
              <a:gd name="connsiteX4" fmla="*/ 1522095 w 3044190"/>
              <a:gd name="connsiteY4" fmla="*/ 0 h 304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190" h="3044190">
                <a:moveTo>
                  <a:pt x="1522095" y="0"/>
                </a:moveTo>
                <a:cubicBezTo>
                  <a:pt x="2362725" y="0"/>
                  <a:pt x="3044190" y="681465"/>
                  <a:pt x="3044190" y="1522095"/>
                </a:cubicBezTo>
                <a:cubicBezTo>
                  <a:pt x="3044190" y="2362725"/>
                  <a:pt x="2362725" y="3044190"/>
                  <a:pt x="1522095" y="3044190"/>
                </a:cubicBezTo>
                <a:cubicBezTo>
                  <a:pt x="681465" y="3044190"/>
                  <a:pt x="0" y="2362725"/>
                  <a:pt x="0" y="1522095"/>
                </a:cubicBezTo>
                <a:cubicBezTo>
                  <a:pt x="0" y="681465"/>
                  <a:pt x="681465" y="0"/>
                  <a:pt x="1522095" y="0"/>
                </a:cubicBezTo>
                <a:close/>
              </a:path>
            </a:pathLst>
          </a:custGeom>
          <a:noFill/>
          <a:ln w="12700"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7FD1CDD6-829C-4C5B-BFB7-74153A66FF2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3569" y="5211251"/>
            <a:ext cx="1353599" cy="1353599"/>
          </a:xfrm>
          <a:custGeom>
            <a:avLst/>
            <a:gdLst>
              <a:gd name="connsiteX0" fmla="*/ 1945481 w 3890962"/>
              <a:gd name="connsiteY0" fmla="*/ 0 h 3890962"/>
              <a:gd name="connsiteX1" fmla="*/ 3890962 w 3890962"/>
              <a:gd name="connsiteY1" fmla="*/ 1945481 h 3890962"/>
              <a:gd name="connsiteX2" fmla="*/ 1945481 w 3890962"/>
              <a:gd name="connsiteY2" fmla="*/ 3890962 h 3890962"/>
              <a:gd name="connsiteX3" fmla="*/ 0 w 3890962"/>
              <a:gd name="connsiteY3" fmla="*/ 1945481 h 3890962"/>
              <a:gd name="connsiteX4" fmla="*/ 1945481 w 3890962"/>
              <a:gd name="connsiteY4" fmla="*/ 0 h 389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90962" h="3890962">
                <a:moveTo>
                  <a:pt x="1945481" y="0"/>
                </a:moveTo>
                <a:cubicBezTo>
                  <a:pt x="3019940" y="0"/>
                  <a:pt x="3890962" y="871022"/>
                  <a:pt x="3890962" y="1945481"/>
                </a:cubicBezTo>
                <a:cubicBezTo>
                  <a:pt x="3890962" y="3019940"/>
                  <a:pt x="3019940" y="3890962"/>
                  <a:pt x="1945481" y="3890962"/>
                </a:cubicBezTo>
                <a:cubicBezTo>
                  <a:pt x="871022" y="3890962"/>
                  <a:pt x="0" y="3019940"/>
                  <a:pt x="0" y="1945481"/>
                </a:cubicBezTo>
                <a:cubicBezTo>
                  <a:pt x="0" y="871022"/>
                  <a:pt x="871022" y="0"/>
                  <a:pt x="1945481" y="0"/>
                </a:cubicBezTo>
                <a:close/>
              </a:path>
            </a:pathLst>
          </a:custGeom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endParaRPr lang="en-US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4964C355-848F-46E4-BB2A-EA2EE69FEBA2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249" y="320499"/>
            <a:ext cx="2976891" cy="90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5936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- Maro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292D9CA8-FA74-4E19-A847-B04F90FC15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50" b="2500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A9211E-289E-4822-AE7F-7B95A873EBBD}"/>
              </a:ext>
            </a:extLst>
          </p:cNvPr>
          <p:cNvSpPr txBox="1"/>
          <p:nvPr userDrawn="1"/>
        </p:nvSpPr>
        <p:spPr>
          <a:xfrm>
            <a:off x="1837677" y="5802204"/>
            <a:ext cx="4514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Darshan Institute of Engineering &amp; Technology, Rajkot</a:t>
            </a:r>
          </a:p>
        </p:txBody>
      </p:sp>
      <p:sp>
        <p:nvSpPr>
          <p:cNvPr id="22" name="Freeform 13">
            <a:extLst>
              <a:ext uri="{FF2B5EF4-FFF2-40B4-BE49-F238E27FC236}">
                <a16:creationId xmlns:a16="http://schemas.microsoft.com/office/drawing/2014/main" id="{EB889181-F145-4E62-A282-E5B77978D1F3}"/>
              </a:ext>
            </a:extLst>
          </p:cNvPr>
          <p:cNvSpPr>
            <a:spLocks/>
          </p:cNvSpPr>
          <p:nvPr userDrawn="1"/>
        </p:nvSpPr>
        <p:spPr bwMode="auto">
          <a:xfrm>
            <a:off x="2554514" y="1"/>
            <a:ext cx="5255702" cy="1335004"/>
          </a:xfrm>
          <a:custGeom>
            <a:avLst/>
            <a:gdLst>
              <a:gd name="T0" fmla="*/ 2048 w 2048"/>
              <a:gd name="T1" fmla="*/ 0 h 517"/>
              <a:gd name="T2" fmla="*/ 1934 w 2048"/>
              <a:gd name="T3" fmla="*/ 72 h 517"/>
              <a:gd name="T4" fmla="*/ 0 w 2048"/>
              <a:gd name="T5" fmla="*/ 0 h 517"/>
              <a:gd name="T6" fmla="*/ 2048 w 2048"/>
              <a:gd name="T7" fmla="*/ 0 h 5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517">
                <a:moveTo>
                  <a:pt x="2048" y="0"/>
                </a:moveTo>
                <a:cubicBezTo>
                  <a:pt x="2011" y="25"/>
                  <a:pt x="1973" y="49"/>
                  <a:pt x="1934" y="72"/>
                </a:cubicBezTo>
                <a:cubicBezTo>
                  <a:pt x="1177" y="517"/>
                  <a:pt x="332" y="480"/>
                  <a:pt x="0" y="0"/>
                </a:cubicBezTo>
                <a:lnTo>
                  <a:pt x="2048" y="0"/>
                </a:lnTo>
                <a:close/>
              </a:path>
            </a:pathLst>
          </a:custGeom>
          <a:gradFill>
            <a:gsLst>
              <a:gs pos="10000">
                <a:schemeClr val="accent6">
                  <a:lumMod val="50000"/>
                </a:schemeClr>
              </a:gs>
              <a:gs pos="100000">
                <a:schemeClr val="accent6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sp>
        <p:nvSpPr>
          <p:cNvPr id="23" name="Freeform 17">
            <a:extLst>
              <a:ext uri="{FF2B5EF4-FFF2-40B4-BE49-F238E27FC236}">
                <a16:creationId xmlns:a16="http://schemas.microsoft.com/office/drawing/2014/main" id="{5E9DA42E-B221-4BBE-B651-F7171591BCD7}"/>
              </a:ext>
            </a:extLst>
          </p:cNvPr>
          <p:cNvSpPr>
            <a:spLocks/>
          </p:cNvSpPr>
          <p:nvPr userDrawn="1"/>
        </p:nvSpPr>
        <p:spPr bwMode="auto">
          <a:xfrm>
            <a:off x="0" y="5905331"/>
            <a:ext cx="1901425" cy="952668"/>
          </a:xfrm>
          <a:custGeom>
            <a:avLst/>
            <a:gdLst>
              <a:gd name="T0" fmla="*/ 2048 w 2048"/>
              <a:gd name="T1" fmla="*/ 1024 h 1024"/>
              <a:gd name="T2" fmla="*/ 0 w 2048"/>
              <a:gd name="T3" fmla="*/ 1024 h 1024"/>
              <a:gd name="T4" fmla="*/ 0 w 2048"/>
              <a:gd name="T5" fmla="*/ 0 h 1024"/>
              <a:gd name="T6" fmla="*/ 2048 w 2048"/>
              <a:gd name="T7" fmla="*/ 1024 h 1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1024">
                <a:moveTo>
                  <a:pt x="2048" y="1024"/>
                </a:moveTo>
                <a:cubicBezTo>
                  <a:pt x="0" y="1024"/>
                  <a:pt x="0" y="1024"/>
                  <a:pt x="0" y="1024"/>
                </a:cubicBezTo>
                <a:cubicBezTo>
                  <a:pt x="0" y="0"/>
                  <a:pt x="0" y="0"/>
                  <a:pt x="0" y="0"/>
                </a:cubicBezTo>
                <a:cubicBezTo>
                  <a:pt x="880" y="66"/>
                  <a:pt x="1621" y="411"/>
                  <a:pt x="2048" y="1024"/>
                </a:cubicBezTo>
                <a:close/>
              </a:path>
            </a:pathLst>
          </a:custGeom>
          <a:gradFill>
            <a:gsLst>
              <a:gs pos="10000">
                <a:schemeClr val="accent6">
                  <a:lumMod val="50000"/>
                </a:schemeClr>
              </a:gs>
              <a:gs pos="100000">
                <a:schemeClr val="accent6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3D6466C-3EE8-434C-B5AB-98205AEEA67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8334" y="4602222"/>
            <a:ext cx="3383666" cy="225577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CAA64A4-91BA-448F-9474-7895F9C6DBD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861" y="2096941"/>
            <a:ext cx="2813885" cy="2119207"/>
          </a:xfrm>
          <a:prstGeom prst="rect">
            <a:avLst/>
          </a:prstGeom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79C5D16-8087-4587-9A0A-A0570C73E0E7}"/>
              </a:ext>
            </a:extLst>
          </p:cNvPr>
          <p:cNvCxnSpPr/>
          <p:nvPr/>
        </p:nvCxnSpPr>
        <p:spPr>
          <a:xfrm>
            <a:off x="1926694" y="6124097"/>
            <a:ext cx="43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73F48F6-739E-4659-B107-DABA716A2F34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559490" y="1122364"/>
            <a:ext cx="7035300" cy="2578780"/>
          </a:xfrm>
        </p:spPr>
        <p:txBody>
          <a:bodyPr wrap="square" anchor="t">
            <a:noAutofit/>
          </a:bodyPr>
          <a:lstStyle>
            <a:lvl1pPr algn="l">
              <a:defRPr lang="en-US" sz="6600" b="1" kern="1200" dirty="0">
                <a:solidFill>
                  <a:schemeClr val="tx1">
                    <a:lumMod val="90000"/>
                    <a:lumOff val="1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Segoe UI Black" panose="020B0A02040204020203" pitchFamily="34" charset="0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812EDA6-C656-492A-A9CA-44B03C63913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232297"/>
            <a:ext cx="182880" cy="1828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27AEF91-6492-4B0C-A844-2296473B58D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505320"/>
            <a:ext cx="182880" cy="182880"/>
          </a:xfrm>
          <a:prstGeom prst="rect">
            <a:avLst/>
          </a:prstGeom>
        </p:spPr>
      </p:pic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28AA7FF-D902-41DB-A12A-45135201E8C2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2180943" y="6175935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Email Address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F1EDDD62-43C6-4DEE-BBD9-CD0004E7EB03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2183874" y="646021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Phone No.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A2C7AAB1-B948-41DB-961F-028BB57DF5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37678" y="553776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Department Name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C96060B2-EF39-4FB2-9CFA-77C6391DCF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37677" y="5273332"/>
            <a:ext cx="5581039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kern="1200" dirty="0">
                <a:gradFill flip="none" rotWithShape="1">
                  <a:gsLst>
                    <a:gs pos="10000">
                      <a:schemeClr val="accent6">
                        <a:lumMod val="50000"/>
                      </a:schemeClr>
                    </a:gs>
                    <a:gs pos="100000">
                      <a:schemeClr val="accent6"/>
                    </a:gs>
                  </a:gsLst>
                  <a:lin ang="0" scaled="1"/>
                  <a:tileRect/>
                </a:gra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your Author Name (i.e. Prof. Jay R </a:t>
            </a:r>
            <a:r>
              <a:rPr lang="en-US" dirty="0" err="1"/>
              <a:t>Dhamsaniya</a:t>
            </a:r>
            <a:r>
              <a:rPr lang="en-US" dirty="0"/>
              <a:t>)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34C1356C-E4AA-4B27-A93C-BE84F5D9C6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023" t="18062" r="2731" b="17724"/>
          <a:stretch/>
        </p:blipFill>
        <p:spPr>
          <a:xfrm>
            <a:off x="63248" y="837717"/>
            <a:ext cx="1087893" cy="772151"/>
          </a:xfrm>
          <a:prstGeom prst="rect">
            <a:avLst/>
          </a:prstGeom>
        </p:spPr>
      </p:pic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070A7F06-98AB-45B4-A79D-A6DF8C25DC8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81756" y="20384"/>
            <a:ext cx="4646358" cy="734653"/>
          </a:xfr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Subject Name (Short Name)</a:t>
            </a:r>
          </a:p>
          <a:p>
            <a:pPr lvl="0"/>
            <a:r>
              <a:rPr lang="en-US" dirty="0"/>
              <a:t>GTU # Subject Code</a:t>
            </a:r>
          </a:p>
        </p:txBody>
      </p:sp>
      <p:pic>
        <p:nvPicPr>
          <p:cNvPr id="21" name="Picture 20" descr="User icon Royalty Free Vector Image - VectorStock">
            <a:extLst>
              <a:ext uri="{FF2B5EF4-FFF2-40B4-BE49-F238E27FC236}">
                <a16:creationId xmlns:a16="http://schemas.microsoft.com/office/drawing/2014/main" id="{80BF4AFD-B365-46D4-AAC5-485DFA5A7D4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30" t="21389" r="26030" b="34222"/>
          <a:stretch>
            <a:fillRect/>
          </a:stretch>
        </p:blipFill>
        <p:spPr bwMode="auto">
          <a:xfrm>
            <a:off x="353568" y="5211250"/>
            <a:ext cx="1353600" cy="1353600"/>
          </a:xfrm>
          <a:custGeom>
            <a:avLst/>
            <a:gdLst>
              <a:gd name="connsiteX0" fmla="*/ 1522095 w 3044190"/>
              <a:gd name="connsiteY0" fmla="*/ 0 h 3044190"/>
              <a:gd name="connsiteX1" fmla="*/ 3044190 w 3044190"/>
              <a:gd name="connsiteY1" fmla="*/ 1522095 h 3044190"/>
              <a:gd name="connsiteX2" fmla="*/ 1522095 w 3044190"/>
              <a:gd name="connsiteY2" fmla="*/ 3044190 h 3044190"/>
              <a:gd name="connsiteX3" fmla="*/ 0 w 3044190"/>
              <a:gd name="connsiteY3" fmla="*/ 1522095 h 3044190"/>
              <a:gd name="connsiteX4" fmla="*/ 1522095 w 3044190"/>
              <a:gd name="connsiteY4" fmla="*/ 0 h 304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190" h="3044190">
                <a:moveTo>
                  <a:pt x="1522095" y="0"/>
                </a:moveTo>
                <a:cubicBezTo>
                  <a:pt x="2362725" y="0"/>
                  <a:pt x="3044190" y="681465"/>
                  <a:pt x="3044190" y="1522095"/>
                </a:cubicBezTo>
                <a:cubicBezTo>
                  <a:pt x="3044190" y="2362725"/>
                  <a:pt x="2362725" y="3044190"/>
                  <a:pt x="1522095" y="3044190"/>
                </a:cubicBezTo>
                <a:cubicBezTo>
                  <a:pt x="681465" y="3044190"/>
                  <a:pt x="0" y="2362725"/>
                  <a:pt x="0" y="1522095"/>
                </a:cubicBezTo>
                <a:cubicBezTo>
                  <a:pt x="0" y="681465"/>
                  <a:pt x="681465" y="0"/>
                  <a:pt x="1522095" y="0"/>
                </a:cubicBezTo>
                <a:close/>
              </a:path>
            </a:pathLst>
          </a:custGeom>
          <a:noFill/>
          <a:ln w="12700"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2BC70C35-8BA7-4D49-9AF7-DC36FAB8FDA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3569" y="5211251"/>
            <a:ext cx="1353599" cy="1353599"/>
          </a:xfrm>
          <a:custGeom>
            <a:avLst/>
            <a:gdLst>
              <a:gd name="connsiteX0" fmla="*/ 1945481 w 3890962"/>
              <a:gd name="connsiteY0" fmla="*/ 0 h 3890962"/>
              <a:gd name="connsiteX1" fmla="*/ 3890962 w 3890962"/>
              <a:gd name="connsiteY1" fmla="*/ 1945481 h 3890962"/>
              <a:gd name="connsiteX2" fmla="*/ 1945481 w 3890962"/>
              <a:gd name="connsiteY2" fmla="*/ 3890962 h 3890962"/>
              <a:gd name="connsiteX3" fmla="*/ 0 w 3890962"/>
              <a:gd name="connsiteY3" fmla="*/ 1945481 h 3890962"/>
              <a:gd name="connsiteX4" fmla="*/ 1945481 w 3890962"/>
              <a:gd name="connsiteY4" fmla="*/ 0 h 389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90962" h="3890962">
                <a:moveTo>
                  <a:pt x="1945481" y="0"/>
                </a:moveTo>
                <a:cubicBezTo>
                  <a:pt x="3019940" y="0"/>
                  <a:pt x="3890962" y="871022"/>
                  <a:pt x="3890962" y="1945481"/>
                </a:cubicBezTo>
                <a:cubicBezTo>
                  <a:pt x="3890962" y="3019940"/>
                  <a:pt x="3019940" y="3890962"/>
                  <a:pt x="1945481" y="3890962"/>
                </a:cubicBezTo>
                <a:cubicBezTo>
                  <a:pt x="871022" y="3890962"/>
                  <a:pt x="0" y="3019940"/>
                  <a:pt x="0" y="1945481"/>
                </a:cubicBezTo>
                <a:cubicBezTo>
                  <a:pt x="0" y="871022"/>
                  <a:pt x="871022" y="0"/>
                  <a:pt x="1945481" y="0"/>
                </a:cubicBezTo>
                <a:close/>
              </a:path>
            </a:pathLst>
          </a:custGeom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endParaRPr lang="en-US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36D56FE-CA91-4481-9096-27448303AC20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249" y="320499"/>
            <a:ext cx="2976891" cy="90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4576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- Blue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292D9CA8-FA74-4E19-A847-B04F90FC15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50" b="2500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A9211E-289E-4822-AE7F-7B95A873EBBD}"/>
              </a:ext>
            </a:extLst>
          </p:cNvPr>
          <p:cNvSpPr txBox="1"/>
          <p:nvPr userDrawn="1"/>
        </p:nvSpPr>
        <p:spPr>
          <a:xfrm>
            <a:off x="1837677" y="5802204"/>
            <a:ext cx="4514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Darshan Institute of Engineering &amp; Technology, Rajkot</a:t>
            </a:r>
          </a:p>
        </p:txBody>
      </p:sp>
      <p:sp>
        <p:nvSpPr>
          <p:cNvPr id="22" name="Freeform 13">
            <a:extLst>
              <a:ext uri="{FF2B5EF4-FFF2-40B4-BE49-F238E27FC236}">
                <a16:creationId xmlns:a16="http://schemas.microsoft.com/office/drawing/2014/main" id="{EB889181-F145-4E62-A282-E5B77978D1F3}"/>
              </a:ext>
            </a:extLst>
          </p:cNvPr>
          <p:cNvSpPr>
            <a:spLocks/>
          </p:cNvSpPr>
          <p:nvPr userDrawn="1"/>
        </p:nvSpPr>
        <p:spPr bwMode="auto">
          <a:xfrm>
            <a:off x="2554514" y="1"/>
            <a:ext cx="5255702" cy="1335004"/>
          </a:xfrm>
          <a:custGeom>
            <a:avLst/>
            <a:gdLst>
              <a:gd name="T0" fmla="*/ 2048 w 2048"/>
              <a:gd name="T1" fmla="*/ 0 h 517"/>
              <a:gd name="T2" fmla="*/ 1934 w 2048"/>
              <a:gd name="T3" fmla="*/ 72 h 517"/>
              <a:gd name="T4" fmla="*/ 0 w 2048"/>
              <a:gd name="T5" fmla="*/ 0 h 517"/>
              <a:gd name="T6" fmla="*/ 2048 w 2048"/>
              <a:gd name="T7" fmla="*/ 0 h 5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517">
                <a:moveTo>
                  <a:pt x="2048" y="0"/>
                </a:moveTo>
                <a:cubicBezTo>
                  <a:pt x="2011" y="25"/>
                  <a:pt x="1973" y="49"/>
                  <a:pt x="1934" y="72"/>
                </a:cubicBezTo>
                <a:cubicBezTo>
                  <a:pt x="1177" y="517"/>
                  <a:pt x="332" y="480"/>
                  <a:pt x="0" y="0"/>
                </a:cubicBezTo>
                <a:lnTo>
                  <a:pt x="2048" y="0"/>
                </a:lnTo>
                <a:close/>
              </a:path>
            </a:pathLst>
          </a:custGeom>
          <a:gradFill>
            <a:gsLst>
              <a:gs pos="10000">
                <a:srgbClr val="273238"/>
              </a:gs>
              <a:gs pos="100000">
                <a:srgbClr val="607D8B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sp>
        <p:nvSpPr>
          <p:cNvPr id="23" name="Freeform 17">
            <a:extLst>
              <a:ext uri="{FF2B5EF4-FFF2-40B4-BE49-F238E27FC236}">
                <a16:creationId xmlns:a16="http://schemas.microsoft.com/office/drawing/2014/main" id="{5E9DA42E-B221-4BBE-B651-F7171591BCD7}"/>
              </a:ext>
            </a:extLst>
          </p:cNvPr>
          <p:cNvSpPr>
            <a:spLocks/>
          </p:cNvSpPr>
          <p:nvPr userDrawn="1"/>
        </p:nvSpPr>
        <p:spPr bwMode="auto">
          <a:xfrm>
            <a:off x="0" y="5905331"/>
            <a:ext cx="1901425" cy="952668"/>
          </a:xfrm>
          <a:custGeom>
            <a:avLst/>
            <a:gdLst>
              <a:gd name="T0" fmla="*/ 2048 w 2048"/>
              <a:gd name="T1" fmla="*/ 1024 h 1024"/>
              <a:gd name="T2" fmla="*/ 0 w 2048"/>
              <a:gd name="T3" fmla="*/ 1024 h 1024"/>
              <a:gd name="T4" fmla="*/ 0 w 2048"/>
              <a:gd name="T5" fmla="*/ 0 h 1024"/>
              <a:gd name="T6" fmla="*/ 2048 w 2048"/>
              <a:gd name="T7" fmla="*/ 1024 h 1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1024">
                <a:moveTo>
                  <a:pt x="2048" y="1024"/>
                </a:moveTo>
                <a:cubicBezTo>
                  <a:pt x="0" y="1024"/>
                  <a:pt x="0" y="1024"/>
                  <a:pt x="0" y="1024"/>
                </a:cubicBezTo>
                <a:cubicBezTo>
                  <a:pt x="0" y="0"/>
                  <a:pt x="0" y="0"/>
                  <a:pt x="0" y="0"/>
                </a:cubicBezTo>
                <a:cubicBezTo>
                  <a:pt x="880" y="66"/>
                  <a:pt x="1621" y="411"/>
                  <a:pt x="2048" y="1024"/>
                </a:cubicBezTo>
                <a:close/>
              </a:path>
            </a:pathLst>
          </a:custGeom>
          <a:gradFill>
            <a:gsLst>
              <a:gs pos="10000">
                <a:srgbClr val="273238"/>
              </a:gs>
              <a:gs pos="100000">
                <a:srgbClr val="607D8B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3D6466C-3EE8-434C-B5AB-98205AEEA67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8334" y="4602222"/>
            <a:ext cx="3383666" cy="225577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CAA64A4-91BA-448F-9474-7895F9C6DBD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861" y="2096941"/>
            <a:ext cx="2813885" cy="2119207"/>
          </a:xfrm>
          <a:prstGeom prst="rect">
            <a:avLst/>
          </a:prstGeom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79C5D16-8087-4587-9A0A-A0570C73E0E7}"/>
              </a:ext>
            </a:extLst>
          </p:cNvPr>
          <p:cNvCxnSpPr/>
          <p:nvPr/>
        </p:nvCxnSpPr>
        <p:spPr>
          <a:xfrm>
            <a:off x="1926694" y="6124097"/>
            <a:ext cx="43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73F48F6-739E-4659-B107-DABA716A2F34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559490" y="1122364"/>
            <a:ext cx="7035300" cy="2578780"/>
          </a:xfrm>
        </p:spPr>
        <p:txBody>
          <a:bodyPr wrap="square" anchor="t">
            <a:noAutofit/>
          </a:bodyPr>
          <a:lstStyle>
            <a:lvl1pPr algn="l">
              <a:defRPr lang="en-US" sz="6600" b="1" kern="1200" dirty="0">
                <a:solidFill>
                  <a:schemeClr val="tx1">
                    <a:lumMod val="90000"/>
                    <a:lumOff val="1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Segoe UI Black" panose="020B0A02040204020203" pitchFamily="34" charset="0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812EDA6-C656-492A-A9CA-44B03C63913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232297"/>
            <a:ext cx="182880" cy="1828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27AEF91-6492-4B0C-A844-2296473B58D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505320"/>
            <a:ext cx="182880" cy="182880"/>
          </a:xfrm>
          <a:prstGeom prst="rect">
            <a:avLst/>
          </a:prstGeom>
        </p:spPr>
      </p:pic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28AA7FF-D902-41DB-A12A-45135201E8C2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2180943" y="6175935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Email Address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F1EDDD62-43C6-4DEE-BBD9-CD0004E7EB03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2183874" y="646021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Phone No.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A2C7AAB1-B948-41DB-961F-028BB57DF5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37678" y="553776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Department Name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C96060B2-EF39-4FB2-9CFA-77C6391DCF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37677" y="5273332"/>
            <a:ext cx="5581039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kern="1200" dirty="0">
                <a:gradFill flip="none" rotWithShape="1">
                  <a:gsLst>
                    <a:gs pos="10000">
                      <a:srgbClr val="273238"/>
                    </a:gs>
                    <a:gs pos="100000">
                      <a:srgbClr val="607D8B"/>
                    </a:gs>
                  </a:gsLst>
                  <a:lin ang="0" scaled="1"/>
                  <a:tileRect/>
                </a:gra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your Author Name (i.e. Prof. Jay R </a:t>
            </a:r>
            <a:r>
              <a:rPr lang="en-US" dirty="0" err="1"/>
              <a:t>Dhamsaniya</a:t>
            </a:r>
            <a:r>
              <a:rPr lang="en-US" dirty="0"/>
              <a:t>)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34C1356C-E4AA-4B27-A93C-BE84F5D9C6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023" t="18062" r="2731" b="17724"/>
          <a:stretch/>
        </p:blipFill>
        <p:spPr>
          <a:xfrm>
            <a:off x="63248" y="837717"/>
            <a:ext cx="1087893" cy="772151"/>
          </a:xfrm>
          <a:prstGeom prst="rect">
            <a:avLst/>
          </a:prstGeom>
        </p:spPr>
      </p:pic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070A7F06-98AB-45B4-A79D-A6DF8C25DC8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81756" y="20384"/>
            <a:ext cx="4646358" cy="734653"/>
          </a:xfr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Subject Name (Short Name)</a:t>
            </a:r>
          </a:p>
          <a:p>
            <a:pPr lvl="0"/>
            <a:r>
              <a:rPr lang="en-US" dirty="0"/>
              <a:t>GTU # Subject Code</a:t>
            </a:r>
          </a:p>
        </p:txBody>
      </p:sp>
      <p:pic>
        <p:nvPicPr>
          <p:cNvPr id="21" name="Picture 20" descr="User icon Royalty Free Vector Image - VectorStock">
            <a:extLst>
              <a:ext uri="{FF2B5EF4-FFF2-40B4-BE49-F238E27FC236}">
                <a16:creationId xmlns:a16="http://schemas.microsoft.com/office/drawing/2014/main" id="{AEB45C91-0DA6-4973-9AEA-FF1388508AC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30" t="21389" r="26030" b="34222"/>
          <a:stretch>
            <a:fillRect/>
          </a:stretch>
        </p:blipFill>
        <p:spPr bwMode="auto">
          <a:xfrm>
            <a:off x="353568" y="5211250"/>
            <a:ext cx="1353600" cy="1353600"/>
          </a:xfrm>
          <a:custGeom>
            <a:avLst/>
            <a:gdLst>
              <a:gd name="connsiteX0" fmla="*/ 1522095 w 3044190"/>
              <a:gd name="connsiteY0" fmla="*/ 0 h 3044190"/>
              <a:gd name="connsiteX1" fmla="*/ 3044190 w 3044190"/>
              <a:gd name="connsiteY1" fmla="*/ 1522095 h 3044190"/>
              <a:gd name="connsiteX2" fmla="*/ 1522095 w 3044190"/>
              <a:gd name="connsiteY2" fmla="*/ 3044190 h 3044190"/>
              <a:gd name="connsiteX3" fmla="*/ 0 w 3044190"/>
              <a:gd name="connsiteY3" fmla="*/ 1522095 h 3044190"/>
              <a:gd name="connsiteX4" fmla="*/ 1522095 w 3044190"/>
              <a:gd name="connsiteY4" fmla="*/ 0 h 304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190" h="3044190">
                <a:moveTo>
                  <a:pt x="1522095" y="0"/>
                </a:moveTo>
                <a:cubicBezTo>
                  <a:pt x="2362725" y="0"/>
                  <a:pt x="3044190" y="681465"/>
                  <a:pt x="3044190" y="1522095"/>
                </a:cubicBezTo>
                <a:cubicBezTo>
                  <a:pt x="3044190" y="2362725"/>
                  <a:pt x="2362725" y="3044190"/>
                  <a:pt x="1522095" y="3044190"/>
                </a:cubicBezTo>
                <a:cubicBezTo>
                  <a:pt x="681465" y="3044190"/>
                  <a:pt x="0" y="2362725"/>
                  <a:pt x="0" y="1522095"/>
                </a:cubicBezTo>
                <a:cubicBezTo>
                  <a:pt x="0" y="681465"/>
                  <a:pt x="681465" y="0"/>
                  <a:pt x="1522095" y="0"/>
                </a:cubicBezTo>
                <a:close/>
              </a:path>
            </a:pathLst>
          </a:custGeom>
          <a:noFill/>
          <a:ln w="12700"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F70CF6D9-DDB4-41AA-BB82-F8ED04AD8BC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3569" y="5211251"/>
            <a:ext cx="1353599" cy="1353599"/>
          </a:xfrm>
          <a:custGeom>
            <a:avLst/>
            <a:gdLst>
              <a:gd name="connsiteX0" fmla="*/ 1945481 w 3890962"/>
              <a:gd name="connsiteY0" fmla="*/ 0 h 3890962"/>
              <a:gd name="connsiteX1" fmla="*/ 3890962 w 3890962"/>
              <a:gd name="connsiteY1" fmla="*/ 1945481 h 3890962"/>
              <a:gd name="connsiteX2" fmla="*/ 1945481 w 3890962"/>
              <a:gd name="connsiteY2" fmla="*/ 3890962 h 3890962"/>
              <a:gd name="connsiteX3" fmla="*/ 0 w 3890962"/>
              <a:gd name="connsiteY3" fmla="*/ 1945481 h 3890962"/>
              <a:gd name="connsiteX4" fmla="*/ 1945481 w 3890962"/>
              <a:gd name="connsiteY4" fmla="*/ 0 h 389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90962" h="3890962">
                <a:moveTo>
                  <a:pt x="1945481" y="0"/>
                </a:moveTo>
                <a:cubicBezTo>
                  <a:pt x="3019940" y="0"/>
                  <a:pt x="3890962" y="871022"/>
                  <a:pt x="3890962" y="1945481"/>
                </a:cubicBezTo>
                <a:cubicBezTo>
                  <a:pt x="3890962" y="3019940"/>
                  <a:pt x="3019940" y="3890962"/>
                  <a:pt x="1945481" y="3890962"/>
                </a:cubicBezTo>
                <a:cubicBezTo>
                  <a:pt x="871022" y="3890962"/>
                  <a:pt x="0" y="3019940"/>
                  <a:pt x="0" y="1945481"/>
                </a:cubicBezTo>
                <a:cubicBezTo>
                  <a:pt x="0" y="871022"/>
                  <a:pt x="871022" y="0"/>
                  <a:pt x="1945481" y="0"/>
                </a:cubicBezTo>
                <a:close/>
              </a:path>
            </a:pathLst>
          </a:custGeom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endParaRPr lang="en-US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A561853C-B15A-4153-A982-7E7EB1213BCE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249" y="320499"/>
            <a:ext cx="2976891" cy="90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101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- Br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292D9CA8-FA74-4E19-A847-B04F90FC15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50" b="2500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A9211E-289E-4822-AE7F-7B95A873EBBD}"/>
              </a:ext>
            </a:extLst>
          </p:cNvPr>
          <p:cNvSpPr txBox="1"/>
          <p:nvPr userDrawn="1"/>
        </p:nvSpPr>
        <p:spPr>
          <a:xfrm>
            <a:off x="1837677" y="5802204"/>
            <a:ext cx="4514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Darshan Institute of Engineering &amp; Technology, Rajkot</a:t>
            </a:r>
          </a:p>
        </p:txBody>
      </p:sp>
      <p:sp>
        <p:nvSpPr>
          <p:cNvPr id="22" name="Freeform 13">
            <a:extLst>
              <a:ext uri="{FF2B5EF4-FFF2-40B4-BE49-F238E27FC236}">
                <a16:creationId xmlns:a16="http://schemas.microsoft.com/office/drawing/2014/main" id="{EB889181-F145-4E62-A282-E5B77978D1F3}"/>
              </a:ext>
            </a:extLst>
          </p:cNvPr>
          <p:cNvSpPr>
            <a:spLocks/>
          </p:cNvSpPr>
          <p:nvPr userDrawn="1"/>
        </p:nvSpPr>
        <p:spPr bwMode="auto">
          <a:xfrm>
            <a:off x="2554514" y="1"/>
            <a:ext cx="5255702" cy="1335004"/>
          </a:xfrm>
          <a:custGeom>
            <a:avLst/>
            <a:gdLst>
              <a:gd name="T0" fmla="*/ 2048 w 2048"/>
              <a:gd name="T1" fmla="*/ 0 h 517"/>
              <a:gd name="T2" fmla="*/ 1934 w 2048"/>
              <a:gd name="T3" fmla="*/ 72 h 517"/>
              <a:gd name="T4" fmla="*/ 0 w 2048"/>
              <a:gd name="T5" fmla="*/ 0 h 517"/>
              <a:gd name="T6" fmla="*/ 2048 w 2048"/>
              <a:gd name="T7" fmla="*/ 0 h 5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517">
                <a:moveTo>
                  <a:pt x="2048" y="0"/>
                </a:moveTo>
                <a:cubicBezTo>
                  <a:pt x="2011" y="25"/>
                  <a:pt x="1973" y="49"/>
                  <a:pt x="1934" y="72"/>
                </a:cubicBezTo>
                <a:cubicBezTo>
                  <a:pt x="1177" y="517"/>
                  <a:pt x="332" y="480"/>
                  <a:pt x="0" y="0"/>
                </a:cubicBezTo>
                <a:lnTo>
                  <a:pt x="2048" y="0"/>
                </a:lnTo>
                <a:close/>
              </a:path>
            </a:pathLst>
          </a:custGeom>
          <a:gradFill>
            <a:gsLst>
              <a:gs pos="10000">
                <a:srgbClr val="3E2622"/>
              </a:gs>
              <a:gs pos="100000">
                <a:srgbClr val="795547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sp>
        <p:nvSpPr>
          <p:cNvPr id="23" name="Freeform 17">
            <a:extLst>
              <a:ext uri="{FF2B5EF4-FFF2-40B4-BE49-F238E27FC236}">
                <a16:creationId xmlns:a16="http://schemas.microsoft.com/office/drawing/2014/main" id="{5E9DA42E-B221-4BBE-B651-F7171591BCD7}"/>
              </a:ext>
            </a:extLst>
          </p:cNvPr>
          <p:cNvSpPr>
            <a:spLocks/>
          </p:cNvSpPr>
          <p:nvPr userDrawn="1"/>
        </p:nvSpPr>
        <p:spPr bwMode="auto">
          <a:xfrm>
            <a:off x="0" y="5905331"/>
            <a:ext cx="1901425" cy="952668"/>
          </a:xfrm>
          <a:custGeom>
            <a:avLst/>
            <a:gdLst>
              <a:gd name="T0" fmla="*/ 2048 w 2048"/>
              <a:gd name="T1" fmla="*/ 1024 h 1024"/>
              <a:gd name="T2" fmla="*/ 0 w 2048"/>
              <a:gd name="T3" fmla="*/ 1024 h 1024"/>
              <a:gd name="T4" fmla="*/ 0 w 2048"/>
              <a:gd name="T5" fmla="*/ 0 h 1024"/>
              <a:gd name="T6" fmla="*/ 2048 w 2048"/>
              <a:gd name="T7" fmla="*/ 1024 h 1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1024">
                <a:moveTo>
                  <a:pt x="2048" y="1024"/>
                </a:moveTo>
                <a:cubicBezTo>
                  <a:pt x="0" y="1024"/>
                  <a:pt x="0" y="1024"/>
                  <a:pt x="0" y="1024"/>
                </a:cubicBezTo>
                <a:cubicBezTo>
                  <a:pt x="0" y="0"/>
                  <a:pt x="0" y="0"/>
                  <a:pt x="0" y="0"/>
                </a:cubicBezTo>
                <a:cubicBezTo>
                  <a:pt x="880" y="66"/>
                  <a:pt x="1621" y="411"/>
                  <a:pt x="2048" y="1024"/>
                </a:cubicBezTo>
                <a:close/>
              </a:path>
            </a:pathLst>
          </a:custGeom>
          <a:gradFill>
            <a:gsLst>
              <a:gs pos="10000">
                <a:srgbClr val="3E2622"/>
              </a:gs>
              <a:gs pos="100000">
                <a:srgbClr val="795547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3D6466C-3EE8-434C-B5AB-98205AEEA67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8334" y="4602222"/>
            <a:ext cx="3383666" cy="225577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CAA64A4-91BA-448F-9474-7895F9C6DBD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861" y="2096941"/>
            <a:ext cx="2813885" cy="2119207"/>
          </a:xfrm>
          <a:prstGeom prst="rect">
            <a:avLst/>
          </a:prstGeom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79C5D16-8087-4587-9A0A-A0570C73E0E7}"/>
              </a:ext>
            </a:extLst>
          </p:cNvPr>
          <p:cNvCxnSpPr/>
          <p:nvPr/>
        </p:nvCxnSpPr>
        <p:spPr>
          <a:xfrm>
            <a:off x="1926694" y="6124097"/>
            <a:ext cx="43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73F48F6-739E-4659-B107-DABA716A2F34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559490" y="1122364"/>
            <a:ext cx="7035300" cy="2578780"/>
          </a:xfrm>
        </p:spPr>
        <p:txBody>
          <a:bodyPr wrap="square" anchor="t">
            <a:noAutofit/>
          </a:bodyPr>
          <a:lstStyle>
            <a:lvl1pPr algn="l">
              <a:defRPr lang="en-US" sz="6600" b="1" kern="1200" dirty="0">
                <a:solidFill>
                  <a:schemeClr val="tx1">
                    <a:lumMod val="90000"/>
                    <a:lumOff val="1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Segoe UI Black" panose="020B0A02040204020203" pitchFamily="34" charset="0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812EDA6-C656-492A-A9CA-44B03C63913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232297"/>
            <a:ext cx="182880" cy="1828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27AEF91-6492-4B0C-A844-2296473B58D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505320"/>
            <a:ext cx="182880" cy="182880"/>
          </a:xfrm>
          <a:prstGeom prst="rect">
            <a:avLst/>
          </a:prstGeom>
        </p:spPr>
      </p:pic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28AA7FF-D902-41DB-A12A-45135201E8C2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2180943" y="6175935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Email Address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F1EDDD62-43C6-4DEE-BBD9-CD0004E7EB03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2183874" y="646021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Phone No.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A2C7AAB1-B948-41DB-961F-028BB57DF5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37678" y="553776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Department Name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C96060B2-EF39-4FB2-9CFA-77C6391DCF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37677" y="5273332"/>
            <a:ext cx="5581039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kern="1200" dirty="0">
                <a:gradFill flip="none" rotWithShape="1">
                  <a:gsLst>
                    <a:gs pos="10000">
                      <a:srgbClr val="3E2622"/>
                    </a:gs>
                    <a:gs pos="100000">
                      <a:srgbClr val="795547"/>
                    </a:gs>
                  </a:gsLst>
                  <a:lin ang="0" scaled="1"/>
                  <a:tileRect/>
                </a:gra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your Author Name (i.e. Prof. Jay R </a:t>
            </a:r>
            <a:r>
              <a:rPr lang="en-US" dirty="0" err="1"/>
              <a:t>Dhamsaniya</a:t>
            </a:r>
            <a:r>
              <a:rPr lang="en-US" dirty="0"/>
              <a:t>)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34C1356C-E4AA-4B27-A93C-BE84F5D9C6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023" t="18062" r="2731" b="17724"/>
          <a:stretch/>
        </p:blipFill>
        <p:spPr>
          <a:xfrm>
            <a:off x="63248" y="837717"/>
            <a:ext cx="1087893" cy="772151"/>
          </a:xfrm>
          <a:prstGeom prst="rect">
            <a:avLst/>
          </a:prstGeom>
        </p:spPr>
      </p:pic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070A7F06-98AB-45B4-A79D-A6DF8C25DC8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81756" y="20384"/>
            <a:ext cx="4646358" cy="734653"/>
          </a:xfr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Subject Name (Short Name)</a:t>
            </a:r>
          </a:p>
          <a:p>
            <a:pPr lvl="0"/>
            <a:r>
              <a:rPr lang="en-US" dirty="0"/>
              <a:t>GTU # Subject Code</a:t>
            </a:r>
          </a:p>
        </p:txBody>
      </p:sp>
      <p:pic>
        <p:nvPicPr>
          <p:cNvPr id="21" name="Picture 20" descr="User icon Royalty Free Vector Image - VectorStock">
            <a:extLst>
              <a:ext uri="{FF2B5EF4-FFF2-40B4-BE49-F238E27FC236}">
                <a16:creationId xmlns:a16="http://schemas.microsoft.com/office/drawing/2014/main" id="{7E386D9D-B92A-4F40-9089-A1FD00CD387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30" t="21389" r="26030" b="34222"/>
          <a:stretch>
            <a:fillRect/>
          </a:stretch>
        </p:blipFill>
        <p:spPr bwMode="auto">
          <a:xfrm>
            <a:off x="353568" y="5211250"/>
            <a:ext cx="1353600" cy="1353600"/>
          </a:xfrm>
          <a:custGeom>
            <a:avLst/>
            <a:gdLst>
              <a:gd name="connsiteX0" fmla="*/ 1522095 w 3044190"/>
              <a:gd name="connsiteY0" fmla="*/ 0 h 3044190"/>
              <a:gd name="connsiteX1" fmla="*/ 3044190 w 3044190"/>
              <a:gd name="connsiteY1" fmla="*/ 1522095 h 3044190"/>
              <a:gd name="connsiteX2" fmla="*/ 1522095 w 3044190"/>
              <a:gd name="connsiteY2" fmla="*/ 3044190 h 3044190"/>
              <a:gd name="connsiteX3" fmla="*/ 0 w 3044190"/>
              <a:gd name="connsiteY3" fmla="*/ 1522095 h 3044190"/>
              <a:gd name="connsiteX4" fmla="*/ 1522095 w 3044190"/>
              <a:gd name="connsiteY4" fmla="*/ 0 h 304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190" h="3044190">
                <a:moveTo>
                  <a:pt x="1522095" y="0"/>
                </a:moveTo>
                <a:cubicBezTo>
                  <a:pt x="2362725" y="0"/>
                  <a:pt x="3044190" y="681465"/>
                  <a:pt x="3044190" y="1522095"/>
                </a:cubicBezTo>
                <a:cubicBezTo>
                  <a:pt x="3044190" y="2362725"/>
                  <a:pt x="2362725" y="3044190"/>
                  <a:pt x="1522095" y="3044190"/>
                </a:cubicBezTo>
                <a:cubicBezTo>
                  <a:pt x="681465" y="3044190"/>
                  <a:pt x="0" y="2362725"/>
                  <a:pt x="0" y="1522095"/>
                </a:cubicBezTo>
                <a:cubicBezTo>
                  <a:pt x="0" y="681465"/>
                  <a:pt x="681465" y="0"/>
                  <a:pt x="1522095" y="0"/>
                </a:cubicBezTo>
                <a:close/>
              </a:path>
            </a:pathLst>
          </a:custGeom>
          <a:noFill/>
          <a:ln w="12700"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DA295F85-D43D-42E5-9539-A471116A43B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3569" y="5211251"/>
            <a:ext cx="1353599" cy="1353599"/>
          </a:xfrm>
          <a:custGeom>
            <a:avLst/>
            <a:gdLst>
              <a:gd name="connsiteX0" fmla="*/ 1945481 w 3890962"/>
              <a:gd name="connsiteY0" fmla="*/ 0 h 3890962"/>
              <a:gd name="connsiteX1" fmla="*/ 3890962 w 3890962"/>
              <a:gd name="connsiteY1" fmla="*/ 1945481 h 3890962"/>
              <a:gd name="connsiteX2" fmla="*/ 1945481 w 3890962"/>
              <a:gd name="connsiteY2" fmla="*/ 3890962 h 3890962"/>
              <a:gd name="connsiteX3" fmla="*/ 0 w 3890962"/>
              <a:gd name="connsiteY3" fmla="*/ 1945481 h 3890962"/>
              <a:gd name="connsiteX4" fmla="*/ 1945481 w 3890962"/>
              <a:gd name="connsiteY4" fmla="*/ 0 h 389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90962" h="3890962">
                <a:moveTo>
                  <a:pt x="1945481" y="0"/>
                </a:moveTo>
                <a:cubicBezTo>
                  <a:pt x="3019940" y="0"/>
                  <a:pt x="3890962" y="871022"/>
                  <a:pt x="3890962" y="1945481"/>
                </a:cubicBezTo>
                <a:cubicBezTo>
                  <a:pt x="3890962" y="3019940"/>
                  <a:pt x="3019940" y="3890962"/>
                  <a:pt x="1945481" y="3890962"/>
                </a:cubicBezTo>
                <a:cubicBezTo>
                  <a:pt x="871022" y="3890962"/>
                  <a:pt x="0" y="3019940"/>
                  <a:pt x="0" y="1945481"/>
                </a:cubicBezTo>
                <a:cubicBezTo>
                  <a:pt x="0" y="871022"/>
                  <a:pt x="871022" y="0"/>
                  <a:pt x="1945481" y="0"/>
                </a:cubicBezTo>
                <a:close/>
              </a:path>
            </a:pathLst>
          </a:custGeom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endParaRPr lang="en-US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976521A-C815-4A64-A047-CE405ED0E59A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249" y="320499"/>
            <a:ext cx="2976891" cy="90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4997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- Deep Pu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292D9CA8-FA74-4E19-A847-B04F90FC15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50" b="2500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A9211E-289E-4822-AE7F-7B95A873EBBD}"/>
              </a:ext>
            </a:extLst>
          </p:cNvPr>
          <p:cNvSpPr txBox="1"/>
          <p:nvPr userDrawn="1"/>
        </p:nvSpPr>
        <p:spPr>
          <a:xfrm>
            <a:off x="1837677" y="5802204"/>
            <a:ext cx="4514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Darshan Institute of Engineering &amp; Technology, Rajkot</a:t>
            </a:r>
          </a:p>
        </p:txBody>
      </p:sp>
      <p:sp>
        <p:nvSpPr>
          <p:cNvPr id="22" name="Freeform 13">
            <a:extLst>
              <a:ext uri="{FF2B5EF4-FFF2-40B4-BE49-F238E27FC236}">
                <a16:creationId xmlns:a16="http://schemas.microsoft.com/office/drawing/2014/main" id="{EB889181-F145-4E62-A282-E5B77978D1F3}"/>
              </a:ext>
            </a:extLst>
          </p:cNvPr>
          <p:cNvSpPr>
            <a:spLocks/>
          </p:cNvSpPr>
          <p:nvPr userDrawn="1"/>
        </p:nvSpPr>
        <p:spPr bwMode="auto">
          <a:xfrm>
            <a:off x="2554514" y="1"/>
            <a:ext cx="5255702" cy="1335004"/>
          </a:xfrm>
          <a:custGeom>
            <a:avLst/>
            <a:gdLst>
              <a:gd name="T0" fmla="*/ 2048 w 2048"/>
              <a:gd name="T1" fmla="*/ 0 h 517"/>
              <a:gd name="T2" fmla="*/ 1934 w 2048"/>
              <a:gd name="T3" fmla="*/ 72 h 517"/>
              <a:gd name="T4" fmla="*/ 0 w 2048"/>
              <a:gd name="T5" fmla="*/ 0 h 517"/>
              <a:gd name="T6" fmla="*/ 2048 w 2048"/>
              <a:gd name="T7" fmla="*/ 0 h 5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517">
                <a:moveTo>
                  <a:pt x="2048" y="0"/>
                </a:moveTo>
                <a:cubicBezTo>
                  <a:pt x="2011" y="25"/>
                  <a:pt x="1973" y="49"/>
                  <a:pt x="1934" y="72"/>
                </a:cubicBezTo>
                <a:cubicBezTo>
                  <a:pt x="1177" y="517"/>
                  <a:pt x="332" y="480"/>
                  <a:pt x="0" y="0"/>
                </a:cubicBezTo>
                <a:lnTo>
                  <a:pt x="2048" y="0"/>
                </a:lnTo>
                <a:close/>
              </a:path>
            </a:pathLst>
          </a:custGeom>
          <a:gradFill>
            <a:gsLst>
              <a:gs pos="10000">
                <a:srgbClr val="301B92"/>
              </a:gs>
              <a:gs pos="100000">
                <a:srgbClr val="673BB7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sp>
        <p:nvSpPr>
          <p:cNvPr id="23" name="Freeform 17">
            <a:extLst>
              <a:ext uri="{FF2B5EF4-FFF2-40B4-BE49-F238E27FC236}">
                <a16:creationId xmlns:a16="http://schemas.microsoft.com/office/drawing/2014/main" id="{5E9DA42E-B221-4BBE-B651-F7171591BCD7}"/>
              </a:ext>
            </a:extLst>
          </p:cNvPr>
          <p:cNvSpPr>
            <a:spLocks/>
          </p:cNvSpPr>
          <p:nvPr userDrawn="1"/>
        </p:nvSpPr>
        <p:spPr bwMode="auto">
          <a:xfrm>
            <a:off x="0" y="5905331"/>
            <a:ext cx="1901425" cy="952668"/>
          </a:xfrm>
          <a:custGeom>
            <a:avLst/>
            <a:gdLst>
              <a:gd name="T0" fmla="*/ 2048 w 2048"/>
              <a:gd name="T1" fmla="*/ 1024 h 1024"/>
              <a:gd name="T2" fmla="*/ 0 w 2048"/>
              <a:gd name="T3" fmla="*/ 1024 h 1024"/>
              <a:gd name="T4" fmla="*/ 0 w 2048"/>
              <a:gd name="T5" fmla="*/ 0 h 1024"/>
              <a:gd name="T6" fmla="*/ 2048 w 2048"/>
              <a:gd name="T7" fmla="*/ 1024 h 1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1024">
                <a:moveTo>
                  <a:pt x="2048" y="1024"/>
                </a:moveTo>
                <a:cubicBezTo>
                  <a:pt x="0" y="1024"/>
                  <a:pt x="0" y="1024"/>
                  <a:pt x="0" y="1024"/>
                </a:cubicBezTo>
                <a:cubicBezTo>
                  <a:pt x="0" y="0"/>
                  <a:pt x="0" y="0"/>
                  <a:pt x="0" y="0"/>
                </a:cubicBezTo>
                <a:cubicBezTo>
                  <a:pt x="880" y="66"/>
                  <a:pt x="1621" y="411"/>
                  <a:pt x="2048" y="1024"/>
                </a:cubicBezTo>
                <a:close/>
              </a:path>
            </a:pathLst>
          </a:custGeom>
          <a:gradFill>
            <a:gsLst>
              <a:gs pos="10000">
                <a:srgbClr val="301B92"/>
              </a:gs>
              <a:gs pos="100000">
                <a:srgbClr val="673BB7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3D6466C-3EE8-434C-B5AB-98205AEEA67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8334" y="4602222"/>
            <a:ext cx="3383666" cy="225577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CAA64A4-91BA-448F-9474-7895F9C6DBD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861" y="2096941"/>
            <a:ext cx="2813885" cy="2119207"/>
          </a:xfrm>
          <a:prstGeom prst="rect">
            <a:avLst/>
          </a:prstGeom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79C5D16-8087-4587-9A0A-A0570C73E0E7}"/>
              </a:ext>
            </a:extLst>
          </p:cNvPr>
          <p:cNvCxnSpPr/>
          <p:nvPr/>
        </p:nvCxnSpPr>
        <p:spPr>
          <a:xfrm>
            <a:off x="1926694" y="6124097"/>
            <a:ext cx="43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73F48F6-739E-4659-B107-DABA716A2F34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559490" y="1122364"/>
            <a:ext cx="7035300" cy="2578780"/>
          </a:xfrm>
        </p:spPr>
        <p:txBody>
          <a:bodyPr wrap="square" anchor="t">
            <a:noAutofit/>
          </a:bodyPr>
          <a:lstStyle>
            <a:lvl1pPr algn="l">
              <a:defRPr lang="en-US" sz="6600" b="1" kern="1200" dirty="0">
                <a:solidFill>
                  <a:schemeClr val="tx1">
                    <a:lumMod val="90000"/>
                    <a:lumOff val="1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Segoe UI Black" panose="020B0A02040204020203" pitchFamily="34" charset="0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812EDA6-C656-492A-A9CA-44B03C63913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232297"/>
            <a:ext cx="182880" cy="1828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27AEF91-6492-4B0C-A844-2296473B58D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505320"/>
            <a:ext cx="182880" cy="182880"/>
          </a:xfrm>
          <a:prstGeom prst="rect">
            <a:avLst/>
          </a:prstGeom>
        </p:spPr>
      </p:pic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28AA7FF-D902-41DB-A12A-45135201E8C2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2180943" y="6175935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Email Address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F1EDDD62-43C6-4DEE-BBD9-CD0004E7EB03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2183874" y="646021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Phone No.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A2C7AAB1-B948-41DB-961F-028BB57DF5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37678" y="553776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Department Name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C96060B2-EF39-4FB2-9CFA-77C6391DCF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37677" y="5273332"/>
            <a:ext cx="5581039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kern="1200" dirty="0">
                <a:gradFill flip="none" rotWithShape="1">
                  <a:gsLst>
                    <a:gs pos="10000">
                      <a:srgbClr val="301B92"/>
                    </a:gs>
                    <a:gs pos="100000">
                      <a:srgbClr val="673BB7"/>
                    </a:gs>
                  </a:gsLst>
                  <a:lin ang="0" scaled="1"/>
                  <a:tileRect/>
                </a:gra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your Author Name (i.e. Prof. Jay R </a:t>
            </a:r>
            <a:r>
              <a:rPr lang="en-US" dirty="0" err="1"/>
              <a:t>Dhamsaniya</a:t>
            </a:r>
            <a:r>
              <a:rPr lang="en-US" dirty="0"/>
              <a:t>)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34C1356C-E4AA-4B27-A93C-BE84F5D9C6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023" t="18062" r="2731" b="17724"/>
          <a:stretch/>
        </p:blipFill>
        <p:spPr>
          <a:xfrm>
            <a:off x="63248" y="837717"/>
            <a:ext cx="1087893" cy="772151"/>
          </a:xfrm>
          <a:prstGeom prst="rect">
            <a:avLst/>
          </a:prstGeom>
        </p:spPr>
      </p:pic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070A7F06-98AB-45B4-A79D-A6DF8C25DC8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81756" y="20384"/>
            <a:ext cx="4646358" cy="734653"/>
          </a:xfr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Subject Name (Short Name)</a:t>
            </a:r>
          </a:p>
          <a:p>
            <a:pPr lvl="0"/>
            <a:r>
              <a:rPr lang="en-US" dirty="0"/>
              <a:t>GTU # Subject Code</a:t>
            </a:r>
          </a:p>
        </p:txBody>
      </p:sp>
      <p:pic>
        <p:nvPicPr>
          <p:cNvPr id="21" name="Picture 20" descr="User icon Royalty Free Vector Image - VectorStock">
            <a:extLst>
              <a:ext uri="{FF2B5EF4-FFF2-40B4-BE49-F238E27FC236}">
                <a16:creationId xmlns:a16="http://schemas.microsoft.com/office/drawing/2014/main" id="{BE300026-40E8-4FB1-998A-9CEB5F7A1B8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30" t="21389" r="26030" b="34222"/>
          <a:stretch>
            <a:fillRect/>
          </a:stretch>
        </p:blipFill>
        <p:spPr bwMode="auto">
          <a:xfrm>
            <a:off x="353568" y="5211250"/>
            <a:ext cx="1353600" cy="1353600"/>
          </a:xfrm>
          <a:custGeom>
            <a:avLst/>
            <a:gdLst>
              <a:gd name="connsiteX0" fmla="*/ 1522095 w 3044190"/>
              <a:gd name="connsiteY0" fmla="*/ 0 h 3044190"/>
              <a:gd name="connsiteX1" fmla="*/ 3044190 w 3044190"/>
              <a:gd name="connsiteY1" fmla="*/ 1522095 h 3044190"/>
              <a:gd name="connsiteX2" fmla="*/ 1522095 w 3044190"/>
              <a:gd name="connsiteY2" fmla="*/ 3044190 h 3044190"/>
              <a:gd name="connsiteX3" fmla="*/ 0 w 3044190"/>
              <a:gd name="connsiteY3" fmla="*/ 1522095 h 3044190"/>
              <a:gd name="connsiteX4" fmla="*/ 1522095 w 3044190"/>
              <a:gd name="connsiteY4" fmla="*/ 0 h 304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190" h="3044190">
                <a:moveTo>
                  <a:pt x="1522095" y="0"/>
                </a:moveTo>
                <a:cubicBezTo>
                  <a:pt x="2362725" y="0"/>
                  <a:pt x="3044190" y="681465"/>
                  <a:pt x="3044190" y="1522095"/>
                </a:cubicBezTo>
                <a:cubicBezTo>
                  <a:pt x="3044190" y="2362725"/>
                  <a:pt x="2362725" y="3044190"/>
                  <a:pt x="1522095" y="3044190"/>
                </a:cubicBezTo>
                <a:cubicBezTo>
                  <a:pt x="681465" y="3044190"/>
                  <a:pt x="0" y="2362725"/>
                  <a:pt x="0" y="1522095"/>
                </a:cubicBezTo>
                <a:cubicBezTo>
                  <a:pt x="0" y="681465"/>
                  <a:pt x="681465" y="0"/>
                  <a:pt x="1522095" y="0"/>
                </a:cubicBezTo>
                <a:close/>
              </a:path>
            </a:pathLst>
          </a:custGeom>
          <a:noFill/>
          <a:ln w="12700"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DB3B5E9B-B4F0-4E85-954A-F7CC04BBF24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3569" y="5211251"/>
            <a:ext cx="1353599" cy="1353599"/>
          </a:xfrm>
          <a:custGeom>
            <a:avLst/>
            <a:gdLst>
              <a:gd name="connsiteX0" fmla="*/ 1945481 w 3890962"/>
              <a:gd name="connsiteY0" fmla="*/ 0 h 3890962"/>
              <a:gd name="connsiteX1" fmla="*/ 3890962 w 3890962"/>
              <a:gd name="connsiteY1" fmla="*/ 1945481 h 3890962"/>
              <a:gd name="connsiteX2" fmla="*/ 1945481 w 3890962"/>
              <a:gd name="connsiteY2" fmla="*/ 3890962 h 3890962"/>
              <a:gd name="connsiteX3" fmla="*/ 0 w 3890962"/>
              <a:gd name="connsiteY3" fmla="*/ 1945481 h 3890962"/>
              <a:gd name="connsiteX4" fmla="*/ 1945481 w 3890962"/>
              <a:gd name="connsiteY4" fmla="*/ 0 h 389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90962" h="3890962">
                <a:moveTo>
                  <a:pt x="1945481" y="0"/>
                </a:moveTo>
                <a:cubicBezTo>
                  <a:pt x="3019940" y="0"/>
                  <a:pt x="3890962" y="871022"/>
                  <a:pt x="3890962" y="1945481"/>
                </a:cubicBezTo>
                <a:cubicBezTo>
                  <a:pt x="3890962" y="3019940"/>
                  <a:pt x="3019940" y="3890962"/>
                  <a:pt x="1945481" y="3890962"/>
                </a:cubicBezTo>
                <a:cubicBezTo>
                  <a:pt x="871022" y="3890962"/>
                  <a:pt x="0" y="3019940"/>
                  <a:pt x="0" y="1945481"/>
                </a:cubicBezTo>
                <a:cubicBezTo>
                  <a:pt x="0" y="871022"/>
                  <a:pt x="871022" y="0"/>
                  <a:pt x="1945481" y="0"/>
                </a:cubicBezTo>
                <a:close/>
              </a:path>
            </a:pathLst>
          </a:custGeom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endParaRPr lang="en-US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631765DD-2E04-4EE4-AFB7-43E328823E61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249" y="320499"/>
            <a:ext cx="2976891" cy="90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9989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292D9CA8-FA74-4E19-A847-B04F90FC15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50" b="25000"/>
          <a:stretch/>
        </p:blipFill>
        <p:spPr>
          <a:xfrm>
            <a:off x="-22163" y="20384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A9211E-289E-4822-AE7F-7B95A873EBBD}"/>
              </a:ext>
            </a:extLst>
          </p:cNvPr>
          <p:cNvSpPr txBox="1"/>
          <p:nvPr userDrawn="1"/>
        </p:nvSpPr>
        <p:spPr>
          <a:xfrm>
            <a:off x="1837677" y="5802204"/>
            <a:ext cx="4514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Darshan Institute of Engineering &amp; Technology, Rajkot</a:t>
            </a:r>
          </a:p>
        </p:txBody>
      </p:sp>
      <p:sp>
        <p:nvSpPr>
          <p:cNvPr id="22" name="Freeform 13">
            <a:extLst>
              <a:ext uri="{FF2B5EF4-FFF2-40B4-BE49-F238E27FC236}">
                <a16:creationId xmlns:a16="http://schemas.microsoft.com/office/drawing/2014/main" id="{EB889181-F145-4E62-A282-E5B77978D1F3}"/>
              </a:ext>
            </a:extLst>
          </p:cNvPr>
          <p:cNvSpPr>
            <a:spLocks/>
          </p:cNvSpPr>
          <p:nvPr userDrawn="1"/>
        </p:nvSpPr>
        <p:spPr bwMode="auto">
          <a:xfrm>
            <a:off x="2554514" y="1"/>
            <a:ext cx="5255702" cy="1335004"/>
          </a:xfrm>
          <a:custGeom>
            <a:avLst/>
            <a:gdLst>
              <a:gd name="T0" fmla="*/ 2048 w 2048"/>
              <a:gd name="T1" fmla="*/ 0 h 517"/>
              <a:gd name="T2" fmla="*/ 1934 w 2048"/>
              <a:gd name="T3" fmla="*/ 72 h 517"/>
              <a:gd name="T4" fmla="*/ 0 w 2048"/>
              <a:gd name="T5" fmla="*/ 0 h 517"/>
              <a:gd name="T6" fmla="*/ 2048 w 2048"/>
              <a:gd name="T7" fmla="*/ 0 h 5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517">
                <a:moveTo>
                  <a:pt x="2048" y="0"/>
                </a:moveTo>
                <a:cubicBezTo>
                  <a:pt x="2011" y="25"/>
                  <a:pt x="1973" y="49"/>
                  <a:pt x="1934" y="72"/>
                </a:cubicBezTo>
                <a:cubicBezTo>
                  <a:pt x="1177" y="517"/>
                  <a:pt x="332" y="480"/>
                  <a:pt x="0" y="0"/>
                </a:cubicBezTo>
                <a:lnTo>
                  <a:pt x="2048" y="0"/>
                </a:lnTo>
                <a:close/>
              </a:path>
            </a:pathLst>
          </a:cu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sp>
        <p:nvSpPr>
          <p:cNvPr id="23" name="Freeform 17">
            <a:extLst>
              <a:ext uri="{FF2B5EF4-FFF2-40B4-BE49-F238E27FC236}">
                <a16:creationId xmlns:a16="http://schemas.microsoft.com/office/drawing/2014/main" id="{5E9DA42E-B221-4BBE-B651-F7171591BCD7}"/>
              </a:ext>
            </a:extLst>
          </p:cNvPr>
          <p:cNvSpPr>
            <a:spLocks/>
          </p:cNvSpPr>
          <p:nvPr userDrawn="1"/>
        </p:nvSpPr>
        <p:spPr bwMode="auto">
          <a:xfrm>
            <a:off x="0" y="5905331"/>
            <a:ext cx="1901425" cy="952668"/>
          </a:xfrm>
          <a:custGeom>
            <a:avLst/>
            <a:gdLst>
              <a:gd name="T0" fmla="*/ 2048 w 2048"/>
              <a:gd name="T1" fmla="*/ 1024 h 1024"/>
              <a:gd name="T2" fmla="*/ 0 w 2048"/>
              <a:gd name="T3" fmla="*/ 1024 h 1024"/>
              <a:gd name="T4" fmla="*/ 0 w 2048"/>
              <a:gd name="T5" fmla="*/ 0 h 1024"/>
              <a:gd name="T6" fmla="*/ 2048 w 2048"/>
              <a:gd name="T7" fmla="*/ 1024 h 1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1024">
                <a:moveTo>
                  <a:pt x="2048" y="1024"/>
                </a:moveTo>
                <a:cubicBezTo>
                  <a:pt x="0" y="1024"/>
                  <a:pt x="0" y="1024"/>
                  <a:pt x="0" y="1024"/>
                </a:cubicBezTo>
                <a:cubicBezTo>
                  <a:pt x="0" y="0"/>
                  <a:pt x="0" y="0"/>
                  <a:pt x="0" y="0"/>
                </a:cubicBezTo>
                <a:cubicBezTo>
                  <a:pt x="880" y="66"/>
                  <a:pt x="1621" y="411"/>
                  <a:pt x="2048" y="1024"/>
                </a:cubicBezTo>
                <a:close/>
              </a:path>
            </a:pathLst>
          </a:cu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3D6466C-3EE8-434C-B5AB-98205AEEA67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8334" y="4602222"/>
            <a:ext cx="3383666" cy="2255777"/>
          </a:xfrm>
          <a:prstGeom prst="rect">
            <a:avLst/>
          </a:prstGeom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79C5D16-8087-4587-9A0A-A0570C73E0E7}"/>
              </a:ext>
            </a:extLst>
          </p:cNvPr>
          <p:cNvCxnSpPr/>
          <p:nvPr/>
        </p:nvCxnSpPr>
        <p:spPr>
          <a:xfrm>
            <a:off x="1926694" y="6124097"/>
            <a:ext cx="43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73F48F6-739E-4659-B107-DABA716A2F34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559490" y="1122364"/>
            <a:ext cx="7035300" cy="2578780"/>
          </a:xfrm>
        </p:spPr>
        <p:txBody>
          <a:bodyPr wrap="square" anchor="t">
            <a:noAutofit/>
          </a:bodyPr>
          <a:lstStyle>
            <a:lvl1pPr algn="l">
              <a:defRPr lang="en-US" sz="6600" b="1" kern="1200" dirty="0">
                <a:solidFill>
                  <a:schemeClr val="tx1">
                    <a:lumMod val="90000"/>
                    <a:lumOff val="1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Segoe UI Black" panose="020B0A02040204020203" pitchFamily="34" charset="0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812EDA6-C656-492A-A9CA-44B03C63913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232297"/>
            <a:ext cx="182880" cy="1828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27AEF91-6492-4B0C-A844-2296473B58D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505320"/>
            <a:ext cx="182880" cy="18288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4C1356C-E4AA-4B27-A93C-BE84F5D9C6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023" t="18062" r="2731" b="17724"/>
          <a:stretch/>
        </p:blipFill>
        <p:spPr>
          <a:xfrm>
            <a:off x="63248" y="837717"/>
            <a:ext cx="1087893" cy="77215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Placeholder 2">
                <a:extLst>
                  <a:ext uri="{FF2B5EF4-FFF2-40B4-BE49-F238E27FC236}">
                    <a16:creationId xmlns:a16="http://schemas.microsoft.com/office/drawing/2014/main" id="{070A7F06-98AB-45B4-A79D-A6DF8C25DC8E}"/>
                  </a:ext>
                </a:extLst>
              </p:cNvPr>
              <p:cNvSpPr>
                <a:spLocks noGrp="1"/>
              </p:cNvSpPr>
              <p:nvPr>
                <p:ph type="body" sz="quarter" idx="16" hasCustomPrompt="1"/>
              </p:nvPr>
            </p:nvSpPr>
            <p:spPr>
              <a:xfrm>
                <a:off x="2581756" y="20384"/>
                <a:ext cx="4646358" cy="734653"/>
              </a:xfrm>
            </p:spPr>
            <p:txBody>
              <a:bodyPr anchor="ctr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lang="en-US" sz="1800" b="0" kern="1200" dirty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</a:lstStyle>
              <a:p>
                <a:pPr>
                  <a:lnSpc>
                    <a:spcPct val="100000"/>
                  </a:lnSpc>
                </a:pPr>
                <a:r>
                  <a:rPr lang="en-US" dirty="0"/>
                  <a:t>B.Tech.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dirty="0"/>
                  <a:t>1</a:t>
                </a:r>
                <a:r>
                  <a:rPr lang="en-US" baseline="30000" dirty="0"/>
                  <a:t>st</a:t>
                </a:r>
                <a:r>
                  <a:rPr lang="en-US" dirty="0"/>
                  <a:t> Semester</a:t>
                </a:r>
              </a:p>
              <a:p>
                <a:pPr>
                  <a:lnSpc>
                    <a:spcPct val="125000"/>
                  </a:lnSpc>
                </a:pPr>
                <a:r>
                  <a:rPr lang="en-US" b="1" dirty="0"/>
                  <a:t>Mathematics – I (</a:t>
                </a:r>
                <a:r>
                  <a:rPr lang="en-US" dirty="0"/>
                  <a:t>2601HS101</a:t>
                </a:r>
                <a:r>
                  <a:rPr lang="en-US" b="1" dirty="0"/>
                  <a:t>)</a:t>
                </a:r>
              </a:p>
            </p:txBody>
          </p:sp>
        </mc:Choice>
        <mc:Fallback xmlns="">
          <p:sp>
            <p:nvSpPr>
              <p:cNvPr id="24" name="Text Placeholder 2">
                <a:extLst>
                  <a:ext uri="{FF2B5EF4-FFF2-40B4-BE49-F238E27FC236}">
                    <a16:creationId xmlns:a16="http://schemas.microsoft.com/office/drawing/2014/main" id="{070A7F06-98AB-45B4-A79D-A6DF8C25DC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6" hasCustomPrompt="1"/>
              </p:nvPr>
            </p:nvSpPr>
            <p:spPr>
              <a:xfrm>
                <a:off x="2581756" y="20384"/>
                <a:ext cx="4646358" cy="734653"/>
              </a:xfrm>
              <a:blipFill>
                <a:blip r:embed="rId8"/>
                <a:stretch>
                  <a:fillRect b="-991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Picture 20" descr="User icon Royalty Free Vector Image - VectorStock">
            <a:extLst>
              <a:ext uri="{FF2B5EF4-FFF2-40B4-BE49-F238E27FC236}">
                <a16:creationId xmlns:a16="http://schemas.microsoft.com/office/drawing/2014/main" id="{C3A13D11-EC6C-4E81-AD83-7AC73D273FD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30" t="21389" r="26030" b="34222"/>
          <a:stretch>
            <a:fillRect/>
          </a:stretch>
        </p:blipFill>
        <p:spPr bwMode="auto">
          <a:xfrm>
            <a:off x="353568" y="5211250"/>
            <a:ext cx="1353600" cy="1353600"/>
          </a:xfrm>
          <a:custGeom>
            <a:avLst/>
            <a:gdLst>
              <a:gd name="connsiteX0" fmla="*/ 1522095 w 3044190"/>
              <a:gd name="connsiteY0" fmla="*/ 0 h 3044190"/>
              <a:gd name="connsiteX1" fmla="*/ 3044190 w 3044190"/>
              <a:gd name="connsiteY1" fmla="*/ 1522095 h 3044190"/>
              <a:gd name="connsiteX2" fmla="*/ 1522095 w 3044190"/>
              <a:gd name="connsiteY2" fmla="*/ 3044190 h 3044190"/>
              <a:gd name="connsiteX3" fmla="*/ 0 w 3044190"/>
              <a:gd name="connsiteY3" fmla="*/ 1522095 h 3044190"/>
              <a:gd name="connsiteX4" fmla="*/ 1522095 w 3044190"/>
              <a:gd name="connsiteY4" fmla="*/ 0 h 304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190" h="3044190">
                <a:moveTo>
                  <a:pt x="1522095" y="0"/>
                </a:moveTo>
                <a:cubicBezTo>
                  <a:pt x="2362725" y="0"/>
                  <a:pt x="3044190" y="681465"/>
                  <a:pt x="3044190" y="1522095"/>
                </a:cubicBezTo>
                <a:cubicBezTo>
                  <a:pt x="3044190" y="2362725"/>
                  <a:pt x="2362725" y="3044190"/>
                  <a:pt x="1522095" y="3044190"/>
                </a:cubicBezTo>
                <a:cubicBezTo>
                  <a:pt x="681465" y="3044190"/>
                  <a:pt x="0" y="2362725"/>
                  <a:pt x="0" y="1522095"/>
                </a:cubicBezTo>
                <a:cubicBezTo>
                  <a:pt x="0" y="681465"/>
                  <a:pt x="681465" y="0"/>
                  <a:pt x="1522095" y="0"/>
                </a:cubicBezTo>
                <a:close/>
              </a:path>
            </a:pathLst>
          </a:custGeom>
          <a:noFill/>
          <a:ln w="12700"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85035EF3-F5FB-41C2-A0BE-B3AEF7556AB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3569" y="5211251"/>
            <a:ext cx="1353599" cy="1353599"/>
          </a:xfrm>
          <a:custGeom>
            <a:avLst/>
            <a:gdLst>
              <a:gd name="connsiteX0" fmla="*/ 1945481 w 3890962"/>
              <a:gd name="connsiteY0" fmla="*/ 0 h 3890962"/>
              <a:gd name="connsiteX1" fmla="*/ 3890962 w 3890962"/>
              <a:gd name="connsiteY1" fmla="*/ 1945481 h 3890962"/>
              <a:gd name="connsiteX2" fmla="*/ 1945481 w 3890962"/>
              <a:gd name="connsiteY2" fmla="*/ 3890962 h 3890962"/>
              <a:gd name="connsiteX3" fmla="*/ 0 w 3890962"/>
              <a:gd name="connsiteY3" fmla="*/ 1945481 h 3890962"/>
              <a:gd name="connsiteX4" fmla="*/ 1945481 w 3890962"/>
              <a:gd name="connsiteY4" fmla="*/ 0 h 389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90962" h="3890962">
                <a:moveTo>
                  <a:pt x="1945481" y="0"/>
                </a:moveTo>
                <a:cubicBezTo>
                  <a:pt x="3019940" y="0"/>
                  <a:pt x="3890962" y="871022"/>
                  <a:pt x="3890962" y="1945481"/>
                </a:cubicBezTo>
                <a:cubicBezTo>
                  <a:pt x="3890962" y="3019940"/>
                  <a:pt x="3019940" y="3890962"/>
                  <a:pt x="1945481" y="3890962"/>
                </a:cubicBezTo>
                <a:cubicBezTo>
                  <a:pt x="871022" y="3890962"/>
                  <a:pt x="0" y="3019940"/>
                  <a:pt x="0" y="1945481"/>
                </a:cubicBezTo>
                <a:cubicBezTo>
                  <a:pt x="0" y="871022"/>
                  <a:pt x="871022" y="0"/>
                  <a:pt x="1945481" y="0"/>
                </a:cubicBezTo>
                <a:close/>
              </a:path>
            </a:pathLst>
          </a:custGeom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endParaRPr lang="en-US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1018DFAF-9B15-4199-9C36-C730A2CE6C5E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249" y="320499"/>
            <a:ext cx="2976891" cy="9049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9777820-5CC5-5DD2-4933-0FCE58DE9752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4500" y="1501291"/>
            <a:ext cx="2493080" cy="24930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897C683-EAB4-6ADD-9381-368BA447F26B}"/>
              </a:ext>
            </a:extLst>
          </p:cNvPr>
          <p:cNvSpPr txBox="1"/>
          <p:nvPr userDrawn="1"/>
        </p:nvSpPr>
        <p:spPr>
          <a:xfrm>
            <a:off x="1837677" y="5486461"/>
            <a:ext cx="33377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sz="1600" dirty="0"/>
              <a:t>Department of Humanities and Science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68F776-DD3A-5723-355F-F87A08DF1D7E}"/>
              </a:ext>
            </a:extLst>
          </p:cNvPr>
          <p:cNvSpPr txBox="1"/>
          <p:nvPr userDrawn="1"/>
        </p:nvSpPr>
        <p:spPr>
          <a:xfrm>
            <a:off x="1837677" y="5192737"/>
            <a:ext cx="4514377" cy="3385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lvl="0" indent="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None/>
              <a:defRPr b="1">
                <a:gradFill flip="none" rotWithShape="1">
                  <a:gsLst>
                    <a:gs pos="10000">
                      <a:srgbClr val="0E47A1"/>
                    </a:gs>
                    <a:gs pos="100000">
                      <a:srgbClr val="03A9F5"/>
                    </a:gs>
                  </a:gsLst>
                  <a:lin ang="0" scaled="1"/>
                  <a:tileRect/>
                </a:gradFill>
                <a:effectLst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/>
              <a:t>Prof. Nishant Khiraiya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B9045B-FE68-68A5-3907-E3F2B9D2420B}"/>
              </a:ext>
            </a:extLst>
          </p:cNvPr>
          <p:cNvSpPr txBox="1"/>
          <p:nvPr userDrawn="1"/>
        </p:nvSpPr>
        <p:spPr>
          <a:xfrm>
            <a:off x="2181814" y="6147096"/>
            <a:ext cx="2675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rPr>
              <a:t>nishant.khiraiya@darshan.ac.in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E5E0DB-2588-D4A3-1D89-A3BFA8B68781}"/>
              </a:ext>
            </a:extLst>
          </p:cNvPr>
          <p:cNvSpPr txBox="1"/>
          <p:nvPr userDrawn="1"/>
        </p:nvSpPr>
        <p:spPr>
          <a:xfrm>
            <a:off x="2163043" y="6416379"/>
            <a:ext cx="15712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lvl="0">
              <a:defRPr sz="1600" b="0" baseline="0">
                <a:latin typeface="Roboto Condensed Light" panose="02000000000000000000" pitchFamily="2" charset="0"/>
                <a:ea typeface="Roboto Condensed Light" panose="02000000000000000000" pitchFamily="2" charset="0"/>
              </a:defRPr>
            </a:lvl1pPr>
          </a:lstStyle>
          <a:p>
            <a:pPr lvl="0"/>
            <a:r>
              <a:rPr lang="en-US" dirty="0"/>
              <a:t>+91 9510203024</a:t>
            </a:r>
          </a:p>
        </p:txBody>
      </p:sp>
    </p:spTree>
    <p:extLst>
      <p:ext uri="{BB962C8B-B14F-4D97-AF65-F5344CB8AC3E}">
        <p14:creationId xmlns:p14="http://schemas.microsoft.com/office/powerpoint/2010/main" val="25328075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-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292D9CA8-FA74-4E19-A847-B04F90FC15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50" b="2500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A9211E-289E-4822-AE7F-7B95A873EBBD}"/>
              </a:ext>
            </a:extLst>
          </p:cNvPr>
          <p:cNvSpPr txBox="1"/>
          <p:nvPr userDrawn="1"/>
        </p:nvSpPr>
        <p:spPr>
          <a:xfrm>
            <a:off x="1837677" y="5802204"/>
            <a:ext cx="4514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Darshan Institute of Engineering &amp; Technology, Rajkot</a:t>
            </a:r>
          </a:p>
        </p:txBody>
      </p:sp>
      <p:sp>
        <p:nvSpPr>
          <p:cNvPr id="22" name="Freeform 13">
            <a:extLst>
              <a:ext uri="{FF2B5EF4-FFF2-40B4-BE49-F238E27FC236}">
                <a16:creationId xmlns:a16="http://schemas.microsoft.com/office/drawing/2014/main" id="{EB889181-F145-4E62-A282-E5B77978D1F3}"/>
              </a:ext>
            </a:extLst>
          </p:cNvPr>
          <p:cNvSpPr>
            <a:spLocks/>
          </p:cNvSpPr>
          <p:nvPr userDrawn="1"/>
        </p:nvSpPr>
        <p:spPr bwMode="auto">
          <a:xfrm>
            <a:off x="2554514" y="1"/>
            <a:ext cx="5255702" cy="1335004"/>
          </a:xfrm>
          <a:custGeom>
            <a:avLst/>
            <a:gdLst>
              <a:gd name="T0" fmla="*/ 2048 w 2048"/>
              <a:gd name="T1" fmla="*/ 0 h 517"/>
              <a:gd name="T2" fmla="*/ 1934 w 2048"/>
              <a:gd name="T3" fmla="*/ 72 h 517"/>
              <a:gd name="T4" fmla="*/ 0 w 2048"/>
              <a:gd name="T5" fmla="*/ 0 h 517"/>
              <a:gd name="T6" fmla="*/ 2048 w 2048"/>
              <a:gd name="T7" fmla="*/ 0 h 5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517">
                <a:moveTo>
                  <a:pt x="2048" y="0"/>
                </a:moveTo>
                <a:cubicBezTo>
                  <a:pt x="2011" y="25"/>
                  <a:pt x="1973" y="49"/>
                  <a:pt x="1934" y="72"/>
                </a:cubicBezTo>
                <a:cubicBezTo>
                  <a:pt x="1177" y="517"/>
                  <a:pt x="332" y="480"/>
                  <a:pt x="0" y="0"/>
                </a:cubicBezTo>
                <a:lnTo>
                  <a:pt x="2048" y="0"/>
                </a:lnTo>
                <a:close/>
              </a:path>
            </a:pathLst>
          </a:custGeom>
          <a:gradFill>
            <a:gsLst>
              <a:gs pos="10000">
                <a:srgbClr val="B71B1C"/>
              </a:gs>
              <a:gs pos="100000">
                <a:srgbClr val="ED524F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sp>
        <p:nvSpPr>
          <p:cNvPr id="23" name="Freeform 17">
            <a:extLst>
              <a:ext uri="{FF2B5EF4-FFF2-40B4-BE49-F238E27FC236}">
                <a16:creationId xmlns:a16="http://schemas.microsoft.com/office/drawing/2014/main" id="{5E9DA42E-B221-4BBE-B651-F7171591BCD7}"/>
              </a:ext>
            </a:extLst>
          </p:cNvPr>
          <p:cNvSpPr>
            <a:spLocks/>
          </p:cNvSpPr>
          <p:nvPr userDrawn="1"/>
        </p:nvSpPr>
        <p:spPr bwMode="auto">
          <a:xfrm>
            <a:off x="0" y="5905331"/>
            <a:ext cx="1901425" cy="952668"/>
          </a:xfrm>
          <a:custGeom>
            <a:avLst/>
            <a:gdLst>
              <a:gd name="T0" fmla="*/ 2048 w 2048"/>
              <a:gd name="T1" fmla="*/ 1024 h 1024"/>
              <a:gd name="T2" fmla="*/ 0 w 2048"/>
              <a:gd name="T3" fmla="*/ 1024 h 1024"/>
              <a:gd name="T4" fmla="*/ 0 w 2048"/>
              <a:gd name="T5" fmla="*/ 0 h 1024"/>
              <a:gd name="T6" fmla="*/ 2048 w 2048"/>
              <a:gd name="T7" fmla="*/ 1024 h 1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1024">
                <a:moveTo>
                  <a:pt x="2048" y="1024"/>
                </a:moveTo>
                <a:cubicBezTo>
                  <a:pt x="0" y="1024"/>
                  <a:pt x="0" y="1024"/>
                  <a:pt x="0" y="1024"/>
                </a:cubicBezTo>
                <a:cubicBezTo>
                  <a:pt x="0" y="0"/>
                  <a:pt x="0" y="0"/>
                  <a:pt x="0" y="0"/>
                </a:cubicBezTo>
                <a:cubicBezTo>
                  <a:pt x="880" y="66"/>
                  <a:pt x="1621" y="411"/>
                  <a:pt x="2048" y="1024"/>
                </a:cubicBezTo>
                <a:close/>
              </a:path>
            </a:pathLst>
          </a:custGeom>
          <a:gradFill>
            <a:gsLst>
              <a:gs pos="10000">
                <a:srgbClr val="B71B1C"/>
              </a:gs>
              <a:gs pos="100000">
                <a:srgbClr val="ED524F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3D6466C-3EE8-434C-B5AB-98205AEEA67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8334" y="4602222"/>
            <a:ext cx="3383666" cy="225577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CAA64A4-91BA-448F-9474-7895F9C6DBD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861" y="2096941"/>
            <a:ext cx="2813885" cy="2119207"/>
          </a:xfrm>
          <a:prstGeom prst="rect">
            <a:avLst/>
          </a:prstGeom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79C5D16-8087-4587-9A0A-A0570C73E0E7}"/>
              </a:ext>
            </a:extLst>
          </p:cNvPr>
          <p:cNvCxnSpPr/>
          <p:nvPr/>
        </p:nvCxnSpPr>
        <p:spPr>
          <a:xfrm>
            <a:off x="1926694" y="6124097"/>
            <a:ext cx="43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73F48F6-739E-4659-B107-DABA716A2F34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559490" y="1122364"/>
            <a:ext cx="7035300" cy="2578780"/>
          </a:xfrm>
        </p:spPr>
        <p:txBody>
          <a:bodyPr wrap="square" anchor="t">
            <a:noAutofit/>
          </a:bodyPr>
          <a:lstStyle>
            <a:lvl1pPr algn="l">
              <a:defRPr lang="en-US" sz="6600" b="1" kern="1200" dirty="0">
                <a:solidFill>
                  <a:schemeClr val="tx1">
                    <a:lumMod val="90000"/>
                    <a:lumOff val="1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Segoe UI Black" panose="020B0A02040204020203" pitchFamily="34" charset="0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812EDA6-C656-492A-A9CA-44B03C63913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232297"/>
            <a:ext cx="182880" cy="1828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27AEF91-6492-4B0C-A844-2296473B58D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505320"/>
            <a:ext cx="182880" cy="182880"/>
          </a:xfrm>
          <a:prstGeom prst="rect">
            <a:avLst/>
          </a:prstGeom>
        </p:spPr>
      </p:pic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28AA7FF-D902-41DB-A12A-45135201E8C2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2180943" y="6175935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Email Address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F1EDDD62-43C6-4DEE-BBD9-CD0004E7EB03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2183874" y="646021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Phone No.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A2C7AAB1-B948-41DB-961F-028BB57DF5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37678" y="553776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Department Name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C96060B2-EF39-4FB2-9CFA-77C6391DCF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37677" y="5273332"/>
            <a:ext cx="5581039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kern="1200" dirty="0">
                <a:gradFill flip="none" rotWithShape="1">
                  <a:gsLst>
                    <a:gs pos="10000">
                      <a:srgbClr val="B71B1C"/>
                    </a:gs>
                    <a:gs pos="100000">
                      <a:srgbClr val="ED524F"/>
                    </a:gs>
                  </a:gsLst>
                  <a:lin ang="0" scaled="1"/>
                  <a:tileRect/>
                </a:gra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your Author Name (i.e. Prof. Jay R </a:t>
            </a:r>
            <a:r>
              <a:rPr lang="en-US" dirty="0" err="1"/>
              <a:t>Dhamsaniya</a:t>
            </a:r>
            <a:r>
              <a:rPr lang="en-US" dirty="0"/>
              <a:t>)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34C1356C-E4AA-4B27-A93C-BE84F5D9C6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023" t="18062" r="2731" b="17724"/>
          <a:stretch/>
        </p:blipFill>
        <p:spPr>
          <a:xfrm>
            <a:off x="63248" y="837717"/>
            <a:ext cx="1087893" cy="772151"/>
          </a:xfrm>
          <a:prstGeom prst="rect">
            <a:avLst/>
          </a:prstGeom>
        </p:spPr>
      </p:pic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070A7F06-98AB-45B4-A79D-A6DF8C25DC8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81756" y="20384"/>
            <a:ext cx="4646358" cy="734653"/>
          </a:xfr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Subject Name (Short Name)</a:t>
            </a:r>
          </a:p>
          <a:p>
            <a:pPr lvl="0"/>
            <a:r>
              <a:rPr lang="en-US" dirty="0"/>
              <a:t>GTU # Subject Code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7B7B864-C091-4493-B14B-F5B61B586EED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46" t="7575" r="25761" b="18186"/>
          <a:stretch>
            <a:fillRect/>
          </a:stretch>
        </p:blipFill>
        <p:spPr>
          <a:xfrm>
            <a:off x="356499" y="5214354"/>
            <a:ext cx="1354234" cy="1354234"/>
          </a:xfrm>
          <a:custGeom>
            <a:avLst/>
            <a:gdLst>
              <a:gd name="connsiteX0" fmla="*/ 2286000 w 4572000"/>
              <a:gd name="connsiteY0" fmla="*/ 0 h 4572000"/>
              <a:gd name="connsiteX1" fmla="*/ 4572000 w 4572000"/>
              <a:gd name="connsiteY1" fmla="*/ 2286000 h 4572000"/>
              <a:gd name="connsiteX2" fmla="*/ 2286000 w 4572000"/>
              <a:gd name="connsiteY2" fmla="*/ 4572000 h 4572000"/>
              <a:gd name="connsiteX3" fmla="*/ 0 w 4572000"/>
              <a:gd name="connsiteY3" fmla="*/ 2286000 h 4572000"/>
              <a:gd name="connsiteX4" fmla="*/ 2286000 w 4572000"/>
              <a:gd name="connsiteY4" fmla="*/ 0 h 457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72000" h="4572000">
                <a:moveTo>
                  <a:pt x="2286000" y="0"/>
                </a:moveTo>
                <a:cubicBezTo>
                  <a:pt x="3548523" y="0"/>
                  <a:pt x="4572000" y="1023477"/>
                  <a:pt x="4572000" y="2286000"/>
                </a:cubicBezTo>
                <a:cubicBezTo>
                  <a:pt x="4572000" y="3548523"/>
                  <a:pt x="3548523" y="4572000"/>
                  <a:pt x="2286000" y="4572000"/>
                </a:cubicBezTo>
                <a:cubicBezTo>
                  <a:pt x="1023477" y="4572000"/>
                  <a:pt x="0" y="3548523"/>
                  <a:pt x="0" y="2286000"/>
                </a:cubicBezTo>
                <a:cubicBezTo>
                  <a:pt x="0" y="1023477"/>
                  <a:pt x="1023477" y="0"/>
                  <a:pt x="2286000" y="0"/>
                </a:cubicBezTo>
                <a:close/>
              </a:path>
            </a:pathLst>
          </a:custGeom>
          <a:noFill/>
          <a:ln w="6350">
            <a:solidFill>
              <a:schemeClr val="bg1">
                <a:lumMod val="65000"/>
              </a:schemeClr>
            </a:solidFill>
          </a:ln>
          <a:effectLst/>
        </p:spPr>
      </p:pic>
      <p:pic>
        <p:nvPicPr>
          <p:cNvPr id="21" name="Picture 20" descr="User icon Royalty Free Vector Image - VectorStock">
            <a:extLst>
              <a:ext uri="{FF2B5EF4-FFF2-40B4-BE49-F238E27FC236}">
                <a16:creationId xmlns:a16="http://schemas.microsoft.com/office/drawing/2014/main" id="{177B86E9-222D-4757-BE64-59540DB794E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0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30" t="21389" r="26030" b="34222"/>
          <a:stretch>
            <a:fillRect/>
          </a:stretch>
        </p:blipFill>
        <p:spPr bwMode="auto">
          <a:xfrm>
            <a:off x="353568" y="5211250"/>
            <a:ext cx="1353600" cy="1353600"/>
          </a:xfrm>
          <a:custGeom>
            <a:avLst/>
            <a:gdLst>
              <a:gd name="connsiteX0" fmla="*/ 1522095 w 3044190"/>
              <a:gd name="connsiteY0" fmla="*/ 0 h 3044190"/>
              <a:gd name="connsiteX1" fmla="*/ 3044190 w 3044190"/>
              <a:gd name="connsiteY1" fmla="*/ 1522095 h 3044190"/>
              <a:gd name="connsiteX2" fmla="*/ 1522095 w 3044190"/>
              <a:gd name="connsiteY2" fmla="*/ 3044190 h 3044190"/>
              <a:gd name="connsiteX3" fmla="*/ 0 w 3044190"/>
              <a:gd name="connsiteY3" fmla="*/ 1522095 h 3044190"/>
              <a:gd name="connsiteX4" fmla="*/ 1522095 w 3044190"/>
              <a:gd name="connsiteY4" fmla="*/ 0 h 304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190" h="3044190">
                <a:moveTo>
                  <a:pt x="1522095" y="0"/>
                </a:moveTo>
                <a:cubicBezTo>
                  <a:pt x="2362725" y="0"/>
                  <a:pt x="3044190" y="681465"/>
                  <a:pt x="3044190" y="1522095"/>
                </a:cubicBezTo>
                <a:cubicBezTo>
                  <a:pt x="3044190" y="2362725"/>
                  <a:pt x="2362725" y="3044190"/>
                  <a:pt x="1522095" y="3044190"/>
                </a:cubicBezTo>
                <a:cubicBezTo>
                  <a:pt x="681465" y="3044190"/>
                  <a:pt x="0" y="2362725"/>
                  <a:pt x="0" y="1522095"/>
                </a:cubicBezTo>
                <a:cubicBezTo>
                  <a:pt x="0" y="681465"/>
                  <a:pt x="681465" y="0"/>
                  <a:pt x="1522095" y="0"/>
                </a:cubicBezTo>
                <a:close/>
              </a:path>
            </a:pathLst>
          </a:custGeom>
          <a:noFill/>
          <a:ln w="12700"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8ABCD18B-D4E0-41E4-8162-7E83CB11DAE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3569" y="5211251"/>
            <a:ext cx="1353599" cy="1353599"/>
          </a:xfrm>
          <a:custGeom>
            <a:avLst/>
            <a:gdLst>
              <a:gd name="connsiteX0" fmla="*/ 1945481 w 3890962"/>
              <a:gd name="connsiteY0" fmla="*/ 0 h 3890962"/>
              <a:gd name="connsiteX1" fmla="*/ 3890962 w 3890962"/>
              <a:gd name="connsiteY1" fmla="*/ 1945481 h 3890962"/>
              <a:gd name="connsiteX2" fmla="*/ 1945481 w 3890962"/>
              <a:gd name="connsiteY2" fmla="*/ 3890962 h 3890962"/>
              <a:gd name="connsiteX3" fmla="*/ 0 w 3890962"/>
              <a:gd name="connsiteY3" fmla="*/ 1945481 h 3890962"/>
              <a:gd name="connsiteX4" fmla="*/ 1945481 w 3890962"/>
              <a:gd name="connsiteY4" fmla="*/ 0 h 389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90962" h="3890962">
                <a:moveTo>
                  <a:pt x="1945481" y="0"/>
                </a:moveTo>
                <a:cubicBezTo>
                  <a:pt x="3019940" y="0"/>
                  <a:pt x="3890962" y="871022"/>
                  <a:pt x="3890962" y="1945481"/>
                </a:cubicBezTo>
                <a:cubicBezTo>
                  <a:pt x="3890962" y="3019940"/>
                  <a:pt x="3019940" y="3890962"/>
                  <a:pt x="1945481" y="3890962"/>
                </a:cubicBezTo>
                <a:cubicBezTo>
                  <a:pt x="871022" y="3890962"/>
                  <a:pt x="0" y="3019940"/>
                  <a:pt x="0" y="1945481"/>
                </a:cubicBezTo>
                <a:cubicBezTo>
                  <a:pt x="0" y="871022"/>
                  <a:pt x="871022" y="0"/>
                  <a:pt x="1945481" y="0"/>
                </a:cubicBezTo>
                <a:close/>
              </a:path>
            </a:pathLst>
          </a:custGeom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endParaRPr lang="en-US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44A518A-BE68-4048-BDCB-77578CB57230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249" y="320499"/>
            <a:ext cx="2976891" cy="90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9497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- P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292D9CA8-FA74-4E19-A847-B04F90FC15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50" b="2500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A9211E-289E-4822-AE7F-7B95A873EBBD}"/>
              </a:ext>
            </a:extLst>
          </p:cNvPr>
          <p:cNvSpPr txBox="1"/>
          <p:nvPr userDrawn="1"/>
        </p:nvSpPr>
        <p:spPr>
          <a:xfrm>
            <a:off x="1837677" y="5802204"/>
            <a:ext cx="4514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Darshan Institute of Engineering &amp; Technology, Rajkot</a:t>
            </a:r>
          </a:p>
        </p:txBody>
      </p:sp>
      <p:sp>
        <p:nvSpPr>
          <p:cNvPr id="22" name="Freeform 13">
            <a:extLst>
              <a:ext uri="{FF2B5EF4-FFF2-40B4-BE49-F238E27FC236}">
                <a16:creationId xmlns:a16="http://schemas.microsoft.com/office/drawing/2014/main" id="{EB889181-F145-4E62-A282-E5B77978D1F3}"/>
              </a:ext>
            </a:extLst>
          </p:cNvPr>
          <p:cNvSpPr>
            <a:spLocks/>
          </p:cNvSpPr>
          <p:nvPr userDrawn="1"/>
        </p:nvSpPr>
        <p:spPr bwMode="auto">
          <a:xfrm>
            <a:off x="2554514" y="1"/>
            <a:ext cx="5255702" cy="1335004"/>
          </a:xfrm>
          <a:custGeom>
            <a:avLst/>
            <a:gdLst>
              <a:gd name="T0" fmla="*/ 2048 w 2048"/>
              <a:gd name="T1" fmla="*/ 0 h 517"/>
              <a:gd name="T2" fmla="*/ 1934 w 2048"/>
              <a:gd name="T3" fmla="*/ 72 h 517"/>
              <a:gd name="T4" fmla="*/ 0 w 2048"/>
              <a:gd name="T5" fmla="*/ 0 h 517"/>
              <a:gd name="T6" fmla="*/ 2048 w 2048"/>
              <a:gd name="T7" fmla="*/ 0 h 5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517">
                <a:moveTo>
                  <a:pt x="2048" y="0"/>
                </a:moveTo>
                <a:cubicBezTo>
                  <a:pt x="2011" y="25"/>
                  <a:pt x="1973" y="49"/>
                  <a:pt x="1934" y="72"/>
                </a:cubicBezTo>
                <a:cubicBezTo>
                  <a:pt x="1177" y="517"/>
                  <a:pt x="332" y="480"/>
                  <a:pt x="0" y="0"/>
                </a:cubicBezTo>
                <a:lnTo>
                  <a:pt x="2048" y="0"/>
                </a:lnTo>
                <a:close/>
              </a:path>
            </a:pathLst>
          </a:custGeom>
          <a:gradFill>
            <a:gsLst>
              <a:gs pos="10000">
                <a:srgbClr val="890E4F"/>
              </a:gs>
              <a:gs pos="100000">
                <a:srgbClr val="D81A60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sp>
        <p:nvSpPr>
          <p:cNvPr id="23" name="Freeform 17">
            <a:extLst>
              <a:ext uri="{FF2B5EF4-FFF2-40B4-BE49-F238E27FC236}">
                <a16:creationId xmlns:a16="http://schemas.microsoft.com/office/drawing/2014/main" id="{5E9DA42E-B221-4BBE-B651-F7171591BCD7}"/>
              </a:ext>
            </a:extLst>
          </p:cNvPr>
          <p:cNvSpPr>
            <a:spLocks/>
          </p:cNvSpPr>
          <p:nvPr userDrawn="1"/>
        </p:nvSpPr>
        <p:spPr bwMode="auto">
          <a:xfrm>
            <a:off x="0" y="5905331"/>
            <a:ext cx="1901425" cy="952668"/>
          </a:xfrm>
          <a:custGeom>
            <a:avLst/>
            <a:gdLst>
              <a:gd name="T0" fmla="*/ 2048 w 2048"/>
              <a:gd name="T1" fmla="*/ 1024 h 1024"/>
              <a:gd name="T2" fmla="*/ 0 w 2048"/>
              <a:gd name="T3" fmla="*/ 1024 h 1024"/>
              <a:gd name="T4" fmla="*/ 0 w 2048"/>
              <a:gd name="T5" fmla="*/ 0 h 1024"/>
              <a:gd name="T6" fmla="*/ 2048 w 2048"/>
              <a:gd name="T7" fmla="*/ 1024 h 1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048" h="1024">
                <a:moveTo>
                  <a:pt x="2048" y="1024"/>
                </a:moveTo>
                <a:cubicBezTo>
                  <a:pt x="0" y="1024"/>
                  <a:pt x="0" y="1024"/>
                  <a:pt x="0" y="1024"/>
                </a:cubicBezTo>
                <a:cubicBezTo>
                  <a:pt x="0" y="0"/>
                  <a:pt x="0" y="0"/>
                  <a:pt x="0" y="0"/>
                </a:cubicBezTo>
                <a:cubicBezTo>
                  <a:pt x="880" y="66"/>
                  <a:pt x="1621" y="411"/>
                  <a:pt x="2048" y="1024"/>
                </a:cubicBezTo>
                <a:close/>
              </a:path>
            </a:pathLst>
          </a:custGeom>
          <a:gradFill>
            <a:gsLst>
              <a:gs pos="10000">
                <a:srgbClr val="890E4F"/>
              </a:gs>
              <a:gs pos="100000">
                <a:srgbClr val="D81A60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3D6466C-3EE8-434C-B5AB-98205AEEA67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8334" y="4602222"/>
            <a:ext cx="3383666" cy="225577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CAA64A4-91BA-448F-9474-7895F9C6DBD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861" y="2096941"/>
            <a:ext cx="2813885" cy="2119207"/>
          </a:xfrm>
          <a:prstGeom prst="rect">
            <a:avLst/>
          </a:prstGeom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79C5D16-8087-4587-9A0A-A0570C73E0E7}"/>
              </a:ext>
            </a:extLst>
          </p:cNvPr>
          <p:cNvCxnSpPr/>
          <p:nvPr/>
        </p:nvCxnSpPr>
        <p:spPr>
          <a:xfrm>
            <a:off x="1926694" y="6124097"/>
            <a:ext cx="43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73F48F6-739E-4659-B107-DABA716A2F34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559490" y="1122364"/>
            <a:ext cx="7035300" cy="2578780"/>
          </a:xfrm>
        </p:spPr>
        <p:txBody>
          <a:bodyPr wrap="square" anchor="t">
            <a:noAutofit/>
          </a:bodyPr>
          <a:lstStyle>
            <a:lvl1pPr algn="l">
              <a:defRPr lang="en-US" sz="6600" b="1" kern="1200" dirty="0">
                <a:solidFill>
                  <a:schemeClr val="tx1">
                    <a:lumMod val="90000"/>
                    <a:lumOff val="1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Segoe UI Black" panose="020B0A02040204020203" pitchFamily="34" charset="0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812EDA6-C656-492A-A9CA-44B03C63913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232297"/>
            <a:ext cx="182880" cy="1828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27AEF91-6492-4B0C-A844-2296473B58D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063" y="6505320"/>
            <a:ext cx="182880" cy="182880"/>
          </a:xfrm>
          <a:prstGeom prst="rect">
            <a:avLst/>
          </a:prstGeom>
        </p:spPr>
      </p:pic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28AA7FF-D902-41DB-A12A-45135201E8C2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2180943" y="6175935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Email Address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F1EDDD62-43C6-4DEE-BBD9-CD0004E7EB03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2183874" y="646021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b="0" kern="1200" baseline="0" dirty="0">
                <a:solidFill>
                  <a:schemeClr val="tx1"/>
                </a:solidFill>
                <a:latin typeface="Roboto Condensed Light" panose="02000000000000000000" pitchFamily="2" charset="0"/>
                <a:ea typeface="Roboto Condensed Light" panose="02000000000000000000" pitchFamily="2" charset="0"/>
                <a:cs typeface="+mn-cs"/>
              </a:defRPr>
            </a:lvl1pPr>
          </a:lstStyle>
          <a:p>
            <a:pPr lvl="0"/>
            <a:r>
              <a:rPr lang="en-US" dirty="0"/>
              <a:t>Click to edit Phone No.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A2C7AAB1-B948-41DB-961F-028BB57DF5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37678" y="5537768"/>
            <a:ext cx="3735998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Department Name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C96060B2-EF39-4FB2-9CFA-77C6391DCF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37677" y="5273332"/>
            <a:ext cx="5581039" cy="290081"/>
          </a:xfr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kern="1200" dirty="0">
                <a:gradFill flip="none" rotWithShape="1">
                  <a:gsLst>
                    <a:gs pos="10000">
                      <a:srgbClr val="890E4F"/>
                    </a:gs>
                    <a:gs pos="100000">
                      <a:srgbClr val="D81A60"/>
                    </a:gs>
                  </a:gsLst>
                  <a:lin ang="0" scaled="1"/>
                  <a:tileRect/>
                </a:gra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here your Author Name (i.e. Prof. Jay R </a:t>
            </a:r>
            <a:r>
              <a:rPr lang="en-US" dirty="0" err="1"/>
              <a:t>Dhamsaniya</a:t>
            </a:r>
            <a:r>
              <a:rPr lang="en-US" dirty="0"/>
              <a:t>)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34C1356C-E4AA-4B27-A93C-BE84F5D9C6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023" t="18062" r="2731" b="17724"/>
          <a:stretch/>
        </p:blipFill>
        <p:spPr>
          <a:xfrm>
            <a:off x="63248" y="837717"/>
            <a:ext cx="1087893" cy="772151"/>
          </a:xfrm>
          <a:prstGeom prst="rect">
            <a:avLst/>
          </a:prstGeom>
        </p:spPr>
      </p:pic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070A7F06-98AB-45B4-A79D-A6DF8C25DC8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81756" y="20384"/>
            <a:ext cx="4646358" cy="734653"/>
          </a:xfr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Write Subject Name (Short Name)</a:t>
            </a:r>
          </a:p>
          <a:p>
            <a:pPr lvl="0"/>
            <a:r>
              <a:rPr lang="en-US" dirty="0"/>
              <a:t>GTU # Subject Code</a:t>
            </a:r>
          </a:p>
        </p:txBody>
      </p:sp>
      <p:pic>
        <p:nvPicPr>
          <p:cNvPr id="21" name="Picture 20" descr="User icon Royalty Free Vector Image - VectorStock">
            <a:extLst>
              <a:ext uri="{FF2B5EF4-FFF2-40B4-BE49-F238E27FC236}">
                <a16:creationId xmlns:a16="http://schemas.microsoft.com/office/drawing/2014/main" id="{A2F1AAAC-C051-4A31-837B-4A9977722A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30" t="21389" r="26030" b="34222"/>
          <a:stretch>
            <a:fillRect/>
          </a:stretch>
        </p:blipFill>
        <p:spPr bwMode="auto">
          <a:xfrm>
            <a:off x="353568" y="5211250"/>
            <a:ext cx="1353600" cy="1353600"/>
          </a:xfrm>
          <a:custGeom>
            <a:avLst/>
            <a:gdLst>
              <a:gd name="connsiteX0" fmla="*/ 1522095 w 3044190"/>
              <a:gd name="connsiteY0" fmla="*/ 0 h 3044190"/>
              <a:gd name="connsiteX1" fmla="*/ 3044190 w 3044190"/>
              <a:gd name="connsiteY1" fmla="*/ 1522095 h 3044190"/>
              <a:gd name="connsiteX2" fmla="*/ 1522095 w 3044190"/>
              <a:gd name="connsiteY2" fmla="*/ 3044190 h 3044190"/>
              <a:gd name="connsiteX3" fmla="*/ 0 w 3044190"/>
              <a:gd name="connsiteY3" fmla="*/ 1522095 h 3044190"/>
              <a:gd name="connsiteX4" fmla="*/ 1522095 w 3044190"/>
              <a:gd name="connsiteY4" fmla="*/ 0 h 304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44190" h="3044190">
                <a:moveTo>
                  <a:pt x="1522095" y="0"/>
                </a:moveTo>
                <a:cubicBezTo>
                  <a:pt x="2362725" y="0"/>
                  <a:pt x="3044190" y="681465"/>
                  <a:pt x="3044190" y="1522095"/>
                </a:cubicBezTo>
                <a:cubicBezTo>
                  <a:pt x="3044190" y="2362725"/>
                  <a:pt x="2362725" y="3044190"/>
                  <a:pt x="1522095" y="3044190"/>
                </a:cubicBezTo>
                <a:cubicBezTo>
                  <a:pt x="681465" y="3044190"/>
                  <a:pt x="0" y="2362725"/>
                  <a:pt x="0" y="1522095"/>
                </a:cubicBezTo>
                <a:cubicBezTo>
                  <a:pt x="0" y="681465"/>
                  <a:pt x="681465" y="0"/>
                  <a:pt x="1522095" y="0"/>
                </a:cubicBezTo>
                <a:close/>
              </a:path>
            </a:pathLst>
          </a:custGeom>
          <a:noFill/>
          <a:ln w="12700"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ADF34BDA-AFB4-4120-81EF-C0AB56D388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3569" y="5211251"/>
            <a:ext cx="1353599" cy="1353599"/>
          </a:xfrm>
          <a:custGeom>
            <a:avLst/>
            <a:gdLst>
              <a:gd name="connsiteX0" fmla="*/ 1945481 w 3890962"/>
              <a:gd name="connsiteY0" fmla="*/ 0 h 3890962"/>
              <a:gd name="connsiteX1" fmla="*/ 3890962 w 3890962"/>
              <a:gd name="connsiteY1" fmla="*/ 1945481 h 3890962"/>
              <a:gd name="connsiteX2" fmla="*/ 1945481 w 3890962"/>
              <a:gd name="connsiteY2" fmla="*/ 3890962 h 3890962"/>
              <a:gd name="connsiteX3" fmla="*/ 0 w 3890962"/>
              <a:gd name="connsiteY3" fmla="*/ 1945481 h 3890962"/>
              <a:gd name="connsiteX4" fmla="*/ 1945481 w 3890962"/>
              <a:gd name="connsiteY4" fmla="*/ 0 h 389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90962" h="3890962">
                <a:moveTo>
                  <a:pt x="1945481" y="0"/>
                </a:moveTo>
                <a:cubicBezTo>
                  <a:pt x="3019940" y="0"/>
                  <a:pt x="3890962" y="871022"/>
                  <a:pt x="3890962" y="1945481"/>
                </a:cubicBezTo>
                <a:cubicBezTo>
                  <a:pt x="3890962" y="3019940"/>
                  <a:pt x="3019940" y="3890962"/>
                  <a:pt x="1945481" y="3890962"/>
                </a:cubicBezTo>
                <a:cubicBezTo>
                  <a:pt x="871022" y="3890962"/>
                  <a:pt x="0" y="3019940"/>
                  <a:pt x="0" y="1945481"/>
                </a:cubicBezTo>
                <a:cubicBezTo>
                  <a:pt x="0" y="871022"/>
                  <a:pt x="871022" y="0"/>
                  <a:pt x="1945481" y="0"/>
                </a:cubicBezTo>
                <a:close/>
              </a:path>
            </a:pathLst>
          </a:custGeom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endParaRPr lang="en-US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C248CBD5-99BA-4017-857A-5ED400F43651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249" y="320499"/>
            <a:ext cx="2976891" cy="90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421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F5063B-909B-4A7F-B502-780228043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27DDF1-16E2-4622-B8FD-0148CD5CE0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25000"/>
              </a:lnSpc>
            </a:pPr>
            <a:r>
              <a:rPr lang="en-US" sz="2800" b="1" dirty="0">
                <a:solidFill>
                  <a:srgbClr val="FF0000"/>
                </a:solidFill>
              </a:rPr>
              <a:t>Outline of Unit 1</a:t>
            </a:r>
          </a:p>
          <a:p>
            <a:pPr>
              <a:lnSpc>
                <a:spcPct val="125000"/>
              </a:lnSpc>
            </a:pPr>
            <a:endParaRPr lang="en-US" sz="2800" b="1" dirty="0">
              <a:solidFill>
                <a:srgbClr val="FF0000"/>
              </a:solidFill>
            </a:endParaRPr>
          </a:p>
          <a:p>
            <a:pPr lvl="2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7EA166-F18A-4D32-AA1F-AE475D4910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D21B45-1703-4330-B544-825BD8F37AF2}" type="datetimeFigureOut">
              <a:rPr lang="en-US" smtClean="0"/>
              <a:t>9/22/2026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C5379-5B41-4775-9279-F9F7608E66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A4B342-6FD5-4BB7-B9AE-3C5081C089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1F3C7-36DD-4595-AA08-2525D86280B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954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  <p:sldLayoutId id="2147483684" r:id="rId18"/>
    <p:sldLayoutId id="2147483711" r:id="rId19"/>
    <p:sldLayoutId id="2147483712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10.png"/><Relationship Id="rId4" Type="http://schemas.openxmlformats.org/officeDocument/2006/relationships/image" Target="../media/image251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13" Type="http://schemas.openxmlformats.org/officeDocument/2006/relationships/image" Target="../media/image118.png"/><Relationship Id="rId3" Type="http://schemas.openxmlformats.org/officeDocument/2006/relationships/image" Target="../media/image96.png"/><Relationship Id="rId12" Type="http://schemas.openxmlformats.org/officeDocument/2006/relationships/image" Target="../media/image11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png"/><Relationship Id="rId11" Type="http://schemas.openxmlformats.org/officeDocument/2006/relationships/image" Target="../media/image116.png"/><Relationship Id="rId5" Type="http://schemas.openxmlformats.org/officeDocument/2006/relationships/image" Target="../media/image97.png"/><Relationship Id="rId10" Type="http://schemas.openxmlformats.org/officeDocument/2006/relationships/image" Target="../media/image102.png"/><Relationship Id="rId4" Type="http://schemas.openxmlformats.org/officeDocument/2006/relationships/image" Target="../media/image32.png"/><Relationship Id="rId9" Type="http://schemas.openxmlformats.org/officeDocument/2006/relationships/image" Target="../media/image10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3.png"/><Relationship Id="rId18" Type="http://schemas.openxmlformats.org/officeDocument/2006/relationships/image" Target="../media/image94.png"/><Relationship Id="rId3" Type="http://schemas.openxmlformats.org/officeDocument/2006/relationships/image" Target="../media/image32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1.png"/><Relationship Id="rId2" Type="http://schemas.openxmlformats.org/officeDocument/2006/relationships/image" Target="../media/image119.png"/><Relationship Id="rId16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11" Type="http://schemas.openxmlformats.org/officeDocument/2006/relationships/image" Target="../media/image126.png"/><Relationship Id="rId15" Type="http://schemas.openxmlformats.org/officeDocument/2006/relationships/image" Target="../media/image129.png"/><Relationship Id="rId10" Type="http://schemas.openxmlformats.org/officeDocument/2006/relationships/image" Target="../media/image125.png"/><Relationship Id="rId19" Type="http://schemas.openxmlformats.org/officeDocument/2006/relationships/image" Target="../media/image101.png"/><Relationship Id="rId4" Type="http://schemas.openxmlformats.org/officeDocument/2006/relationships/image" Target="../media/image120.png"/><Relationship Id="rId9" Type="http://schemas.openxmlformats.org/officeDocument/2006/relationships/image" Target="../media/image124.png"/><Relationship Id="rId14" Type="http://schemas.openxmlformats.org/officeDocument/2006/relationships/image" Target="../media/image12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12.png"/><Relationship Id="rId13" Type="http://schemas.openxmlformats.org/officeDocument/2006/relationships/image" Target="../media/image140.png"/><Relationship Id="rId3" Type="http://schemas.openxmlformats.org/officeDocument/2006/relationships/image" Target="../media/image32.png"/><Relationship Id="rId7" Type="http://schemas.openxmlformats.org/officeDocument/2006/relationships/image" Target="../media/image135.png"/><Relationship Id="rId12" Type="http://schemas.openxmlformats.org/officeDocument/2006/relationships/image" Target="../media/image139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4.png"/><Relationship Id="rId10" Type="http://schemas.openxmlformats.org/officeDocument/2006/relationships/image" Target="../media/image27.png"/><Relationship Id="rId4" Type="http://schemas.openxmlformats.org/officeDocument/2006/relationships/image" Target="../media/image133.png"/><Relationship Id="rId9" Type="http://schemas.openxmlformats.org/officeDocument/2006/relationships/image" Target="../media/image13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10.png"/><Relationship Id="rId13" Type="http://schemas.openxmlformats.org/officeDocument/2006/relationships/image" Target="../media/image27.png"/><Relationship Id="rId3" Type="http://schemas.openxmlformats.org/officeDocument/2006/relationships/image" Target="../media/image32.png"/><Relationship Id="rId7" Type="http://schemas.openxmlformats.org/officeDocument/2006/relationships/image" Target="../media/image143.png"/><Relationship Id="rId12" Type="http://schemas.openxmlformats.org/officeDocument/2006/relationships/image" Target="../media/image148.png"/><Relationship Id="rId2" Type="http://schemas.openxmlformats.org/officeDocument/2006/relationships/image" Target="../media/image321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47.png"/><Relationship Id="rId10" Type="http://schemas.openxmlformats.org/officeDocument/2006/relationships/image" Target="../media/image146.png"/><Relationship Id="rId4" Type="http://schemas.openxmlformats.org/officeDocument/2006/relationships/image" Target="../media/image2710.png"/><Relationship Id="rId9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32.png"/><Relationship Id="rId7" Type="http://schemas.openxmlformats.org/officeDocument/2006/relationships/image" Target="../media/image4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8.png"/><Relationship Id="rId5" Type="http://schemas.openxmlformats.org/officeDocument/2006/relationships/image" Target="../media/image43.png"/><Relationship Id="rId10" Type="http://schemas.openxmlformats.org/officeDocument/2006/relationships/image" Target="../media/image27.png"/><Relationship Id="rId9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3" Type="http://schemas.openxmlformats.org/officeDocument/2006/relationships/image" Target="../media/image32.png"/><Relationship Id="rId7" Type="http://schemas.openxmlformats.org/officeDocument/2006/relationships/image" Target="../media/image50.png"/><Relationship Id="rId12" Type="http://schemas.openxmlformats.org/officeDocument/2006/relationships/image" Target="../media/image53.png"/><Relationship Id="rId2" Type="http://schemas.openxmlformats.org/officeDocument/2006/relationships/image" Target="../media/image3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11" Type="http://schemas.openxmlformats.org/officeDocument/2006/relationships/image" Target="../media/image52.png"/><Relationship Id="rId5" Type="http://schemas.openxmlformats.org/officeDocument/2006/relationships/image" Target="../media/image1570.png"/><Relationship Id="rId10" Type="http://schemas.openxmlformats.org/officeDocument/2006/relationships/image" Target="../media/image161.png"/><Relationship Id="rId9" Type="http://schemas.openxmlformats.org/officeDocument/2006/relationships/image" Target="../media/image27.png"/><Relationship Id="rId14" Type="http://schemas.openxmlformats.org/officeDocument/2006/relationships/image" Target="../media/image16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58.png"/><Relationship Id="rId3" Type="http://schemas.openxmlformats.org/officeDocument/2006/relationships/image" Target="../media/image32.png"/><Relationship Id="rId7" Type="http://schemas.openxmlformats.org/officeDocument/2006/relationships/image" Target="../media/image55.png"/><Relationship Id="rId12" Type="http://schemas.openxmlformats.org/officeDocument/2006/relationships/image" Target="../media/image5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8.png"/><Relationship Id="rId11" Type="http://schemas.openxmlformats.org/officeDocument/2006/relationships/image" Target="../media/image172.png"/><Relationship Id="rId5" Type="http://schemas.openxmlformats.org/officeDocument/2006/relationships/image" Target="../media/image167.png"/><Relationship Id="rId10" Type="http://schemas.openxmlformats.org/officeDocument/2006/relationships/image" Target="../media/image171.png"/><Relationship Id="rId9" Type="http://schemas.openxmlformats.org/officeDocument/2006/relationships/image" Target="../media/image27.png"/><Relationship Id="rId14" Type="http://schemas.openxmlformats.org/officeDocument/2006/relationships/image" Target="../media/image17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3" Type="http://schemas.openxmlformats.org/officeDocument/2006/relationships/image" Target="../media/image32.png"/><Relationship Id="rId7" Type="http://schemas.openxmlformats.org/officeDocument/2006/relationships/image" Target="../media/image179.png"/><Relationship Id="rId12" Type="http://schemas.openxmlformats.org/officeDocument/2006/relationships/image" Target="../media/image183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8.png"/><Relationship Id="rId11" Type="http://schemas.openxmlformats.org/officeDocument/2006/relationships/image" Target="../media/image27.png"/><Relationship Id="rId5" Type="http://schemas.openxmlformats.org/officeDocument/2006/relationships/image" Target="../media/image177.png"/><Relationship Id="rId10" Type="http://schemas.openxmlformats.org/officeDocument/2006/relationships/image" Target="../media/image182.png"/><Relationship Id="rId9" Type="http://schemas.openxmlformats.org/officeDocument/2006/relationships/image" Target="../media/image6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1880.png"/><Relationship Id="rId3" Type="http://schemas.openxmlformats.org/officeDocument/2006/relationships/image" Target="../media/image32.png"/><Relationship Id="rId7" Type="http://schemas.openxmlformats.org/officeDocument/2006/relationships/image" Target="../media/image187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6.png"/><Relationship Id="rId5" Type="http://schemas.openxmlformats.org/officeDocument/2006/relationships/image" Target="../media/image185.png"/><Relationship Id="rId10" Type="http://schemas.openxmlformats.org/officeDocument/2006/relationships/image" Target="../media/image27.png"/><Relationship Id="rId9" Type="http://schemas.openxmlformats.org/officeDocument/2006/relationships/image" Target="../media/image18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11.png"/><Relationship Id="rId2" Type="http://schemas.openxmlformats.org/officeDocument/2006/relationships/image" Target="../media/image3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10.png"/><Relationship Id="rId5" Type="http://schemas.openxmlformats.org/officeDocument/2006/relationships/image" Target="../media/image63.png"/><Relationship Id="rId4" Type="http://schemas.openxmlformats.org/officeDocument/2006/relationships/image" Target="../media/image621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400.png"/><Relationship Id="rId3" Type="http://schemas.openxmlformats.org/officeDocument/2006/relationships/image" Target="../media/image380.png"/><Relationship Id="rId12" Type="http://schemas.openxmlformats.org/officeDocument/2006/relationships/image" Target="../media/image7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11" Type="http://schemas.openxmlformats.org/officeDocument/2006/relationships/image" Target="../media/image74.png"/><Relationship Id="rId5" Type="http://schemas.openxmlformats.org/officeDocument/2006/relationships/image" Target="../media/image68.png"/><Relationship Id="rId15" Type="http://schemas.openxmlformats.org/officeDocument/2006/relationships/image" Target="../media/image420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86.png"/><Relationship Id="rId18" Type="http://schemas.openxmlformats.org/officeDocument/2006/relationships/image" Target="../media/image37.png"/><Relationship Id="rId3" Type="http://schemas.openxmlformats.org/officeDocument/2006/relationships/image" Target="../media/image380.png"/><Relationship Id="rId12" Type="http://schemas.openxmlformats.org/officeDocument/2006/relationships/image" Target="../media/image85.png"/><Relationship Id="rId17" Type="http://schemas.openxmlformats.org/officeDocument/2006/relationships/image" Target="../media/image90.png"/><Relationship Id="rId2" Type="http://schemas.openxmlformats.org/officeDocument/2006/relationships/image" Target="../media/image7710.png"/><Relationship Id="rId16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11" Type="http://schemas.openxmlformats.org/officeDocument/2006/relationships/image" Target="../media/image84.png"/><Relationship Id="rId15" Type="http://schemas.openxmlformats.org/officeDocument/2006/relationships/image" Target="../media/image88.png"/><Relationship Id="rId10" Type="http://schemas.openxmlformats.org/officeDocument/2006/relationships/image" Target="../media/image83.png"/><Relationship Id="rId19" Type="http://schemas.openxmlformats.org/officeDocument/2006/relationships/image" Target="../media/image39.png"/><Relationship Id="rId4" Type="http://schemas.openxmlformats.org/officeDocument/2006/relationships/image" Target="../media/image78.png"/><Relationship Id="rId9" Type="http://schemas.openxmlformats.org/officeDocument/2006/relationships/image" Target="../media/image41.png"/><Relationship Id="rId14" Type="http://schemas.openxmlformats.org/officeDocument/2006/relationships/image" Target="../media/image87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80.png"/><Relationship Id="rId7" Type="http://schemas.openxmlformats.org/officeDocument/2006/relationships/image" Target="../media/image4210.png"/><Relationship Id="rId2" Type="http://schemas.openxmlformats.org/officeDocument/2006/relationships/image" Target="../media/image3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0.png"/><Relationship Id="rId11" Type="http://schemas.openxmlformats.org/officeDocument/2006/relationships/image" Target="../media/image39.png"/><Relationship Id="rId10" Type="http://schemas.openxmlformats.org/officeDocument/2006/relationships/image" Target="../media/image37.png"/><Relationship Id="rId4" Type="http://schemas.openxmlformats.org/officeDocument/2006/relationships/image" Target="../media/image401.png"/><Relationship Id="rId9" Type="http://schemas.openxmlformats.org/officeDocument/2006/relationships/image" Target="../media/image45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380.png"/><Relationship Id="rId7" Type="http://schemas.openxmlformats.org/officeDocument/2006/relationships/image" Target="../media/image70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4.png"/><Relationship Id="rId10" Type="http://schemas.openxmlformats.org/officeDocument/2006/relationships/image" Target="../media/image39.png"/><Relationship Id="rId4" Type="http://schemas.openxmlformats.org/officeDocument/2006/relationships/image" Target="../media/image4110.png"/><Relationship Id="rId9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380.png"/><Relationship Id="rId7" Type="http://schemas.openxmlformats.org/officeDocument/2006/relationships/image" Target="../media/image104.png"/><Relationship Id="rId12" Type="http://schemas.openxmlformats.org/officeDocument/2006/relationships/image" Target="../media/image109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08.png"/><Relationship Id="rId5" Type="http://schemas.openxmlformats.org/officeDocument/2006/relationships/image" Target="../media/image39.png"/><Relationship Id="rId10" Type="http://schemas.openxmlformats.org/officeDocument/2006/relationships/image" Target="../media/image107.png"/><Relationship Id="rId4" Type="http://schemas.openxmlformats.org/officeDocument/2006/relationships/image" Target="../media/image37.png"/><Relationship Id="rId9" Type="http://schemas.openxmlformats.org/officeDocument/2006/relationships/image" Target="../media/image106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13" Type="http://schemas.openxmlformats.org/officeDocument/2006/relationships/image" Target="../media/image93.png"/><Relationship Id="rId3" Type="http://schemas.openxmlformats.org/officeDocument/2006/relationships/image" Target="../media/image380.png"/><Relationship Id="rId7" Type="http://schemas.openxmlformats.org/officeDocument/2006/relationships/image" Target="../media/image111.png"/><Relationship Id="rId12" Type="http://schemas.openxmlformats.org/officeDocument/2006/relationships/image" Target="../media/image9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80.png"/><Relationship Id="rId5" Type="http://schemas.openxmlformats.org/officeDocument/2006/relationships/image" Target="../media/image39.png"/><Relationship Id="rId10" Type="http://schemas.openxmlformats.org/officeDocument/2006/relationships/image" Target="../media/image114.png"/><Relationship Id="rId4" Type="http://schemas.openxmlformats.org/officeDocument/2006/relationships/image" Target="../media/image37.png"/><Relationship Id="rId9" Type="http://schemas.openxmlformats.org/officeDocument/2006/relationships/image" Target="../media/image113.png"/><Relationship Id="rId14" Type="http://schemas.openxmlformats.org/officeDocument/2006/relationships/image" Target="../media/image13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0.png"/><Relationship Id="rId3" Type="http://schemas.openxmlformats.org/officeDocument/2006/relationships/image" Target="../media/image380.png"/><Relationship Id="rId7" Type="http://schemas.openxmlformats.org/officeDocument/2006/relationships/image" Target="../media/image450.png"/><Relationship Id="rId12" Type="http://schemas.openxmlformats.org/officeDocument/2006/relationships/image" Target="../media/image145.png"/><Relationship Id="rId2" Type="http://schemas.openxmlformats.org/officeDocument/2006/relationships/image" Target="../media/image821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44.png"/><Relationship Id="rId5" Type="http://schemas.openxmlformats.org/officeDocument/2006/relationships/image" Target="../media/image39.png"/><Relationship Id="rId10" Type="http://schemas.openxmlformats.org/officeDocument/2006/relationships/image" Target="../media/image142.png"/><Relationship Id="rId4" Type="http://schemas.openxmlformats.org/officeDocument/2006/relationships/image" Target="../media/image37.png"/><Relationship Id="rId9" Type="http://schemas.openxmlformats.org/officeDocument/2006/relationships/image" Target="../media/image14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13" Type="http://schemas.openxmlformats.org/officeDocument/2006/relationships/image" Target="../media/image155.png"/><Relationship Id="rId3" Type="http://schemas.openxmlformats.org/officeDocument/2006/relationships/image" Target="../media/image380.png"/><Relationship Id="rId7" Type="http://schemas.openxmlformats.org/officeDocument/2006/relationships/image" Target="../media/image5110.png"/><Relationship Id="rId12" Type="http://schemas.openxmlformats.org/officeDocument/2006/relationships/image" Target="../media/image154.png"/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53.png"/><Relationship Id="rId5" Type="http://schemas.openxmlformats.org/officeDocument/2006/relationships/image" Target="../media/image39.png"/><Relationship Id="rId10" Type="http://schemas.openxmlformats.org/officeDocument/2006/relationships/image" Target="../media/image152.png"/><Relationship Id="rId4" Type="http://schemas.openxmlformats.org/officeDocument/2006/relationships/image" Target="../media/image37.png"/><Relationship Id="rId9" Type="http://schemas.openxmlformats.org/officeDocument/2006/relationships/image" Target="../media/image151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10.png"/><Relationship Id="rId3" Type="http://schemas.openxmlformats.org/officeDocument/2006/relationships/image" Target="../media/image380.png"/><Relationship Id="rId7" Type="http://schemas.openxmlformats.org/officeDocument/2006/relationships/image" Target="../media/image5812.png"/><Relationship Id="rId2" Type="http://schemas.openxmlformats.org/officeDocument/2006/relationships/image" Target="../media/image57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140.png"/><Relationship Id="rId5" Type="http://schemas.openxmlformats.org/officeDocument/2006/relationships/image" Target="../media/image39.png"/><Relationship Id="rId10" Type="http://schemas.openxmlformats.org/officeDocument/2006/relationships/image" Target="../media/image157.png"/><Relationship Id="rId4" Type="http://schemas.openxmlformats.org/officeDocument/2006/relationships/image" Target="../media/image37.png"/><Relationship Id="rId9" Type="http://schemas.openxmlformats.org/officeDocument/2006/relationships/image" Target="../media/image701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7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8.png"/><Relationship Id="rId4" Type="http://schemas.openxmlformats.org/officeDocument/2006/relationships/image" Target="../media/image192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6.png"/><Relationship Id="rId13" Type="http://schemas.openxmlformats.org/officeDocument/2006/relationships/image" Target="../media/image9310.png"/><Relationship Id="rId3" Type="http://schemas.openxmlformats.org/officeDocument/2006/relationships/image" Target="../media/image92.png"/><Relationship Id="rId12" Type="http://schemas.openxmlformats.org/officeDocument/2006/relationships/image" Target="../media/image198.png"/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png"/><Relationship Id="rId11" Type="http://schemas.openxmlformats.org/officeDocument/2006/relationships/image" Target="../media/image195.png"/><Relationship Id="rId5" Type="http://schemas.openxmlformats.org/officeDocument/2006/relationships/image" Target="../media/image97.png"/><Relationship Id="rId10" Type="http://schemas.openxmlformats.org/officeDocument/2006/relationships/image" Target="../media/image1450.png"/><Relationship Id="rId9" Type="http://schemas.openxmlformats.org/officeDocument/2006/relationships/image" Target="../media/image197.png"/><Relationship Id="rId14" Type="http://schemas.openxmlformats.org/officeDocument/2006/relationships/image" Target="../media/image95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3.png"/><Relationship Id="rId3" Type="http://schemas.openxmlformats.org/officeDocument/2006/relationships/image" Target="../media/image92.png"/><Relationship Id="rId7" Type="http://schemas.openxmlformats.org/officeDocument/2006/relationships/image" Target="../media/image162.png"/><Relationship Id="rId12" Type="http://schemas.openxmlformats.org/officeDocument/2006/relationships/image" Target="../media/image95.png"/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9.png"/><Relationship Id="rId11" Type="http://schemas.openxmlformats.org/officeDocument/2006/relationships/image" Target="../media/image1690.png"/><Relationship Id="rId10" Type="http://schemas.openxmlformats.org/officeDocument/2006/relationships/image" Target="../media/image1640.png"/><Relationship Id="rId4" Type="http://schemas.openxmlformats.org/officeDocument/2006/relationships/image" Target="../media/image200.png"/></Relationships>
</file>

<file path=ppt/slides/_rels/slide3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15.png"/><Relationship Id="rId18" Type="http://schemas.openxmlformats.org/officeDocument/2006/relationships/image" Target="../media/image95.png"/><Relationship Id="rId3" Type="http://schemas.openxmlformats.org/officeDocument/2006/relationships/image" Target="../media/image92.png"/><Relationship Id="rId7" Type="http://schemas.openxmlformats.org/officeDocument/2006/relationships/image" Target="../media/image210.png"/><Relationship Id="rId12" Type="http://schemas.openxmlformats.org/officeDocument/2006/relationships/image" Target="../media/image214.png"/><Relationship Id="rId17" Type="http://schemas.openxmlformats.org/officeDocument/2006/relationships/image" Target="../media/image217.png"/><Relationship Id="rId2" Type="http://schemas.openxmlformats.org/officeDocument/2006/relationships/image" Target="../media/image115.png"/><Relationship Id="rId16" Type="http://schemas.openxmlformats.org/officeDocument/2006/relationships/image" Target="../media/image2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9.png"/><Relationship Id="rId11" Type="http://schemas.openxmlformats.org/officeDocument/2006/relationships/image" Target="../media/image213.png"/><Relationship Id="rId15" Type="http://schemas.openxmlformats.org/officeDocument/2006/relationships/image" Target="../media/image232.png"/><Relationship Id="rId10" Type="http://schemas.openxmlformats.org/officeDocument/2006/relationships/image" Target="../media/image212.png"/><Relationship Id="rId4" Type="http://schemas.openxmlformats.org/officeDocument/2006/relationships/image" Target="../media/image208.png"/><Relationship Id="rId9" Type="http://schemas.openxmlformats.org/officeDocument/2006/relationships/image" Target="../media/image211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0.png"/><Relationship Id="rId18" Type="http://schemas.openxmlformats.org/officeDocument/2006/relationships/image" Target="../media/image95.png"/><Relationship Id="rId3" Type="http://schemas.openxmlformats.org/officeDocument/2006/relationships/image" Target="../media/image92.png"/><Relationship Id="rId7" Type="http://schemas.openxmlformats.org/officeDocument/2006/relationships/image" Target="../media/image219.png"/><Relationship Id="rId17" Type="http://schemas.openxmlformats.org/officeDocument/2006/relationships/image" Target="../media/image236.png"/><Relationship Id="rId2" Type="http://schemas.openxmlformats.org/officeDocument/2006/relationships/image" Target="../media/image2170.png"/><Relationship Id="rId16" Type="http://schemas.openxmlformats.org/officeDocument/2006/relationships/image" Target="../media/image2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20.png"/><Relationship Id="rId15" Type="http://schemas.openxmlformats.org/officeDocument/2006/relationships/image" Target="../media/image234.png"/><Relationship Id="rId10" Type="http://schemas.openxmlformats.org/officeDocument/2006/relationships/image" Target="../media/image222.png"/><Relationship Id="rId4" Type="http://schemas.openxmlformats.org/officeDocument/2006/relationships/image" Target="../media/image170.png"/></Relationships>
</file>

<file path=ppt/slides/_rels/slide4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7.png"/><Relationship Id="rId18" Type="http://schemas.openxmlformats.org/officeDocument/2006/relationships/image" Target="../media/image241.png"/><Relationship Id="rId3" Type="http://schemas.openxmlformats.org/officeDocument/2006/relationships/image" Target="../media/image92.png"/><Relationship Id="rId17" Type="http://schemas.openxmlformats.org/officeDocument/2006/relationships/image" Target="../media/image240.png"/><Relationship Id="rId2" Type="http://schemas.openxmlformats.org/officeDocument/2006/relationships/image" Target="../media/image160.png"/><Relationship Id="rId16" Type="http://schemas.openxmlformats.org/officeDocument/2006/relationships/image" Target="../media/image239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174.png"/><Relationship Id="rId19" Type="http://schemas.openxmlformats.org/officeDocument/2006/relationships/image" Target="../media/image95.png"/><Relationship Id="rId4" Type="http://schemas.openxmlformats.org/officeDocument/2006/relationships/image" Target="../media/image164.png"/><Relationship Id="rId14" Type="http://schemas.openxmlformats.org/officeDocument/2006/relationships/image" Target="../media/image17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0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30.png"/><Relationship Id="rId4" Type="http://schemas.openxmlformats.org/officeDocument/2006/relationships/image" Target="../media/image244.png"/></Relationships>
</file>

<file path=ppt/slides/_rels/slide43.xml.rels><?xml version="1.0" encoding="UTF-8" standalone="yes"?>
<Relationships xmlns="http://schemas.openxmlformats.org/package/2006/relationships"><Relationship Id="rId18" Type="http://schemas.openxmlformats.org/officeDocument/2006/relationships/image" Target="../media/image251.png"/><Relationship Id="rId3" Type="http://schemas.openxmlformats.org/officeDocument/2006/relationships/image" Target="../media/image960.png"/><Relationship Id="rId21" Type="http://schemas.openxmlformats.org/officeDocument/2006/relationships/image" Target="../media/image224.png"/><Relationship Id="rId17" Type="http://schemas.openxmlformats.org/officeDocument/2006/relationships/image" Target="../media/image223.png"/><Relationship Id="rId2" Type="http://schemas.openxmlformats.org/officeDocument/2006/relationships/image" Target="../media/image123.png"/><Relationship Id="rId16" Type="http://schemas.openxmlformats.org/officeDocument/2006/relationships/image" Target="../media/image249.png"/><Relationship Id="rId20" Type="http://schemas.openxmlformats.org/officeDocument/2006/relationships/image" Target="../media/image1230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248.png"/><Relationship Id="rId19" Type="http://schemas.openxmlformats.org/officeDocument/2006/relationships/image" Target="../media/image252.png"/><Relationship Id="rId4" Type="http://schemas.openxmlformats.org/officeDocument/2006/relationships/image" Target="../media/image13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1" Type="http://schemas.openxmlformats.org/officeDocument/2006/relationships/image" Target="../media/image181.png"/><Relationship Id="rId2" Type="http://schemas.openxmlformats.org/officeDocument/2006/relationships/image" Target="../media/image1190.png"/><Relationship Id="rId20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191.png"/><Relationship Id="rId23" Type="http://schemas.openxmlformats.org/officeDocument/2006/relationships/image" Target="../media/image188.png"/><Relationship Id="rId19" Type="http://schemas.openxmlformats.org/officeDocument/2006/relationships/image" Target="../media/image259.png"/><Relationship Id="rId4" Type="http://schemas.openxmlformats.org/officeDocument/2006/relationships/image" Target="../media/image255.png"/><Relationship Id="rId22" Type="http://schemas.openxmlformats.org/officeDocument/2006/relationships/image" Target="../media/image123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5.png"/><Relationship Id="rId13" Type="http://schemas.openxmlformats.org/officeDocument/2006/relationships/image" Target="../media/image123.png"/><Relationship Id="rId3" Type="http://schemas.openxmlformats.org/officeDocument/2006/relationships/image" Target="../media/image136.png"/><Relationship Id="rId7" Type="http://schemas.openxmlformats.org/officeDocument/2006/relationships/image" Target="../media/image264.png"/><Relationship Id="rId12" Type="http://schemas.openxmlformats.org/officeDocument/2006/relationships/image" Target="../media/image268.png"/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3.png"/><Relationship Id="rId11" Type="http://schemas.openxmlformats.org/officeDocument/2006/relationships/image" Target="../media/image267.png"/><Relationship Id="rId10" Type="http://schemas.openxmlformats.org/officeDocument/2006/relationships/image" Target="../media/image266.png"/><Relationship Id="rId4" Type="http://schemas.openxmlformats.org/officeDocument/2006/relationships/image" Target="../media/image262.png"/></Relationships>
</file>

<file path=ppt/slides/_rels/slide4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360.png"/><Relationship Id="rId3" Type="http://schemas.openxmlformats.org/officeDocument/2006/relationships/image" Target="../media/image136.png"/><Relationship Id="rId25" Type="http://schemas.openxmlformats.org/officeDocument/2006/relationships/image" Target="../media/image279.png"/><Relationship Id="rId2" Type="http://schemas.openxmlformats.org/officeDocument/2006/relationships/image" Target="../media/image1320.png"/><Relationship Id="rId16" Type="http://schemas.openxmlformats.org/officeDocument/2006/relationships/image" Target="../media/image271.png"/><Relationship Id="rId29" Type="http://schemas.openxmlformats.org/officeDocument/2006/relationships/image" Target="../media/image283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78.png"/><Relationship Id="rId28" Type="http://schemas.openxmlformats.org/officeDocument/2006/relationships/image" Target="../media/image282.png"/><Relationship Id="rId31" Type="http://schemas.openxmlformats.org/officeDocument/2006/relationships/image" Target="../media/image123.png"/><Relationship Id="rId27" Type="http://schemas.openxmlformats.org/officeDocument/2006/relationships/image" Target="../media/image281.png"/><Relationship Id="rId30" Type="http://schemas.openxmlformats.org/officeDocument/2006/relationships/image" Target="../media/image284.png"/></Relationships>
</file>

<file path=ppt/slides/_rels/slide47.xml.rels><?xml version="1.0" encoding="UTF-8" standalone="yes"?>
<Relationships xmlns="http://schemas.openxmlformats.org/package/2006/relationships"><Relationship Id="rId18" Type="http://schemas.openxmlformats.org/officeDocument/2006/relationships/image" Target="../media/image290.png"/><Relationship Id="rId3" Type="http://schemas.openxmlformats.org/officeDocument/2006/relationships/image" Target="../media/image136.png"/><Relationship Id="rId17" Type="http://schemas.openxmlformats.org/officeDocument/2006/relationships/image" Target="../media/image289.png"/><Relationship Id="rId2" Type="http://schemas.openxmlformats.org/officeDocument/2006/relationships/image" Target="../media/image3211.png"/><Relationship Id="rId16" Type="http://schemas.openxmlformats.org/officeDocument/2006/relationships/image" Target="../media/image201.png"/><Relationship Id="rId20" Type="http://schemas.openxmlformats.org/officeDocument/2006/relationships/image" Target="../media/image123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199.png"/><Relationship Id="rId19" Type="http://schemas.openxmlformats.org/officeDocument/2006/relationships/image" Target="../media/image291.png"/><Relationship Id="rId4" Type="http://schemas.openxmlformats.org/officeDocument/2006/relationships/image" Target="../media/image193.png"/><Relationship Id="rId14" Type="http://schemas.openxmlformats.org/officeDocument/2006/relationships/image" Target="../media/image286.png"/></Relationships>
</file>

<file path=ppt/slides/_rels/slide48.xml.rels><?xml version="1.0" encoding="UTF-8" standalone="yes"?>
<Relationships xmlns="http://schemas.openxmlformats.org/package/2006/relationships"><Relationship Id="rId18" Type="http://schemas.openxmlformats.org/officeDocument/2006/relationships/image" Target="../media/image297.png"/><Relationship Id="rId3" Type="http://schemas.openxmlformats.org/officeDocument/2006/relationships/image" Target="../media/image136.png"/><Relationship Id="rId17" Type="http://schemas.openxmlformats.org/officeDocument/2006/relationships/image" Target="../media/image204.png"/><Relationship Id="rId2" Type="http://schemas.openxmlformats.org/officeDocument/2006/relationships/image" Target="../media/image1910.png"/><Relationship Id="rId16" Type="http://schemas.openxmlformats.org/officeDocument/2006/relationships/image" Target="../media/image2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2.png"/><Relationship Id="rId5" Type="http://schemas.openxmlformats.org/officeDocument/2006/relationships/image" Target="../media/image1930.png"/><Relationship Id="rId15" Type="http://schemas.openxmlformats.org/officeDocument/2006/relationships/image" Target="../media/image294.png"/><Relationship Id="rId19" Type="http://schemas.openxmlformats.org/officeDocument/2006/relationships/image" Target="../media/image123.png"/></Relationships>
</file>

<file path=ppt/slides/_rels/slide4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8.png"/><Relationship Id="rId3" Type="http://schemas.openxmlformats.org/officeDocument/2006/relationships/image" Target="../media/image136.png"/><Relationship Id="rId7" Type="http://schemas.openxmlformats.org/officeDocument/2006/relationships/image" Target="../media/image206.png"/><Relationship Id="rId12" Type="http://schemas.openxmlformats.org/officeDocument/2006/relationships/image" Target="../media/image226.png"/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5.png"/><Relationship Id="rId11" Type="http://schemas.openxmlformats.org/officeDocument/2006/relationships/image" Target="../media/image207.png"/><Relationship Id="rId5" Type="http://schemas.openxmlformats.org/officeDocument/2006/relationships/image" Target="../media/image15700.png"/><Relationship Id="rId15" Type="http://schemas.openxmlformats.org/officeDocument/2006/relationships/image" Target="../media/image123.png"/><Relationship Id="rId10" Type="http://schemas.openxmlformats.org/officeDocument/2006/relationships/image" Target="../media/image1610.png"/><Relationship Id="rId14" Type="http://schemas.openxmlformats.org/officeDocument/2006/relationships/image" Target="../media/image1650.png"/></Relationships>
</file>

<file path=ppt/slides/_rels/slide50.xml.rels><?xml version="1.0" encoding="UTF-8" standalone="yes"?>
<Relationships xmlns="http://schemas.openxmlformats.org/package/2006/relationships"><Relationship Id="rId18" Type="http://schemas.openxmlformats.org/officeDocument/2006/relationships/image" Target="../media/image27.png"/><Relationship Id="rId26" Type="http://schemas.openxmlformats.org/officeDocument/2006/relationships/image" Target="../media/image238.png"/><Relationship Id="rId3" Type="http://schemas.openxmlformats.org/officeDocument/2006/relationships/image" Target="../media/image136.png"/><Relationship Id="rId17" Type="http://schemas.openxmlformats.org/officeDocument/2006/relationships/image" Target="../media/image230.png"/><Relationship Id="rId25" Type="http://schemas.openxmlformats.org/officeDocument/2006/relationships/image" Target="../media/image233.png"/><Relationship Id="rId2" Type="http://schemas.openxmlformats.org/officeDocument/2006/relationships/image" Target="../media/image38.png"/><Relationship Id="rId16" Type="http://schemas.openxmlformats.org/officeDocument/2006/relationships/image" Target="../media/image229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31.png"/><Relationship Id="rId5" Type="http://schemas.openxmlformats.org/officeDocument/2006/relationships/image" Target="../media/image1670.png"/><Relationship Id="rId15" Type="http://schemas.openxmlformats.org/officeDocument/2006/relationships/image" Target="../media/image303.png"/><Relationship Id="rId23" Type="http://schemas.openxmlformats.org/officeDocument/2006/relationships/image" Target="../media/image309.png"/><Relationship Id="rId28" Type="http://schemas.openxmlformats.org/officeDocument/2006/relationships/image" Target="../media/image641.png"/><Relationship Id="rId27" Type="http://schemas.openxmlformats.org/officeDocument/2006/relationships/image" Target="../media/image226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6.png"/><Relationship Id="rId10" Type="http://schemas.openxmlformats.org/officeDocument/2006/relationships/image" Target="../media/image321.png"/><Relationship Id="rId4" Type="http://schemas.openxmlformats.org/officeDocument/2006/relationships/image" Target="../media/image24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1" Type="http://schemas.openxmlformats.org/officeDocument/2006/relationships/image" Target="../media/image254.png"/><Relationship Id="rId7" Type="http://schemas.openxmlformats.org/officeDocument/2006/relationships/image" Target="../media/image220.png"/><Relationship Id="rId2" Type="http://schemas.openxmlformats.org/officeDocument/2006/relationships/notesSlide" Target="../notesSlides/notesSlide10.xml"/><Relationship Id="rId20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8.png"/><Relationship Id="rId24" Type="http://schemas.openxmlformats.org/officeDocument/2006/relationships/image" Target="../media/image225.png"/><Relationship Id="rId23" Type="http://schemas.openxmlformats.org/officeDocument/2006/relationships/image" Target="../media/image221.png"/><Relationship Id="rId19" Type="http://schemas.openxmlformats.org/officeDocument/2006/relationships/image" Target="../media/image337.png"/><Relationship Id="rId4" Type="http://schemas.openxmlformats.org/officeDocument/2006/relationships/image" Target="../media/image190.png"/><Relationship Id="rId22" Type="http://schemas.openxmlformats.org/officeDocument/2006/relationships/image" Target="../media/image25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344.png"/><Relationship Id="rId12" Type="http://schemas.openxmlformats.org/officeDocument/2006/relationships/image" Target="../media/image247.png"/><Relationship Id="rId17" Type="http://schemas.openxmlformats.org/officeDocument/2006/relationships/image" Target="../media/image257.png"/><Relationship Id="rId2" Type="http://schemas.openxmlformats.org/officeDocument/2006/relationships/image" Target="../media/image227.png"/><Relationship Id="rId16" Type="http://schemas.openxmlformats.org/officeDocument/2006/relationships/image" Target="../media/image225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46.png"/><Relationship Id="rId15" Type="http://schemas.openxmlformats.org/officeDocument/2006/relationships/image" Target="../media/image225.png"/><Relationship Id="rId4" Type="http://schemas.openxmlformats.org/officeDocument/2006/relationships/image" Target="../media/image245.png"/><Relationship Id="rId14" Type="http://schemas.openxmlformats.org/officeDocument/2006/relationships/image" Target="../media/image2461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190.png"/><Relationship Id="rId7" Type="http://schemas.openxmlformats.org/officeDocument/2006/relationships/image" Target="../media/image349.png"/><Relationship Id="rId2" Type="http://schemas.openxmlformats.org/officeDocument/2006/relationships/image" Target="../media/image2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8.png"/><Relationship Id="rId11" Type="http://schemas.openxmlformats.org/officeDocument/2006/relationships/image" Target="../media/image225.png"/><Relationship Id="rId10" Type="http://schemas.openxmlformats.org/officeDocument/2006/relationships/image" Target="../media/image351.png"/><Relationship Id="rId4" Type="http://schemas.openxmlformats.org/officeDocument/2006/relationships/image" Target="../media/image261.png"/></Relationships>
</file>

<file path=ppt/slides/_rels/slide5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56.png"/><Relationship Id="rId3" Type="http://schemas.openxmlformats.org/officeDocument/2006/relationships/image" Target="../media/image190.png"/><Relationship Id="rId12" Type="http://schemas.openxmlformats.org/officeDocument/2006/relationships/image" Target="../media/image355.png"/><Relationship Id="rId17" Type="http://schemas.openxmlformats.org/officeDocument/2006/relationships/image" Target="../media/image225.png"/><Relationship Id="rId2" Type="http://schemas.openxmlformats.org/officeDocument/2006/relationships/image" Target="../media/image269.png"/><Relationship Id="rId16" Type="http://schemas.openxmlformats.org/officeDocument/2006/relationships/image" Target="../media/image273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242.png"/><Relationship Id="rId10" Type="http://schemas.openxmlformats.org/officeDocument/2006/relationships/image" Target="../media/image351.png"/><Relationship Id="rId4" Type="http://schemas.openxmlformats.org/officeDocument/2006/relationships/image" Target="../media/image270.png"/><Relationship Id="rId14" Type="http://schemas.openxmlformats.org/officeDocument/2006/relationships/image" Target="../media/image357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90.png"/><Relationship Id="rId3" Type="http://schemas.openxmlformats.org/officeDocument/2006/relationships/image" Target="../media/image190.png"/><Relationship Id="rId7" Type="http://schemas.openxmlformats.org/officeDocument/2006/relationships/image" Target="../media/image276.png"/><Relationship Id="rId12" Type="http://schemas.openxmlformats.org/officeDocument/2006/relationships/image" Target="../media/image225.png"/><Relationship Id="rId2" Type="http://schemas.openxmlformats.org/officeDocument/2006/relationships/image" Target="../media/image2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11" Type="http://schemas.openxmlformats.org/officeDocument/2006/relationships/image" Target="../media/image2280.png"/><Relationship Id="rId10" Type="http://schemas.openxmlformats.org/officeDocument/2006/relationships/image" Target="../media/image2501.png"/><Relationship Id="rId4" Type="http://schemas.openxmlformats.org/officeDocument/2006/relationships/image" Target="../media/image275.png"/><Relationship Id="rId9" Type="http://schemas.openxmlformats.org/officeDocument/2006/relationships/image" Target="../media/image363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5.png"/><Relationship Id="rId13" Type="http://schemas.openxmlformats.org/officeDocument/2006/relationships/image" Target="../media/image225.png"/><Relationship Id="rId3" Type="http://schemas.openxmlformats.org/officeDocument/2006/relationships/image" Target="../media/image190.png"/><Relationship Id="rId7" Type="http://schemas.openxmlformats.org/officeDocument/2006/relationships/image" Target="../media/image2300.png"/><Relationship Id="rId12" Type="http://schemas.openxmlformats.org/officeDocument/2006/relationships/image" Target="../media/image287.png"/><Relationship Id="rId2" Type="http://schemas.openxmlformats.org/officeDocument/2006/relationships/image" Target="../media/image277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570.png"/><Relationship Id="rId10" Type="http://schemas.openxmlformats.org/officeDocument/2006/relationships/image" Target="../media/image253.png"/><Relationship Id="rId4" Type="http://schemas.openxmlformats.org/officeDocument/2006/relationships/image" Target="../media/image280.png"/><Relationship Id="rId9" Type="http://schemas.openxmlformats.org/officeDocument/2006/relationships/image" Target="../media/image2460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20.png"/><Relationship Id="rId3" Type="http://schemas.openxmlformats.org/officeDocument/2006/relationships/image" Target="../media/image288.png"/><Relationship Id="rId7" Type="http://schemas.openxmlformats.org/officeDocument/2006/relationships/image" Target="../media/image2761.png"/><Relationship Id="rId2" Type="http://schemas.openxmlformats.org/officeDocument/2006/relationships/image" Target="../media/image225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750.png"/><Relationship Id="rId5" Type="http://schemas.openxmlformats.org/officeDocument/2006/relationships/image" Target="../media/image292.png"/><Relationship Id="rId10" Type="http://schemas.openxmlformats.org/officeDocument/2006/relationships/image" Target="../media/image293.png"/><Relationship Id="rId4" Type="http://schemas.openxmlformats.org/officeDocument/2006/relationships/image" Target="../media/image190.png"/><Relationship Id="rId9" Type="http://schemas.openxmlformats.org/officeDocument/2006/relationships/image" Target="../media/image2730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60.png"/><Relationship Id="rId13" Type="http://schemas.openxmlformats.org/officeDocument/2006/relationships/image" Target="../media/image300.png"/><Relationship Id="rId3" Type="http://schemas.openxmlformats.org/officeDocument/2006/relationships/image" Target="../media/image296.png"/><Relationship Id="rId7" Type="http://schemas.openxmlformats.org/officeDocument/2006/relationships/image" Target="../media/image2540.png"/><Relationship Id="rId12" Type="http://schemas.openxmlformats.org/officeDocument/2006/relationships/image" Target="../media/image308.png"/><Relationship Id="rId2" Type="http://schemas.openxmlformats.org/officeDocument/2006/relationships/image" Target="../media/image225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07.png"/><Relationship Id="rId5" Type="http://schemas.openxmlformats.org/officeDocument/2006/relationships/image" Target="../media/image298.png"/><Relationship Id="rId10" Type="http://schemas.openxmlformats.org/officeDocument/2006/relationships/image" Target="../media/image306.png"/><Relationship Id="rId4" Type="http://schemas.openxmlformats.org/officeDocument/2006/relationships/image" Target="../media/image190.png"/><Relationship Id="rId9" Type="http://schemas.openxmlformats.org/officeDocument/2006/relationships/image" Target="../media/image299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80.png"/><Relationship Id="rId3" Type="http://schemas.openxmlformats.org/officeDocument/2006/relationships/image" Target="../media/image301.png"/><Relationship Id="rId7" Type="http://schemas.openxmlformats.org/officeDocument/2006/relationships/image" Target="../media/image317.png"/><Relationship Id="rId2" Type="http://schemas.openxmlformats.org/officeDocument/2006/relationships/image" Target="../media/image2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2.png"/><Relationship Id="rId10" Type="http://schemas.openxmlformats.org/officeDocument/2006/relationships/image" Target="../media/image322.png"/><Relationship Id="rId4" Type="http://schemas.openxmlformats.org/officeDocument/2006/relationships/image" Target="../media/image190.png"/><Relationship Id="rId9" Type="http://schemas.openxmlformats.org/officeDocument/2006/relationships/image" Target="../media/image2731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8.png"/><Relationship Id="rId3" Type="http://schemas.openxmlformats.org/officeDocument/2006/relationships/image" Target="../media/image304.png"/><Relationship Id="rId7" Type="http://schemas.openxmlformats.org/officeDocument/2006/relationships/image" Target="../media/image327.png"/><Relationship Id="rId12" Type="http://schemas.openxmlformats.org/officeDocument/2006/relationships/image" Target="../media/image311.png"/><Relationship Id="rId2" Type="http://schemas.openxmlformats.org/officeDocument/2006/relationships/image" Target="../media/image225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72.png"/><Relationship Id="rId5" Type="http://schemas.openxmlformats.org/officeDocument/2006/relationships/image" Target="../media/image305.png"/><Relationship Id="rId10" Type="http://schemas.openxmlformats.org/officeDocument/2006/relationships/image" Target="../media/image329.png"/><Relationship Id="rId4" Type="http://schemas.openxmlformats.org/officeDocument/2006/relationships/image" Target="../media/image190.png"/><Relationship Id="rId9" Type="http://schemas.openxmlformats.org/officeDocument/2006/relationships/image" Target="../media/image319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3.png"/><Relationship Id="rId3" Type="http://schemas.openxmlformats.org/officeDocument/2006/relationships/image" Target="../media/image312.png"/><Relationship Id="rId7" Type="http://schemas.openxmlformats.org/officeDocument/2006/relationships/image" Target="../media/image342.png"/><Relationship Id="rId12" Type="http://schemas.openxmlformats.org/officeDocument/2006/relationships/image" Target="../media/image316.png"/><Relationship Id="rId2" Type="http://schemas.openxmlformats.org/officeDocument/2006/relationships/image" Target="../media/image2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6.png"/><Relationship Id="rId11" Type="http://schemas.openxmlformats.org/officeDocument/2006/relationships/image" Target="../media/image314.png"/><Relationship Id="rId10" Type="http://schemas.openxmlformats.org/officeDocument/2006/relationships/image" Target="../media/image352.png"/><Relationship Id="rId4" Type="http://schemas.openxmlformats.org/officeDocument/2006/relationships/image" Target="../media/image190.png"/><Relationship Id="rId9" Type="http://schemas.openxmlformats.org/officeDocument/2006/relationships/image" Target="../media/image313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3" Type="http://schemas.openxmlformats.org/officeDocument/2006/relationships/image" Target="../media/image318.png"/><Relationship Id="rId7" Type="http://schemas.openxmlformats.org/officeDocument/2006/relationships/image" Target="../media/image367.png"/><Relationship Id="rId2" Type="http://schemas.openxmlformats.org/officeDocument/2006/relationships/image" Target="../media/image2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60.png"/><Relationship Id="rId11" Type="http://schemas.openxmlformats.org/officeDocument/2006/relationships/image" Target="../media/image323.png"/><Relationship Id="rId5" Type="http://schemas.openxmlformats.org/officeDocument/2006/relationships/image" Target="../media/image365.png"/><Relationship Id="rId10" Type="http://schemas.openxmlformats.org/officeDocument/2006/relationships/image" Target="../media/image369.png"/><Relationship Id="rId4" Type="http://schemas.openxmlformats.org/officeDocument/2006/relationships/image" Target="../media/image190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21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4.png"/><Relationship Id="rId4" Type="http://schemas.openxmlformats.org/officeDocument/2006/relationships/image" Target="../media/image3100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2.png"/><Relationship Id="rId3" Type="http://schemas.openxmlformats.org/officeDocument/2006/relationships/image" Target="../media/image326.png"/><Relationship Id="rId7" Type="http://schemas.openxmlformats.org/officeDocument/2006/relationships/image" Target="../media/image331.png"/><Relationship Id="rId2" Type="http://schemas.openxmlformats.org/officeDocument/2006/relationships/image" Target="../media/image3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8.png"/><Relationship Id="rId5" Type="http://schemas.openxmlformats.org/officeDocument/2006/relationships/image" Target="../media/image330.png"/><Relationship Id="rId4" Type="http://schemas.openxmlformats.org/officeDocument/2006/relationships/image" Target="../media/image325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5.png"/><Relationship Id="rId7" Type="http://schemas.openxmlformats.org/officeDocument/2006/relationships/image" Target="../media/image333.png"/><Relationship Id="rId12" Type="http://schemas.openxmlformats.org/officeDocument/2006/relationships/image" Target="../media/image315.png"/><Relationship Id="rId2" Type="http://schemas.openxmlformats.org/officeDocument/2006/relationships/image" Target="../media/image3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3.png"/><Relationship Id="rId11" Type="http://schemas.openxmlformats.org/officeDocument/2006/relationships/image" Target="../media/image388.png"/><Relationship Id="rId10" Type="http://schemas.openxmlformats.org/officeDocument/2006/relationships/image" Target="../media/image334.png"/><Relationship Id="rId9" Type="http://schemas.openxmlformats.org/officeDocument/2006/relationships/image" Target="../media/image386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5.png"/><Relationship Id="rId3" Type="http://schemas.openxmlformats.org/officeDocument/2006/relationships/image" Target="../media/image325.png"/><Relationship Id="rId7" Type="http://schemas.openxmlformats.org/officeDocument/2006/relationships/image" Target="../media/image341.png"/><Relationship Id="rId2" Type="http://schemas.openxmlformats.org/officeDocument/2006/relationships/image" Target="../media/image3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0.png"/><Relationship Id="rId11" Type="http://schemas.openxmlformats.org/officeDocument/2006/relationships/image" Target="../media/image353.png"/><Relationship Id="rId5" Type="http://schemas.openxmlformats.org/officeDocument/2006/relationships/image" Target="../media/image339.png"/><Relationship Id="rId10" Type="http://schemas.openxmlformats.org/officeDocument/2006/relationships/image" Target="../media/image347.png"/><Relationship Id="rId4" Type="http://schemas.openxmlformats.org/officeDocument/2006/relationships/image" Target="../media/image338.png"/><Relationship Id="rId9" Type="http://schemas.openxmlformats.org/officeDocument/2006/relationships/image" Target="../media/image315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5.png"/><Relationship Id="rId3" Type="http://schemas.openxmlformats.org/officeDocument/2006/relationships/image" Target="../media/image354.png"/><Relationship Id="rId7" Type="http://schemas.openxmlformats.org/officeDocument/2006/relationships/image" Target="../media/image362.png"/><Relationship Id="rId2" Type="http://schemas.openxmlformats.org/officeDocument/2006/relationships/image" Target="../media/image3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1.png"/><Relationship Id="rId5" Type="http://schemas.openxmlformats.org/officeDocument/2006/relationships/image" Target="../media/image359.png"/><Relationship Id="rId4" Type="http://schemas.openxmlformats.org/officeDocument/2006/relationships/image" Target="../media/image358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2.png"/><Relationship Id="rId3" Type="http://schemas.openxmlformats.org/officeDocument/2006/relationships/image" Target="../media/image364.png"/><Relationship Id="rId7" Type="http://schemas.openxmlformats.org/officeDocument/2006/relationships/image" Target="../media/image371.png"/><Relationship Id="rId2" Type="http://schemas.openxmlformats.org/officeDocument/2006/relationships/image" Target="../media/image3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5" Type="http://schemas.openxmlformats.org/officeDocument/2006/relationships/image" Target="../media/image368.png"/><Relationship Id="rId4" Type="http://schemas.openxmlformats.org/officeDocument/2006/relationships/image" Target="../media/image366.png"/><Relationship Id="rId9" Type="http://schemas.openxmlformats.org/officeDocument/2006/relationships/image" Target="../media/image315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9.png"/><Relationship Id="rId3" Type="http://schemas.openxmlformats.org/officeDocument/2006/relationships/image" Target="../media/image325.png"/><Relationship Id="rId7" Type="http://schemas.openxmlformats.org/officeDocument/2006/relationships/image" Target="../media/image377.png"/><Relationship Id="rId12" Type="http://schemas.openxmlformats.org/officeDocument/2006/relationships/image" Target="../media/image315.png"/><Relationship Id="rId2" Type="http://schemas.openxmlformats.org/officeDocument/2006/relationships/image" Target="../media/image37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5.png"/><Relationship Id="rId11" Type="http://schemas.openxmlformats.org/officeDocument/2006/relationships/image" Target="../media/image384.png"/><Relationship Id="rId5" Type="http://schemas.openxmlformats.org/officeDocument/2006/relationships/image" Target="../media/image374.png"/><Relationship Id="rId10" Type="http://schemas.openxmlformats.org/officeDocument/2006/relationships/image" Target="../media/image382.png"/><Relationship Id="rId4" Type="http://schemas.openxmlformats.org/officeDocument/2006/relationships/image" Target="../media/image373.png"/><Relationship Id="rId9" Type="http://schemas.openxmlformats.org/officeDocument/2006/relationships/image" Target="../media/image381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5.png"/><Relationship Id="rId3" Type="http://schemas.openxmlformats.org/officeDocument/2006/relationships/image" Target="../media/image325.png"/><Relationship Id="rId7" Type="http://schemas.openxmlformats.org/officeDocument/2006/relationships/image" Target="../media/image394.png"/><Relationship Id="rId12" Type="http://schemas.openxmlformats.org/officeDocument/2006/relationships/image" Target="../media/image315.png"/><Relationship Id="rId2" Type="http://schemas.openxmlformats.org/officeDocument/2006/relationships/image" Target="../media/image38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3.png"/><Relationship Id="rId11" Type="http://schemas.openxmlformats.org/officeDocument/2006/relationships/image" Target="../media/image398.png"/><Relationship Id="rId5" Type="http://schemas.openxmlformats.org/officeDocument/2006/relationships/image" Target="../media/image392.png"/><Relationship Id="rId10" Type="http://schemas.openxmlformats.org/officeDocument/2006/relationships/image" Target="../media/image397.png"/><Relationship Id="rId4" Type="http://schemas.openxmlformats.org/officeDocument/2006/relationships/image" Target="../media/image390.png"/><Relationship Id="rId9" Type="http://schemas.openxmlformats.org/officeDocument/2006/relationships/image" Target="../media/image396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6.png"/><Relationship Id="rId3" Type="http://schemas.openxmlformats.org/officeDocument/2006/relationships/image" Target="../media/image325.png"/><Relationship Id="rId7" Type="http://schemas.openxmlformats.org/officeDocument/2006/relationships/image" Target="../media/image405.png"/><Relationship Id="rId2" Type="http://schemas.openxmlformats.org/officeDocument/2006/relationships/image" Target="../media/image3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4.png"/><Relationship Id="rId11" Type="http://schemas.openxmlformats.org/officeDocument/2006/relationships/image" Target="../media/image315.png"/><Relationship Id="rId5" Type="http://schemas.openxmlformats.org/officeDocument/2006/relationships/image" Target="../media/image403.png"/><Relationship Id="rId10" Type="http://schemas.openxmlformats.org/officeDocument/2006/relationships/image" Target="../media/image408.png"/><Relationship Id="rId4" Type="http://schemas.openxmlformats.org/officeDocument/2006/relationships/image" Target="../media/image402.png"/><Relationship Id="rId9" Type="http://schemas.openxmlformats.org/officeDocument/2006/relationships/image" Target="../media/image407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4.png"/><Relationship Id="rId3" Type="http://schemas.openxmlformats.org/officeDocument/2006/relationships/image" Target="../media/image325.png"/><Relationship Id="rId7" Type="http://schemas.openxmlformats.org/officeDocument/2006/relationships/image" Target="../media/image413.png"/><Relationship Id="rId12" Type="http://schemas.openxmlformats.org/officeDocument/2006/relationships/image" Target="../media/image315.png"/><Relationship Id="rId2" Type="http://schemas.openxmlformats.org/officeDocument/2006/relationships/image" Target="../media/image40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2.png"/><Relationship Id="rId11" Type="http://schemas.openxmlformats.org/officeDocument/2006/relationships/image" Target="../media/image417.png"/><Relationship Id="rId5" Type="http://schemas.openxmlformats.org/officeDocument/2006/relationships/image" Target="../media/image411.png"/><Relationship Id="rId10" Type="http://schemas.openxmlformats.org/officeDocument/2006/relationships/image" Target="../media/image416.png"/><Relationship Id="rId4" Type="http://schemas.openxmlformats.org/officeDocument/2006/relationships/image" Target="../media/image410.png"/><Relationship Id="rId9" Type="http://schemas.openxmlformats.org/officeDocument/2006/relationships/image" Target="../media/image415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4.png"/><Relationship Id="rId13" Type="http://schemas.openxmlformats.org/officeDocument/2006/relationships/image" Target="../media/image315.png"/><Relationship Id="rId3" Type="http://schemas.openxmlformats.org/officeDocument/2006/relationships/image" Target="../media/image325.png"/><Relationship Id="rId7" Type="http://schemas.openxmlformats.org/officeDocument/2006/relationships/image" Target="../media/image423.png"/><Relationship Id="rId12" Type="http://schemas.openxmlformats.org/officeDocument/2006/relationships/image" Target="../media/image428.png"/><Relationship Id="rId2" Type="http://schemas.openxmlformats.org/officeDocument/2006/relationships/image" Target="../media/image4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2.png"/><Relationship Id="rId11" Type="http://schemas.openxmlformats.org/officeDocument/2006/relationships/image" Target="../media/image427.png"/><Relationship Id="rId5" Type="http://schemas.openxmlformats.org/officeDocument/2006/relationships/image" Target="../media/image421.png"/><Relationship Id="rId10" Type="http://schemas.openxmlformats.org/officeDocument/2006/relationships/image" Target="../media/image426.png"/><Relationship Id="rId4" Type="http://schemas.openxmlformats.org/officeDocument/2006/relationships/image" Target="../media/image419.png"/><Relationship Id="rId9" Type="http://schemas.openxmlformats.org/officeDocument/2006/relationships/image" Target="../media/image425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3" Type="http://schemas.openxmlformats.org/officeDocument/2006/relationships/image" Target="../media/image325.png"/><Relationship Id="rId7" Type="http://schemas.openxmlformats.org/officeDocument/2006/relationships/image" Target="../media/image434.png"/><Relationship Id="rId2" Type="http://schemas.openxmlformats.org/officeDocument/2006/relationships/image" Target="../media/image4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315.png"/><Relationship Id="rId5" Type="http://schemas.openxmlformats.org/officeDocument/2006/relationships/image" Target="../media/image432.png"/><Relationship Id="rId10" Type="http://schemas.openxmlformats.org/officeDocument/2006/relationships/image" Target="../media/image437.png"/><Relationship Id="rId4" Type="http://schemas.openxmlformats.org/officeDocument/2006/relationships/image" Target="../media/image431.png"/><Relationship Id="rId9" Type="http://schemas.openxmlformats.org/officeDocument/2006/relationships/image" Target="../media/image436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6.png"/><Relationship Id="rId7" Type="http://schemas.openxmlformats.org/officeDocument/2006/relationships/image" Target="../media/image442.png"/><Relationship Id="rId2" Type="http://schemas.openxmlformats.org/officeDocument/2006/relationships/image" Target="../media/image4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1.png"/><Relationship Id="rId11" Type="http://schemas.openxmlformats.org/officeDocument/2006/relationships/image" Target="../media/image315.png"/><Relationship Id="rId5" Type="http://schemas.openxmlformats.org/officeDocument/2006/relationships/image" Target="../media/image440.png"/><Relationship Id="rId10" Type="http://schemas.openxmlformats.org/officeDocument/2006/relationships/image" Target="../media/image4420.png"/><Relationship Id="rId4" Type="http://schemas.openxmlformats.org/officeDocument/2006/relationships/image" Target="../media/image439.png"/><Relationship Id="rId9" Type="http://schemas.openxmlformats.org/officeDocument/2006/relationships/image" Target="../media/image2820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80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0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20.png"/><Relationship Id="rId7" Type="http://schemas.openxmlformats.org/officeDocument/2006/relationships/image" Target="../media/image461.png"/><Relationship Id="rId2" Type="http://schemas.openxmlformats.org/officeDocument/2006/relationships/image" Target="../media/image45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9.png"/><Relationship Id="rId5" Type="http://schemas.openxmlformats.org/officeDocument/2006/relationships/image" Target="../media/image458.png"/><Relationship Id="rId4" Type="http://schemas.openxmlformats.org/officeDocument/2006/relationships/image" Target="../media/image457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8.png"/><Relationship Id="rId13" Type="http://schemas.openxmlformats.org/officeDocument/2006/relationships/image" Target="../media/image448.png"/><Relationship Id="rId3" Type="http://schemas.openxmlformats.org/officeDocument/2006/relationships/image" Target="../media/image463.png"/><Relationship Id="rId7" Type="http://schemas.openxmlformats.org/officeDocument/2006/relationships/image" Target="../media/image4450.png"/><Relationship Id="rId12" Type="http://schemas.openxmlformats.org/officeDocument/2006/relationships/image" Target="../media/image447.png"/><Relationship Id="rId2" Type="http://schemas.openxmlformats.org/officeDocument/2006/relationships/image" Target="../media/image43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9.png"/><Relationship Id="rId11" Type="http://schemas.openxmlformats.org/officeDocument/2006/relationships/image" Target="../media/image472.png"/><Relationship Id="rId5" Type="http://schemas.openxmlformats.org/officeDocument/2006/relationships/image" Target="../media/image466.png"/><Relationship Id="rId10" Type="http://schemas.openxmlformats.org/officeDocument/2006/relationships/image" Target="../media/image471.png"/><Relationship Id="rId4" Type="http://schemas.openxmlformats.org/officeDocument/2006/relationships/image" Target="../media/image4390.png"/><Relationship Id="rId9" Type="http://schemas.openxmlformats.org/officeDocument/2006/relationships/image" Target="../media/image444.png"/><Relationship Id="rId14" Type="http://schemas.openxmlformats.org/officeDocument/2006/relationships/image" Target="../media/image449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9.png"/><Relationship Id="rId13" Type="http://schemas.openxmlformats.org/officeDocument/2006/relationships/image" Target="../media/image451.png"/><Relationship Id="rId18" Type="http://schemas.openxmlformats.org/officeDocument/2006/relationships/image" Target="../media/image465.png"/><Relationship Id="rId3" Type="http://schemas.openxmlformats.org/officeDocument/2006/relationships/image" Target="../media/image475.png"/><Relationship Id="rId21" Type="http://schemas.openxmlformats.org/officeDocument/2006/relationships/image" Target="../media/image474.png"/><Relationship Id="rId7" Type="http://schemas.openxmlformats.org/officeDocument/2006/relationships/image" Target="../media/image478.png"/><Relationship Id="rId12" Type="http://schemas.openxmlformats.org/officeDocument/2006/relationships/image" Target="../media/image484.png"/><Relationship Id="rId17" Type="http://schemas.openxmlformats.org/officeDocument/2006/relationships/image" Target="../media/image464.png"/><Relationship Id="rId2" Type="http://schemas.openxmlformats.org/officeDocument/2006/relationships/image" Target="../media/image473.png"/><Relationship Id="rId16" Type="http://schemas.openxmlformats.org/officeDocument/2006/relationships/image" Target="../media/image456.png"/><Relationship Id="rId20" Type="http://schemas.openxmlformats.org/officeDocument/2006/relationships/image" Target="../media/image4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9.png"/><Relationship Id="rId11" Type="http://schemas.openxmlformats.org/officeDocument/2006/relationships/image" Target="../media/image483.png"/><Relationship Id="rId5" Type="http://schemas.openxmlformats.org/officeDocument/2006/relationships/image" Target="../media/image477.png"/><Relationship Id="rId15" Type="http://schemas.openxmlformats.org/officeDocument/2006/relationships/image" Target="../media/image454.png"/><Relationship Id="rId10" Type="http://schemas.openxmlformats.org/officeDocument/2006/relationships/image" Target="../media/image446.png"/><Relationship Id="rId19" Type="http://schemas.openxmlformats.org/officeDocument/2006/relationships/image" Target="../media/image4460.png"/><Relationship Id="rId4" Type="http://schemas.openxmlformats.org/officeDocument/2006/relationships/image" Target="../media/image476.png"/><Relationship Id="rId9" Type="http://schemas.openxmlformats.org/officeDocument/2006/relationships/image" Target="../media/image445.png"/><Relationship Id="rId14" Type="http://schemas.openxmlformats.org/officeDocument/2006/relationships/image" Target="../media/image452.png"/><Relationship Id="rId22" Type="http://schemas.openxmlformats.org/officeDocument/2006/relationships/image" Target="../media/image4620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5.png"/><Relationship Id="rId7" Type="http://schemas.openxmlformats.org/officeDocument/2006/relationships/image" Target="../media/image4780.png"/><Relationship Id="rId2" Type="http://schemas.openxmlformats.org/officeDocument/2006/relationships/image" Target="../media/image4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9.png"/><Relationship Id="rId5" Type="http://schemas.openxmlformats.org/officeDocument/2006/relationships/image" Target="../media/image458.png"/><Relationship Id="rId4" Type="http://schemas.openxmlformats.org/officeDocument/2006/relationships/image" Target="../media/image4770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40.png"/><Relationship Id="rId13" Type="http://schemas.openxmlformats.org/officeDocument/2006/relationships/image" Target="../media/image469.png"/><Relationship Id="rId18" Type="http://schemas.openxmlformats.org/officeDocument/2006/relationships/image" Target="../media/image4930.png"/><Relationship Id="rId3" Type="http://schemas.openxmlformats.org/officeDocument/2006/relationships/image" Target="../media/image453.png"/><Relationship Id="rId12" Type="http://schemas.openxmlformats.org/officeDocument/2006/relationships/image" Target="../media/image467.png"/><Relationship Id="rId2" Type="http://schemas.openxmlformats.org/officeDocument/2006/relationships/image" Target="../media/image486.png"/><Relationship Id="rId20" Type="http://schemas.openxmlformats.org/officeDocument/2006/relationships/image" Target="../media/image4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8.png"/><Relationship Id="rId11" Type="http://schemas.openxmlformats.org/officeDocument/2006/relationships/image" Target="../media/image4860.png"/><Relationship Id="rId5" Type="http://schemas.openxmlformats.org/officeDocument/2006/relationships/image" Target="../media/image4830.png"/><Relationship Id="rId15" Type="http://schemas.openxmlformats.org/officeDocument/2006/relationships/image" Target="../media/image480.png"/><Relationship Id="rId10" Type="http://schemas.openxmlformats.org/officeDocument/2006/relationships/image" Target="../media/image4850.png"/><Relationship Id="rId19" Type="http://schemas.openxmlformats.org/officeDocument/2006/relationships/image" Target="../media/image4940.png"/><Relationship Id="rId4" Type="http://schemas.openxmlformats.org/officeDocument/2006/relationships/image" Target="../media/image487.png"/><Relationship Id="rId9" Type="http://schemas.openxmlformats.org/officeDocument/2006/relationships/image" Target="../media/image444.png"/><Relationship Id="rId14" Type="http://schemas.openxmlformats.org/officeDocument/2006/relationships/image" Target="../media/image470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0.png"/><Relationship Id="rId13" Type="http://schemas.openxmlformats.org/officeDocument/2006/relationships/image" Target="../media/image504.png"/><Relationship Id="rId3" Type="http://schemas.openxmlformats.org/officeDocument/2006/relationships/image" Target="../media/image4700.png"/><Relationship Id="rId7" Type="http://schemas.openxmlformats.org/officeDocument/2006/relationships/image" Target="../media/image501.png"/><Relationship Id="rId2" Type="http://schemas.openxmlformats.org/officeDocument/2006/relationships/image" Target="../media/image482.png"/><Relationship Id="rId16" Type="http://schemas.openxmlformats.org/officeDocument/2006/relationships/image" Target="../media/image4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20.png"/><Relationship Id="rId5" Type="http://schemas.openxmlformats.org/officeDocument/2006/relationships/image" Target="../media/image4810.png"/><Relationship Id="rId15" Type="http://schemas.openxmlformats.org/officeDocument/2006/relationships/image" Target="../media/image493.png"/><Relationship Id="rId4" Type="http://schemas.openxmlformats.org/officeDocument/2006/relationships/image" Target="../media/image4800.png"/><Relationship Id="rId9" Type="http://schemas.openxmlformats.org/officeDocument/2006/relationships/image" Target="../media/image491.png"/><Relationship Id="rId14" Type="http://schemas.openxmlformats.org/officeDocument/2006/relationships/image" Target="../media/image505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5.png"/><Relationship Id="rId7" Type="http://schemas.openxmlformats.org/officeDocument/2006/relationships/image" Target="../media/image500.png"/><Relationship Id="rId2" Type="http://schemas.openxmlformats.org/officeDocument/2006/relationships/image" Target="../media/image48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9.png"/><Relationship Id="rId5" Type="http://schemas.openxmlformats.org/officeDocument/2006/relationships/image" Target="../media/image498.png"/><Relationship Id="rId4" Type="http://schemas.openxmlformats.org/officeDocument/2006/relationships/image" Target="../media/image496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40.png"/><Relationship Id="rId18" Type="http://schemas.openxmlformats.org/officeDocument/2006/relationships/image" Target="../media/image516.png"/><Relationship Id="rId3" Type="http://schemas.openxmlformats.org/officeDocument/2006/relationships/image" Target="../media/image506.png"/><Relationship Id="rId7" Type="http://schemas.openxmlformats.org/officeDocument/2006/relationships/image" Target="../media/image508.png"/><Relationship Id="rId12" Type="http://schemas.openxmlformats.org/officeDocument/2006/relationships/image" Target="../media/image510.png"/><Relationship Id="rId17" Type="http://schemas.openxmlformats.org/officeDocument/2006/relationships/image" Target="../media/image515.png"/><Relationship Id="rId2" Type="http://schemas.openxmlformats.org/officeDocument/2006/relationships/image" Target="../media/image492.png"/><Relationship Id="rId16" Type="http://schemas.openxmlformats.org/officeDocument/2006/relationships/image" Target="../media/image5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50.png"/><Relationship Id="rId11" Type="http://schemas.openxmlformats.org/officeDocument/2006/relationships/image" Target="../media/image509.png"/><Relationship Id="rId5" Type="http://schemas.openxmlformats.org/officeDocument/2006/relationships/image" Target="../media/image507.png"/><Relationship Id="rId15" Type="http://schemas.openxmlformats.org/officeDocument/2006/relationships/image" Target="../media/image513.png"/><Relationship Id="rId10" Type="http://schemas.openxmlformats.org/officeDocument/2006/relationships/image" Target="../media/image5080.png"/><Relationship Id="rId4" Type="http://schemas.openxmlformats.org/officeDocument/2006/relationships/image" Target="../media/image497.png"/><Relationship Id="rId9" Type="http://schemas.openxmlformats.org/officeDocument/2006/relationships/image" Target="../media/image444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3.png"/><Relationship Id="rId2" Type="http://schemas.openxmlformats.org/officeDocument/2006/relationships/image" Target="../media/image50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2.png"/><Relationship Id="rId4" Type="http://schemas.openxmlformats.org/officeDocument/2006/relationships/image" Target="../media/image511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9.png"/><Relationship Id="rId13" Type="http://schemas.openxmlformats.org/officeDocument/2006/relationships/image" Target="../media/image525.png"/><Relationship Id="rId18" Type="http://schemas.openxmlformats.org/officeDocument/2006/relationships/image" Target="../media/image533.png"/><Relationship Id="rId3" Type="http://schemas.openxmlformats.org/officeDocument/2006/relationships/image" Target="../media/image517.png"/><Relationship Id="rId7" Type="http://schemas.openxmlformats.org/officeDocument/2006/relationships/image" Target="../media/image520.png"/><Relationship Id="rId12" Type="http://schemas.openxmlformats.org/officeDocument/2006/relationships/image" Target="../media/image521.png"/><Relationship Id="rId2" Type="http://schemas.openxmlformats.org/officeDocument/2006/relationships/image" Target="../media/image5020.png"/><Relationship Id="rId16" Type="http://schemas.openxmlformats.org/officeDocument/2006/relationships/image" Target="../media/image5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80.png"/><Relationship Id="rId11" Type="http://schemas.openxmlformats.org/officeDocument/2006/relationships/image" Target="../media/image523.png"/><Relationship Id="rId15" Type="http://schemas.openxmlformats.org/officeDocument/2006/relationships/image" Target="../media/image527.png"/><Relationship Id="rId10" Type="http://schemas.openxmlformats.org/officeDocument/2006/relationships/image" Target="../media/image522.png"/><Relationship Id="rId4" Type="http://schemas.openxmlformats.org/officeDocument/2006/relationships/image" Target="../media/image518.png"/><Relationship Id="rId9" Type="http://schemas.openxmlformats.org/officeDocument/2006/relationships/image" Target="../media/image4310.png"/><Relationship Id="rId14" Type="http://schemas.openxmlformats.org/officeDocument/2006/relationships/image" Target="../media/image526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4.png"/><Relationship Id="rId7" Type="http://schemas.openxmlformats.org/officeDocument/2006/relationships/image" Target="../media/image538.png"/><Relationship Id="rId2" Type="http://schemas.openxmlformats.org/officeDocument/2006/relationships/image" Target="../media/image5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9.png"/><Relationship Id="rId5" Type="http://schemas.openxmlformats.org/officeDocument/2006/relationships/image" Target="../media/image5240.png"/><Relationship Id="rId4" Type="http://schemas.openxmlformats.org/officeDocument/2006/relationships/image" Target="../media/image535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3.png"/><Relationship Id="rId13" Type="http://schemas.openxmlformats.org/officeDocument/2006/relationships/image" Target="../media/image539.png"/><Relationship Id="rId3" Type="http://schemas.openxmlformats.org/officeDocument/2006/relationships/image" Target="../media/image531.png"/><Relationship Id="rId7" Type="http://schemas.openxmlformats.org/officeDocument/2006/relationships/image" Target="../media/image532.png"/><Relationship Id="rId12" Type="http://schemas.openxmlformats.org/officeDocument/2006/relationships/image" Target="../media/image537.png"/><Relationship Id="rId17" Type="http://schemas.openxmlformats.org/officeDocument/2006/relationships/image" Target="../media/image5311.png"/><Relationship Id="rId2" Type="http://schemas.openxmlformats.org/officeDocument/2006/relationships/image" Target="../media/image530.png"/><Relationship Id="rId16" Type="http://schemas.openxmlformats.org/officeDocument/2006/relationships/image" Target="../media/image530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1.png"/><Relationship Id="rId11" Type="http://schemas.openxmlformats.org/officeDocument/2006/relationships/image" Target="../media/image545.png"/><Relationship Id="rId5" Type="http://schemas.openxmlformats.org/officeDocument/2006/relationships/image" Target="../media/image5312.png"/><Relationship Id="rId10" Type="http://schemas.openxmlformats.org/officeDocument/2006/relationships/image" Target="../media/image544.png"/><Relationship Id="rId9" Type="http://schemas.openxmlformats.org/officeDocument/2006/relationships/image" Target="../media/image536.png"/><Relationship Id="rId14" Type="http://schemas.openxmlformats.org/officeDocument/2006/relationships/image" Target="../media/image540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9.png"/><Relationship Id="rId3" Type="http://schemas.openxmlformats.org/officeDocument/2006/relationships/image" Target="../media/image5420.png"/><Relationship Id="rId7" Type="http://schemas.openxmlformats.org/officeDocument/2006/relationships/image" Target="../media/image548.png"/><Relationship Id="rId12" Type="http://schemas.openxmlformats.org/officeDocument/2006/relationships/image" Target="../media/image553.png"/><Relationship Id="rId2" Type="http://schemas.openxmlformats.org/officeDocument/2006/relationships/image" Target="../media/image5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00.png"/><Relationship Id="rId11" Type="http://schemas.openxmlformats.org/officeDocument/2006/relationships/image" Target="../media/image552.png"/><Relationship Id="rId5" Type="http://schemas.openxmlformats.org/officeDocument/2006/relationships/image" Target="../media/image547.png"/><Relationship Id="rId10" Type="http://schemas.openxmlformats.org/officeDocument/2006/relationships/image" Target="../media/image559.png"/><Relationship Id="rId4" Type="http://schemas.openxmlformats.org/officeDocument/2006/relationships/image" Target="../media/image546.png"/><Relationship Id="rId9" Type="http://schemas.openxmlformats.org/officeDocument/2006/relationships/image" Target="../media/image550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1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3.png"/><Relationship Id="rId2" Type="http://schemas.openxmlformats.org/officeDocument/2006/relationships/image" Target="../media/image4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80.png"/><Relationship Id="rId5" Type="http://schemas.openxmlformats.org/officeDocument/2006/relationships/image" Target="../media/image5320.png"/><Relationship Id="rId4" Type="http://schemas.openxmlformats.org/officeDocument/2006/relationships/image" Target="../media/image5310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7.png"/><Relationship Id="rId2" Type="http://schemas.openxmlformats.org/officeDocument/2006/relationships/image" Target="../media/image562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8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1.png"/><Relationship Id="rId7" Type="http://schemas.openxmlformats.org/officeDocument/2006/relationships/image" Target="../media/image5830.png"/><Relationship Id="rId2" Type="http://schemas.openxmlformats.org/officeDocument/2006/relationships/image" Target="../media/image5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20.png"/><Relationship Id="rId5" Type="http://schemas.openxmlformats.org/officeDocument/2006/relationships/image" Target="../media/image5810.png"/><Relationship Id="rId4" Type="http://schemas.openxmlformats.org/officeDocument/2006/relationships/image" Target="../media/image5811.png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90.png"/><Relationship Id="rId18" Type="http://schemas.openxmlformats.org/officeDocument/2006/relationships/image" Target="../media/image597.png"/><Relationship Id="rId21" Type="http://schemas.openxmlformats.org/officeDocument/2006/relationships/image" Target="../media/image600.png"/><Relationship Id="rId7" Type="http://schemas.openxmlformats.org/officeDocument/2006/relationships/image" Target="../media/image587.png"/><Relationship Id="rId25" Type="http://schemas.openxmlformats.org/officeDocument/2006/relationships/image" Target="../media/image604.png"/><Relationship Id="rId20" Type="http://schemas.openxmlformats.org/officeDocument/2006/relationships/image" Target="../media/image5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50.png"/><Relationship Id="rId24" Type="http://schemas.openxmlformats.org/officeDocument/2006/relationships/image" Target="../media/image603.png"/><Relationship Id="rId5" Type="http://schemas.openxmlformats.org/officeDocument/2006/relationships/image" Target="../media/image5840.png"/><Relationship Id="rId15" Type="http://schemas.openxmlformats.org/officeDocument/2006/relationships/image" Target="../media/image574.png"/><Relationship Id="rId23" Type="http://schemas.openxmlformats.org/officeDocument/2006/relationships/image" Target="../media/image602.png"/><Relationship Id="rId10" Type="http://schemas.openxmlformats.org/officeDocument/2006/relationships/image" Target="../media/image572.png"/><Relationship Id="rId19" Type="http://schemas.openxmlformats.org/officeDocument/2006/relationships/image" Target="../media/image598.png"/><Relationship Id="rId4" Type="http://schemas.openxmlformats.org/officeDocument/2006/relationships/image" Target="../media/image586.png"/><Relationship Id="rId14" Type="http://schemas.openxmlformats.org/officeDocument/2006/relationships/image" Target="../media/image573.png"/><Relationship Id="rId22" Type="http://schemas.openxmlformats.org/officeDocument/2006/relationships/image" Target="../media/image601.png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5.png"/><Relationship Id="rId3" Type="http://schemas.openxmlformats.org/officeDocument/2006/relationships/image" Target="../media/image5730.png"/><Relationship Id="rId7" Type="http://schemas.openxmlformats.org/officeDocument/2006/relationships/image" Target="../media/image5500.png"/><Relationship Id="rId2" Type="http://schemas.openxmlformats.org/officeDocument/2006/relationships/image" Target="../media/image57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60.png"/><Relationship Id="rId5" Type="http://schemas.openxmlformats.org/officeDocument/2006/relationships/image" Target="../media/image5400.png"/><Relationship Id="rId4" Type="http://schemas.openxmlformats.org/officeDocument/2006/relationships/image" Target="../media/image5650.png"/><Relationship Id="rId9" Type="http://schemas.openxmlformats.org/officeDocument/2006/relationships/image" Target="../media/image564.png"/></Relationships>
</file>

<file path=ppt/slides/_rels/slide1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9.png"/><Relationship Id="rId3" Type="http://schemas.openxmlformats.org/officeDocument/2006/relationships/image" Target="../media/image565.png"/><Relationship Id="rId7" Type="http://schemas.openxmlformats.org/officeDocument/2006/relationships/image" Target="../media/image578.png"/><Relationship Id="rId12" Type="http://schemas.openxmlformats.org/officeDocument/2006/relationships/image" Target="NULL"/><Relationship Id="rId2" Type="http://schemas.openxmlformats.org/officeDocument/2006/relationships/image" Target="../media/image5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7.png"/><Relationship Id="rId11" Type="http://schemas.openxmlformats.org/officeDocument/2006/relationships/image" Target="NULL"/><Relationship Id="rId5" Type="http://schemas.openxmlformats.org/officeDocument/2006/relationships/image" Target="../media/image576.png"/><Relationship Id="rId10" Type="http://schemas.openxmlformats.org/officeDocument/2006/relationships/image" Target="NULL"/><Relationship Id="rId4" Type="http://schemas.openxmlformats.org/officeDocument/2006/relationships/image" Target="../media/image566.png"/><Relationship Id="rId9" Type="http://schemas.openxmlformats.org/officeDocument/2006/relationships/image" Target="../media/image580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4.png"/><Relationship Id="rId7" Type="http://schemas.openxmlformats.org/officeDocument/2006/relationships/image" Target="../media/image589.png"/><Relationship Id="rId2" Type="http://schemas.openxmlformats.org/officeDocument/2006/relationships/image" Target="../media/image60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8.png"/><Relationship Id="rId5" Type="http://schemas.openxmlformats.org/officeDocument/2006/relationships/image" Target="../media/image585.png"/><Relationship Id="rId4" Type="http://schemas.openxmlformats.org/officeDocument/2006/relationships/image" Target="../media/image584.png"/></Relationships>
</file>

<file path=ppt/slides/_rels/slide10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4.png"/><Relationship Id="rId13" Type="http://schemas.openxmlformats.org/officeDocument/2006/relationships/image" Target="../media/image617.png"/><Relationship Id="rId18" Type="http://schemas.openxmlformats.org/officeDocument/2006/relationships/image" Target="../media/image622.png"/><Relationship Id="rId3" Type="http://schemas.openxmlformats.org/officeDocument/2006/relationships/image" Target="../media/image611.png"/><Relationship Id="rId12" Type="http://schemas.openxmlformats.org/officeDocument/2006/relationships/image" Target="../media/image616.png"/><Relationship Id="rId17" Type="http://schemas.openxmlformats.org/officeDocument/2006/relationships/image" Target="../media/image621.png"/><Relationship Id="rId2" Type="http://schemas.openxmlformats.org/officeDocument/2006/relationships/image" Target="../media/image610.png"/><Relationship Id="rId16" Type="http://schemas.openxmlformats.org/officeDocument/2006/relationships/image" Target="../media/image620.png"/><Relationship Id="rId20" Type="http://schemas.openxmlformats.org/officeDocument/2006/relationships/image" Target="../media/image6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50.png"/><Relationship Id="rId5" Type="http://schemas.openxmlformats.org/officeDocument/2006/relationships/image" Target="../media/image613.png"/><Relationship Id="rId19" Type="http://schemas.openxmlformats.org/officeDocument/2006/relationships/image" Target="../media/image623.png"/><Relationship Id="rId4" Type="http://schemas.openxmlformats.org/officeDocument/2006/relationships/image" Target="../media/image612.png"/><Relationship Id="rId9" Type="http://schemas.openxmlformats.org/officeDocument/2006/relationships/image" Target="../media/image615.png"/></Relationships>
</file>

<file path=ppt/slides/_rels/slide10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27.png"/><Relationship Id="rId3" Type="http://schemas.openxmlformats.org/officeDocument/2006/relationships/image" Target="../media/image590.png"/><Relationship Id="rId2" Type="http://schemas.openxmlformats.org/officeDocument/2006/relationships/image" Target="../media/image612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592.png"/><Relationship Id="rId4" Type="http://schemas.openxmlformats.org/officeDocument/2006/relationships/image" Target="../media/image591.png"/><Relationship Id="rId14" Type="http://schemas.openxmlformats.org/officeDocument/2006/relationships/image" Target="../media/image628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6.png"/><Relationship Id="rId7" Type="http://schemas.openxmlformats.org/officeDocument/2006/relationships/image" Target="../media/image5541.png"/><Relationship Id="rId2" Type="http://schemas.openxmlformats.org/officeDocument/2006/relationships/image" Target="../media/image5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3.png"/><Relationship Id="rId5" Type="http://schemas.openxmlformats.org/officeDocument/2006/relationships/image" Target="../media/image633.png"/><Relationship Id="rId4" Type="http://schemas.openxmlformats.org/officeDocument/2006/relationships/image" Target="../media/image632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7.png"/><Relationship Id="rId7" Type="http://schemas.openxmlformats.org/officeDocument/2006/relationships/image" Target="../media/image640.png"/><Relationship Id="rId2" Type="http://schemas.openxmlformats.org/officeDocument/2006/relationships/image" Target="../media/image5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9.png"/><Relationship Id="rId5" Type="http://schemas.openxmlformats.org/officeDocument/2006/relationships/image" Target="../media/image599.png"/><Relationship Id="rId4" Type="http://schemas.openxmlformats.org/officeDocument/2006/relationships/image" Target="../media/image596.png"/></Relationships>
</file>

<file path=ppt/slides/_rels/slide10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40.png"/><Relationship Id="rId13" Type="http://schemas.openxmlformats.org/officeDocument/2006/relationships/image" Target="../media/image649.png"/><Relationship Id="rId18" Type="http://schemas.openxmlformats.org/officeDocument/2006/relationships/image" Target="../media/image654.png"/><Relationship Id="rId3" Type="http://schemas.openxmlformats.org/officeDocument/2006/relationships/image" Target="../media/image644.png"/><Relationship Id="rId7" Type="http://schemas.openxmlformats.org/officeDocument/2006/relationships/image" Target="../media/image6430.png"/><Relationship Id="rId17" Type="http://schemas.openxmlformats.org/officeDocument/2006/relationships/image" Target="../media/image653.png"/><Relationship Id="rId25" Type="http://schemas.openxmlformats.org/officeDocument/2006/relationships/image" Target="../media/image661.png"/><Relationship Id="rId33" Type="http://schemas.openxmlformats.org/officeDocument/2006/relationships/image" Target="../media/image669.png"/><Relationship Id="rId2" Type="http://schemas.openxmlformats.org/officeDocument/2006/relationships/image" Target="../media/image643.png"/><Relationship Id="rId16" Type="http://schemas.openxmlformats.org/officeDocument/2006/relationships/image" Target="../media/image652.png"/><Relationship Id="rId29" Type="http://schemas.openxmlformats.org/officeDocument/2006/relationships/image" Target="../media/image665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660.png"/><Relationship Id="rId32" Type="http://schemas.openxmlformats.org/officeDocument/2006/relationships/image" Target="../media/image668.png"/><Relationship Id="rId15" Type="http://schemas.openxmlformats.org/officeDocument/2006/relationships/image" Target="../media/image629.png"/><Relationship Id="rId28" Type="http://schemas.openxmlformats.org/officeDocument/2006/relationships/image" Target="../media/image651.png"/><Relationship Id="rId10" Type="http://schemas.openxmlformats.org/officeDocument/2006/relationships/image" Target="../media/image647.png"/><Relationship Id="rId19" Type="http://schemas.openxmlformats.org/officeDocument/2006/relationships/image" Target="../media/image631.png"/><Relationship Id="rId31" Type="http://schemas.openxmlformats.org/officeDocument/2006/relationships/image" Target="../media/image667.png"/><Relationship Id="rId4" Type="http://schemas.openxmlformats.org/officeDocument/2006/relationships/image" Target="../media/image557.png"/><Relationship Id="rId9" Type="http://schemas.openxmlformats.org/officeDocument/2006/relationships/image" Target="../media/image6450.png"/><Relationship Id="rId14" Type="http://schemas.openxmlformats.org/officeDocument/2006/relationships/image" Target="../media/image650.png"/><Relationship Id="rId30" Type="http://schemas.openxmlformats.org/officeDocument/2006/relationships/image" Target="../media/image666.png"/></Relationships>
</file>

<file path=ppt/slides/_rels/slide108.xml.rels><?xml version="1.0" encoding="UTF-8" standalone="yes"?>
<Relationships xmlns="http://schemas.openxmlformats.org/package/2006/relationships"><Relationship Id="rId21" Type="http://schemas.openxmlformats.org/officeDocument/2006/relationships/image" Target="../media/image674.png"/><Relationship Id="rId25" Type="http://schemas.openxmlformats.org/officeDocument/2006/relationships/image" Target="../media/image664.png"/><Relationship Id="rId2" Type="http://schemas.openxmlformats.org/officeDocument/2006/relationships/image" Target="../media/image557.png"/><Relationship Id="rId20" Type="http://schemas.openxmlformats.org/officeDocument/2006/relationships/image" Target="../media/image673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5540.png"/><Relationship Id="rId23" Type="http://schemas.openxmlformats.org/officeDocument/2006/relationships/image" Target="../media/image676.png"/><Relationship Id="rId19" Type="http://schemas.openxmlformats.org/officeDocument/2006/relationships/image" Target="../media/image672.png"/><Relationship Id="rId22" Type="http://schemas.openxmlformats.org/officeDocument/2006/relationships/image" Target="../media/image675.png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7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8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60.png"/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0.png"/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2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5.png"/><Relationship Id="rId3" Type="http://schemas.openxmlformats.org/officeDocument/2006/relationships/image" Target="../media/image607.png"/><Relationship Id="rId7" Type="http://schemas.openxmlformats.org/officeDocument/2006/relationships/image" Target="../media/image619.png"/><Relationship Id="rId2" Type="http://schemas.openxmlformats.org/officeDocument/2006/relationships/image" Target="../media/image5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8.png"/><Relationship Id="rId5" Type="http://schemas.openxmlformats.org/officeDocument/2006/relationships/image" Target="../media/image609.png"/><Relationship Id="rId4" Type="http://schemas.openxmlformats.org/officeDocument/2006/relationships/image" Target="../media/image608.png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4.png"/><Relationship Id="rId18" Type="http://schemas.openxmlformats.org/officeDocument/2006/relationships/image" Target="../media/image707.png"/><Relationship Id="rId3" Type="http://schemas.openxmlformats.org/officeDocument/2006/relationships/image" Target="../media/image697.png"/><Relationship Id="rId12" Type="http://schemas.openxmlformats.org/officeDocument/2006/relationships/image" Target="../media/image704.png"/><Relationship Id="rId17" Type="http://schemas.openxmlformats.org/officeDocument/2006/relationships/image" Target="../media/image706.png"/><Relationship Id="rId2" Type="http://schemas.openxmlformats.org/officeDocument/2006/relationships/image" Target="../media/image696.png"/><Relationship Id="rId16" Type="http://schemas.openxmlformats.org/officeDocument/2006/relationships/image" Target="../media/image70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50.png"/><Relationship Id="rId5" Type="http://schemas.openxmlformats.org/officeDocument/2006/relationships/image" Target="../media/image702.png"/><Relationship Id="rId19" Type="http://schemas.openxmlformats.org/officeDocument/2006/relationships/image" Target="../media/image708.png"/><Relationship Id="rId4" Type="http://schemas.openxmlformats.org/officeDocument/2006/relationships/image" Target="../media/image560.png"/><Relationship Id="rId9" Type="http://schemas.openxmlformats.org/officeDocument/2006/relationships/image" Target="../media/image615.png"/></Relationships>
</file>

<file path=ppt/slides/_rels/slide1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10.png"/><Relationship Id="rId2" Type="http://schemas.openxmlformats.org/officeDocument/2006/relationships/image" Target="../media/image560.png"/><Relationship Id="rId16" Type="http://schemas.openxmlformats.org/officeDocument/2006/relationships/image" Target="../media/image713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712.png"/><Relationship Id="rId9" Type="http://schemas.openxmlformats.org/officeDocument/2006/relationships/image" Target="../media/image709.png"/><Relationship Id="rId14" Type="http://schemas.openxmlformats.org/officeDocument/2006/relationships/image" Target="../media/image711.png"/></Relationships>
</file>

<file path=ppt/slides/_rels/slide1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50.png"/><Relationship Id="rId3" Type="http://schemas.openxmlformats.org/officeDocument/2006/relationships/image" Target="../media/image714.png"/><Relationship Id="rId7" Type="http://schemas.openxmlformats.org/officeDocument/2006/relationships/image" Target="../media/image6840.png"/><Relationship Id="rId2" Type="http://schemas.openxmlformats.org/officeDocument/2006/relationships/image" Target="../media/image5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30.png"/><Relationship Id="rId5" Type="http://schemas.openxmlformats.org/officeDocument/2006/relationships/image" Target="../media/image715.png"/><Relationship Id="rId4" Type="http://schemas.openxmlformats.org/officeDocument/2006/relationships/image" Target="../media/image5491.png"/></Relationships>
</file>

<file path=ppt/slides/_rels/slide1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2.png"/><Relationship Id="rId3" Type="http://schemas.openxmlformats.org/officeDocument/2006/relationships/image" Target="../media/image626.png"/><Relationship Id="rId7" Type="http://schemas.openxmlformats.org/officeDocument/2006/relationships/image" Target="../media/image638.png"/><Relationship Id="rId2" Type="http://schemas.openxmlformats.org/officeDocument/2006/relationships/image" Target="../media/image5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7.png"/><Relationship Id="rId5" Type="http://schemas.openxmlformats.org/officeDocument/2006/relationships/image" Target="../media/image636.png"/><Relationship Id="rId4" Type="http://schemas.openxmlformats.org/officeDocument/2006/relationships/image" Target="../media/image634.png"/></Relationships>
</file>

<file path=ppt/slides/_rels/slide1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60.png"/><Relationship Id="rId3" Type="http://schemas.openxmlformats.org/officeDocument/2006/relationships/image" Target="../media/image645.png"/><Relationship Id="rId21" Type="http://schemas.openxmlformats.org/officeDocument/2006/relationships/image" Target="../media/image722.png"/><Relationship Id="rId2" Type="http://schemas.openxmlformats.org/officeDocument/2006/relationships/image" Target="../media/image58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40.png"/><Relationship Id="rId10" Type="http://schemas.openxmlformats.org/officeDocument/2006/relationships/image" Target="../media/image646.png"/><Relationship Id="rId4" Type="http://schemas.openxmlformats.org/officeDocument/2006/relationships/image" Target="../media/image7120.png"/><Relationship Id="rId9" Type="http://schemas.openxmlformats.org/officeDocument/2006/relationships/image" Target="../media/image717.png"/></Relationships>
</file>

<file path=ppt/slides/_rels/slide120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600.png"/><Relationship Id="rId3" Type="http://schemas.openxmlformats.org/officeDocument/2006/relationships/image" Target="../media/image648.png"/><Relationship Id="rId21" Type="http://schemas.openxmlformats.org/officeDocument/2006/relationships/image" Target="../media/image724.png"/><Relationship Id="rId25" Type="http://schemas.openxmlformats.org/officeDocument/2006/relationships/image" Target="../media/image5580.png"/><Relationship Id="rId2" Type="http://schemas.openxmlformats.org/officeDocument/2006/relationships/image" Target="../media/image583.png"/><Relationship Id="rId20" Type="http://schemas.openxmlformats.org/officeDocument/2006/relationships/image" Target="../media/image7230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727.png"/><Relationship Id="rId23" Type="http://schemas.openxmlformats.org/officeDocument/2006/relationships/image" Target="../media/image657.png"/><Relationship Id="rId22" Type="http://schemas.openxmlformats.org/officeDocument/2006/relationships/image" Target="../media/image5570.png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0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1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13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10.png"/><Relationship Id="rId7" Type="http://schemas.openxmlformats.org/officeDocument/2006/relationships/image" Target="../media/image440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20.png"/><Relationship Id="rId5" Type="http://schemas.openxmlformats.org/officeDocument/2006/relationships/image" Target="../media/image7310.png"/><Relationship Id="rId4" Type="http://schemas.openxmlformats.org/officeDocument/2006/relationships/image" Target="../media/image7300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20.png"/><Relationship Id="rId5" Type="http://schemas.openxmlformats.org/officeDocument/2006/relationships/image" Target="../media/image736.png"/><Relationship Id="rId4" Type="http://schemas.openxmlformats.org/officeDocument/2006/relationships/image" Target="../media/image735.png"/></Relationships>
</file>

<file path=ppt/slides/_rels/slide1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2.png"/><Relationship Id="rId3" Type="http://schemas.openxmlformats.org/officeDocument/2006/relationships/image" Target="../media/image630.png"/><Relationship Id="rId7" Type="http://schemas.openxmlformats.org/officeDocument/2006/relationships/image" Target="../media/image7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0.png"/><Relationship Id="rId5" Type="http://schemas.openxmlformats.org/officeDocument/2006/relationships/image" Target="../media/image739.png"/><Relationship Id="rId10" Type="http://schemas.openxmlformats.org/officeDocument/2006/relationships/image" Target="../media/image744.png"/><Relationship Id="rId4" Type="http://schemas.openxmlformats.org/officeDocument/2006/relationships/image" Target="../media/image738.png"/><Relationship Id="rId9" Type="http://schemas.openxmlformats.org/officeDocument/2006/relationships/image" Target="../media/image743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6.png"/><Relationship Id="rId2" Type="http://schemas.openxmlformats.org/officeDocument/2006/relationships/image" Target="../media/image745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3" Type="http://schemas.openxmlformats.org/officeDocument/2006/relationships/image" Target="../media/image635.png"/><Relationship Id="rId7" Type="http://schemas.openxmlformats.org/officeDocument/2006/relationships/image" Target="../media/image663.png"/><Relationship Id="rId12" Type="http://schemas.openxmlformats.org/officeDocument/2006/relationships/image" Target="../media/image68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2.png"/><Relationship Id="rId11" Type="http://schemas.openxmlformats.org/officeDocument/2006/relationships/image" Target="../media/image671.png"/><Relationship Id="rId5" Type="http://schemas.openxmlformats.org/officeDocument/2006/relationships/image" Target="../media/image659.png"/><Relationship Id="rId10" Type="http://schemas.openxmlformats.org/officeDocument/2006/relationships/image" Target="../media/image670.png"/><Relationship Id="rId4" Type="http://schemas.openxmlformats.org/officeDocument/2006/relationships/image" Target="../media/image658.png"/><Relationship Id="rId9" Type="http://schemas.openxmlformats.org/officeDocument/2006/relationships/image" Target="../media/image5822.png"/></Relationships>
</file>

<file path=ppt/slides/_rels/slide1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9.png"/><Relationship Id="rId3" Type="http://schemas.openxmlformats.org/officeDocument/2006/relationships/image" Target="../media/image655.png"/><Relationship Id="rId7" Type="http://schemas.openxmlformats.org/officeDocument/2006/relationships/image" Target="../media/image758.png"/><Relationship Id="rId12" Type="http://schemas.openxmlformats.org/officeDocument/2006/relationships/image" Target="../media/image59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7.png"/><Relationship Id="rId11" Type="http://schemas.openxmlformats.org/officeDocument/2006/relationships/image" Target="../media/image762.png"/><Relationship Id="rId5" Type="http://schemas.openxmlformats.org/officeDocument/2006/relationships/image" Target="../media/image756.png"/><Relationship Id="rId10" Type="http://schemas.openxmlformats.org/officeDocument/2006/relationships/image" Target="../media/image761.png"/><Relationship Id="rId4" Type="http://schemas.openxmlformats.org/officeDocument/2006/relationships/image" Target="../media/image755.png"/><Relationship Id="rId9" Type="http://schemas.openxmlformats.org/officeDocument/2006/relationships/image" Target="../media/image760.png"/></Relationships>
</file>

<file path=ppt/slides/_rels/slide1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9.png"/><Relationship Id="rId3" Type="http://schemas.openxmlformats.org/officeDocument/2006/relationships/image" Target="../media/image656.png"/><Relationship Id="rId7" Type="http://schemas.openxmlformats.org/officeDocument/2006/relationships/image" Target="../media/image68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7.png"/><Relationship Id="rId5" Type="http://schemas.openxmlformats.org/officeDocument/2006/relationships/image" Target="../media/image685.png"/><Relationship Id="rId4" Type="http://schemas.openxmlformats.org/officeDocument/2006/relationships/image" Target="../media/image684.png"/></Relationships>
</file>

<file path=ppt/slides/_rels/slide1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3.png"/><Relationship Id="rId13" Type="http://schemas.openxmlformats.org/officeDocument/2006/relationships/image" Target="../media/image695.png"/><Relationship Id="rId3" Type="http://schemas.openxmlformats.org/officeDocument/2006/relationships/image" Target="../media/image656.png"/><Relationship Id="rId7" Type="http://schemas.openxmlformats.org/officeDocument/2006/relationships/image" Target="../media/image772.png"/><Relationship Id="rId12" Type="http://schemas.openxmlformats.org/officeDocument/2006/relationships/image" Target="../media/image69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1.png"/><Relationship Id="rId11" Type="http://schemas.openxmlformats.org/officeDocument/2006/relationships/image" Target="../media/image693.png"/><Relationship Id="rId5" Type="http://schemas.openxmlformats.org/officeDocument/2006/relationships/image" Target="../media/image691.png"/><Relationship Id="rId10" Type="http://schemas.openxmlformats.org/officeDocument/2006/relationships/image" Target="../media/image692.png"/><Relationship Id="rId4" Type="http://schemas.openxmlformats.org/officeDocument/2006/relationships/image" Target="../media/image690.png"/><Relationship Id="rId9" Type="http://schemas.openxmlformats.org/officeDocument/2006/relationships/image" Target="../media/image774.png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8.pn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21.png"/><Relationship Id="rId2" Type="http://schemas.openxmlformats.org/officeDocument/2006/relationships/image" Target="../media/image807.png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0.pn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3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4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50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1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1.pn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10.png"/><Relationship Id="rId13" Type="http://schemas.openxmlformats.org/officeDocument/2006/relationships/image" Target="../media/image815.png"/><Relationship Id="rId3" Type="http://schemas.openxmlformats.org/officeDocument/2006/relationships/image" Target="../media/image8060.png"/><Relationship Id="rId7" Type="http://schemas.openxmlformats.org/officeDocument/2006/relationships/image" Target="../media/image8100.png"/><Relationship Id="rId12" Type="http://schemas.openxmlformats.org/officeDocument/2006/relationships/image" Target="../media/image8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90.png"/><Relationship Id="rId11" Type="http://schemas.openxmlformats.org/officeDocument/2006/relationships/image" Target="../media/image813.png"/><Relationship Id="rId5" Type="http://schemas.openxmlformats.org/officeDocument/2006/relationships/image" Target="../media/image8080.png"/><Relationship Id="rId10" Type="http://schemas.openxmlformats.org/officeDocument/2006/relationships/image" Target="../media/image751.png"/><Relationship Id="rId4" Type="http://schemas.openxmlformats.org/officeDocument/2006/relationships/image" Target="../media/image8070.png"/><Relationship Id="rId9" Type="http://schemas.openxmlformats.org/officeDocument/2006/relationships/image" Target="../media/image812.png"/></Relationships>
</file>

<file path=ppt/slides/_rels/slide1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4.png"/><Relationship Id="rId3" Type="http://schemas.openxmlformats.org/officeDocument/2006/relationships/image" Target="../media/image679.png"/><Relationship Id="rId7" Type="http://schemas.openxmlformats.org/officeDocument/2006/relationships/image" Target="../media/image820.png"/><Relationship Id="rId12" Type="http://schemas.openxmlformats.org/officeDocument/2006/relationships/image" Target="../media/image8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3.png"/><Relationship Id="rId11" Type="http://schemas.openxmlformats.org/officeDocument/2006/relationships/image" Target="../media/image786.png"/><Relationship Id="rId5" Type="http://schemas.openxmlformats.org/officeDocument/2006/relationships/image" Target="../media/image818.png"/><Relationship Id="rId10" Type="http://schemas.openxmlformats.org/officeDocument/2006/relationships/image" Target="../media/image785.png"/><Relationship Id="rId4" Type="http://schemas.openxmlformats.org/officeDocument/2006/relationships/image" Target="../media/image782.png"/><Relationship Id="rId9" Type="http://schemas.openxmlformats.org/officeDocument/2006/relationships/image" Target="../media/image822.png"/></Relationships>
</file>

<file path=ppt/slides/_rels/slide1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2.png"/><Relationship Id="rId3" Type="http://schemas.openxmlformats.org/officeDocument/2006/relationships/image" Target="../media/image686.png"/><Relationship Id="rId7" Type="http://schemas.openxmlformats.org/officeDocument/2006/relationships/image" Target="../media/image791.png"/><Relationship Id="rId12" Type="http://schemas.openxmlformats.org/officeDocument/2006/relationships/image" Target="../media/image70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0.png"/><Relationship Id="rId11" Type="http://schemas.openxmlformats.org/officeDocument/2006/relationships/image" Target="../media/image6990.png"/><Relationship Id="rId5" Type="http://schemas.openxmlformats.org/officeDocument/2006/relationships/image" Target="../media/image789.png"/><Relationship Id="rId10" Type="http://schemas.openxmlformats.org/officeDocument/2006/relationships/image" Target="../media/image6790.png"/><Relationship Id="rId4" Type="http://schemas.openxmlformats.org/officeDocument/2006/relationships/image" Target="../media/image699.png"/><Relationship Id="rId9" Type="http://schemas.openxmlformats.org/officeDocument/2006/relationships/image" Target="../media/image6561.png"/></Relationships>
</file>

<file path=ppt/slides/_rels/slide1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1.png"/><Relationship Id="rId3" Type="http://schemas.openxmlformats.org/officeDocument/2006/relationships/image" Target="../media/image701.png"/><Relationship Id="rId7" Type="http://schemas.openxmlformats.org/officeDocument/2006/relationships/image" Target="../media/image703.png"/><Relationship Id="rId12" Type="http://schemas.openxmlformats.org/officeDocument/2006/relationships/image" Target="../media/image7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9.png"/><Relationship Id="rId11" Type="http://schemas.openxmlformats.org/officeDocument/2006/relationships/image" Target="../media/image834.png"/><Relationship Id="rId5" Type="http://schemas.openxmlformats.org/officeDocument/2006/relationships/image" Target="../media/image799.png"/><Relationship Id="rId10" Type="http://schemas.openxmlformats.org/officeDocument/2006/relationships/image" Target="../media/image833.png"/><Relationship Id="rId4" Type="http://schemas.openxmlformats.org/officeDocument/2006/relationships/image" Target="../media/image827.png"/><Relationship Id="rId9" Type="http://schemas.openxmlformats.org/officeDocument/2006/relationships/image" Target="../media/image832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8.png"/><Relationship Id="rId7" Type="http://schemas.openxmlformats.org/officeDocument/2006/relationships/image" Target="../media/image85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11.png"/><Relationship Id="rId5" Type="http://schemas.openxmlformats.org/officeDocument/2006/relationships/image" Target="../media/image7000.png"/><Relationship Id="rId4" Type="http://schemas.openxmlformats.org/officeDocument/2006/relationships/image" Target="../media/image7012.png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8.png"/><Relationship Id="rId7" Type="http://schemas.openxmlformats.org/officeDocument/2006/relationships/image" Target="../media/image85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9.png"/><Relationship Id="rId5" Type="http://schemas.openxmlformats.org/officeDocument/2006/relationships/image" Target="../media/image7180.png"/><Relationship Id="rId4" Type="http://schemas.openxmlformats.org/officeDocument/2006/relationships/image" Target="../media/image7161.png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8.png"/><Relationship Id="rId7" Type="http://schemas.openxmlformats.org/officeDocument/2006/relationships/image" Target="../media/image7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8.png"/><Relationship Id="rId5" Type="http://schemas.openxmlformats.org/officeDocument/2006/relationships/image" Target="../media/image721.png"/><Relationship Id="rId4" Type="http://schemas.openxmlformats.org/officeDocument/2006/relationships/image" Target="../media/image720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5.png"/><Relationship Id="rId7" Type="http://schemas.openxmlformats.org/officeDocument/2006/relationships/image" Target="../media/image74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3.png"/><Relationship Id="rId5" Type="http://schemas.openxmlformats.org/officeDocument/2006/relationships/image" Target="../media/image726.png"/><Relationship Id="rId4" Type="http://schemas.openxmlformats.org/officeDocument/2006/relationships/image" Target="../media/image7250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8.png"/><Relationship Id="rId7" Type="http://schemas.openxmlformats.org/officeDocument/2006/relationships/image" Target="../media/image75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2.png"/><Relationship Id="rId11" Type="http://schemas.openxmlformats.org/officeDocument/2006/relationships/image" Target="../media/image868.png"/><Relationship Id="rId5" Type="http://schemas.openxmlformats.org/officeDocument/2006/relationships/image" Target="../media/image749.png"/><Relationship Id="rId10" Type="http://schemas.openxmlformats.org/officeDocument/2006/relationships/image" Target="../media/image867.png"/><Relationship Id="rId4" Type="http://schemas.openxmlformats.org/officeDocument/2006/relationships/image" Target="../media/image725.png"/></Relationships>
</file>

<file path=ppt/slides/_rels/slide1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1.png"/><Relationship Id="rId18" Type="http://schemas.openxmlformats.org/officeDocument/2006/relationships/image" Target="../media/image874.png"/><Relationship Id="rId26" Type="http://schemas.openxmlformats.org/officeDocument/2006/relationships/image" Target="../media/image883.png"/><Relationship Id="rId3" Type="http://schemas.openxmlformats.org/officeDocument/2006/relationships/image" Target="../media/image725.png"/><Relationship Id="rId21" Type="http://schemas.openxmlformats.org/officeDocument/2006/relationships/image" Target="../media/image877.png"/><Relationship Id="rId7" Type="http://schemas.openxmlformats.org/officeDocument/2006/relationships/image" Target="../media/image870.png"/><Relationship Id="rId17" Type="http://schemas.openxmlformats.org/officeDocument/2006/relationships/image" Target="../media/image873.png"/><Relationship Id="rId25" Type="http://schemas.openxmlformats.org/officeDocument/2006/relationships/image" Target="../media/image882.png"/><Relationship Id="rId2" Type="http://schemas.openxmlformats.org/officeDocument/2006/relationships/notesSlide" Target="../notesSlides/notesSlide31.xml"/><Relationship Id="rId16" Type="http://schemas.openxmlformats.org/officeDocument/2006/relationships/image" Target="../media/image879.png"/><Relationship Id="rId29" Type="http://schemas.openxmlformats.org/officeDocument/2006/relationships/image" Target="../media/image8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9.png"/><Relationship Id="rId24" Type="http://schemas.openxmlformats.org/officeDocument/2006/relationships/image" Target="../media/image881.png"/><Relationship Id="rId32" Type="http://schemas.openxmlformats.org/officeDocument/2006/relationships/image" Target="../media/image889.png"/><Relationship Id="rId23" Type="http://schemas.openxmlformats.org/officeDocument/2006/relationships/image" Target="../media/image880.png"/><Relationship Id="rId28" Type="http://schemas.openxmlformats.org/officeDocument/2006/relationships/image" Target="../media/image885.png"/><Relationship Id="rId19" Type="http://schemas.openxmlformats.org/officeDocument/2006/relationships/image" Target="../media/image875.png"/><Relationship Id="rId31" Type="http://schemas.openxmlformats.org/officeDocument/2006/relationships/image" Target="../media/image888.png"/><Relationship Id="rId9" Type="http://schemas.openxmlformats.org/officeDocument/2006/relationships/image" Target="../media/image872.png"/><Relationship Id="rId22" Type="http://schemas.openxmlformats.org/officeDocument/2006/relationships/image" Target="../media/image878.png"/><Relationship Id="rId27" Type="http://schemas.openxmlformats.org/officeDocument/2006/relationships/image" Target="../media/image884.png"/><Relationship Id="rId30" Type="http://schemas.openxmlformats.org/officeDocument/2006/relationships/image" Target="../media/image887.png"/></Relationships>
</file>

<file path=ppt/slides/_rels/slide1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3.png"/><Relationship Id="rId13" Type="http://schemas.openxmlformats.org/officeDocument/2006/relationships/image" Target="../media/image898.png"/><Relationship Id="rId18" Type="http://schemas.openxmlformats.org/officeDocument/2006/relationships/image" Target="../media/image4410.png"/><Relationship Id="rId3" Type="http://schemas.openxmlformats.org/officeDocument/2006/relationships/image" Target="../media/image725.png"/><Relationship Id="rId7" Type="http://schemas.openxmlformats.org/officeDocument/2006/relationships/image" Target="../media/image892.png"/><Relationship Id="rId12" Type="http://schemas.openxmlformats.org/officeDocument/2006/relationships/image" Target="../media/image897.png"/><Relationship Id="rId17" Type="http://schemas.openxmlformats.org/officeDocument/2006/relationships/image" Target="../media/image902.png"/><Relationship Id="rId2" Type="http://schemas.openxmlformats.org/officeDocument/2006/relationships/notesSlide" Target="../notesSlides/notesSlide32.xml"/><Relationship Id="rId16" Type="http://schemas.openxmlformats.org/officeDocument/2006/relationships/image" Target="../media/image9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1.png"/><Relationship Id="rId11" Type="http://schemas.openxmlformats.org/officeDocument/2006/relationships/image" Target="../media/image896.png"/><Relationship Id="rId5" Type="http://schemas.openxmlformats.org/officeDocument/2006/relationships/image" Target="../media/image890.png"/><Relationship Id="rId15" Type="http://schemas.openxmlformats.org/officeDocument/2006/relationships/image" Target="../media/image900.png"/><Relationship Id="rId10" Type="http://schemas.openxmlformats.org/officeDocument/2006/relationships/image" Target="../media/image895.png"/><Relationship Id="rId19" Type="http://schemas.openxmlformats.org/officeDocument/2006/relationships/image" Target="../media/image904.png"/><Relationship Id="rId9" Type="http://schemas.openxmlformats.org/officeDocument/2006/relationships/image" Target="../media/image894.png"/><Relationship Id="rId14" Type="http://schemas.openxmlformats.org/officeDocument/2006/relationships/image" Target="../media/image899.png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8.png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6.png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8.png"/><Relationship Id="rId2" Type="http://schemas.openxmlformats.org/officeDocument/2006/relationships/image" Target="../media/image809.png"/><Relationship Id="rId1" Type="http://schemas.openxmlformats.org/officeDocument/2006/relationships/slideLayout" Target="../slideLayouts/slideLayout1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9.png"/><Relationship Id="rId2" Type="http://schemas.openxmlformats.org/officeDocument/2006/relationships/image" Target="../media/image817.png"/><Relationship Id="rId1" Type="http://schemas.openxmlformats.org/officeDocument/2006/relationships/slideLayout" Target="../slideLayouts/slideLayout1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3.png"/><Relationship Id="rId4" Type="http://schemas.openxmlformats.org/officeDocument/2006/relationships/image" Target="../media/image821.png"/></Relationships>
</file>

<file path=ppt/slides/_rels/slide1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80.png"/><Relationship Id="rId13" Type="http://schemas.openxmlformats.org/officeDocument/2006/relationships/image" Target="../media/image9130.png"/><Relationship Id="rId3" Type="http://schemas.openxmlformats.org/officeDocument/2006/relationships/image" Target="../media/image914.png"/><Relationship Id="rId7" Type="http://schemas.openxmlformats.org/officeDocument/2006/relationships/image" Target="../media/image824.png"/><Relationship Id="rId12" Type="http://schemas.openxmlformats.org/officeDocument/2006/relationships/image" Target="../media/image912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50.png"/><Relationship Id="rId11" Type="http://schemas.openxmlformats.org/officeDocument/2006/relationships/image" Target="../media/image826.png"/><Relationship Id="rId5" Type="http://schemas.openxmlformats.org/officeDocument/2006/relationships/image" Target="../media/image916.png"/><Relationship Id="rId15" Type="http://schemas.openxmlformats.org/officeDocument/2006/relationships/image" Target="../media/image917.png"/><Relationship Id="rId10" Type="http://schemas.openxmlformats.org/officeDocument/2006/relationships/image" Target="../media/image9100.png"/><Relationship Id="rId4" Type="http://schemas.openxmlformats.org/officeDocument/2006/relationships/image" Target="../media/image915.png"/><Relationship Id="rId9" Type="http://schemas.openxmlformats.org/officeDocument/2006/relationships/image" Target="../media/image9090.png"/><Relationship Id="rId14" Type="http://schemas.openxmlformats.org/officeDocument/2006/relationships/image" Target="../media/image9140.png"/></Relationships>
</file>

<file path=ppt/slides/_rels/slide1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7.png"/><Relationship Id="rId13" Type="http://schemas.openxmlformats.org/officeDocument/2006/relationships/image" Target="../media/image842.png"/><Relationship Id="rId3" Type="http://schemas.openxmlformats.org/officeDocument/2006/relationships/image" Target="../media/image828.png"/><Relationship Id="rId7" Type="http://schemas.openxmlformats.org/officeDocument/2006/relationships/image" Target="../media/image836.png"/><Relationship Id="rId12" Type="http://schemas.openxmlformats.org/officeDocument/2006/relationships/image" Target="../media/image841.png"/><Relationship Id="rId2" Type="http://schemas.openxmlformats.org/officeDocument/2006/relationships/notesSlide" Target="../notesSlides/notesSlide36.xml"/><Relationship Id="rId16" Type="http://schemas.openxmlformats.org/officeDocument/2006/relationships/image" Target="../media/image7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5.png"/><Relationship Id="rId11" Type="http://schemas.openxmlformats.org/officeDocument/2006/relationships/image" Target="../media/image840.png"/><Relationship Id="rId5" Type="http://schemas.openxmlformats.org/officeDocument/2006/relationships/image" Target="../media/image831.png"/><Relationship Id="rId15" Type="http://schemas.openxmlformats.org/officeDocument/2006/relationships/image" Target="../media/image844.png"/><Relationship Id="rId10" Type="http://schemas.openxmlformats.org/officeDocument/2006/relationships/image" Target="../media/image839.png"/><Relationship Id="rId9" Type="http://schemas.openxmlformats.org/officeDocument/2006/relationships/image" Target="../media/image838.png"/><Relationship Id="rId14" Type="http://schemas.openxmlformats.org/officeDocument/2006/relationships/image" Target="../media/image843.png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60.png"/><Relationship Id="rId2" Type="http://schemas.openxmlformats.org/officeDocument/2006/relationships/image" Target="../media/image845.png"/><Relationship Id="rId1" Type="http://schemas.openxmlformats.org/officeDocument/2006/relationships/slideLayout" Target="../slideLayouts/slideLayout1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8.png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1.png"/><Relationship Id="rId3" Type="http://schemas.openxmlformats.org/officeDocument/2006/relationships/image" Target="../media/image732.png"/><Relationship Id="rId7" Type="http://schemas.openxmlformats.org/officeDocument/2006/relationships/image" Target="../media/image93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9.png"/><Relationship Id="rId5" Type="http://schemas.openxmlformats.org/officeDocument/2006/relationships/image" Target="../media/image6791.png"/><Relationship Id="rId4" Type="http://schemas.openxmlformats.org/officeDocument/2006/relationships/image" Target="../media/image927.png"/><Relationship Id="rId9" Type="http://schemas.openxmlformats.org/officeDocument/2006/relationships/image" Target="../media/image932.png"/></Relationships>
</file>

<file path=ppt/slides/_rels/slide1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7.png"/><Relationship Id="rId13" Type="http://schemas.openxmlformats.org/officeDocument/2006/relationships/image" Target="../media/image924.png"/><Relationship Id="rId3" Type="http://schemas.openxmlformats.org/officeDocument/2006/relationships/image" Target="../media/image732.png"/><Relationship Id="rId7" Type="http://schemas.openxmlformats.org/officeDocument/2006/relationships/image" Target="../media/image936.png"/><Relationship Id="rId12" Type="http://schemas.openxmlformats.org/officeDocument/2006/relationships/image" Target="../media/image923.png"/><Relationship Id="rId2" Type="http://schemas.openxmlformats.org/officeDocument/2006/relationships/notesSlide" Target="../notesSlides/notesSlide38.xml"/><Relationship Id="rId16" Type="http://schemas.openxmlformats.org/officeDocument/2006/relationships/image" Target="../media/image9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5.png"/><Relationship Id="rId11" Type="http://schemas.openxmlformats.org/officeDocument/2006/relationships/image" Target="../media/image940.png"/><Relationship Id="rId5" Type="http://schemas.openxmlformats.org/officeDocument/2006/relationships/image" Target="../media/image934.png"/><Relationship Id="rId15" Type="http://schemas.openxmlformats.org/officeDocument/2006/relationships/image" Target="../media/image941.png"/><Relationship Id="rId10" Type="http://schemas.openxmlformats.org/officeDocument/2006/relationships/image" Target="../media/image939.png"/><Relationship Id="rId4" Type="http://schemas.openxmlformats.org/officeDocument/2006/relationships/image" Target="../media/image933.png"/><Relationship Id="rId9" Type="http://schemas.openxmlformats.org/officeDocument/2006/relationships/image" Target="../media/image938.png"/><Relationship Id="rId14" Type="http://schemas.openxmlformats.org/officeDocument/2006/relationships/image" Target="../media/image925.png"/></Relationships>
</file>

<file path=ppt/slides/_rels/slide1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9.png"/><Relationship Id="rId13" Type="http://schemas.openxmlformats.org/officeDocument/2006/relationships/image" Target="../media/image954.png"/><Relationship Id="rId3" Type="http://schemas.openxmlformats.org/officeDocument/2006/relationships/image" Target="../media/image732.png"/><Relationship Id="rId7" Type="http://schemas.openxmlformats.org/officeDocument/2006/relationships/image" Target="../media/image948.png"/><Relationship Id="rId12" Type="http://schemas.openxmlformats.org/officeDocument/2006/relationships/image" Target="../media/image95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7.png"/><Relationship Id="rId11" Type="http://schemas.openxmlformats.org/officeDocument/2006/relationships/image" Target="../media/image952.png"/><Relationship Id="rId5" Type="http://schemas.openxmlformats.org/officeDocument/2006/relationships/image" Target="../media/image946.png"/><Relationship Id="rId10" Type="http://schemas.openxmlformats.org/officeDocument/2006/relationships/image" Target="../media/image951.png"/><Relationship Id="rId4" Type="http://schemas.openxmlformats.org/officeDocument/2006/relationships/image" Target="../media/image945.png"/><Relationship Id="rId9" Type="http://schemas.openxmlformats.org/officeDocument/2006/relationships/image" Target="../media/image950.png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91A2B-D9CE-8F39-E229-AD91EF2CD0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9489" y="1122364"/>
            <a:ext cx="7274325" cy="1866496"/>
          </a:xfrm>
        </p:spPr>
        <p:txBody>
          <a:bodyPr/>
          <a:lstStyle/>
          <a:p>
            <a:r>
              <a:rPr lang="en-US" dirty="0"/>
              <a:t>Unit – 2</a:t>
            </a:r>
            <a:br>
              <a:rPr lang="en-US" dirty="0"/>
            </a:br>
            <a:r>
              <a:rPr lang="en-US" dirty="0"/>
              <a:t>Vector Space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D1CA9521-912C-4693-3D1B-1AF42751DBB3}"/>
                  </a:ext>
                </a:extLst>
              </p:cNvPr>
              <p:cNvSpPr>
                <a:spLocks noGrp="1"/>
              </p:cNvSpPr>
              <p:nvPr>
                <p:ph type="body" sz="quarter" idx="16"/>
              </p:nvPr>
            </p:nvSpPr>
            <p:spPr/>
            <p:txBody>
              <a:bodyPr/>
              <a:lstStyle/>
              <a:p>
                <a:pPr>
                  <a:lnSpc>
                    <a:spcPct val="100000"/>
                  </a:lnSpc>
                </a:pPr>
                <a:r>
                  <a:rPr lang="en-US" dirty="0"/>
                  <a:t>B.Tech.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dirty="0"/>
                  <a:t>1</a:t>
                </a:r>
                <a:r>
                  <a:rPr lang="en-US" baseline="30000" dirty="0"/>
                  <a:t>st</a:t>
                </a:r>
                <a:r>
                  <a:rPr lang="en-US" dirty="0"/>
                  <a:t> Semester</a:t>
                </a:r>
              </a:p>
              <a:p>
                <a:pPr>
                  <a:lnSpc>
                    <a:spcPct val="125000"/>
                  </a:lnSpc>
                </a:pPr>
                <a:r>
                  <a:rPr lang="en-US" b="1" dirty="0"/>
                  <a:t>Mathematics – I (</a:t>
                </a:r>
                <a:r>
                  <a:rPr lang="en-US" dirty="0"/>
                  <a:t>2601HS101</a:t>
                </a:r>
                <a:r>
                  <a:rPr lang="en-US" b="1" dirty="0"/>
                  <a:t>)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D1CA9521-912C-4693-3D1B-1AF42751DB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6"/>
              </p:nvPr>
            </p:nvSpPr>
            <p:spPr>
              <a:blipFill>
                <a:blip r:embed="rId3"/>
                <a:stretch>
                  <a:fillRect b="-991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13">
            <a:extLst>
              <a:ext uri="{FF2B5EF4-FFF2-40B4-BE49-F238E27FC236}">
                <a16:creationId xmlns:a16="http://schemas.microsoft.com/office/drawing/2014/main" id="{A5CAC28B-7C95-0781-4835-2E15AA78AF8E}"/>
              </a:ext>
            </a:extLst>
          </p:cNvPr>
          <p:cNvSpPr txBox="1">
            <a:spLocks/>
          </p:cNvSpPr>
          <p:nvPr/>
        </p:nvSpPr>
        <p:spPr>
          <a:xfrm>
            <a:off x="531292" y="3713993"/>
            <a:ext cx="7035300" cy="1154489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400" b="0" dirty="0">
                <a:latin typeface="+mn-lt"/>
              </a:rPr>
              <a:t>At the end of this unit, students will be able to </a:t>
            </a:r>
            <a:r>
              <a:rPr lang="en-US" sz="2400" dirty="0"/>
              <a:t>explain the concepts of vector spaces, subspaces, linear dependence, basis, and dimension with examples. </a:t>
            </a:r>
            <a:endParaRPr lang="en-US" sz="2400" b="0" dirty="0">
              <a:latin typeface="+mn-lt"/>
            </a:endParaRPr>
          </a:p>
        </p:txBody>
      </p:sp>
      <p:sp>
        <p:nvSpPr>
          <p:cNvPr id="6" name="Title 13">
            <a:extLst>
              <a:ext uri="{FF2B5EF4-FFF2-40B4-BE49-F238E27FC236}">
                <a16:creationId xmlns:a16="http://schemas.microsoft.com/office/drawing/2014/main" id="{CA6D073A-33DA-19C5-E211-F859A8C2E062}"/>
              </a:ext>
            </a:extLst>
          </p:cNvPr>
          <p:cNvSpPr txBox="1">
            <a:spLocks/>
          </p:cNvSpPr>
          <p:nvPr/>
        </p:nvSpPr>
        <p:spPr>
          <a:xfrm>
            <a:off x="531292" y="3220062"/>
            <a:ext cx="2943968" cy="514729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>
                <a:solidFill>
                  <a:srgbClr val="FF0000"/>
                </a:solidFill>
              </a:rPr>
              <a:t>Course Outcome:</a:t>
            </a:r>
            <a:endParaRPr lang="en-US" sz="2400" b="1" dirty="0">
              <a:solidFill>
                <a:srgbClr val="FF0000"/>
              </a:solidFill>
            </a:endParaRP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A6E02579-23A5-4FBF-A0AD-14D821E3FBF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6331692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9EBF344-4A7B-4C4A-AF6D-6441BD040AB3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1191446" y="0"/>
            <a:ext cx="0" cy="6829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BD1E24D-7739-4C4F-8234-2614FB54ADBC}"/>
              </a:ext>
            </a:extLst>
          </p:cNvPr>
          <p:cNvSpPr/>
          <p:nvPr/>
        </p:nvSpPr>
        <p:spPr>
          <a:xfrm>
            <a:off x="954165" y="682906"/>
            <a:ext cx="474562" cy="474562"/>
          </a:xfrm>
          <a:prstGeom prst="ellips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ym typeface="Wingdings 2" panose="05020102010507070707" pitchFamily="18" charset="2"/>
              </a:rPr>
              <a:t>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F422F9-3B3A-4A97-ADB3-F83B13E11C16}"/>
              </a:ext>
            </a:extLst>
          </p:cNvPr>
          <p:cNvSpPr txBox="1"/>
          <p:nvPr/>
        </p:nvSpPr>
        <p:spPr>
          <a:xfrm>
            <a:off x="1527893" y="720132"/>
            <a:ext cx="11753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Looping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34260FD-CAA3-43A0-977C-7E4B57013872}"/>
              </a:ext>
            </a:extLst>
          </p:cNvPr>
          <p:cNvCxnSpPr>
            <a:cxnSpLocks/>
          </p:cNvCxnSpPr>
          <p:nvPr/>
        </p:nvCxnSpPr>
        <p:spPr>
          <a:xfrm>
            <a:off x="1191446" y="1157468"/>
            <a:ext cx="0" cy="429768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DA2F9A4-6988-4274-8384-12496EC9D59D}"/>
              </a:ext>
            </a:extLst>
          </p:cNvPr>
          <p:cNvSpPr txBox="1"/>
          <p:nvPr/>
        </p:nvSpPr>
        <p:spPr>
          <a:xfrm>
            <a:off x="1458964" y="646362"/>
            <a:ext cx="9007807" cy="493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2800" b="1" dirty="0">
                <a:solidFill>
                  <a:srgbClr val="FF0000"/>
                </a:solidFill>
              </a:rPr>
              <a:t>Topics of Unit 2</a:t>
            </a:r>
          </a:p>
          <a:p>
            <a:pPr marL="800100" lvl="1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rgbClr val="002060"/>
                </a:solidFill>
              </a:rPr>
              <a:t>Real Vector Spaces</a:t>
            </a:r>
          </a:p>
          <a:p>
            <a:pPr marL="800100" lvl="1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rgbClr val="002060"/>
                </a:solidFill>
              </a:rPr>
              <a:t>Subspaces</a:t>
            </a:r>
          </a:p>
          <a:p>
            <a:pPr marL="800100" lvl="1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rgbClr val="002060"/>
                </a:solidFill>
              </a:rPr>
              <a:t>Linear Combination and Span</a:t>
            </a:r>
          </a:p>
          <a:p>
            <a:pPr marL="800100" lvl="1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rgbClr val="002060"/>
                </a:solidFill>
              </a:rPr>
              <a:t>Linear Dependence and Independence</a:t>
            </a:r>
          </a:p>
          <a:p>
            <a:pPr marL="800100" lvl="1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rgbClr val="002060"/>
                </a:solidFill>
              </a:rPr>
              <a:t>Basis and Dimension</a:t>
            </a:r>
          </a:p>
          <a:p>
            <a:pPr marL="800100" lvl="1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rgbClr val="002060"/>
                </a:solidFill>
              </a:rPr>
              <a:t>Row Space, Column Space, and Null Space</a:t>
            </a:r>
          </a:p>
          <a:p>
            <a:pPr>
              <a:lnSpc>
                <a:spcPct val="125000"/>
              </a:lnSpc>
            </a:pPr>
            <a:endParaRPr lang="en-US" sz="2800" b="1" dirty="0">
              <a:solidFill>
                <a:srgbClr val="FF0000"/>
              </a:solidFill>
            </a:endParaRPr>
          </a:p>
          <a:p>
            <a:pPr>
              <a:lnSpc>
                <a:spcPct val="125000"/>
              </a:lnSpc>
            </a:pPr>
            <a:endParaRPr 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1759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9EBF344-4A7B-4C4A-AF6D-6441BD040AB3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1191446" y="0"/>
            <a:ext cx="0" cy="6829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BD1E24D-7739-4C4F-8234-2614FB54ADBC}"/>
              </a:ext>
            </a:extLst>
          </p:cNvPr>
          <p:cNvSpPr/>
          <p:nvPr/>
        </p:nvSpPr>
        <p:spPr>
          <a:xfrm>
            <a:off x="954165" y="682906"/>
            <a:ext cx="474562" cy="474562"/>
          </a:xfrm>
          <a:prstGeom prst="ellips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ym typeface="Wingdings 2" panose="05020102010507070707" pitchFamily="18" charset="2"/>
              </a:rPr>
              <a:t>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F422F9-3B3A-4A97-ADB3-F83B13E11C16}"/>
              </a:ext>
            </a:extLst>
          </p:cNvPr>
          <p:cNvSpPr txBox="1"/>
          <p:nvPr/>
        </p:nvSpPr>
        <p:spPr>
          <a:xfrm>
            <a:off x="1527893" y="720132"/>
            <a:ext cx="11753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Looping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34260FD-CAA3-43A0-977C-7E4B57013872}"/>
              </a:ext>
            </a:extLst>
          </p:cNvPr>
          <p:cNvCxnSpPr>
            <a:cxnSpLocks/>
          </p:cNvCxnSpPr>
          <p:nvPr/>
        </p:nvCxnSpPr>
        <p:spPr>
          <a:xfrm>
            <a:off x="1191446" y="1157468"/>
            <a:ext cx="0" cy="429768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DA2F9A4-6988-4274-8384-12496EC9D59D}"/>
              </a:ext>
            </a:extLst>
          </p:cNvPr>
          <p:cNvSpPr txBox="1"/>
          <p:nvPr/>
        </p:nvSpPr>
        <p:spPr>
          <a:xfrm>
            <a:off x="1458964" y="646362"/>
            <a:ext cx="9007807" cy="493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2800" b="1" dirty="0">
                <a:solidFill>
                  <a:srgbClr val="FF0000"/>
                </a:solidFill>
              </a:rPr>
              <a:t>Outlines of Unit 2</a:t>
            </a:r>
          </a:p>
          <a:p>
            <a:pPr marL="800100" lvl="1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rgbClr val="002060"/>
                </a:solidFill>
              </a:rPr>
              <a:t>Vector Space</a:t>
            </a:r>
          </a:p>
          <a:p>
            <a:pPr marL="800100" lvl="1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rgbClr val="002060"/>
                </a:solidFill>
              </a:rPr>
              <a:t>Subspaces</a:t>
            </a:r>
          </a:p>
          <a:p>
            <a:pPr marL="800100" lvl="1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rgbClr val="002060"/>
                </a:solidFill>
              </a:rPr>
              <a:t>Linear Combination and Span</a:t>
            </a:r>
          </a:p>
          <a:p>
            <a:pPr marL="800100" lvl="1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rgbClr val="002060"/>
                </a:solidFill>
              </a:rPr>
              <a:t>Linear Dependence and Independence</a:t>
            </a:r>
          </a:p>
          <a:p>
            <a:pPr marL="800100" lvl="1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rgbClr val="002060"/>
                </a:solidFill>
              </a:rPr>
              <a:t>Basis and Dimension</a:t>
            </a:r>
          </a:p>
          <a:p>
            <a:pPr marL="800100" lvl="1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solidFill>
                  <a:srgbClr val="002060"/>
                </a:solidFill>
              </a:rPr>
              <a:t>Row Space, Column Space, and Null Space</a:t>
            </a:r>
          </a:p>
          <a:p>
            <a:pPr>
              <a:lnSpc>
                <a:spcPct val="125000"/>
              </a:lnSpc>
            </a:pPr>
            <a:endParaRPr lang="en-US" sz="2800" b="1" dirty="0">
              <a:solidFill>
                <a:srgbClr val="FF0000"/>
              </a:solidFill>
            </a:endParaRPr>
          </a:p>
          <a:p>
            <a:pPr>
              <a:lnSpc>
                <a:spcPct val="125000"/>
              </a:lnSpc>
            </a:pPr>
            <a:endParaRPr 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157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Introduction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1B15B0-DB21-4AD4-8A0D-08E74D04D8C7}"/>
              </a:ext>
            </a:extLst>
          </p:cNvPr>
          <p:cNvSpPr txBox="1">
            <a:spLocks/>
          </p:cNvSpPr>
          <p:nvPr/>
        </p:nvSpPr>
        <p:spPr>
          <a:xfrm>
            <a:off x="838200" y="2002632"/>
            <a:ext cx="10515600" cy="28527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kern="1200" dirty="0">
                <a:gradFill flip="none" rotWithShape="1">
                  <a:gsLst>
                    <a:gs pos="0">
                      <a:srgbClr val="1D3064"/>
                    </a:gs>
                    <a:gs pos="100000">
                      <a:schemeClr val="tx2"/>
                    </a:gs>
                  </a:gsLst>
                  <a:lin ang="0" scaled="1"/>
                  <a:tileRect/>
                </a:gradFill>
                <a:effectLst/>
                <a:latin typeface="+mn-lt"/>
                <a:ea typeface="+mn-ea"/>
                <a:cs typeface="+mn-cs"/>
              </a:defRPr>
            </a:lvl1pPr>
          </a:lstStyle>
          <a:p>
            <a:endParaRPr lang="en-IN" dirty="0">
              <a:gradFill flip="none" rotWithShape="1">
                <a:gsLst>
                  <a:gs pos="10000">
                    <a:schemeClr val="accent6">
                      <a:lumMod val="50000"/>
                    </a:schemeClr>
                  </a:gs>
                  <a:gs pos="100000">
                    <a:schemeClr val="accent6"/>
                  </a:gs>
                </a:gsLst>
                <a:lin ang="0" scaled="1"/>
                <a:tileRect/>
              </a:gradFill>
            </a:endParaRPr>
          </a:p>
          <a:p>
            <a:endParaRPr lang="en-IN" dirty="0">
              <a:gradFill flip="none" rotWithShape="1">
                <a:gsLst>
                  <a:gs pos="10000">
                    <a:schemeClr val="accent6">
                      <a:lumMod val="50000"/>
                    </a:schemeClr>
                  </a:gs>
                  <a:gs pos="100000">
                    <a:schemeClr val="accent6"/>
                  </a:gs>
                </a:gsLst>
                <a:lin ang="0" scaled="1"/>
                <a:tileRect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3153600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8A814-E960-4A9A-9533-046AA2FC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CE115E-0DAA-4310-8C47-0D579246D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11201"/>
            <a:ext cx="11929641" cy="5590565"/>
          </a:xfrm>
        </p:spPr>
        <p:txBody>
          <a:bodyPr/>
          <a:lstStyle/>
          <a:p>
            <a:pPr marL="347345" indent="-228600">
              <a:lnSpc>
                <a:spcPct val="115000"/>
              </a:lnSpc>
              <a:spcAft>
                <a:spcPts val="800"/>
              </a:spcAft>
            </a:pPr>
            <a:r>
              <a:rPr lang="en-US" dirty="0"/>
              <a:t>A vector space is a collection of objects called vectors together with two operations </a:t>
            </a:r>
            <a:r>
              <a:rPr lang="en-IN" b="1" dirty="0">
                <a:solidFill>
                  <a:srgbClr val="FF0000"/>
                </a:solidFill>
              </a:rPr>
              <a:t>Vector Addition </a:t>
            </a:r>
            <a:r>
              <a:rPr lang="en-IN" dirty="0"/>
              <a:t>and</a:t>
            </a:r>
            <a:r>
              <a:rPr lang="en-IN" b="1" dirty="0">
                <a:solidFill>
                  <a:srgbClr val="FF0000"/>
                </a:solidFill>
              </a:rPr>
              <a:t> Scalar Multiplication</a:t>
            </a:r>
            <a:r>
              <a:rPr lang="en-US" dirty="0"/>
              <a:t>. These operations satisfy certain mathematical rules.</a:t>
            </a:r>
          </a:p>
          <a:p>
            <a:pPr marL="347345" indent="-228600">
              <a:lnSpc>
                <a:spcPct val="115000"/>
              </a:lnSpc>
              <a:spcAft>
                <a:spcPts val="800"/>
              </a:spcAft>
            </a:pPr>
            <a:r>
              <a:rPr lang="en-US" dirty="0"/>
              <a:t>Vector space is one of the most important concept in linear algebra and is widely used in</a:t>
            </a:r>
          </a:p>
          <a:p>
            <a:pPr marL="891857" lvl="1" indent="-228600">
              <a:lnSpc>
                <a:spcPct val="115000"/>
              </a:lnSpc>
              <a:spcAft>
                <a:spcPts val="800"/>
              </a:spcAft>
            </a:pPr>
            <a:r>
              <a:rPr lang="en-US" sz="2400" dirty="0"/>
              <a:t> Engineering</a:t>
            </a:r>
          </a:p>
          <a:p>
            <a:pPr marL="891857" lvl="1" indent="-228600">
              <a:lnSpc>
                <a:spcPct val="115000"/>
              </a:lnSpc>
              <a:spcAft>
                <a:spcPts val="800"/>
              </a:spcAft>
            </a:pPr>
            <a:r>
              <a:rPr lang="en-US" sz="2400" dirty="0"/>
              <a:t> Computer Graphics</a:t>
            </a:r>
          </a:p>
          <a:p>
            <a:pPr marL="891857" lvl="1" indent="-228600">
              <a:lnSpc>
                <a:spcPct val="115000"/>
              </a:lnSpc>
              <a:spcAft>
                <a:spcPts val="800"/>
              </a:spcAft>
            </a:pPr>
            <a:r>
              <a:rPr lang="en-US" sz="2400" dirty="0"/>
              <a:t> Physics </a:t>
            </a:r>
            <a:endParaRPr lang="en-US" dirty="0"/>
          </a:p>
          <a:p>
            <a:pPr marL="347345" indent="-228600">
              <a:lnSpc>
                <a:spcPct val="115000"/>
              </a:lnSpc>
              <a:spcAft>
                <a:spcPts val="800"/>
              </a:spcAft>
            </a:pPr>
            <a:r>
              <a:rPr lang="en-US" dirty="0"/>
              <a:t>Vectors may be represented as numbers, ordered pairs, triples, matrices, polynomials, or functions.</a:t>
            </a:r>
            <a:endParaRPr lang="en-IN" dirty="0"/>
          </a:p>
          <a:p>
            <a:endParaRPr lang="en-IN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19B1673-2B8B-4E2E-808D-AA5CAD6232CE}"/>
              </a:ext>
            </a:extLst>
          </p:cNvPr>
          <p:cNvSpPr txBox="1">
            <a:spLocks/>
          </p:cNvSpPr>
          <p:nvPr/>
        </p:nvSpPr>
        <p:spPr>
          <a:xfrm>
            <a:off x="4203669" y="3658726"/>
            <a:ext cx="3784662" cy="18603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65113" indent="-265113" algn="just" defTabSz="914400" rtl="0" eaLnBrk="1" latinLnBrk="0" hangingPunct="1">
              <a:lnSpc>
                <a:spcPct val="13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800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800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2800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2800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lvl="1" indent="-228600">
              <a:lnSpc>
                <a:spcPct val="115000"/>
              </a:lnSpc>
              <a:spcAft>
                <a:spcPts val="800"/>
              </a:spcAft>
            </a:pPr>
            <a:r>
              <a:rPr lang="en-US" sz="2400" dirty="0"/>
              <a:t>Machine Learning</a:t>
            </a:r>
          </a:p>
          <a:p>
            <a:pPr marL="228600" lvl="1" indent="-228600">
              <a:lnSpc>
                <a:spcPct val="115000"/>
              </a:lnSpc>
              <a:spcAft>
                <a:spcPts val="800"/>
              </a:spcAft>
            </a:pPr>
            <a:r>
              <a:rPr lang="en-US" sz="2400" dirty="0"/>
              <a:t>Data Science </a:t>
            </a:r>
          </a:p>
          <a:p>
            <a:pPr marL="228600" lvl="1" indent="-228600">
              <a:lnSpc>
                <a:spcPct val="115000"/>
              </a:lnSpc>
              <a:spcAft>
                <a:spcPts val="800"/>
              </a:spcAft>
            </a:pPr>
            <a:r>
              <a:rPr lang="en-US" sz="2400" dirty="0"/>
              <a:t>Communication System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CC8221D-D803-43A5-859F-B775C191E7D6}"/>
              </a:ext>
            </a:extLst>
          </p:cNvPr>
          <p:cNvSpPr txBox="1">
            <a:spLocks/>
          </p:cNvSpPr>
          <p:nvPr/>
        </p:nvSpPr>
        <p:spPr>
          <a:xfrm>
            <a:off x="7988331" y="3658726"/>
            <a:ext cx="3523638" cy="1238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65113" indent="-265113" algn="just" defTabSz="914400" rtl="0" eaLnBrk="1" latinLnBrk="0" hangingPunct="1">
              <a:lnSpc>
                <a:spcPct val="13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800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800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2800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2800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lvl="1" indent="-228600">
              <a:lnSpc>
                <a:spcPct val="115000"/>
              </a:lnSpc>
              <a:spcAft>
                <a:spcPts val="800"/>
              </a:spcAft>
            </a:pPr>
            <a:r>
              <a:rPr lang="en-US" sz="2400" dirty="0"/>
              <a:t>Artificial Intelligence </a:t>
            </a:r>
          </a:p>
          <a:p>
            <a:pPr marL="228600" lvl="1" indent="-228600">
              <a:lnSpc>
                <a:spcPct val="115000"/>
              </a:lnSpc>
              <a:spcAft>
                <a:spcPts val="800"/>
              </a:spcAft>
            </a:pPr>
            <a:r>
              <a:rPr lang="en-US" sz="2400" dirty="0"/>
              <a:t>Navigation System, etc.</a:t>
            </a:r>
          </a:p>
        </p:txBody>
      </p:sp>
    </p:spTree>
    <p:extLst>
      <p:ext uri="{BB962C8B-B14F-4D97-AF65-F5344CB8AC3E}">
        <p14:creationId xmlns:p14="http://schemas.microsoft.com/office/powerpoint/2010/main" val="2433866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8A814-E960-4A9A-9533-046AA2FC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Symbol, Name and Elements of Different Sets</a:t>
            </a:r>
            <a:endParaRPr lang="en-IN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0594827"/>
              </p:ext>
            </p:extLst>
          </p:nvPr>
        </p:nvGraphicFramePr>
        <p:xfrm>
          <a:off x="336000" y="942823"/>
          <a:ext cx="11592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919">
                  <a:extLst>
                    <a:ext uri="{9D8B030D-6E8A-4147-A177-3AD203B41FA5}">
                      <a16:colId xmlns:a16="http://schemas.microsoft.com/office/drawing/2014/main" val="795979569"/>
                    </a:ext>
                  </a:extLst>
                </a:gridCol>
                <a:gridCol w="4718881">
                  <a:extLst>
                    <a:ext uri="{9D8B030D-6E8A-4147-A177-3AD203B41FA5}">
                      <a16:colId xmlns:a16="http://schemas.microsoft.com/office/drawing/2014/main" val="3942830519"/>
                    </a:ext>
                  </a:extLst>
                </a:gridCol>
                <a:gridCol w="5400200">
                  <a:extLst>
                    <a:ext uri="{9D8B030D-6E8A-4147-A177-3AD203B41FA5}">
                      <a16:colId xmlns:a16="http://schemas.microsoft.com/office/drawing/2014/main" val="832360843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800" kern="1200" dirty="0"/>
                        <a:t>Symbol</a:t>
                      </a:r>
                      <a:endParaRPr lang="en-IN" sz="2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800" kern="1200" dirty="0"/>
                        <a:t>Name</a:t>
                      </a:r>
                      <a:endParaRPr lang="en-IN" sz="2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/>
                        <a:t>Elements of the Set</a:t>
                      </a:r>
                      <a:endParaRPr lang="en-IN" sz="2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35976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10764131"/>
                  </p:ext>
                </p:extLst>
              </p:nvPr>
            </p:nvGraphicFramePr>
            <p:xfrm>
              <a:off x="338637" y="1716288"/>
              <a:ext cx="11592000" cy="731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2919">
                      <a:extLst>
                        <a:ext uri="{9D8B030D-6E8A-4147-A177-3AD203B41FA5}">
                          <a16:colId xmlns:a16="http://schemas.microsoft.com/office/drawing/2014/main" val="795979569"/>
                        </a:ext>
                      </a:extLst>
                    </a:gridCol>
                    <a:gridCol w="4718881">
                      <a:extLst>
                        <a:ext uri="{9D8B030D-6E8A-4147-A177-3AD203B41FA5}">
                          <a16:colId xmlns:a16="http://schemas.microsoft.com/office/drawing/2014/main" val="3942830519"/>
                        </a:ext>
                      </a:extLst>
                    </a:gridCol>
                    <a:gridCol w="5400200">
                      <a:extLst>
                        <a:ext uri="{9D8B030D-6E8A-4147-A177-3AD203B41FA5}">
                          <a16:colId xmlns:a16="http://schemas.microsoft.com/office/drawing/2014/main" val="83236084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kern="120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ℝ</m:t>
                                </m:r>
                              </m:oMath>
                            </m:oMathPara>
                          </a14:m>
                          <a:endParaRPr lang="en-IN" sz="280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/>
                          <a:r>
                            <a:rPr lang="en-IN" sz="2800" b="0" i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Set of all real numbers</a:t>
                          </a: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800" b="0" i="0" kern="120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x</m:t>
                                </m:r>
                                <m:r>
                                  <a:rPr lang="en-US" sz="2800" b="0" i="0" kern="120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kern="120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y</m:t>
                                </m:r>
                                <m:r>
                                  <a:rPr lang="en-US" sz="2800" b="0" i="0" kern="120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kern="120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z</m:t>
                                </m:r>
                              </m:oMath>
                            </m:oMathPara>
                          </a14:m>
                          <a:endParaRPr lang="en-IN" sz="280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58137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10764131"/>
                  </p:ext>
                </p:extLst>
              </p:nvPr>
            </p:nvGraphicFramePr>
            <p:xfrm>
              <a:off x="338637" y="1716288"/>
              <a:ext cx="11592000" cy="731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2919">
                      <a:extLst>
                        <a:ext uri="{9D8B030D-6E8A-4147-A177-3AD203B41FA5}">
                          <a16:colId xmlns:a16="http://schemas.microsoft.com/office/drawing/2014/main" val="795979569"/>
                        </a:ext>
                      </a:extLst>
                    </a:gridCol>
                    <a:gridCol w="4718881">
                      <a:extLst>
                        <a:ext uri="{9D8B030D-6E8A-4147-A177-3AD203B41FA5}">
                          <a16:colId xmlns:a16="http://schemas.microsoft.com/office/drawing/2014/main" val="3942830519"/>
                        </a:ext>
                      </a:extLst>
                    </a:gridCol>
                    <a:gridCol w="5400200">
                      <a:extLst>
                        <a:ext uri="{9D8B030D-6E8A-4147-A177-3AD203B41FA5}">
                          <a16:colId xmlns:a16="http://schemas.microsoft.com/office/drawing/2014/main" val="832360843"/>
                        </a:ext>
                      </a:extLst>
                    </a:gridCol>
                  </a:tblGrid>
                  <a:tr h="7315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13" t="-826" r="-688017" b="-82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/>
                          <a:r>
                            <a:rPr lang="en-IN" sz="2800" b="0" i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Set of all real numbers</a:t>
                          </a: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14656" t="-826" r="-451" b="-82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581378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09287792"/>
                  </p:ext>
                </p:extLst>
              </p:nvPr>
            </p:nvGraphicFramePr>
            <p:xfrm>
              <a:off x="336000" y="2501273"/>
              <a:ext cx="11592000" cy="731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2919">
                      <a:extLst>
                        <a:ext uri="{9D8B030D-6E8A-4147-A177-3AD203B41FA5}">
                          <a16:colId xmlns:a16="http://schemas.microsoft.com/office/drawing/2014/main" val="795979569"/>
                        </a:ext>
                      </a:extLst>
                    </a:gridCol>
                    <a:gridCol w="4718881">
                      <a:extLst>
                        <a:ext uri="{9D8B030D-6E8A-4147-A177-3AD203B41FA5}">
                          <a16:colId xmlns:a16="http://schemas.microsoft.com/office/drawing/2014/main" val="3942830519"/>
                        </a:ext>
                      </a:extLst>
                    </a:gridCol>
                    <a:gridCol w="5400200">
                      <a:extLst>
                        <a:ext uri="{9D8B030D-6E8A-4147-A177-3AD203B41FA5}">
                          <a16:colId xmlns:a16="http://schemas.microsoft.com/office/drawing/2014/main" val="83236084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2800" i="1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800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ℝ</m:t>
                                    </m:r>
                                  </m:e>
                                  <m:sup>
                                    <m:r>
                                      <a:rPr lang="en-US" sz="2800" b="0" i="0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+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IN" sz="280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EEEE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/>
                          <a:r>
                            <a:rPr lang="en-IN" sz="2800" b="0" i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Set of all positive real numbers</a:t>
                          </a:r>
                        </a:p>
                      </a:txBody>
                      <a:tcPr anchor="ctr">
                        <a:solidFill>
                          <a:srgbClr val="EEEE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800" b="0" i="0" kern="120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x</m:t>
                                </m:r>
                                <m:r>
                                  <a:rPr lang="en-US" sz="2800" b="0" i="0" kern="120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kern="120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y</m:t>
                                </m:r>
                                <m:r>
                                  <a:rPr lang="en-US" sz="2800" b="0" i="0" kern="120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kern="120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z</m:t>
                                </m:r>
                              </m:oMath>
                            </m:oMathPara>
                          </a14:m>
                          <a:endParaRPr lang="en-IN" sz="280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EEEEE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7895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09287792"/>
                  </p:ext>
                </p:extLst>
              </p:nvPr>
            </p:nvGraphicFramePr>
            <p:xfrm>
              <a:off x="336000" y="2501273"/>
              <a:ext cx="11592000" cy="731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2919">
                      <a:extLst>
                        <a:ext uri="{9D8B030D-6E8A-4147-A177-3AD203B41FA5}">
                          <a16:colId xmlns:a16="http://schemas.microsoft.com/office/drawing/2014/main" val="795979569"/>
                        </a:ext>
                      </a:extLst>
                    </a:gridCol>
                    <a:gridCol w="4718881">
                      <a:extLst>
                        <a:ext uri="{9D8B030D-6E8A-4147-A177-3AD203B41FA5}">
                          <a16:colId xmlns:a16="http://schemas.microsoft.com/office/drawing/2014/main" val="3942830519"/>
                        </a:ext>
                      </a:extLst>
                    </a:gridCol>
                    <a:gridCol w="5400200">
                      <a:extLst>
                        <a:ext uri="{9D8B030D-6E8A-4147-A177-3AD203B41FA5}">
                          <a16:colId xmlns:a16="http://schemas.microsoft.com/office/drawing/2014/main" val="832360843"/>
                        </a:ext>
                      </a:extLst>
                    </a:gridCol>
                  </a:tblGrid>
                  <a:tr h="7315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13" t="-826" r="-687603" b="-82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/>
                          <a:r>
                            <a:rPr lang="en-IN" sz="2800" b="0" i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Set of all positive real numbers</a:t>
                          </a:r>
                        </a:p>
                      </a:txBody>
                      <a:tcPr anchor="ctr">
                        <a:solidFill>
                          <a:srgbClr val="EEEE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14786" t="-826" r="-451" b="-82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789502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4012713"/>
                  </p:ext>
                </p:extLst>
              </p:nvPr>
            </p:nvGraphicFramePr>
            <p:xfrm>
              <a:off x="336000" y="3286258"/>
              <a:ext cx="11592000" cy="2011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2919">
                      <a:extLst>
                        <a:ext uri="{9D8B030D-6E8A-4147-A177-3AD203B41FA5}">
                          <a16:colId xmlns:a16="http://schemas.microsoft.com/office/drawing/2014/main" val="795979569"/>
                        </a:ext>
                      </a:extLst>
                    </a:gridCol>
                    <a:gridCol w="4718881">
                      <a:extLst>
                        <a:ext uri="{9D8B030D-6E8A-4147-A177-3AD203B41FA5}">
                          <a16:colId xmlns:a16="http://schemas.microsoft.com/office/drawing/2014/main" val="3942830519"/>
                        </a:ext>
                      </a:extLst>
                    </a:gridCol>
                    <a:gridCol w="5400200">
                      <a:extLst>
                        <a:ext uri="{9D8B030D-6E8A-4147-A177-3AD203B41FA5}">
                          <a16:colId xmlns:a16="http://schemas.microsoft.com/office/drawing/2014/main" val="83236084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2800" i="1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800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ℝ</m:t>
                                    </m:r>
                                  </m:e>
                                  <m:sup>
                                    <m:r>
                                      <a:rPr lang="en-US" sz="2800" b="0" i="0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IN" sz="280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i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Set of all ordered pairs of real numbers</a:t>
                          </a:r>
                          <a:endParaRPr lang="en-IN" sz="2800" b="0" i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800" b="0" i="0" kern="120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u</m:t>
                                </m:r>
                                <m:r>
                                  <a:rPr lang="en-US" sz="2800" b="0" i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800" b="0" i="1" kern="120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800" b="0" i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kern="120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IN" sz="2800" b="0" i="0" kern="12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indent="0" algn="l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/>
                                  </a:rPr>
                                  <m:t>v</m:t>
                                </m:r>
                                <m:r>
                                  <a:rPr lang="en-US" sz="2800" b="0" i="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en-US" sz="2800" b="0" i="1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800" b="0" i="1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en-US" sz="2800" b="0" i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800" b="0" i="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a:rPr lang="en-US" sz="2800" b="0" i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IN" sz="2800" b="0" i="0" kern="12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indent="0" algn="l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/>
                                  </a:rPr>
                                  <m:t>w</m:t>
                                </m:r>
                                <m:r>
                                  <a:rPr lang="en-US" sz="2800" b="0" i="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en-US" sz="2800" b="0" i="1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800" b="0" i="1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en-US" sz="2800" b="0" i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sz="2800" b="0" i="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a:rPr lang="en-US" sz="2800" b="0" i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IN" sz="2800" b="0" i="0" kern="12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80919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4012713"/>
                  </p:ext>
                </p:extLst>
              </p:nvPr>
            </p:nvGraphicFramePr>
            <p:xfrm>
              <a:off x="336000" y="3286258"/>
              <a:ext cx="11592000" cy="2011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2919">
                      <a:extLst>
                        <a:ext uri="{9D8B030D-6E8A-4147-A177-3AD203B41FA5}">
                          <a16:colId xmlns:a16="http://schemas.microsoft.com/office/drawing/2014/main" val="795979569"/>
                        </a:ext>
                      </a:extLst>
                    </a:gridCol>
                    <a:gridCol w="4718881">
                      <a:extLst>
                        <a:ext uri="{9D8B030D-6E8A-4147-A177-3AD203B41FA5}">
                          <a16:colId xmlns:a16="http://schemas.microsoft.com/office/drawing/2014/main" val="3942830519"/>
                        </a:ext>
                      </a:extLst>
                    </a:gridCol>
                    <a:gridCol w="5400200">
                      <a:extLst>
                        <a:ext uri="{9D8B030D-6E8A-4147-A177-3AD203B41FA5}">
                          <a16:colId xmlns:a16="http://schemas.microsoft.com/office/drawing/2014/main" val="832360843"/>
                        </a:ext>
                      </a:extLst>
                    </a:gridCol>
                  </a:tblGrid>
                  <a:tr h="20116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13" t="-302" r="-687603" b="-12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i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Set of all ordered pairs of real numbers</a:t>
                          </a:r>
                          <a:endParaRPr lang="en-IN" sz="2800" b="0" i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114786" t="-302" r="-451" b="-12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80919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15671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8A814-E960-4A9A-9533-046AA2FC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Symbol, Name and Elements of Different Sets</a:t>
            </a:r>
            <a:endParaRPr lang="en-IN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274839"/>
              </p:ext>
            </p:extLst>
          </p:nvPr>
        </p:nvGraphicFramePr>
        <p:xfrm>
          <a:off x="336000" y="942823"/>
          <a:ext cx="11592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919">
                  <a:extLst>
                    <a:ext uri="{9D8B030D-6E8A-4147-A177-3AD203B41FA5}">
                      <a16:colId xmlns:a16="http://schemas.microsoft.com/office/drawing/2014/main" val="795979569"/>
                    </a:ext>
                  </a:extLst>
                </a:gridCol>
                <a:gridCol w="4718881">
                  <a:extLst>
                    <a:ext uri="{9D8B030D-6E8A-4147-A177-3AD203B41FA5}">
                      <a16:colId xmlns:a16="http://schemas.microsoft.com/office/drawing/2014/main" val="3942830519"/>
                    </a:ext>
                  </a:extLst>
                </a:gridCol>
                <a:gridCol w="5400200">
                  <a:extLst>
                    <a:ext uri="{9D8B030D-6E8A-4147-A177-3AD203B41FA5}">
                      <a16:colId xmlns:a16="http://schemas.microsoft.com/office/drawing/2014/main" val="832360843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800" kern="1200" dirty="0"/>
                        <a:t>Symbol</a:t>
                      </a:r>
                      <a:endParaRPr lang="en-IN" sz="2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800" kern="1200" dirty="0"/>
                        <a:t>Name</a:t>
                      </a:r>
                      <a:endParaRPr lang="en-IN" sz="2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/>
                        <a:t>Elements of the Set</a:t>
                      </a:r>
                      <a:endParaRPr lang="en-IN" sz="2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35976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58309993"/>
                  </p:ext>
                </p:extLst>
              </p:nvPr>
            </p:nvGraphicFramePr>
            <p:xfrm>
              <a:off x="338637" y="1716288"/>
              <a:ext cx="11592000" cy="2011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2919">
                      <a:extLst>
                        <a:ext uri="{9D8B030D-6E8A-4147-A177-3AD203B41FA5}">
                          <a16:colId xmlns:a16="http://schemas.microsoft.com/office/drawing/2014/main" val="795979569"/>
                        </a:ext>
                      </a:extLst>
                    </a:gridCol>
                    <a:gridCol w="4718881">
                      <a:extLst>
                        <a:ext uri="{9D8B030D-6E8A-4147-A177-3AD203B41FA5}">
                          <a16:colId xmlns:a16="http://schemas.microsoft.com/office/drawing/2014/main" val="3942830519"/>
                        </a:ext>
                      </a:extLst>
                    </a:gridCol>
                    <a:gridCol w="5400200">
                      <a:extLst>
                        <a:ext uri="{9D8B030D-6E8A-4147-A177-3AD203B41FA5}">
                          <a16:colId xmlns:a16="http://schemas.microsoft.com/office/drawing/2014/main" val="83236084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2800" b="0" i="1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800" b="0" i="0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ℝ</m:t>
                                    </m:r>
                                  </m:e>
                                  <m:sup>
                                    <m:r>
                                      <a:rPr lang="en-US" sz="2800" b="0" i="0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IN" sz="2800" b="0" i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/>
                          <a:r>
                            <a:rPr lang="en-US" sz="2800" b="0" i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Set of all ordered triples of real numbers</a:t>
                          </a:r>
                          <a:endParaRPr lang="en-IN" sz="2800" b="0" i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800" b="0" i="0" kern="1200" smtClean="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u</m:t>
                                </m:r>
                                <m:r>
                                  <a:rPr lang="en-US" sz="2800" b="0" i="0" kern="120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800" b="0" i="1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800" b="0" i="0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800" b="0" i="0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z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IN" sz="2800" b="0" i="0" kern="1200" dirty="0">
                            <a:solidFill>
                              <a:srgbClr val="002060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indent="0" algn="l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800" b="0" i="0" kern="1200" smtClean="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v</m:t>
                                </m:r>
                                <m:r>
                                  <a:rPr lang="en-US" sz="2800" b="0" i="0" kern="120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800" b="0" i="1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800" b="0" i="0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800" b="0" i="0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z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IN" sz="2800" b="0" i="0" kern="1200" dirty="0">
                            <a:solidFill>
                              <a:srgbClr val="002060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indent="0" algn="l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800" b="0" i="0" kern="1200" smtClean="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w</m:t>
                                </m:r>
                                <m:r>
                                  <a:rPr lang="en-US" sz="2800" b="0" i="0" kern="120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800" b="0" i="1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sz="2800" b="0" i="0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sz="2800" b="0" i="0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z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 smtClean="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IN" sz="2800" b="0" i="0" kern="1200" dirty="0">
                            <a:solidFill>
                              <a:srgbClr val="002060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58137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58309993"/>
                  </p:ext>
                </p:extLst>
              </p:nvPr>
            </p:nvGraphicFramePr>
            <p:xfrm>
              <a:off x="338637" y="1716288"/>
              <a:ext cx="11592000" cy="2011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2919">
                      <a:extLst>
                        <a:ext uri="{9D8B030D-6E8A-4147-A177-3AD203B41FA5}">
                          <a16:colId xmlns:a16="http://schemas.microsoft.com/office/drawing/2014/main" val="795979569"/>
                        </a:ext>
                      </a:extLst>
                    </a:gridCol>
                    <a:gridCol w="4718881">
                      <a:extLst>
                        <a:ext uri="{9D8B030D-6E8A-4147-A177-3AD203B41FA5}">
                          <a16:colId xmlns:a16="http://schemas.microsoft.com/office/drawing/2014/main" val="3942830519"/>
                        </a:ext>
                      </a:extLst>
                    </a:gridCol>
                    <a:gridCol w="5400200">
                      <a:extLst>
                        <a:ext uri="{9D8B030D-6E8A-4147-A177-3AD203B41FA5}">
                          <a16:colId xmlns:a16="http://schemas.microsoft.com/office/drawing/2014/main" val="832360843"/>
                        </a:ext>
                      </a:extLst>
                    </a:gridCol>
                  </a:tblGrid>
                  <a:tr h="20116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13" t="-302" r="-688017" b="-12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/>
                          <a:r>
                            <a:rPr lang="en-US" sz="2800" b="0" i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Set of all ordered triples of real numbers</a:t>
                          </a:r>
                          <a:endParaRPr lang="en-IN" sz="2800" b="0" i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14656" t="-302" r="-451" b="-12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581378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422193"/>
                  </p:ext>
                </p:extLst>
              </p:nvPr>
            </p:nvGraphicFramePr>
            <p:xfrm>
              <a:off x="336000" y="3781433"/>
              <a:ext cx="11592000" cy="2011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2919">
                      <a:extLst>
                        <a:ext uri="{9D8B030D-6E8A-4147-A177-3AD203B41FA5}">
                          <a16:colId xmlns:a16="http://schemas.microsoft.com/office/drawing/2014/main" val="795979569"/>
                        </a:ext>
                      </a:extLst>
                    </a:gridCol>
                    <a:gridCol w="4718881">
                      <a:extLst>
                        <a:ext uri="{9D8B030D-6E8A-4147-A177-3AD203B41FA5}">
                          <a16:colId xmlns:a16="http://schemas.microsoft.com/office/drawing/2014/main" val="3942830519"/>
                        </a:ext>
                      </a:extLst>
                    </a:gridCol>
                    <a:gridCol w="5400200">
                      <a:extLst>
                        <a:ext uri="{9D8B030D-6E8A-4147-A177-3AD203B41FA5}">
                          <a16:colId xmlns:a16="http://schemas.microsoft.com/office/drawing/2014/main" val="83236084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2800" b="0" i="1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800" b="0" i="0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ℝ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sz="2800" b="0" i="0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n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IN" sz="2800" b="0" i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EEEE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/>
                          <a:r>
                            <a:rPr lang="en-US" sz="2800" b="0" i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Set of all ordered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800" b="0" i="0" kern="120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800" b="0" i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 -</a:t>
                          </a:r>
                          <a:r>
                            <a:rPr lang="en-US" sz="2800" b="0" i="0" kern="1200" baseline="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:r>
                            <a:rPr lang="en-US" sz="2800" b="0" i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tuples of real numbers</a:t>
                          </a:r>
                          <a:endParaRPr lang="en-IN" sz="2800" b="0" i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EEEE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800" b="0" i="0" kern="1200" smtClean="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u</m:t>
                                </m:r>
                                <m:r>
                                  <a:rPr lang="en-US" sz="2800" b="0" i="0" kern="120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800" b="0" i="1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800" b="0" i="0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800" b="0" i="0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sz="2800" b="0" i="0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,…,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n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IN" sz="2800" b="0" i="0" kern="1200" dirty="0">
                            <a:solidFill>
                              <a:srgbClr val="002060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indent="0" algn="l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800" b="0" i="0" kern="1200" smtClean="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v</m:t>
                                </m:r>
                                <m:r>
                                  <a:rPr lang="en-US" sz="2800" b="0" i="0" kern="120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800" b="0" i="1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800" b="0" i="0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800" b="0" i="0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sz="2800" b="0" i="0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,…,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n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IN" sz="2800" b="0" i="0" kern="1200" dirty="0">
                            <a:solidFill>
                              <a:srgbClr val="002060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indent="0" algn="l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800" b="0" i="0" kern="1200" smtClean="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w</m:t>
                                </m:r>
                                <m:r>
                                  <a:rPr lang="en-US" sz="2800" b="0" i="0" kern="120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800" b="0" i="1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z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800" b="0" i="0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z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800" b="0" i="0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z</m:t>
                                        </m:r>
                                      </m:e>
                                      <m:sub>
                                        <m: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sz="2800" b="0" i="0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,…,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z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 b="0" i="0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n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IN" sz="2800" b="0" i="0" kern="1200" dirty="0">
                            <a:solidFill>
                              <a:srgbClr val="002060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EEEEE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7895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422193"/>
                  </p:ext>
                </p:extLst>
              </p:nvPr>
            </p:nvGraphicFramePr>
            <p:xfrm>
              <a:off x="336000" y="3781433"/>
              <a:ext cx="11592000" cy="2011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2919">
                      <a:extLst>
                        <a:ext uri="{9D8B030D-6E8A-4147-A177-3AD203B41FA5}">
                          <a16:colId xmlns:a16="http://schemas.microsoft.com/office/drawing/2014/main" val="795979569"/>
                        </a:ext>
                      </a:extLst>
                    </a:gridCol>
                    <a:gridCol w="4718881">
                      <a:extLst>
                        <a:ext uri="{9D8B030D-6E8A-4147-A177-3AD203B41FA5}">
                          <a16:colId xmlns:a16="http://schemas.microsoft.com/office/drawing/2014/main" val="3942830519"/>
                        </a:ext>
                      </a:extLst>
                    </a:gridCol>
                    <a:gridCol w="5400200">
                      <a:extLst>
                        <a:ext uri="{9D8B030D-6E8A-4147-A177-3AD203B41FA5}">
                          <a16:colId xmlns:a16="http://schemas.microsoft.com/office/drawing/2014/main" val="832360843"/>
                        </a:ext>
                      </a:extLst>
                    </a:gridCol>
                  </a:tblGrid>
                  <a:tr h="20116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13" t="-302" r="-687603" b="-12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1395" t="-302" r="-114987" b="-12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14786" t="-302" r="-451" b="-12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789502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693130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8A814-E960-4A9A-9533-046AA2FC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Symbol, Name and Elements of Different Sets</a:t>
            </a:r>
            <a:endParaRPr lang="en-IN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5534395"/>
              </p:ext>
            </p:extLst>
          </p:nvPr>
        </p:nvGraphicFramePr>
        <p:xfrm>
          <a:off x="187144" y="771202"/>
          <a:ext cx="11592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919">
                  <a:extLst>
                    <a:ext uri="{9D8B030D-6E8A-4147-A177-3AD203B41FA5}">
                      <a16:colId xmlns:a16="http://schemas.microsoft.com/office/drawing/2014/main" val="795979569"/>
                    </a:ext>
                  </a:extLst>
                </a:gridCol>
                <a:gridCol w="4718881">
                  <a:extLst>
                    <a:ext uri="{9D8B030D-6E8A-4147-A177-3AD203B41FA5}">
                      <a16:colId xmlns:a16="http://schemas.microsoft.com/office/drawing/2014/main" val="3942830519"/>
                    </a:ext>
                  </a:extLst>
                </a:gridCol>
                <a:gridCol w="5400200">
                  <a:extLst>
                    <a:ext uri="{9D8B030D-6E8A-4147-A177-3AD203B41FA5}">
                      <a16:colId xmlns:a16="http://schemas.microsoft.com/office/drawing/2014/main" val="832360843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800" kern="1200" dirty="0"/>
                        <a:t>Symbol</a:t>
                      </a:r>
                      <a:endParaRPr lang="en-IN" sz="2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800" kern="1200" dirty="0"/>
                        <a:t>Symbol</a:t>
                      </a:r>
                      <a:endParaRPr lang="en-IN" sz="2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/>
                        <a:t>Elements of the Set</a:t>
                      </a:r>
                      <a:endParaRPr lang="en-IN" sz="2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35976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0104330"/>
                  </p:ext>
                </p:extLst>
              </p:nvPr>
            </p:nvGraphicFramePr>
            <p:xfrm>
              <a:off x="189781" y="1544667"/>
              <a:ext cx="11592000" cy="21736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2919">
                      <a:extLst>
                        <a:ext uri="{9D8B030D-6E8A-4147-A177-3AD203B41FA5}">
                          <a16:colId xmlns:a16="http://schemas.microsoft.com/office/drawing/2014/main" val="795979569"/>
                        </a:ext>
                      </a:extLst>
                    </a:gridCol>
                    <a:gridCol w="4718881">
                      <a:extLst>
                        <a:ext uri="{9D8B030D-6E8A-4147-A177-3AD203B41FA5}">
                          <a16:colId xmlns:a16="http://schemas.microsoft.com/office/drawing/2014/main" val="3942830519"/>
                        </a:ext>
                      </a:extLst>
                    </a:gridCol>
                    <a:gridCol w="5400200">
                      <a:extLst>
                        <a:ext uri="{9D8B030D-6E8A-4147-A177-3AD203B41FA5}">
                          <a16:colId xmlns:a16="http://schemas.microsoft.com/office/drawing/2014/main" val="83236084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marL="87313" indent="0"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𝕄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ℝ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IN" sz="2800" b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Set of all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2×2</m:t>
                              </m:r>
                            </m:oMath>
                          </a14:m>
                          <a:r>
                            <a:rPr lang="en-US" sz="2800" b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 matrices </a:t>
                          </a:r>
                        </a:p>
                        <a:p>
                          <a:pPr algn="ctr"/>
                          <a:r>
                            <a:rPr lang="en-US" sz="2800" b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over 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kern="12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ℝ</m:t>
                              </m:r>
                            </m:oMath>
                          </a14:m>
                          <a:endParaRPr lang="en-IN" sz="2800" b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400" b="0" kern="1200" smtClean="0">
                                  <a:solidFill>
                                    <a:srgbClr val="00206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/>
                                </a:rPr>
                                <m:t>A</m:t>
                              </m:r>
                              <m:r>
                                <a:rPr lang="en-US" sz="2400" b="0" kern="1200" smtClean="0">
                                  <a:solidFill>
                                    <a:srgbClr val="00206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/>
                                </a:rPr>
                                <m:t>=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IN" sz="2400" b="0" i="1" kern="1200">
                                      <a:solidFill>
                                        <a:srgbClr val="00206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400" b="0" i="1" kern="1200">
                                          <a:solidFill>
                                            <a:srgbClr val="00206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a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b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c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d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d>
                              <m:r>
                                <a:rPr lang="en-US" sz="2400" b="0" kern="1200" smtClean="0">
                                  <a:solidFill>
                                    <a:srgbClr val="00206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kern="1200" smtClean="0">
                                  <a:solidFill>
                                    <a:srgbClr val="00206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/>
                                </a:rPr>
                                <m:t>B</m:t>
                              </m:r>
                              <m:r>
                                <a:rPr lang="en-US" sz="2400" b="0" kern="1200" smtClean="0">
                                  <a:solidFill>
                                    <a:srgbClr val="00206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/>
                                </a:rPr>
                                <m:t>=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IN" sz="2400" b="0" i="1" kern="1200">
                                      <a:solidFill>
                                        <a:srgbClr val="00206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400" b="0" i="1" kern="1200">
                                          <a:solidFill>
                                            <a:srgbClr val="00206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a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b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c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d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d>
                            </m:oMath>
                          </a14:m>
                          <a:r>
                            <a:rPr lang="en-IN" sz="2400" b="0" kern="1200" dirty="0">
                              <a:solidFill>
                                <a:srgbClr val="00206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/>
                            </a:rPr>
                            <a:t>, </a:t>
                          </a:r>
                        </a:p>
                        <a:p>
                          <a:pPr marL="0" algn="l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400" b="0" kern="1200" smtClean="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/>
                                  </a:rPr>
                                  <m:t>C</m:t>
                                </m:r>
                                <m:r>
                                  <a:rPr lang="en-US" sz="2400" b="0" kern="1200" smtClean="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/>
                                  </a:rPr>
                                  <m:t>=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IN" sz="2400" b="0" i="1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IN" sz="2400" b="0" i="1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400" b="0" i="1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a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400" b="0" i="1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b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400" b="0" i="1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c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400" b="0" i="1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d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</m:m>
                                  </m:e>
                                </m:d>
                              </m:oMath>
                            </m:oMathPara>
                          </a14:m>
                          <a:endParaRPr lang="en-IN" sz="3200" b="0" kern="1200" dirty="0">
                            <a:solidFill>
                              <a:srgbClr val="00206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/>
                          </a:endParaRP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58137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0104330"/>
                  </p:ext>
                </p:extLst>
              </p:nvPr>
            </p:nvGraphicFramePr>
            <p:xfrm>
              <a:off x="189781" y="1544667"/>
              <a:ext cx="11592000" cy="217366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2919">
                      <a:extLst>
                        <a:ext uri="{9D8B030D-6E8A-4147-A177-3AD203B41FA5}">
                          <a16:colId xmlns:a16="http://schemas.microsoft.com/office/drawing/2014/main" val="795979569"/>
                        </a:ext>
                      </a:extLst>
                    </a:gridCol>
                    <a:gridCol w="4718881">
                      <a:extLst>
                        <a:ext uri="{9D8B030D-6E8A-4147-A177-3AD203B41FA5}">
                          <a16:colId xmlns:a16="http://schemas.microsoft.com/office/drawing/2014/main" val="3942830519"/>
                        </a:ext>
                      </a:extLst>
                    </a:gridCol>
                    <a:gridCol w="5400200">
                      <a:extLst>
                        <a:ext uri="{9D8B030D-6E8A-4147-A177-3AD203B41FA5}">
                          <a16:colId xmlns:a16="http://schemas.microsoft.com/office/drawing/2014/main" val="832360843"/>
                        </a:ext>
                      </a:extLst>
                    </a:gridCol>
                  </a:tblGrid>
                  <a:tr h="21736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13" t="-280" r="-687603" b="-140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1395" t="-280" r="-114987" b="-140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14786" t="-280" r="-451" b="-140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581378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0236407"/>
                  </p:ext>
                </p:extLst>
              </p:nvPr>
            </p:nvGraphicFramePr>
            <p:xfrm>
              <a:off x="187144" y="3771802"/>
              <a:ext cx="11592000" cy="217595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2919">
                      <a:extLst>
                        <a:ext uri="{9D8B030D-6E8A-4147-A177-3AD203B41FA5}">
                          <a16:colId xmlns:a16="http://schemas.microsoft.com/office/drawing/2014/main" val="795979569"/>
                        </a:ext>
                      </a:extLst>
                    </a:gridCol>
                    <a:gridCol w="4718881">
                      <a:extLst>
                        <a:ext uri="{9D8B030D-6E8A-4147-A177-3AD203B41FA5}">
                          <a16:colId xmlns:a16="http://schemas.microsoft.com/office/drawing/2014/main" val="3942830519"/>
                        </a:ext>
                      </a:extLst>
                    </a:gridCol>
                    <a:gridCol w="5400200">
                      <a:extLst>
                        <a:ext uri="{9D8B030D-6E8A-4147-A177-3AD203B41FA5}">
                          <a16:colId xmlns:a16="http://schemas.microsoft.com/office/drawing/2014/main" val="832360843"/>
                        </a:ext>
                      </a:extLst>
                    </a:gridCol>
                  </a:tblGrid>
                  <a:tr h="1851322">
                    <a:tc>
                      <a:txBody>
                        <a:bodyPr/>
                        <a:lstStyle/>
                        <a:p>
                          <a:pPr marL="87313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𝕄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2×</m:t>
                                    </m:r>
                                    <m:r>
                                      <a:rPr lang="en-US" sz="2800" b="0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ℝ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IN" sz="2800" b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EEEE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Set of all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kern="120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2×3</m:t>
                              </m:r>
                            </m:oMath>
                          </a14:m>
                          <a:r>
                            <a:rPr lang="en-US" sz="2800" b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 matrices </a:t>
                          </a:r>
                        </a:p>
                        <a:p>
                          <a:pPr algn="ctr"/>
                          <a:r>
                            <a:rPr lang="en-US" sz="2800" b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over 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kern="12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ℝ</m:t>
                              </m:r>
                            </m:oMath>
                          </a14:m>
                          <a:endParaRPr lang="en-IN" sz="2800" b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EEEE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2400" b="0" kern="1200" smtClean="0">
                                  <a:solidFill>
                                    <a:srgbClr val="00206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/>
                                </a:rPr>
                                <m:t>A</m:t>
                              </m:r>
                              <m:r>
                                <a:rPr lang="en-US" sz="2400" b="0" kern="1200" smtClean="0">
                                  <a:solidFill>
                                    <a:srgbClr val="00206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/>
                                </a:rPr>
                                <m:t>=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IN" sz="2400" b="0" i="1" kern="1200">
                                      <a:solidFill>
                                        <a:srgbClr val="00206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3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400" b="0" i="1" kern="1200">
                                          <a:solidFill>
                                            <a:srgbClr val="00206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a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b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c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d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e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f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d>
                              <m:r>
                                <a:rPr lang="en-US" sz="2400" b="0" kern="1200" smtClean="0">
                                  <a:solidFill>
                                    <a:srgbClr val="00206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kern="1200" smtClean="0">
                                  <a:solidFill>
                                    <a:srgbClr val="00206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/>
                                </a:rPr>
                                <m:t>B</m:t>
                              </m:r>
                              <m:r>
                                <a:rPr lang="en-US" sz="2400" b="0" kern="1200" smtClean="0">
                                  <a:solidFill>
                                    <a:srgbClr val="00206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/>
                                </a:rPr>
                                <m:t>=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IN" sz="2400" b="0" i="1" kern="1200">
                                      <a:solidFill>
                                        <a:srgbClr val="00206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3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400" b="0" i="1" kern="1200">
                                          <a:solidFill>
                                            <a:srgbClr val="00206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a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b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c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d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e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f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kern="1200">
                                                <a:solidFill>
                                                  <a:srgbClr val="00206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Shruti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d>
                            </m:oMath>
                          </a14:m>
                          <a:r>
                            <a:rPr lang="en-IN" sz="2400" b="0" kern="1200" dirty="0">
                              <a:solidFill>
                                <a:srgbClr val="00206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/>
                            </a:rPr>
                            <a:t>, </a:t>
                          </a:r>
                        </a:p>
                        <a:p>
                          <a:pPr marL="0" algn="l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400" b="0" kern="1200" smtClean="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/>
                                  </a:rPr>
                                  <m:t>C</m:t>
                                </m:r>
                                <m:r>
                                  <a:rPr lang="en-US" sz="2400" b="0" kern="1200" smtClean="0">
                                    <a:solidFill>
                                      <a:srgbClr val="00206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/>
                                  </a:rPr>
                                  <m:t>=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IN" sz="2400" b="0" i="1" kern="1200">
                                        <a:solidFill>
                                          <a:srgbClr val="00206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IN" sz="2400" b="0" i="1" kern="1200">
                                            <a:solidFill>
                                              <a:srgbClr val="00206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400" b="0" i="1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a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400" b="0" i="1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b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400" b="0" i="1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c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400" b="0" i="1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d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400" b="0" i="1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e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400" b="0" i="1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f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400" b="0" kern="1200">
                                                  <a:solidFill>
                                                    <a:srgbClr val="002060"/>
                                                  </a:solidFill>
                                                  <a:effectLst/>
                                                  <a:latin typeface="Cambria Math" panose="02040503050406030204" pitchFamily="18" charset="0"/>
                                                  <a:ea typeface="Calibri" panose="020F0502020204030204" pitchFamily="34" charset="0"/>
                                                  <a:cs typeface="Shruti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</m:m>
                                  </m:e>
                                </m:d>
                              </m:oMath>
                            </m:oMathPara>
                          </a14:m>
                          <a:endParaRPr lang="en-IN" sz="2400" b="0" kern="1200" dirty="0">
                            <a:solidFill>
                              <a:srgbClr val="00206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/>
                          </a:endParaRPr>
                        </a:p>
                      </a:txBody>
                      <a:tcPr anchor="ctr">
                        <a:solidFill>
                          <a:srgbClr val="EEEEE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7895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0236407"/>
                  </p:ext>
                </p:extLst>
              </p:nvPr>
            </p:nvGraphicFramePr>
            <p:xfrm>
              <a:off x="187144" y="3771802"/>
              <a:ext cx="11592000" cy="217595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2919">
                      <a:extLst>
                        <a:ext uri="{9D8B030D-6E8A-4147-A177-3AD203B41FA5}">
                          <a16:colId xmlns:a16="http://schemas.microsoft.com/office/drawing/2014/main" val="795979569"/>
                        </a:ext>
                      </a:extLst>
                    </a:gridCol>
                    <a:gridCol w="4718881">
                      <a:extLst>
                        <a:ext uri="{9D8B030D-6E8A-4147-A177-3AD203B41FA5}">
                          <a16:colId xmlns:a16="http://schemas.microsoft.com/office/drawing/2014/main" val="3942830519"/>
                        </a:ext>
                      </a:extLst>
                    </a:gridCol>
                    <a:gridCol w="5400200">
                      <a:extLst>
                        <a:ext uri="{9D8B030D-6E8A-4147-A177-3AD203B41FA5}">
                          <a16:colId xmlns:a16="http://schemas.microsoft.com/office/drawing/2014/main" val="832360843"/>
                        </a:ext>
                      </a:extLst>
                    </a:gridCol>
                  </a:tblGrid>
                  <a:tr h="217595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13" t="-279" r="-688017" b="-11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31395" t="-279" r="-115116" b="-11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114656" t="-279" r="-451" b="-11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789502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51824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8A814-E960-4A9A-9533-046AA2FC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Symbol, Name and Elements of Different Sets</a:t>
            </a:r>
            <a:endParaRPr lang="en-IN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0462138"/>
              </p:ext>
            </p:extLst>
          </p:nvPr>
        </p:nvGraphicFramePr>
        <p:xfrm>
          <a:off x="336000" y="942823"/>
          <a:ext cx="11592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919">
                  <a:extLst>
                    <a:ext uri="{9D8B030D-6E8A-4147-A177-3AD203B41FA5}">
                      <a16:colId xmlns:a16="http://schemas.microsoft.com/office/drawing/2014/main" val="795979569"/>
                    </a:ext>
                  </a:extLst>
                </a:gridCol>
                <a:gridCol w="4718881">
                  <a:extLst>
                    <a:ext uri="{9D8B030D-6E8A-4147-A177-3AD203B41FA5}">
                      <a16:colId xmlns:a16="http://schemas.microsoft.com/office/drawing/2014/main" val="3942830519"/>
                    </a:ext>
                  </a:extLst>
                </a:gridCol>
                <a:gridCol w="5400200">
                  <a:extLst>
                    <a:ext uri="{9D8B030D-6E8A-4147-A177-3AD203B41FA5}">
                      <a16:colId xmlns:a16="http://schemas.microsoft.com/office/drawing/2014/main" val="832360843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800" kern="1200" dirty="0"/>
                        <a:t>Symbol</a:t>
                      </a:r>
                      <a:endParaRPr lang="en-IN" sz="2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800" kern="1200" dirty="0"/>
                        <a:t>Name</a:t>
                      </a:r>
                      <a:endParaRPr lang="en-IN" sz="2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/>
                        <a:t>Elements of the Set</a:t>
                      </a:r>
                      <a:endParaRPr lang="en-IN" sz="28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35976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46117998"/>
                  </p:ext>
                </p:extLst>
              </p:nvPr>
            </p:nvGraphicFramePr>
            <p:xfrm>
              <a:off x="338637" y="1716288"/>
              <a:ext cx="11592000" cy="2011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2919">
                      <a:extLst>
                        <a:ext uri="{9D8B030D-6E8A-4147-A177-3AD203B41FA5}">
                          <a16:colId xmlns:a16="http://schemas.microsoft.com/office/drawing/2014/main" val="795979569"/>
                        </a:ext>
                      </a:extLst>
                    </a:gridCol>
                    <a:gridCol w="4718881">
                      <a:extLst>
                        <a:ext uri="{9D8B030D-6E8A-4147-A177-3AD203B41FA5}">
                          <a16:colId xmlns:a16="http://schemas.microsoft.com/office/drawing/2014/main" val="3942830519"/>
                        </a:ext>
                      </a:extLst>
                    </a:gridCol>
                    <a:gridCol w="5400200">
                      <a:extLst>
                        <a:ext uri="{9D8B030D-6E8A-4147-A177-3AD203B41FA5}">
                          <a16:colId xmlns:a16="http://schemas.microsoft.com/office/drawing/2014/main" val="83236084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ℙ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ℝ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IN" sz="2800" b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Set of all real polynomials of degree at most 2</a:t>
                          </a:r>
                          <a:endParaRPr lang="en-IN" sz="2800" b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x</m:t>
                                </m:r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)=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x</m:t>
                                </m:r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IN" sz="2800" b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  <a:p>
                          <a:pPr marL="0" algn="ctr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x</m:t>
                                </m:r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)=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x</m:t>
                                </m:r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IN" sz="2800" b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  <a:p>
                          <a:pPr marL="0" algn="ctr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x</m:t>
                                </m:r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)=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x</m:t>
                                </m:r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IN" sz="2800" b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58137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46117998"/>
                  </p:ext>
                </p:extLst>
              </p:nvPr>
            </p:nvGraphicFramePr>
            <p:xfrm>
              <a:off x="338637" y="1716288"/>
              <a:ext cx="11592000" cy="2011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2919">
                      <a:extLst>
                        <a:ext uri="{9D8B030D-6E8A-4147-A177-3AD203B41FA5}">
                          <a16:colId xmlns:a16="http://schemas.microsoft.com/office/drawing/2014/main" val="795979569"/>
                        </a:ext>
                      </a:extLst>
                    </a:gridCol>
                    <a:gridCol w="4718881">
                      <a:extLst>
                        <a:ext uri="{9D8B030D-6E8A-4147-A177-3AD203B41FA5}">
                          <a16:colId xmlns:a16="http://schemas.microsoft.com/office/drawing/2014/main" val="3942830519"/>
                        </a:ext>
                      </a:extLst>
                    </a:gridCol>
                    <a:gridCol w="5400200">
                      <a:extLst>
                        <a:ext uri="{9D8B030D-6E8A-4147-A177-3AD203B41FA5}">
                          <a16:colId xmlns:a16="http://schemas.microsoft.com/office/drawing/2014/main" val="832360843"/>
                        </a:ext>
                      </a:extLst>
                    </a:gridCol>
                  </a:tblGrid>
                  <a:tr h="20116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13" t="-302" r="-688017" b="-12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kern="1200" dirty="0" smtClean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Set of all real polynomials of degree at most 2</a:t>
                          </a:r>
                          <a:endParaRPr lang="en-IN" sz="2800" b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DBDBD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14656" t="-302" r="-451" b="-12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581378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53762487"/>
                  </p:ext>
                </p:extLst>
              </p:nvPr>
            </p:nvGraphicFramePr>
            <p:xfrm>
              <a:off x="336000" y="3781433"/>
              <a:ext cx="11592000" cy="2011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2919">
                      <a:extLst>
                        <a:ext uri="{9D8B030D-6E8A-4147-A177-3AD203B41FA5}">
                          <a16:colId xmlns:a16="http://schemas.microsoft.com/office/drawing/2014/main" val="795979569"/>
                        </a:ext>
                      </a:extLst>
                    </a:gridCol>
                    <a:gridCol w="4718881">
                      <a:extLst>
                        <a:ext uri="{9D8B030D-6E8A-4147-A177-3AD203B41FA5}">
                          <a16:colId xmlns:a16="http://schemas.microsoft.com/office/drawing/2014/main" val="3942830519"/>
                        </a:ext>
                      </a:extLst>
                    </a:gridCol>
                    <a:gridCol w="5400200">
                      <a:extLst>
                        <a:ext uri="{9D8B030D-6E8A-4147-A177-3AD203B41FA5}">
                          <a16:colId xmlns:a16="http://schemas.microsoft.com/office/drawing/2014/main" val="83236084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ℙ</m:t>
                                    </m:r>
                                  </m:e>
                                  <m:sub>
                                    <m:r>
                                      <a:rPr lang="en-US" sz="2800" b="0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ℝ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IN" sz="2800" b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EEEE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kern="1200" dirty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Set of all real polynomials of degree at most 3</a:t>
                          </a:r>
                          <a:endParaRPr lang="en-IN" sz="2800" b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EEEE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x</m:t>
                                </m:r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)=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x</m:t>
                                </m:r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sz="2800" b="0" kern="120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b="0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a:rPr lang="en-US" sz="2800" b="0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IN" sz="2800" b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  <a:p>
                          <a:pPr marL="0" algn="ctr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x</m:t>
                                </m:r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)=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x</m:t>
                                </m:r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sz="2800" b="0" kern="120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b="0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a:rPr lang="en-US" sz="2800" b="0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IN" sz="2800" b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  <a:p>
                          <a:pPr marL="0" algn="ctr" defTabSz="914400" rtl="0" eaLnBrk="1" latinLnBrk="0" hangingPunct="1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x</m:t>
                                </m:r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)=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x</m:t>
                                </m:r>
                                <m:r>
                                  <a:rPr lang="en-US" sz="2800" b="0" kern="12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sz="2800" b="0" kern="120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US" sz="2800" b="0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sz="2800" b="0" i="1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kern="12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a:rPr lang="en-US" sz="2800" b="0" kern="12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IN" sz="2800" b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EEEEE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7895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53762487"/>
                  </p:ext>
                </p:extLst>
              </p:nvPr>
            </p:nvGraphicFramePr>
            <p:xfrm>
              <a:off x="336000" y="3781433"/>
              <a:ext cx="11592000" cy="2011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72919">
                      <a:extLst>
                        <a:ext uri="{9D8B030D-6E8A-4147-A177-3AD203B41FA5}">
                          <a16:colId xmlns:a16="http://schemas.microsoft.com/office/drawing/2014/main" val="795979569"/>
                        </a:ext>
                      </a:extLst>
                    </a:gridCol>
                    <a:gridCol w="4718881">
                      <a:extLst>
                        <a:ext uri="{9D8B030D-6E8A-4147-A177-3AD203B41FA5}">
                          <a16:colId xmlns:a16="http://schemas.microsoft.com/office/drawing/2014/main" val="3942830519"/>
                        </a:ext>
                      </a:extLst>
                    </a:gridCol>
                    <a:gridCol w="5400200">
                      <a:extLst>
                        <a:ext uri="{9D8B030D-6E8A-4147-A177-3AD203B41FA5}">
                          <a16:colId xmlns:a16="http://schemas.microsoft.com/office/drawing/2014/main" val="832360843"/>
                        </a:ext>
                      </a:extLst>
                    </a:gridCol>
                  </a:tblGrid>
                  <a:tr h="20116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13" t="-302" r="-687603" b="-12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kern="1200" dirty="0" smtClean="0">
                              <a:solidFill>
                                <a:srgbClr val="00206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Set of all real polynomials of degree at most 3</a:t>
                          </a:r>
                          <a:endParaRPr lang="en-IN" sz="2800" b="0" kern="1200" dirty="0">
                            <a:solidFill>
                              <a:srgbClr val="002060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rgbClr val="EEEEE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14786" t="-302" r="-451" b="-12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789502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92919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Method-1</a:t>
            </a:r>
            <a:br>
              <a:rPr lang="en-US" dirty="0"/>
            </a:br>
            <a:r>
              <a:rPr lang="en-US" dirty="0"/>
              <a:t>Vector Space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1B15B0-DB21-4AD4-8A0D-08E74D04D8C7}"/>
              </a:ext>
            </a:extLst>
          </p:cNvPr>
          <p:cNvSpPr txBox="1">
            <a:spLocks/>
          </p:cNvSpPr>
          <p:nvPr/>
        </p:nvSpPr>
        <p:spPr>
          <a:xfrm>
            <a:off x="838200" y="2002632"/>
            <a:ext cx="10515600" cy="28527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kern="1200" dirty="0">
                <a:gradFill flip="none" rotWithShape="1">
                  <a:gsLst>
                    <a:gs pos="0">
                      <a:srgbClr val="1D3064"/>
                    </a:gs>
                    <a:gs pos="100000">
                      <a:schemeClr val="tx2"/>
                    </a:gs>
                  </a:gsLst>
                  <a:lin ang="0" scaled="1"/>
                  <a:tileRect/>
                </a:gradFill>
                <a:effectLst/>
                <a:latin typeface="+mn-lt"/>
                <a:ea typeface="+mn-ea"/>
                <a:cs typeface="+mn-cs"/>
              </a:defRPr>
            </a:lvl1pPr>
          </a:lstStyle>
          <a:p>
            <a:endParaRPr lang="en-IN" dirty="0">
              <a:gradFill flip="none" rotWithShape="1">
                <a:gsLst>
                  <a:gs pos="10000">
                    <a:schemeClr val="accent6">
                      <a:lumMod val="50000"/>
                    </a:schemeClr>
                  </a:gs>
                  <a:gs pos="100000">
                    <a:schemeClr val="accent6"/>
                  </a:gs>
                </a:gsLst>
                <a:lin ang="0" scaled="1"/>
                <a:tileRect/>
              </a:gradFill>
            </a:endParaRPr>
          </a:p>
          <a:p>
            <a:endParaRPr lang="en-IN" dirty="0">
              <a:gradFill flip="none" rotWithShape="1">
                <a:gsLst>
                  <a:gs pos="10000">
                    <a:schemeClr val="accent6">
                      <a:lumMod val="50000"/>
                    </a:schemeClr>
                  </a:gs>
                  <a:gs pos="100000">
                    <a:schemeClr val="accent6"/>
                  </a:gs>
                </a:gsLst>
                <a:lin ang="0" scaled="1"/>
                <a:tileRect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3940347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8A814-E960-4A9A-9533-046AA2FC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Real Vector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CE115E-0DAA-4310-8C47-0D579246D2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853170"/>
                <a:ext cx="12192000" cy="5590565"/>
              </a:xfrm>
            </p:spPr>
            <p:txBody>
              <a:bodyPr/>
              <a:lstStyle/>
              <a:p>
                <a:pPr marL="347345" indent="-228600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r>
                  <a:rPr lang="en-US" dirty="0"/>
                  <a:t> be a non-empty set. Suppose two operations are defined 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891857" lvl="1" indent="-228600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dirty="0"/>
                  <a:t>Vector Addition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(+)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891857" lvl="1" indent="-228600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dirty="0"/>
                  <a:t>Scalar Multiplication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dirty="0"/>
                  <a:t> over the </a:t>
                </a:r>
                <a:r>
                  <a:rPr lang="en-US" b="1" dirty="0">
                    <a:solidFill>
                      <a:srgbClr val="FF0000"/>
                    </a:solidFill>
                  </a:rPr>
                  <a:t>field</a:t>
                </a:r>
                <a:r>
                  <a:rPr lang="en-US" dirty="0"/>
                  <a:t> of real numbers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347345" indent="-228600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dirty="0"/>
                  <a:t>If the following </a:t>
                </a:r>
                <a:r>
                  <a:rPr lang="en-US" b="1" dirty="0">
                    <a:solidFill>
                      <a:srgbClr val="FF0000"/>
                    </a:solidFill>
                  </a:rPr>
                  <a:t>ten axioms</a:t>
                </a:r>
                <a:r>
                  <a:rPr lang="en-US" b="1" dirty="0"/>
                  <a:t> </a:t>
                </a:r>
                <a:r>
                  <a:rPr lang="en-US" dirty="0"/>
                  <a:t>are satisfied for arbitrary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𝐯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𝐰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&amp; 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𝛂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is called a real vector space over the field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under the given operations.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CE115E-0DAA-4310-8C47-0D579246D2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853170"/>
                <a:ext cx="12192000" cy="5590565"/>
              </a:xfrm>
              <a:blipFill>
                <a:blip r:embed="rId2"/>
                <a:stretch>
                  <a:fillRect t="-654" r="-1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7417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CE115E-0DAA-4310-8C47-0D579246D2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arenR"/>
                </a:pPr>
                <a:endParaRPr lang="en-US" dirty="0">
                  <a:latin typeface="Cambria Math" panose="02040503050406030204" pitchFamily="18" charset="0"/>
                </a:endParaRPr>
              </a:p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				</a:t>
                </a:r>
                <a:r>
                  <a:rPr lang="en-US" b="1" dirty="0">
                    <a:solidFill>
                      <a:srgbClr val="FF0000"/>
                    </a:solidFill>
                  </a:rPr>
                  <a:t>(Closure under vector addition)</a:t>
                </a:r>
              </a:p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r>
                  <a:rPr lang="en-US" dirty="0"/>
                  <a:t> 			</a:t>
                </a:r>
                <a:r>
                  <a:rPr lang="en-US" b="1" dirty="0">
                    <a:solidFill>
                      <a:srgbClr val="FF0000"/>
                    </a:solidFill>
                  </a:rPr>
                  <a:t>(Commutative law of addition)</a:t>
                </a:r>
              </a:p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IN" dirty="0"/>
                  <a:t> 	</a:t>
                </a:r>
                <a:r>
                  <a:rPr lang="en-US" b="1" dirty="0">
                    <a:solidFill>
                      <a:srgbClr val="FF0000"/>
                    </a:solidFill>
                  </a:rPr>
                  <a:t>(Associative law of addition)</a:t>
                </a:r>
              </a:p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r>
                  <a:rPr lang="en-IN" dirty="0"/>
                  <a:t> 				</a:t>
                </a:r>
                <a:r>
                  <a:rPr lang="en-US" b="1" dirty="0">
                    <a:solidFill>
                      <a:srgbClr val="FF0000"/>
                    </a:solidFill>
                  </a:rPr>
                  <a:t>(Existence of zero vector in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)</a:t>
                </a:r>
              </a:p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IN" dirty="0"/>
                  <a:t> 			</a:t>
                </a:r>
                <a:r>
                  <a:rPr lang="en-US" b="1" dirty="0">
                    <a:solidFill>
                      <a:srgbClr val="FF0000"/>
                    </a:solidFill>
                  </a:rPr>
                  <a:t>(</a:t>
                </a:r>
                <a:r>
                  <a:rPr lang="en-US" b="1" i="0" dirty="0">
                    <a:solidFill>
                      <a:srgbClr val="FF0000"/>
                    </a:solidFill>
                    <a:latin typeface="+mj-lt"/>
                  </a:rPr>
                  <a:t>Existence of additive inverse in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)</a:t>
                </a:r>
                <a:r>
                  <a:rPr lang="en-US" dirty="0"/>
                  <a:t>	</a:t>
                </a:r>
                <a:endParaRPr lang="en-IN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CE115E-0DAA-4310-8C47-0D579246D2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Axioms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C8A814-E960-4A9A-9533-046AA2FC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Real Vector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75877" y="5614220"/>
                <a:ext cx="8425180" cy="540000"/>
              </a:xfrm>
              <a:prstGeom prst="rect">
                <a:avLst/>
              </a:prstGeom>
              <a:noFill/>
              <a:ln w="127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Here, </a:t>
                </a:r>
                <a14:m>
                  <m:oMath xmlns:m="http://schemas.openxmlformats.org/officeDocument/2006/math"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a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notation of a zero vector</a:t>
                </a: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, not a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number zero</a:t>
                </a:r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877" y="5614220"/>
                <a:ext cx="8425180" cy="540000"/>
              </a:xfrm>
              <a:prstGeom prst="rect">
                <a:avLst/>
              </a:prstGeom>
              <a:blipFill>
                <a:blip r:embed="rId3"/>
                <a:stretch>
                  <a:fillRect t="-5495" b="-29670"/>
                </a:stretch>
              </a:blipFill>
              <a:ln w="127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6456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8A814-E960-4A9A-9533-046AA2FC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Real Vector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CE115E-0DAA-4310-8C47-0D579246D2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endParaRPr lang="en-US" b="0" dirty="0">
                  <a:latin typeface="Cambria Math" panose="02040503050406030204" pitchFamily="18" charset="0"/>
                </a:endParaRPr>
              </a:p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6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				</a:t>
                </a:r>
                <a:r>
                  <a:rPr lang="en-US" b="1" dirty="0">
                    <a:solidFill>
                      <a:srgbClr val="FF0000"/>
                    </a:solidFill>
                  </a:rPr>
                  <a:t>(Closure under scalar multiplication)</a:t>
                </a:r>
              </a:p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6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		</a:t>
                </a:r>
                <a:r>
                  <a:rPr lang="en-US" b="1" dirty="0">
                    <a:solidFill>
                      <a:srgbClr val="FF0000"/>
                    </a:solidFill>
                  </a:rPr>
                  <a:t>(Distributive law over vector addition)</a:t>
                </a:r>
              </a:p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6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en-US" b="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β</m:t>
                        </m:r>
                      </m:e>
                    </m:d>
                    <m:r>
                      <a:rPr lang="en-US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b="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b="0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β</m:t>
                    </m:r>
                    <m:r>
                      <a:rPr lang="en-US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r>
                  <a:rPr lang="en-US" dirty="0"/>
                  <a:t> 		</a:t>
                </a:r>
                <a:r>
                  <a:rPr lang="en-US" b="1" dirty="0">
                    <a:solidFill>
                      <a:srgbClr val="FF0000"/>
                    </a:solidFill>
                  </a:rPr>
                  <a:t>(Distributive law over scalar addition)</a:t>
                </a:r>
              </a:p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6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β</m:t>
                        </m:r>
                        <m:r>
                          <a:rPr lang="en-US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b="0" i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d>
                    <m:r>
                      <a:rPr lang="en-US" b="0" i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αβ</m:t>
                        </m:r>
                      </m:e>
                    </m:d>
                    <m:r>
                      <a:rPr lang="en-US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</m:oMath>
                </a14:m>
                <a:r>
                  <a:rPr lang="en-US" dirty="0"/>
                  <a:t> 		</a:t>
                </a:r>
                <a:r>
                  <a:rPr lang="en-US" b="1" dirty="0">
                    <a:solidFill>
                      <a:srgbClr val="FF0000"/>
                    </a:solidFill>
                  </a:rPr>
                  <a:t>(Associative law of scalar multiplication)</a:t>
                </a:r>
              </a:p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6"/>
                </a:pP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0" i="0">
                        <a:latin typeface="Cambria Math" panose="02040503050406030204" pitchFamily="18" charset="0"/>
                      </a:rPr>
                      <m:t>∙</m:t>
                    </m:r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r>
                  <a:rPr lang="en-IN" dirty="0"/>
                  <a:t> 				</a:t>
                </a:r>
                <a:r>
                  <a:rPr lang="en-US" b="1" dirty="0">
                    <a:solidFill>
                      <a:srgbClr val="FF0000"/>
                    </a:solidFill>
                  </a:rPr>
                  <a:t>(</a:t>
                </a:r>
                <a:r>
                  <a:rPr lang="en-US" b="1" dirty="0">
                    <a:solidFill>
                      <a:srgbClr val="FF0000"/>
                    </a:solidFill>
                    <a:latin typeface="+mj-lt"/>
                  </a:rPr>
                  <a:t>Multiplicative identity</a:t>
                </a:r>
                <a:r>
                  <a:rPr lang="en-US" b="1" dirty="0">
                    <a:solidFill>
                      <a:srgbClr val="FF0000"/>
                    </a:solidFill>
                  </a:rPr>
                  <a:t>)</a:t>
                </a:r>
                <a:endParaRPr lang="en-IN" b="1" dirty="0"/>
              </a:p>
              <a:p>
                <a:pPr marL="347345" indent="-228600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dirty="0"/>
                  <a:t>If V is vector space under Vector Addition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+</m:t>
                        </m:r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</a:t>
                </a:r>
                <a:r>
                  <a:rPr lang="en-US" b="1" dirty="0"/>
                  <a:t> </a:t>
                </a:r>
                <a:r>
                  <a:rPr lang="en-US" dirty="0"/>
                  <a:t>Scalar Multiplication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0">
                            <a:latin typeface="Cambria Math" panose="02040503050406030204" pitchFamily="18" charset="0"/>
                          </a:rPr>
                          <m:t>⋅ </m:t>
                        </m:r>
                      </m:e>
                    </m:d>
                  </m:oMath>
                </a14:m>
                <a:r>
                  <a:rPr lang="en-US" dirty="0"/>
                  <a:t>, then it can be written in short as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 </m:t>
                    </m:r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</m:t>
                    </m:r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 +,  ⋅)</m:t>
                    </m:r>
                  </m:oMath>
                </a14:m>
                <a:r>
                  <a:rPr lang="en-US" dirty="0"/>
                  <a:t> is a vector space.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CE115E-0DAA-4310-8C47-0D579246D2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r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b="1" dirty="0">
                <a:solidFill>
                  <a:schemeClr val="bg1"/>
                </a:solidFill>
              </a:rPr>
              <a:t>Axioms</a:t>
            </a:r>
          </a:p>
        </p:txBody>
      </p:sp>
    </p:spTree>
    <p:extLst>
      <p:ext uri="{BB962C8B-B14F-4D97-AF65-F5344CB8AC3E}">
        <p14:creationId xmlns:p14="http://schemas.microsoft.com/office/powerpoint/2010/main" val="1350589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8A814-E960-4A9A-9533-046AA2FC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Remarks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CE115E-0DAA-4310-8C47-0D579246D2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:r>
                  <a:rPr lang="en-US" i="0" dirty="0">
                    <a:latin typeface="+mj-lt"/>
                  </a:rPr>
                  <a:t>To prove a set is vector space, </a:t>
                </a:r>
                <a:r>
                  <a:rPr lang="en-US" b="1" i="0" dirty="0">
                    <a:solidFill>
                      <a:srgbClr val="FF0000"/>
                    </a:solidFill>
                    <a:latin typeface="+mj-lt"/>
                  </a:rPr>
                  <a:t>all </a:t>
                </a:r>
                <a:r>
                  <a:rPr lang="en-US" b="1" dirty="0">
                    <a:solidFill>
                      <a:srgbClr val="FF0000"/>
                    </a:solidFill>
                    <a:latin typeface="+mj-lt"/>
                  </a:rPr>
                  <a:t>ten </a:t>
                </a:r>
                <a:r>
                  <a:rPr lang="en-US" b="1" i="0" dirty="0">
                    <a:solidFill>
                      <a:srgbClr val="FF0000"/>
                    </a:solidFill>
                    <a:latin typeface="+mj-lt"/>
                  </a:rPr>
                  <a:t>axioms</a:t>
                </a:r>
                <a:r>
                  <a:rPr lang="en-US" i="0" dirty="0">
                    <a:latin typeface="+mj-lt"/>
                  </a:rPr>
                  <a:t> must be satisfied. If at least one axiom fails, the set is not a vector space.</a:t>
                </a:r>
              </a:p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:r>
                  <a:rPr lang="en-US" i="0" dirty="0">
                    <a:latin typeface="+mj-lt"/>
                  </a:rPr>
                  <a:t>If the binary operations </a:t>
                </a:r>
                <a:r>
                  <a:rPr lang="en-US" b="0" i="0" dirty="0">
                    <a:latin typeface="+mj-lt"/>
                  </a:rPr>
                  <a:t>(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0" dirty="0">
                    <a:latin typeface="+mj-lt"/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⋅</m:t>
                    </m:r>
                  </m:oMath>
                </a14:m>
                <a:r>
                  <a:rPr lang="en-US" b="0" i="0" dirty="0">
                    <a:latin typeface="+mj-lt"/>
                  </a:rPr>
                  <a:t> )</a:t>
                </a:r>
                <a:r>
                  <a:rPr lang="en-US" i="0" dirty="0">
                    <a:latin typeface="+mj-lt"/>
                  </a:rPr>
                  <a:t> are </a:t>
                </a:r>
                <a:r>
                  <a:rPr lang="en-US" b="1" i="0" dirty="0">
                    <a:solidFill>
                      <a:srgbClr val="FF0000"/>
                    </a:solidFill>
                    <a:latin typeface="+mj-lt"/>
                  </a:rPr>
                  <a:t>not explicitly</a:t>
                </a:r>
                <a:r>
                  <a:rPr lang="en-US" i="0" dirty="0">
                    <a:latin typeface="+mj-lt"/>
                  </a:rPr>
                  <a:t> defined, then for a vector </a:t>
                </a:r>
                <a:br>
                  <a:rPr lang="en-US" i="0" dirty="0">
                    <a:latin typeface="+mj-lt"/>
                  </a:rPr>
                </a:br>
                <a:r>
                  <a:rPr lang="en-US" i="0" dirty="0">
                    <a:latin typeface="+mj-lt"/>
                  </a:rPr>
                  <a:t>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i="0" dirty="0">
                    <a:latin typeface="+mj-lt"/>
                  </a:rPr>
                  <a:t>, the operations are usually assumed to be the standard operations, namely ordinary </a:t>
                </a:r>
                <a:r>
                  <a:rPr lang="en-US" b="1" i="0" dirty="0">
                    <a:solidFill>
                      <a:srgbClr val="FF0000"/>
                    </a:solidFill>
                    <a:latin typeface="+mj-lt"/>
                  </a:rPr>
                  <a:t>vector addition</a:t>
                </a:r>
                <a:r>
                  <a:rPr lang="en-US" i="0" dirty="0">
                    <a:solidFill>
                      <a:srgbClr val="FF0000"/>
                    </a:solidFill>
                    <a:latin typeface="+mj-lt"/>
                  </a:rPr>
                  <a:t> </a:t>
                </a:r>
                <a:r>
                  <a:rPr lang="en-US" i="0" dirty="0">
                    <a:latin typeface="+mj-lt"/>
                  </a:rPr>
                  <a:t>and ordinary </a:t>
                </a:r>
                <a:r>
                  <a:rPr lang="en-US" b="1" i="0" dirty="0">
                    <a:solidFill>
                      <a:srgbClr val="FF0000"/>
                    </a:solidFill>
                    <a:latin typeface="+mj-lt"/>
                  </a:rPr>
                  <a:t>scalar multiplication</a:t>
                </a:r>
                <a:r>
                  <a:rPr lang="en-US" i="0" dirty="0">
                    <a:latin typeface="+mj-lt"/>
                  </a:rPr>
                  <a:t>.</a:t>
                </a:r>
              </a:p>
              <a:p>
                <a:pPr marL="663257" lvl="1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400" b="1" i="0" dirty="0">
                    <a:latin typeface="+mj-lt"/>
                  </a:rPr>
                  <a:t>Example:</a:t>
                </a:r>
              </a:p>
              <a:p>
                <a:pPr marL="663257" lvl="1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400" dirty="0">
                    <a:latin typeface="+mj-lt"/>
                  </a:rPr>
                  <a:t>Vector Addition	             :        </a:t>
                </a:r>
                <a14:m>
                  <m:oMath xmlns:m="http://schemas.openxmlformats.org/officeDocument/2006/math">
                    <m:r>
                      <a:rPr lang="en-US" sz="2400" dirty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400" dirty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400" dirty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400" dirty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400" dirty="0">
                        <a:latin typeface="Cambria Math" panose="02040503050406030204" pitchFamily="18" charset="0"/>
                      </a:rPr>
                      <m:t>)+(</m:t>
                    </m:r>
                    <m:r>
                      <m:rPr>
                        <m:sty m:val="p"/>
                      </m:rPr>
                      <a:rPr lang="en-US" sz="2400" dirty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sz="2400" dirty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400" dirty="0"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sz="2400" dirty="0">
                        <a:latin typeface="Cambria Math" panose="02040503050406030204" pitchFamily="18" charset="0"/>
                      </a:rPr>
                      <m:t>)=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 dirty="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400" dirty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400" dirty="0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400" dirty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</m:d>
                  </m:oMath>
                </a14:m>
                <a:endParaRPr lang="en-US" sz="2400" i="0" dirty="0">
                  <a:latin typeface="+mj-lt"/>
                </a:endParaRPr>
              </a:p>
              <a:p>
                <a:pPr marL="663257" lvl="1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400" dirty="0">
                    <a:latin typeface="+mj-lt"/>
                  </a:rPr>
                  <a:t>Scalar Multiplication	</a:t>
                </a:r>
                <a:r>
                  <a:rPr lang="en-US" sz="2400" dirty="0"/>
                  <a:t>: 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 dirty="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400" dirty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  <m:r>
                      <a:rPr lang="en-US" sz="240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 b="0" i="0" dirty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en-US" sz="2400" dirty="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400" b="0" i="0" dirty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en-US" sz="2400" dirty="0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  <a:endParaRPr lang="en-US" i="0" dirty="0">
                  <a:latin typeface="+mj-lt"/>
                </a:endParaRPr>
              </a:p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:r>
                  <a:rPr lang="en-US" i="0" dirty="0">
                    <a:latin typeface="+mj-lt"/>
                  </a:rPr>
                  <a:t>The first five axioms are related to </a:t>
                </a:r>
                <a:r>
                  <a:rPr lang="en-US" b="1" i="0" dirty="0">
                    <a:solidFill>
                      <a:srgbClr val="FF0000"/>
                    </a:solidFill>
                    <a:latin typeface="+mj-lt"/>
                  </a:rPr>
                  <a:t>vector addition</a:t>
                </a:r>
                <a:r>
                  <a:rPr lang="en-US" i="0" dirty="0">
                    <a:latin typeface="+mj-lt"/>
                  </a:rPr>
                  <a:t>, while the remaining five axioms are related to </a:t>
                </a:r>
                <a:r>
                  <a:rPr lang="en-US" b="1" i="0" dirty="0">
                    <a:solidFill>
                      <a:srgbClr val="FF0000"/>
                    </a:solidFill>
                    <a:latin typeface="+mj-lt"/>
                  </a:rPr>
                  <a:t>scalar multiplication</a:t>
                </a:r>
                <a:r>
                  <a:rPr lang="en-US" i="0" dirty="0">
                    <a:latin typeface="+mj-lt"/>
                  </a:rPr>
                  <a:t>.</a:t>
                </a:r>
              </a:p>
              <a:p>
                <a:pPr marL="0" indent="0">
                  <a:buNone/>
                </a:pPr>
                <a:endParaRPr lang="en-IN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CE115E-0DAA-4310-8C47-0D579246D2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2" t="-654" r="-1074" b="-52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0193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8A814-E960-4A9A-9533-046AA2FC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Remarks: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CE115E-0DAA-4310-8C47-0D579246D2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1179" y="873718"/>
                <a:ext cx="11929641" cy="5590565"/>
              </a:xfrm>
            </p:spPr>
            <p:txBody>
              <a:bodyPr/>
              <a:lstStyle/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4"/>
                </a:pPr>
                <a:r>
                  <a:rPr lang="en-US" i="0" dirty="0">
                    <a:latin typeface="+mj-lt"/>
                  </a:rPr>
                  <a:t>The zero vector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i="0" dirty="0">
                    <a:latin typeface="+mj-lt"/>
                  </a:rPr>
                  <a:t> in a vector space is </a:t>
                </a:r>
                <a:r>
                  <a:rPr lang="en-US" b="1" i="0" dirty="0">
                    <a:solidFill>
                      <a:srgbClr val="FF0000"/>
                    </a:solidFill>
                    <a:latin typeface="+mj-lt"/>
                  </a:rPr>
                  <a:t>unique</a:t>
                </a:r>
                <a:r>
                  <a:rPr lang="en-US" i="0" dirty="0">
                    <a:latin typeface="+mj-lt"/>
                  </a:rPr>
                  <a:t>.</a:t>
                </a:r>
              </a:p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4"/>
                </a:pPr>
                <a:r>
                  <a:rPr lang="en-US" dirty="0">
                    <a:latin typeface="+mj-lt"/>
                  </a:rPr>
                  <a:t>T</a:t>
                </a:r>
                <a:r>
                  <a:rPr lang="en-US" i="0" dirty="0">
                    <a:latin typeface="+mj-lt"/>
                  </a:rPr>
                  <a:t>he </a:t>
                </a:r>
                <a:r>
                  <a:rPr lang="en-US" b="1" i="0" dirty="0">
                    <a:solidFill>
                      <a:srgbClr val="FF0000"/>
                    </a:solidFill>
                    <a:latin typeface="+mj-lt"/>
                  </a:rPr>
                  <a:t>additive inverse</a:t>
                </a:r>
                <a:r>
                  <a:rPr lang="en-US" i="0" dirty="0">
                    <a:solidFill>
                      <a:srgbClr val="FF0000"/>
                    </a:solidFill>
                    <a:latin typeface="+mj-lt"/>
                  </a:rPr>
                  <a:t> </a:t>
                </a:r>
                <a:r>
                  <a:rPr lang="en-US" i="0" dirty="0">
                    <a:latin typeface="+mj-lt"/>
                  </a:rPr>
                  <a:t>of each vector is also </a:t>
                </a:r>
                <a:r>
                  <a:rPr lang="en-US" b="1" i="0" dirty="0">
                    <a:solidFill>
                      <a:srgbClr val="FF0000"/>
                    </a:solidFill>
                    <a:latin typeface="+mj-lt"/>
                  </a:rPr>
                  <a:t>unique</a:t>
                </a:r>
                <a:r>
                  <a:rPr lang="en-US" i="0" dirty="0">
                    <a:latin typeface="+mj-lt"/>
                  </a:rPr>
                  <a:t>.</a:t>
                </a:r>
              </a:p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4"/>
                </a:pPr>
                <a:r>
                  <a:rPr lang="en-US" i="0" dirty="0">
                    <a:latin typeface="+mj-lt"/>
                  </a:rPr>
                  <a:t>A vector space may contain vectors of different forms such as: </a:t>
                </a:r>
              </a:p>
              <a:p>
                <a:pPr marL="891857" lvl="1" indent="-228600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sz="2400" dirty="0"/>
                  <a:t>Numbers </a:t>
                </a:r>
              </a:p>
              <a:p>
                <a:pPr marL="891857" lvl="1" indent="-228600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sz="2400" i="0" dirty="0">
                    <a:latin typeface="+mj-lt"/>
                  </a:rPr>
                  <a:t>Ordered triples </a:t>
                </a:r>
              </a:p>
              <a:p>
                <a:pPr marL="891857" lvl="1" indent="-228600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sz="2400" i="0" dirty="0">
                    <a:latin typeface="+mj-lt"/>
                  </a:rPr>
                  <a:t>Polynomials  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:endParaRPr lang="en-IN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CE115E-0DAA-4310-8C47-0D579246D2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1179" y="873718"/>
                <a:ext cx="11929641" cy="5590565"/>
              </a:xfrm>
              <a:blipFill>
                <a:blip r:embed="rId2"/>
                <a:stretch>
                  <a:fillRect l="-102" t="-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031EC46-562E-43C7-9F2F-1CB61D20A8C4}"/>
              </a:ext>
            </a:extLst>
          </p:cNvPr>
          <p:cNvSpPr txBox="1">
            <a:spLocks/>
          </p:cNvSpPr>
          <p:nvPr/>
        </p:nvSpPr>
        <p:spPr>
          <a:xfrm>
            <a:off x="3897631" y="2954342"/>
            <a:ext cx="3562564" cy="16067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65113" indent="-265113" algn="just" defTabSz="914400" rtl="0" eaLnBrk="1" latinLnBrk="0" hangingPunct="1">
              <a:lnSpc>
                <a:spcPct val="13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800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800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2800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13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2800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91857" lvl="1" indent="-228600">
              <a:lnSpc>
                <a:spcPct val="115000"/>
              </a:lnSpc>
              <a:spcAft>
                <a:spcPts val="800"/>
              </a:spcAft>
            </a:pPr>
            <a:r>
              <a:rPr lang="en-US" sz="2400" dirty="0"/>
              <a:t>Ordered pairs </a:t>
            </a:r>
            <a:endParaRPr lang="en-US" sz="2400" dirty="0">
              <a:latin typeface="+mj-lt"/>
            </a:endParaRPr>
          </a:p>
          <a:p>
            <a:pPr marL="891857" lvl="1" indent="-228600">
              <a:lnSpc>
                <a:spcPct val="115000"/>
              </a:lnSpc>
              <a:spcAft>
                <a:spcPts val="800"/>
              </a:spcAft>
            </a:pPr>
            <a:r>
              <a:rPr lang="en-US" sz="2400" dirty="0">
                <a:latin typeface="+mj-lt"/>
              </a:rPr>
              <a:t>Matrices </a:t>
            </a:r>
          </a:p>
          <a:p>
            <a:pPr marL="891857" lvl="1" indent="-228600">
              <a:lnSpc>
                <a:spcPct val="115000"/>
              </a:lnSpc>
              <a:spcAft>
                <a:spcPts val="800"/>
              </a:spcAft>
            </a:pPr>
            <a:r>
              <a:rPr lang="en-US" sz="2400" dirty="0">
                <a:latin typeface="+mj-lt"/>
              </a:rPr>
              <a:t>Functions</a:t>
            </a:r>
            <a:endParaRPr lang="en-US" b="1" dirty="0">
              <a:ea typeface="Cambria Math" panose="02040503050406030204" pitchFamily="18" charset="0"/>
            </a:endParaRPr>
          </a:p>
          <a:p>
            <a:pPr marL="347345" indent="-228600">
              <a:lnSpc>
                <a:spcPct val="115000"/>
              </a:lnSpc>
              <a:spcAft>
                <a:spcPts val="800"/>
              </a:spcAft>
            </a:pPr>
            <a:endParaRPr lang="en-IN" b="1" dirty="0"/>
          </a:p>
          <a:p>
            <a:pPr marL="347345" indent="-228600">
              <a:lnSpc>
                <a:spcPct val="115000"/>
              </a:lnSpc>
              <a:spcAft>
                <a:spcPts val="800"/>
              </a:spcAft>
            </a:pPr>
            <a:endParaRPr lang="en-US" dirty="0"/>
          </a:p>
          <a:p>
            <a:pPr marL="118745" indent="0">
              <a:lnSpc>
                <a:spcPct val="115000"/>
              </a:lnSpc>
              <a:spcAft>
                <a:spcPts val="800"/>
              </a:spcAft>
              <a:buNone/>
            </a:pPr>
            <a:endParaRPr lang="en-IN" dirty="0"/>
          </a:p>
          <a:p>
            <a:pPr marL="0" indent="0">
              <a:buFont typeface="Wingdings 3" panose="05040102010807070707" pitchFamily="18" charset="2"/>
              <a:buNone/>
            </a:pPr>
            <a:r>
              <a:rPr lang="en-US" dirty="0"/>
              <a:t>	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973520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CAE77E5B-BF33-5497-20B0-3BFB83C99976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dirty="0">
              <a:solidFill>
                <a:schemeClr val="tx2"/>
              </a:solidFill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D0F31B58-9644-11ED-9321-574F96F65607}"/>
              </a:ext>
            </a:extLst>
          </p:cNvPr>
          <p:cNvSpPr txBox="1">
            <a:spLocks/>
          </p:cNvSpPr>
          <p:nvPr/>
        </p:nvSpPr>
        <p:spPr>
          <a:xfrm>
            <a:off x="132610" y="1690078"/>
            <a:ext cx="7639790" cy="133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sz="28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7272109-8DE2-50AC-004B-6C788F2ADE24}"/>
              </a:ext>
            </a:extLst>
          </p:cNvPr>
          <p:cNvSpPr/>
          <p:nvPr/>
        </p:nvSpPr>
        <p:spPr>
          <a:xfrm>
            <a:off x="122278" y="2625508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55930" y="859069"/>
                <a:ext cx="10027826" cy="1766439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Check whether the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d>
                        <m: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is a vector space or not, with standard operations. 						   i.e., </a:t>
                </a:r>
                <a14:m>
                  <m:oMath xmlns:m="http://schemas.openxmlformats.org/officeDocument/2006/math"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)+(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)=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ka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kb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930" y="859069"/>
                <a:ext cx="10027826" cy="1766439"/>
              </a:xfrm>
              <a:prstGeom prst="rect">
                <a:avLst/>
              </a:prstGeom>
              <a:blipFill>
                <a:blip r:embed="rId3"/>
                <a:stretch>
                  <a:fillRect l="-1277" t="-2414" r="-1337" b="-12759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7" y="938100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97" y="3193464"/>
                <a:ext cx="4763480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Here,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d>
                        <m: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97" y="3193464"/>
                <a:ext cx="4763480" cy="544460"/>
              </a:xfrm>
              <a:prstGeom prst="rect">
                <a:avLst/>
              </a:prstGeom>
              <a:blipFill>
                <a:blip r:embed="rId4"/>
                <a:stretch>
                  <a:fillRect l="-256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6164" y="3837880"/>
                <a:ext cx="10878827" cy="19621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Binary Operations are defined as</a:t>
                </a:r>
              </a:p>
              <a:p>
                <a:pPr marL="990600" indent="-457200"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Vector Addition		:	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)+(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)=</m:t>
                    </m:r>
                    <m:d>
                      <m:d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</m:e>
                    </m:d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  <a:p>
                <a:pPr marL="990600" indent="-457200"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Scalar Multiplication	: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ka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kb</m:t>
                        </m:r>
                      </m:e>
                    </m:d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64" y="3837880"/>
                <a:ext cx="10878827" cy="1962116"/>
              </a:xfrm>
              <a:prstGeom prst="rect">
                <a:avLst/>
              </a:prstGeom>
              <a:blipFill>
                <a:blip r:embed="rId5"/>
                <a:stretch>
                  <a:fillRect l="-56" t="-3427" b="-872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Content Placeholder 4">
            <a:extLst>
              <a:ext uri="{FF2B5EF4-FFF2-40B4-BE49-F238E27FC236}">
                <a16:creationId xmlns:a16="http://schemas.microsoft.com/office/drawing/2014/main" id="{C2E3A768-B2DD-49B5-A909-9453EEB041E3}"/>
              </a:ext>
            </a:extLst>
          </p:cNvPr>
          <p:cNvSpPr txBox="1">
            <a:spLocks/>
          </p:cNvSpPr>
          <p:nvPr/>
        </p:nvSpPr>
        <p:spPr>
          <a:xfrm>
            <a:off x="66095" y="5953487"/>
            <a:ext cx="7074443" cy="5444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800" dirty="0">
                <a:solidFill>
                  <a:srgbClr val="002060"/>
                </a:solidFill>
                <a:latin typeface="+mj-lt"/>
              </a:rPr>
              <a:t>Let us check </a:t>
            </a:r>
            <a:r>
              <a:rPr lang="en-US" sz="2800" b="1" dirty="0">
                <a:solidFill>
                  <a:srgbClr val="FF0000"/>
                </a:solidFill>
                <a:latin typeface="+mj-lt"/>
              </a:rPr>
              <a:t>ten axioms </a:t>
            </a:r>
            <a:r>
              <a:rPr lang="en-US" sz="2800" dirty="0">
                <a:solidFill>
                  <a:srgbClr val="002060"/>
                </a:solidFill>
                <a:latin typeface="+mj-lt"/>
              </a:rPr>
              <a:t>for a vector space.</a:t>
            </a:r>
          </a:p>
        </p:txBody>
      </p:sp>
    </p:spTree>
    <p:extLst>
      <p:ext uri="{BB962C8B-B14F-4D97-AF65-F5344CB8AC3E}">
        <p14:creationId xmlns:p14="http://schemas.microsoft.com/office/powerpoint/2010/main" val="746874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2" grpId="0" animBg="1"/>
      <p:bldP spid="2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015" y="850686"/>
            <a:ext cx="5040000" cy="12083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2201096"/>
                <a:ext cx="57600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1: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𝐯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2201096"/>
                <a:ext cx="5760000" cy="540000"/>
              </a:xfrm>
              <a:prstGeom prst="rect">
                <a:avLst/>
              </a:prstGeom>
              <a:blipFill>
                <a:blip r:embed="rId3"/>
                <a:stretch>
                  <a:fillRect l="-2116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6" y="858197"/>
                <a:ext cx="739140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" y="858197"/>
                <a:ext cx="7391405" cy="540000"/>
              </a:xfrm>
              <a:prstGeom prst="rect">
                <a:avLst/>
              </a:prstGeom>
              <a:blipFill>
                <a:blip r:embed="rId5"/>
                <a:stretch>
                  <a:fillRect l="-165" t="-12500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14100"/>
                <a:ext cx="302982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14100"/>
                <a:ext cx="3029820" cy="540000"/>
              </a:xfrm>
              <a:prstGeom prst="rect">
                <a:avLst/>
              </a:prstGeom>
              <a:blipFill>
                <a:blip r:embed="rId6"/>
                <a:stretch>
                  <a:fillRect l="-4225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2805355"/>
                <a:ext cx="562738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2805355"/>
                <a:ext cx="5627389" cy="540000"/>
              </a:xfrm>
              <a:prstGeom prst="rect">
                <a:avLst/>
              </a:prstGeom>
              <a:blipFill>
                <a:blip r:embed="rId8"/>
                <a:stretch>
                  <a:fillRect l="-2275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58208" y="3487791"/>
                <a:ext cx="331404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208" y="3487791"/>
                <a:ext cx="3314040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4113077"/>
                <a:ext cx="499318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Since,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m:rPr>
                        <m:nor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</a:rPr>
                      <m:t>∈ 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4113077"/>
                <a:ext cx="4993182" cy="540000"/>
              </a:xfrm>
              <a:prstGeom prst="rect">
                <a:avLst/>
              </a:prstGeom>
              <a:blipFill>
                <a:blip r:embed="rId10"/>
                <a:stretch>
                  <a:fillRect l="-2564"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9843" y="4795513"/>
                <a:ext cx="331403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843" y="4795513"/>
                <a:ext cx="3314039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3222" y="13273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1460" y="5441157"/>
                <a:ext cx="377928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460" y="5441157"/>
                <a:ext cx="3779282" cy="5400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5981157"/>
                <a:ext cx="562738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5981157"/>
                <a:ext cx="5627389" cy="540000"/>
              </a:xfrm>
              <a:prstGeom prst="rect">
                <a:avLst/>
              </a:prstGeom>
              <a:blipFill>
                <a:blip r:embed="rId13"/>
                <a:stretch>
                  <a:fillRect l="-2275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2445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26" grpId="0"/>
      <p:bldP spid="32" grpId="0"/>
      <p:bldP spid="33" grpId="0"/>
      <p:bldP spid="36" grpId="0"/>
      <p:bldP spid="38" grpId="0"/>
      <p:bldP spid="44" grpId="0" animBg="1"/>
      <p:bldP spid="20" grpId="0"/>
      <p:bldP spid="2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7600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2: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𝐯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𝐯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760000" cy="540000"/>
              </a:xfrm>
              <a:prstGeom prst="rect">
                <a:avLst/>
              </a:prstGeom>
              <a:blipFill>
                <a:blip r:embed="rId2"/>
                <a:stretch>
                  <a:fillRect l="-2116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14100"/>
                <a:ext cx="573017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14100"/>
                <a:ext cx="5730176" cy="540000"/>
              </a:xfrm>
              <a:prstGeom prst="rect">
                <a:avLst/>
              </a:prstGeom>
              <a:blipFill>
                <a:blip r:embed="rId4"/>
                <a:stretch>
                  <a:fillRect l="-2234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45639" y="2802493"/>
                <a:ext cx="325172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5639" y="2802493"/>
                <a:ext cx="3251722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74453" y="2162994"/>
                <a:ext cx="325172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4453" y="2162994"/>
                <a:ext cx="3251723" cy="540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4033949"/>
                <a:ext cx="5862786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3: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𝐯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</m:d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𝐮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</m:d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𝐰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033949"/>
                <a:ext cx="5862786" cy="540000"/>
              </a:xfrm>
              <a:prstGeom prst="rect">
                <a:avLst/>
              </a:prstGeom>
              <a:blipFill>
                <a:blip r:embed="rId8"/>
                <a:stretch>
                  <a:fillRect l="-2079" t="-10227" b="-306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4682843"/>
                <a:ext cx="314398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4682843"/>
                <a:ext cx="3143989" cy="540000"/>
              </a:xfrm>
              <a:prstGeom prst="rect">
                <a:avLst/>
              </a:prstGeom>
              <a:blipFill>
                <a:blip r:embed="rId9"/>
                <a:stretch>
                  <a:fillRect l="-4078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06121" y="4726378"/>
                <a:ext cx="443767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6121" y="4726378"/>
                <a:ext cx="4437678" cy="54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7884" y="3342493"/>
                <a:ext cx="302982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84" y="3342493"/>
                <a:ext cx="3029820" cy="540000"/>
              </a:xfrm>
              <a:prstGeom prst="rect">
                <a:avLst/>
              </a:prstGeom>
              <a:blipFill>
                <a:blip r:embed="rId11"/>
                <a:stretch>
                  <a:fillRect l="-4225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5205" y="6025615"/>
                <a:ext cx="535389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205" y="6025615"/>
                <a:ext cx="5353893" cy="540000"/>
              </a:xfrm>
              <a:prstGeom prst="rect">
                <a:avLst/>
              </a:prstGeom>
              <a:blipFill>
                <a:blip r:embed="rId12"/>
                <a:stretch>
                  <a:fillRect l="-2392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3222" y="13273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4015" y="850686"/>
            <a:ext cx="5040000" cy="12083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90310" y="4743978"/>
                <a:ext cx="478057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0310" y="4743978"/>
                <a:ext cx="4780578" cy="5400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5357672"/>
                <a:ext cx="314398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d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5357672"/>
                <a:ext cx="3143989" cy="540000"/>
              </a:xfrm>
              <a:prstGeom prst="rect">
                <a:avLst/>
              </a:prstGeom>
              <a:blipFill>
                <a:blip r:embed="rId15"/>
                <a:stretch>
                  <a:fillRect l="-4078"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06121" y="5401207"/>
                <a:ext cx="443767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6121" y="5401207"/>
                <a:ext cx="4437678" cy="5400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90310" y="5418807"/>
                <a:ext cx="478057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0310" y="5418807"/>
                <a:ext cx="4780578" cy="54000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0371890-F750-4D2C-8545-ABE98D8422EC}"/>
                  </a:ext>
                </a:extLst>
              </p:cNvPr>
              <p:cNvSpPr txBox="1"/>
              <p:nvPr/>
            </p:nvSpPr>
            <p:spPr>
              <a:xfrm>
                <a:off x="4888029" y="2778774"/>
                <a:ext cx="32517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sz="2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d>
                        <m:dPr>
                          <m:ctrlPr>
                            <a:rPr kumimoji="0" lang="en-US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US" sz="2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a</m:t>
                              </m:r>
                            </m:e>
                            <m:sub>
                              <m:r>
                                <a:rPr kumimoji="0" lang="en-US" sz="28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r>
                            <a:rPr kumimoji="0" lang="en-US" sz="2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sSub>
                            <m:sSubPr>
                              <m:ctrlPr>
                                <a:rPr kumimoji="0" lang="en-US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US" sz="2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b</m:t>
                              </m:r>
                            </m:e>
                            <m:sub>
                              <m:r>
                                <a:rPr kumimoji="0" lang="en-US" sz="28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kumimoji="0" lang="en-US" sz="2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d>
                        <m:dPr>
                          <m:ctrlPr>
                            <a:rPr kumimoji="0" lang="en-US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US" sz="2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a</m:t>
                              </m:r>
                            </m:e>
                            <m:sub>
                              <m:r>
                                <a:rPr kumimoji="0" lang="en-US" sz="28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US" sz="2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sSub>
                            <m:sSubPr>
                              <m:ctrlPr>
                                <a:rPr kumimoji="0" lang="en-US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US" sz="2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b</m:t>
                              </m:r>
                            </m:e>
                            <m:sub>
                              <m:r>
                                <a:rPr kumimoji="0" lang="en-US" sz="28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0371890-F750-4D2C-8545-ABE98D842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8029" y="2778774"/>
                <a:ext cx="325172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6CDAA05-36B9-4D68-AC88-1A8731625150}"/>
                  </a:ext>
                </a:extLst>
              </p:cNvPr>
              <p:cNvSpPr txBox="1"/>
              <p:nvPr/>
            </p:nvSpPr>
            <p:spPr>
              <a:xfrm>
                <a:off x="8030396" y="2778774"/>
                <a:ext cx="157361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sz="2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0" lang="en-US" sz="2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v</m:t>
                      </m:r>
                      <m:r>
                        <a:rPr kumimoji="0" lang="en-US" sz="2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m:rPr>
                          <m:sty m:val="p"/>
                        </m:rPr>
                        <a:rPr kumimoji="0" lang="en-US" sz="2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u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6CDAA05-36B9-4D68-AC88-1A87316251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396" y="2778774"/>
                <a:ext cx="1573619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4917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2" grpId="0"/>
      <p:bldP spid="16" grpId="0"/>
      <p:bldP spid="17" grpId="0" animBg="1"/>
      <p:bldP spid="18" grpId="0"/>
      <p:bldP spid="23" grpId="0"/>
      <p:bldP spid="28" grpId="0"/>
      <p:bldP spid="30" grpId="0"/>
      <p:bldP spid="31" grpId="0"/>
      <p:bldP spid="34" grpId="0"/>
      <p:bldP spid="36" grpId="0"/>
      <p:bldP spid="37" grpId="0"/>
      <p:bldP spid="24" grpId="0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4: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7" y="1514100"/>
                <a:ext cx="683424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b="0" i="1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0" i="1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p>
                            <m: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such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 </a:t>
                </a: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7" y="1514100"/>
                <a:ext cx="6834249" cy="540000"/>
              </a:xfrm>
              <a:prstGeom prst="rect">
                <a:avLst/>
              </a:prstGeom>
              <a:blipFill>
                <a:blip r:embed="rId4"/>
                <a:stretch>
                  <a:fillRect l="-1873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0008" y="2814027"/>
                <a:ext cx="477589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p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08" y="2814027"/>
                <a:ext cx="4775892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2162867"/>
                <a:ext cx="281368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2162867"/>
                <a:ext cx="2813688" cy="540000"/>
              </a:xfrm>
              <a:prstGeom prst="rect">
                <a:avLst/>
              </a:prstGeom>
              <a:blipFill>
                <a:blip r:embed="rId7"/>
                <a:stretch>
                  <a:fillRect l="-4555"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5395" y="5333675"/>
                <a:ext cx="787092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𝐞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en-US" sz="2800" b="1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8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p>
                            <m:r>
                              <a:rPr lang="en-US" sz="2800" b="1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8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</a:t>
                </a: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is the zero vector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</a:t>
                </a: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395" y="5333675"/>
                <a:ext cx="7870920" cy="540000"/>
              </a:xfrm>
              <a:prstGeom prst="rect">
                <a:avLst/>
              </a:prstGeom>
              <a:blipFill>
                <a:blip r:embed="rId8"/>
                <a:stretch>
                  <a:fillRect l="-1549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0007" y="3462104"/>
                <a:ext cx="477589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p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07" y="3462104"/>
                <a:ext cx="4775892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3222" y="13273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4015" y="850686"/>
            <a:ext cx="5040000" cy="12083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0488" y="4107323"/>
                <a:ext cx="520261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b="0" i="0" dirty="0">
                    <a:solidFill>
                      <a:srgbClr val="002060"/>
                    </a:solidFill>
                    <a:latin typeface="+mj-lt"/>
                  </a:rPr>
                  <a:t> and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88" y="4107323"/>
                <a:ext cx="5202612" cy="540000"/>
              </a:xfrm>
              <a:prstGeom prst="rect">
                <a:avLst/>
              </a:prstGeom>
              <a:blipFill>
                <a:blip r:embed="rId12"/>
                <a:stretch>
                  <a:fillRect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0488" y="4756888"/>
                <a:ext cx="520261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0  </m:t>
                    </m:r>
                  </m:oMath>
                </a14:m>
                <a:r>
                  <a:rPr lang="en-US" sz="2800" b="0" i="0" dirty="0">
                    <a:solidFill>
                      <a:srgbClr val="002060"/>
                    </a:solidFill>
                    <a:latin typeface="+mj-lt"/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88" y="4756888"/>
                <a:ext cx="5202612" cy="540000"/>
              </a:xfrm>
              <a:prstGeom prst="rect">
                <a:avLst/>
              </a:prstGeom>
              <a:blipFill>
                <a:blip r:embed="rId13"/>
                <a:stretch>
                  <a:fillRect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/>
          <p:cNvCxnSpPr/>
          <p:nvPr/>
        </p:nvCxnSpPr>
        <p:spPr>
          <a:xfrm>
            <a:off x="1003990" y="4211034"/>
            <a:ext cx="405357" cy="40535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2458140" y="4244538"/>
            <a:ext cx="405357" cy="40535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3588440" y="4208462"/>
            <a:ext cx="405357" cy="40535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5042590" y="4241966"/>
            <a:ext cx="405357" cy="40535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6430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2" grpId="0"/>
      <p:bldP spid="16" grpId="0"/>
      <p:bldP spid="18" grpId="0"/>
      <p:bldP spid="22" grpId="0"/>
      <p:bldP spid="19" grpId="0"/>
      <p:bldP spid="2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5: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𝐢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𝐞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5" y="1514100"/>
                <a:ext cx="639698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Let,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p>
                            <m: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such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. </a:t>
                </a: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5" y="1514100"/>
                <a:ext cx="6396983" cy="540000"/>
              </a:xfrm>
              <a:prstGeom prst="rect">
                <a:avLst/>
              </a:prstGeom>
              <a:blipFill>
                <a:blip r:embed="rId4"/>
                <a:stretch>
                  <a:fillRect l="-2002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3222" y="13273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0008" y="2814027"/>
                <a:ext cx="453459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 b="0" i="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p>
                              <m:r>
                                <a:rPr lang="en-US" sz="2800" b="0" i="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08" y="2814027"/>
                <a:ext cx="4534592" cy="540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2162867"/>
                <a:ext cx="281368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2162867"/>
                <a:ext cx="2813688" cy="540000"/>
              </a:xfrm>
              <a:prstGeom prst="rect">
                <a:avLst/>
              </a:prstGeom>
              <a:blipFill>
                <a:blip r:embed="rId8"/>
                <a:stretch>
                  <a:fillRect l="-4555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5393" y="5333675"/>
                <a:ext cx="1173054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𝐢</m:t>
                    </m:r>
                    <m:r>
                      <a:rPr lang="en-US" sz="28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8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p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8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8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the </a:t>
                </a:r>
                <a:r>
                  <a:rPr lang="en-US" sz="2800" dirty="0">
                    <a:solidFill>
                      <a:srgbClr val="002060"/>
                    </a:solidFill>
                  </a:rPr>
                  <a:t>additive inverse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393" y="5333675"/>
                <a:ext cx="11730541" cy="540000"/>
              </a:xfrm>
              <a:prstGeom prst="rect">
                <a:avLst/>
              </a:prstGeom>
              <a:blipFill>
                <a:blip r:embed="rId9"/>
                <a:stretch>
                  <a:fillRect l="-1039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0007" y="3462104"/>
                <a:ext cx="453459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 b="0" i="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p>
                              <m:r>
                                <a:rPr lang="en-US" sz="2800" b="0" i="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07" y="3462104"/>
                <a:ext cx="4534593" cy="54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0488" y="4107323"/>
                <a:ext cx="520261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800" b="0" i="0" dirty="0">
                    <a:solidFill>
                      <a:srgbClr val="002060"/>
                    </a:solidFill>
                    <a:latin typeface="+mj-lt"/>
                  </a:rPr>
                  <a:t> and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88" y="4107323"/>
                <a:ext cx="5202612" cy="540000"/>
              </a:xfrm>
              <a:prstGeom prst="rect">
                <a:avLst/>
              </a:prstGeom>
              <a:blipFill>
                <a:blip r:embed="rId11"/>
                <a:stretch>
                  <a:fillRect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0488" y="4756888"/>
                <a:ext cx="520261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sz="2800" b="0" i="0" dirty="0">
                    <a:solidFill>
                      <a:srgbClr val="002060"/>
                    </a:solidFill>
                    <a:latin typeface="+mj-lt"/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88" y="4756888"/>
                <a:ext cx="5202612" cy="540000"/>
              </a:xfrm>
              <a:prstGeom prst="rect">
                <a:avLst/>
              </a:prstGeom>
              <a:blipFill>
                <a:blip r:embed="rId12"/>
                <a:stretch>
                  <a:fillRect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37E77FE4-F3DE-43E2-815F-27562D3FBBF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4015" y="850686"/>
            <a:ext cx="5040000" cy="1208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88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14" grpId="0"/>
      <p:bldP spid="15" grpId="0"/>
      <p:bldP spid="23" grpId="0"/>
      <p:bldP spid="24" grpId="0"/>
      <p:bldP spid="25" grpId="0"/>
      <p:bldP spid="2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6: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dirty="0" smtClean="0">
                        <a:solidFill>
                          <a:srgbClr val="EEEEEE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1357" y="1733616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7" y="1548055"/>
                <a:ext cx="406725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7" y="1548055"/>
                <a:ext cx="4067252" cy="540000"/>
              </a:xfrm>
              <a:prstGeom prst="rect">
                <a:avLst/>
              </a:prstGeom>
              <a:blipFill>
                <a:blip r:embed="rId5"/>
                <a:stretch>
                  <a:fillRect l="-3148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98576" y="1599810"/>
                <a:ext cx="21025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8576" y="1599810"/>
                <a:ext cx="2102590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7210" y="2912927"/>
                <a:ext cx="24327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10" y="2912927"/>
                <a:ext cx="2432790" cy="540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410" y="3595363"/>
                <a:ext cx="25470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10" y="3595363"/>
                <a:ext cx="2547090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410" y="4277799"/>
                <a:ext cx="489836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So</m:t>
                      </m:r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10" y="4277799"/>
                <a:ext cx="4898362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4015" y="850686"/>
            <a:ext cx="5040000" cy="12083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2195993"/>
                <a:ext cx="499318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Since,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m:rPr>
                        <m:nor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</a:rPr>
                      <m:t>∈ 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</a:t>
                </a:r>
              </a:p>
            </p:txBody>
          </p:sp>
        </mc:Choice>
        <mc:Fallback xmlns="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2195993"/>
                <a:ext cx="4993182" cy="540000"/>
              </a:xfrm>
              <a:prstGeom prst="rect">
                <a:avLst/>
              </a:prstGeom>
              <a:blipFill>
                <a:blip r:embed="rId11"/>
                <a:stretch>
                  <a:fillRect l="-2564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732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/>
      <p:bldP spid="20" grpId="0"/>
      <p:bldP spid="23" grpId="0"/>
      <p:bldP spid="25" grpId="0"/>
      <p:bldP spid="27" grpId="0"/>
      <p:bldP spid="3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" y="865206"/>
                <a:ext cx="5609691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7: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𝐮</m:t>
                        </m:r>
                        <m:r>
                          <a:rPr lang="en-US" b="1" i="0" dirty="0" err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</m:d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𝐯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" y="865206"/>
                <a:ext cx="5609691" cy="540000"/>
              </a:xfrm>
              <a:prstGeom prst="rect">
                <a:avLst/>
              </a:prstGeom>
              <a:blipFill>
                <a:blip r:embed="rId2"/>
                <a:stretch>
                  <a:fillRect l="-2174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1357" y="1733616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48055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48055"/>
                <a:ext cx="3258290" cy="540000"/>
              </a:xfrm>
              <a:prstGeom prst="rect">
                <a:avLst/>
              </a:prstGeom>
              <a:blipFill>
                <a:blip r:embed="rId5"/>
                <a:stretch>
                  <a:fillRect l="-3933" t="-10112" b="-2809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88067" y="1592119"/>
                <a:ext cx="371955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067" y="1592119"/>
                <a:ext cx="3719550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88065" y="2217135"/>
                <a:ext cx="474729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i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d>
                            <m:d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i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 i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i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 i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i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d>
                            <m:d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i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 i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i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 i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065" y="2217135"/>
                <a:ext cx="4747291" cy="540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88065" y="2842151"/>
                <a:ext cx="5284334" cy="46253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800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800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065" y="2842151"/>
                <a:ext cx="5284334" cy="46253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4015" y="850686"/>
            <a:ext cx="5040000" cy="12083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3540286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3540286"/>
                <a:ext cx="3258290" cy="540000"/>
              </a:xfrm>
              <a:prstGeom prst="rect">
                <a:avLst/>
              </a:prstGeom>
              <a:blipFill>
                <a:blip r:embed="rId10"/>
                <a:stretch>
                  <a:fillRect l="-3933"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64291" y="3584350"/>
                <a:ext cx="412228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4291" y="3584350"/>
                <a:ext cx="4122284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45239" y="4209366"/>
                <a:ext cx="502716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b="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b="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b="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b="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b="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b="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239" y="4209366"/>
                <a:ext cx="5027160" cy="5400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45240" y="4834382"/>
                <a:ext cx="5278298" cy="46253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800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800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240" y="4834382"/>
                <a:ext cx="5278298" cy="46253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5488453"/>
                <a:ext cx="443939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So</m:t>
                      </m:r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,</m:t>
                      </m:r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</m:d>
                      <m:r>
                        <a:rPr lang="en-US" sz="2800" b="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5488453"/>
                <a:ext cx="4439391" cy="5400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320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4" grpId="0"/>
      <p:bldP spid="30" grpId="0"/>
      <p:bldP spid="31" grpId="0"/>
      <p:bldP spid="32" grpId="0"/>
      <p:bldP spid="33" grpId="0"/>
      <p:bldP spid="3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3" y="865206"/>
                <a:ext cx="5834126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8: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𝐤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𝐦</m:t>
                        </m:r>
                      </m:e>
                    </m:d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𝐦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" y="865206"/>
                <a:ext cx="5834126" cy="540000"/>
              </a:xfrm>
              <a:prstGeom prst="rect">
                <a:avLst/>
              </a:prstGeom>
              <a:blipFill>
                <a:blip r:embed="rId2"/>
                <a:stretch>
                  <a:fillRect l="-2090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1357" y="1733616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48055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</m:d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48055"/>
                <a:ext cx="3258290" cy="540000"/>
              </a:xfrm>
              <a:prstGeom prst="rect">
                <a:avLst/>
              </a:prstGeom>
              <a:blipFill>
                <a:blip r:embed="rId5"/>
                <a:stretch>
                  <a:fillRect l="-3933" t="-10112" b="-2809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44988" y="1603291"/>
                <a:ext cx="328913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4988" y="1603291"/>
                <a:ext cx="3289136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46241" y="2215070"/>
                <a:ext cx="467871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241" y="2215070"/>
                <a:ext cx="4678713" cy="540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46241" y="2898747"/>
                <a:ext cx="5359126" cy="46253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241" y="2898747"/>
                <a:ext cx="5359126" cy="46253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4015" y="850686"/>
            <a:ext cx="5040000" cy="12083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3564934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3564934"/>
                <a:ext cx="3258290" cy="540000"/>
              </a:xfrm>
              <a:prstGeom prst="rect">
                <a:avLst/>
              </a:prstGeom>
              <a:blipFill>
                <a:blip r:embed="rId10"/>
                <a:stretch>
                  <a:fillRect l="-3933"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28325" y="3620170"/>
                <a:ext cx="4314547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325" y="3620170"/>
                <a:ext cx="4314547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78426" y="4231949"/>
                <a:ext cx="525508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8426" y="4231949"/>
                <a:ext cx="5255083" cy="5400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78426" y="4838163"/>
                <a:ext cx="5359126" cy="46253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8426" y="4838163"/>
                <a:ext cx="5359126" cy="46253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5552848"/>
                <a:ext cx="46840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So</m:t>
                      </m:r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, 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5552848"/>
                <a:ext cx="4684090" cy="5400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1104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4" grpId="0"/>
      <p:bldP spid="16" grpId="0"/>
      <p:bldP spid="18" grpId="0"/>
      <p:bldP spid="22" grpId="0"/>
      <p:bldP spid="25" grpId="0"/>
      <p:bldP spid="2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9: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>
                            <a:latin typeface="Cambria Math" panose="02040503050406030204" pitchFamily="18" charset="0"/>
                          </a:rPr>
                          <m:t>𝐦</m:t>
                        </m:r>
                        <m:r>
                          <a:rPr lang="en-US" b="1" i="0" dirty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</m:d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>
                            <a:latin typeface="Cambria Math" panose="02040503050406030204" pitchFamily="18" charset="0"/>
                          </a:rPr>
                          <m:t>𝐤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𝐦</m:t>
                        </m:r>
                      </m:e>
                    </m:d>
                    <m:r>
                      <a:rPr lang="en-US" b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blipFill>
                <a:blip r:embed="rId2"/>
                <a:stretch>
                  <a:fillRect l="-2172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1357" y="1733616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48055"/>
                <a:ext cx="235301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48055"/>
                <a:ext cx="2353013" cy="540000"/>
              </a:xfrm>
              <a:prstGeom prst="rect">
                <a:avLst/>
              </a:prstGeom>
              <a:blipFill>
                <a:blip r:embed="rId5"/>
                <a:stretch>
                  <a:fillRect l="-5440" t="-10112" b="-2809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40899" y="1548055"/>
                <a:ext cx="286216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0899" y="1548055"/>
                <a:ext cx="2862166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34460" y="2230904"/>
                <a:ext cx="257239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m:rPr>
                          <m:nor/>
                        </m:rP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nor/>
                        </m:rPr>
                        <a:rPr lang="en-US" sz="2800" i="0" dirty="0">
                          <a:solidFill>
                            <a:srgbClr val="002060"/>
                          </a:solidFill>
                        </a:rPr>
                        <m:t> 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460" y="2230904"/>
                <a:ext cx="2572391" cy="540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40898" y="2858696"/>
                <a:ext cx="2578831" cy="46253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nor/>
                        </m:rPr>
                        <a:rPr lang="en-US" sz="2800" i="0" dirty="0">
                          <a:solidFill>
                            <a:srgbClr val="002060"/>
                          </a:solidFill>
                        </a:rPr>
                        <m:t> 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0898" y="2858696"/>
                <a:ext cx="2578831" cy="46253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4629055"/>
                <a:ext cx="391233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4629055"/>
                <a:ext cx="3912338" cy="540000"/>
              </a:xfrm>
              <a:prstGeom prst="rect">
                <a:avLst/>
              </a:prstGeom>
              <a:blipFill>
                <a:blip r:embed="rId9"/>
                <a:stretch>
                  <a:fillRect l="-3271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34460" y="3452932"/>
                <a:ext cx="2494852" cy="49327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m:rPr>
                          <m:nor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460" y="3452932"/>
                <a:ext cx="2494852" cy="49327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84015" y="850686"/>
            <a:ext cx="5040000" cy="12083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34460" y="4077905"/>
                <a:ext cx="1580717" cy="49327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m:rPr>
                          <m:nor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)⋅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460" y="4077905"/>
                <a:ext cx="1580717" cy="49327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390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4" grpId="0"/>
      <p:bldP spid="28" grpId="0"/>
      <p:bldP spid="16" grpId="0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10: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blipFill>
                <a:blip r:embed="rId2"/>
                <a:stretch>
                  <a:fillRect l="-2172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1357" y="1733616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48055"/>
                <a:ext cx="16453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48055"/>
                <a:ext cx="1645390" cy="540000"/>
              </a:xfrm>
              <a:prstGeom prst="rect">
                <a:avLst/>
              </a:prstGeom>
              <a:blipFill>
                <a:blip r:embed="rId5"/>
                <a:stretch>
                  <a:fillRect l="-7778" t="-10112" b="-2809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66019" y="1597115"/>
                <a:ext cx="151531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nor/>
                        </m:rP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6019" y="1597115"/>
                <a:ext cx="1515319" cy="540000"/>
              </a:xfrm>
              <a:prstGeom prst="rect">
                <a:avLst/>
              </a:prstGeom>
              <a:blipFill>
                <a:blip r:embed="rId6"/>
                <a:stretch>
                  <a:fillRect r="-2137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418974" y="1597115"/>
                <a:ext cx="164832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8974" y="1597115"/>
                <a:ext cx="1648325" cy="540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2412750"/>
                <a:ext cx="6268190" cy="99001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Here, All the axioms are satisfied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under given operations. 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2412750"/>
                <a:ext cx="6268190" cy="990017"/>
              </a:xfrm>
              <a:prstGeom prst="rect">
                <a:avLst/>
              </a:prstGeom>
              <a:blipFill>
                <a:blip r:embed="rId8"/>
                <a:stretch>
                  <a:fillRect l="-2043" t="-6173" b="-2037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3678402"/>
                <a:ext cx="6268190" cy="6178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Hence,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, + ,  ⋅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a vector space. 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3678402"/>
                <a:ext cx="6268190" cy="617827"/>
              </a:xfrm>
              <a:prstGeom prst="rect">
                <a:avLst/>
              </a:prstGeom>
              <a:blipFill>
                <a:blip r:embed="rId9"/>
                <a:stretch>
                  <a:fillRect l="-2043" t="-1961" b="-18627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4015" y="850686"/>
            <a:ext cx="5040000" cy="12083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92482" y="1600045"/>
                <a:ext cx="74662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2482" y="1600045"/>
                <a:ext cx="746625" cy="5400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6090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19" grpId="0"/>
      <p:bldP spid="20" grpId="0"/>
      <p:bldP spid="23" grpId="0"/>
      <p:bldP spid="28" grpId="0"/>
      <p:bldP spid="18" grpId="0"/>
      <p:bldP spid="1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CAE77E5B-BF33-5497-20B0-3BFB83C99976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dirty="0">
              <a:solidFill>
                <a:schemeClr val="tx2"/>
              </a:solidFill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D0F31B58-9644-11ED-9321-574F96F65607}"/>
              </a:ext>
            </a:extLst>
          </p:cNvPr>
          <p:cNvSpPr txBox="1">
            <a:spLocks/>
          </p:cNvSpPr>
          <p:nvPr/>
        </p:nvSpPr>
        <p:spPr>
          <a:xfrm>
            <a:off x="132610" y="1690078"/>
            <a:ext cx="7639790" cy="133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sz="28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7272109-8DE2-50AC-004B-6C788F2ADE24}"/>
              </a:ext>
            </a:extLst>
          </p:cNvPr>
          <p:cNvSpPr/>
          <p:nvPr/>
        </p:nvSpPr>
        <p:spPr>
          <a:xfrm>
            <a:off x="122278" y="2358808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55930" y="859070"/>
                <a:ext cx="10536070" cy="1205778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Show that the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of all positive real numbers with operations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dirty="0" err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xy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i="1" dirty="0" err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 err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a vector space.</a:t>
                </a:r>
                <a:endParaRPr lang="en-IN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930" y="859070"/>
                <a:ext cx="10536070" cy="1205778"/>
              </a:xfrm>
              <a:prstGeom prst="rect">
                <a:avLst/>
              </a:prstGeom>
              <a:blipFill>
                <a:blip r:embed="rId3"/>
                <a:stretch>
                  <a:fillRect l="-1215" r="-1157" b="-19192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8" y="993959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97" y="2926764"/>
                <a:ext cx="6258501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Here,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of all positive real numbers</a:t>
                </a: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97" y="2926764"/>
                <a:ext cx="6258501" cy="544460"/>
              </a:xfrm>
              <a:prstGeom prst="rect">
                <a:avLst/>
              </a:prstGeom>
              <a:blipFill>
                <a:blip r:embed="rId4"/>
                <a:stretch>
                  <a:fillRect l="-195" t="-8989" r="-1170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02923" y="2980647"/>
                <a:ext cx="3608248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&gt;0 &amp; 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2923" y="2980647"/>
                <a:ext cx="3608248" cy="544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876" y="3571180"/>
                <a:ext cx="7909503" cy="19621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Binary Operations are defined as</a:t>
                </a:r>
              </a:p>
              <a:p>
                <a:pPr marL="990600" indent="-457200"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Vector Addition		: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dirty="0" err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xy</m:t>
                    </m:r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  <a:p>
                <a:pPr marL="990600" indent="-457200"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Scalar Multiplication	: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 dirty="0" err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dirty="0" err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sup>
                    </m:sSup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76" y="3571180"/>
                <a:ext cx="7909503" cy="1962116"/>
              </a:xfrm>
              <a:prstGeom prst="rect">
                <a:avLst/>
              </a:prstGeom>
              <a:blipFill>
                <a:blip r:embed="rId6"/>
                <a:stretch>
                  <a:fillRect l="-154" t="-3727" b="-869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Content Placeholder 4">
            <a:extLst>
              <a:ext uri="{FF2B5EF4-FFF2-40B4-BE49-F238E27FC236}">
                <a16:creationId xmlns:a16="http://schemas.microsoft.com/office/drawing/2014/main" id="{C2E3A768-B2DD-49B5-A909-9453EEB041E3}"/>
              </a:ext>
            </a:extLst>
          </p:cNvPr>
          <p:cNvSpPr txBox="1">
            <a:spLocks/>
          </p:cNvSpPr>
          <p:nvPr/>
        </p:nvSpPr>
        <p:spPr>
          <a:xfrm>
            <a:off x="66095" y="5686787"/>
            <a:ext cx="8025281" cy="5444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800" dirty="0">
                <a:solidFill>
                  <a:srgbClr val="002060"/>
                </a:solidFill>
                <a:latin typeface="+mj-lt"/>
              </a:rPr>
              <a:t>Let us check </a:t>
            </a:r>
            <a:r>
              <a:rPr lang="en-US" sz="2800" b="1" dirty="0">
                <a:solidFill>
                  <a:srgbClr val="FF0000"/>
                </a:solidFill>
                <a:latin typeface="+mj-lt"/>
              </a:rPr>
              <a:t>ten axioms </a:t>
            </a:r>
            <a:r>
              <a:rPr lang="en-US" sz="2800" dirty="0">
                <a:solidFill>
                  <a:srgbClr val="002060"/>
                </a:solidFill>
                <a:latin typeface="+mj-lt"/>
              </a:rPr>
              <a:t>for a vector space.</a:t>
            </a:r>
          </a:p>
        </p:txBody>
      </p:sp>
    </p:spTree>
    <p:extLst>
      <p:ext uri="{BB962C8B-B14F-4D97-AF65-F5344CB8AC3E}">
        <p14:creationId xmlns:p14="http://schemas.microsoft.com/office/powerpoint/2010/main" val="3584478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1" grpId="0"/>
      <p:bldP spid="22" grpId="0" animBg="1"/>
      <p:bldP spid="2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220109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1: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220109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58197"/>
                <a:ext cx="549910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y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,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z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</a:t>
                </a: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58197"/>
                <a:ext cx="5499100" cy="540000"/>
              </a:xfrm>
              <a:prstGeom prst="rect">
                <a:avLst/>
              </a:prstGeom>
              <a:blipFill>
                <a:blip r:embed="rId4"/>
                <a:stretch>
                  <a:fillRect l="-111" t="-12500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14100"/>
                <a:ext cx="489569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z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&gt;0   &amp;   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z</m:t>
                    </m:r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14100"/>
                <a:ext cx="4895696" cy="540000"/>
              </a:xfrm>
              <a:prstGeom prst="rect">
                <a:avLst/>
              </a:prstGeom>
              <a:blipFill>
                <a:blip r:embed="rId5"/>
                <a:stretch>
                  <a:fillRect l="-2615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91148" y="841346"/>
            <a:ext cx="5020346" cy="12127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3008555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Since,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&gt;0, 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3008555"/>
                <a:ext cx="3258290" cy="540000"/>
              </a:xfrm>
              <a:prstGeom prst="rect">
                <a:avLst/>
              </a:prstGeom>
              <a:blipFill>
                <a:blip r:embed="rId8"/>
                <a:stretch>
                  <a:fillRect l="-3933"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3690991"/>
                <a:ext cx="171524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 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xy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3690991"/>
                <a:ext cx="1715240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4373427"/>
                <a:ext cx="270584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xy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4373427"/>
                <a:ext cx="2705840" cy="540000"/>
              </a:xfrm>
              <a:prstGeom prst="rect">
                <a:avLst/>
              </a:prstGeom>
              <a:blipFill>
                <a:blip r:embed="rId10"/>
                <a:stretch>
                  <a:fillRect l="-4730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39390" y="4455767"/>
                <a:ext cx="915140" cy="46253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390" y="4455767"/>
                <a:ext cx="915140" cy="46253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5055863"/>
                <a:ext cx="210831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 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5055863"/>
                <a:ext cx="2108314" cy="5400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5738299"/>
                <a:ext cx="314221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 </m:t>
                      </m:r>
                      <m:r>
                        <m:rPr>
                          <m:sty m:val="p"/>
                        </m:rP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5738299"/>
                <a:ext cx="3142218" cy="5400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4"/>
          <a:srcRect r="32119"/>
          <a:stretch/>
        </p:blipFill>
        <p:spPr>
          <a:xfrm>
            <a:off x="7101540" y="2054100"/>
            <a:ext cx="2947112" cy="3917407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miter lim="800000"/>
          </a:ln>
        </p:spPr>
      </p:pic>
      <p:sp>
        <p:nvSpPr>
          <p:cNvPr id="44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3222" y="13273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6470141-6793-407D-B74B-A35398D8E3E5}"/>
                  </a:ext>
                </a:extLst>
              </p:cNvPr>
              <p:cNvSpPr txBox="1"/>
              <p:nvPr/>
            </p:nvSpPr>
            <p:spPr>
              <a:xfrm>
                <a:off x="2240924" y="4995767"/>
                <a:ext cx="2473031" cy="6904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&amp;</m:t>
                      </m:r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sz="2800" b="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6470141-6793-407D-B74B-A35398D8E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0924" y="4995767"/>
                <a:ext cx="2473031" cy="69044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74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26" grpId="0"/>
      <p:bldP spid="32" grpId="0"/>
      <p:bldP spid="33" grpId="0"/>
      <p:bldP spid="36" grpId="0"/>
      <p:bldP spid="37" grpId="0"/>
      <p:bldP spid="38" grpId="0"/>
      <p:bldP spid="39" grpId="0"/>
      <p:bldP spid="44" grpId="0" animBg="1"/>
      <p:bldP spid="1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2: </a:t>
                </a:r>
                <a14:m>
                  <m:oMath xmlns:m="http://schemas.openxmlformats.org/officeDocument/2006/math">
                    <m:r>
                      <a:rPr lang="en-US" b="1" i="0" dirty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14100"/>
                <a:ext cx="302982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xy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14100"/>
                <a:ext cx="3029820" cy="540000"/>
              </a:xfrm>
              <a:prstGeom prst="rect">
                <a:avLst/>
              </a:prstGeom>
              <a:blipFill>
                <a:blip r:embed="rId4"/>
                <a:stretch>
                  <a:fillRect l="-4225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45640" y="2802493"/>
                <a:ext cx="13913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5640" y="2802493"/>
                <a:ext cx="1391390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74455" y="2162994"/>
                <a:ext cx="87085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yx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4455" y="2162994"/>
                <a:ext cx="870858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4033949"/>
                <a:ext cx="5589142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3: </a:t>
                </a:r>
                <a14:m>
                  <m:oMath xmlns:m="http://schemas.openxmlformats.org/officeDocument/2006/math">
                    <m:r>
                      <a:rPr lang="en-US" b="1" i="0" dirty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</m:d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</m:d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𝐳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033949"/>
                <a:ext cx="5589142" cy="540000"/>
              </a:xfrm>
              <a:prstGeom prst="rect">
                <a:avLst/>
              </a:prstGeom>
              <a:blipFill>
                <a:blip r:embed="rId9"/>
                <a:stretch>
                  <a:fillRect l="-2181" t="-10227" b="-306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1" y="4682843"/>
                <a:ext cx="302982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1" y="4682843"/>
                <a:ext cx="3029820" cy="540000"/>
              </a:xfrm>
              <a:prstGeom prst="rect">
                <a:avLst/>
              </a:prstGeom>
              <a:blipFill>
                <a:blip r:embed="rId10"/>
                <a:stretch>
                  <a:fillRect l="-4225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07960" y="4726378"/>
                <a:ext cx="106195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xyz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7960" y="4726378"/>
                <a:ext cx="1061953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042623" y="4726378"/>
                <a:ext cx="148695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yz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2623" y="4726378"/>
                <a:ext cx="1486959" cy="5400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5375272"/>
                <a:ext cx="303509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z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5375272"/>
                <a:ext cx="3035094" cy="540000"/>
              </a:xfrm>
              <a:prstGeom prst="rect">
                <a:avLst/>
              </a:prstGeom>
              <a:blipFill>
                <a:blip r:embed="rId13"/>
                <a:stretch>
                  <a:fillRect l="-4217"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09902" y="5431507"/>
                <a:ext cx="106195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xyz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9902" y="5431507"/>
                <a:ext cx="1061953" cy="5400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61628" y="5431236"/>
                <a:ext cx="148695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xy</m:t>
                          </m:r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1628" y="5431236"/>
                <a:ext cx="1486959" cy="5400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7884" y="3342493"/>
                <a:ext cx="302982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84" y="3342493"/>
                <a:ext cx="3029820" cy="540000"/>
              </a:xfrm>
              <a:prstGeom prst="rect">
                <a:avLst/>
              </a:prstGeom>
              <a:blipFill>
                <a:blip r:embed="rId16"/>
                <a:stretch>
                  <a:fillRect l="-4225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5205" y="6025615"/>
                <a:ext cx="535389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z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205" y="6025615"/>
                <a:ext cx="5353893" cy="540000"/>
              </a:xfrm>
              <a:prstGeom prst="rect">
                <a:avLst/>
              </a:prstGeom>
              <a:blipFill>
                <a:blip r:embed="rId17"/>
                <a:stretch>
                  <a:fillRect l="-2392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3222" y="13273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40" name="Picture 39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091148" y="841346"/>
            <a:ext cx="5020346" cy="121275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7E3A13F-5853-4BF9-9397-F1FB259C5625}"/>
              </a:ext>
            </a:extLst>
          </p:cNvPr>
          <p:cNvPicPr>
            <a:picLocks noChangeAspect="1"/>
          </p:cNvPicPr>
          <p:nvPr/>
        </p:nvPicPr>
        <p:blipFill rotWithShape="1">
          <a:blip r:embed="rId19"/>
          <a:srcRect r="32119"/>
          <a:stretch/>
        </p:blipFill>
        <p:spPr>
          <a:xfrm>
            <a:off x="7101540" y="2054100"/>
            <a:ext cx="2947112" cy="3917407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miter lim="800000"/>
          </a:ln>
        </p:spPr>
      </p:pic>
    </p:spTree>
    <p:extLst>
      <p:ext uri="{BB962C8B-B14F-4D97-AF65-F5344CB8AC3E}">
        <p14:creationId xmlns:p14="http://schemas.microsoft.com/office/powerpoint/2010/main" val="77410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2" grpId="0"/>
      <p:bldP spid="16" grpId="0"/>
      <p:bldP spid="17" grpId="0" animBg="1"/>
      <p:bldP spid="18" grpId="0"/>
      <p:bldP spid="19" grpId="0"/>
      <p:bldP spid="23" grpId="0"/>
      <p:bldP spid="24" grpId="0"/>
      <p:bldP spid="25" grpId="0"/>
      <p:bldP spid="27" grpId="0"/>
      <p:bldP spid="28" grpId="0"/>
      <p:bldP spid="3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4: </a:t>
                </a:r>
                <a14:m>
                  <m:oMath xmlns:m="http://schemas.openxmlformats.org/officeDocument/2006/math">
                    <m:r>
                      <a:rPr lang="en-US" b="1" i="0" dirty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1514100"/>
                <a:ext cx="536648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such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 </a:t>
                </a: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1514100"/>
                <a:ext cx="5366489" cy="540000"/>
              </a:xfrm>
              <a:prstGeom prst="rect">
                <a:avLst/>
              </a:prstGeom>
              <a:blipFill>
                <a:blip r:embed="rId4"/>
                <a:stretch>
                  <a:fillRect l="-2386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0010" y="2814027"/>
                <a:ext cx="158176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10" y="2814027"/>
                <a:ext cx="1581760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2162867"/>
                <a:ext cx="281368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2162867"/>
                <a:ext cx="2813688" cy="540000"/>
              </a:xfrm>
              <a:prstGeom prst="rect">
                <a:avLst/>
              </a:prstGeom>
              <a:blipFill>
                <a:blip r:embed="rId7"/>
                <a:stretch>
                  <a:fillRect l="-4555"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5398" y="4110181"/>
                <a:ext cx="626540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𝐞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the zero vector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</a:t>
                </a: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398" y="4110181"/>
                <a:ext cx="6265402" cy="540000"/>
              </a:xfrm>
              <a:prstGeom prst="rect">
                <a:avLst/>
              </a:prstGeom>
              <a:blipFill>
                <a:blip r:embed="rId8"/>
                <a:stretch>
                  <a:fillRect l="-1946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0009" y="3462104"/>
                <a:ext cx="269102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=1∈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09" y="3462104"/>
                <a:ext cx="2691023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Content Placeholder 4">
            <a:extLst>
              <a:ext uri="{FF2B5EF4-FFF2-40B4-BE49-F238E27FC236}">
                <a16:creationId xmlns:a16="http://schemas.microsoft.com/office/drawing/2014/main" id="{E2369E14-FB7F-439F-B8BC-3D00ED9ED33E}"/>
              </a:ext>
            </a:extLst>
          </p:cNvPr>
          <p:cNvSpPr txBox="1">
            <a:spLocks/>
          </p:cNvSpPr>
          <p:nvPr/>
        </p:nvSpPr>
        <p:spPr>
          <a:xfrm>
            <a:off x="97298" y="5406335"/>
            <a:ext cx="6049502" cy="540000"/>
          </a:xfrm>
          <a:prstGeom prst="rect">
            <a:avLst/>
          </a:prstGeom>
          <a:noFill/>
          <a:ln w="12700" cap="flat" cmpd="sng" algn="ctr">
            <a:solidFill>
              <a:srgbClr val="FF0000"/>
            </a:solidFill>
            <a:prstDash val="dash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800" b="1" dirty="0">
                <a:solidFill>
                  <a:srgbClr val="FF0000"/>
                </a:solidFill>
              </a:rPr>
              <a:t>In general, we use 1 instead of 0.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38469" y="3540570"/>
            <a:ext cx="1254706" cy="2757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5" name="Rounded Rectangle 34"/>
          <p:cNvSpPr/>
          <p:nvPr/>
        </p:nvSpPr>
        <p:spPr>
          <a:xfrm>
            <a:off x="7638469" y="3902594"/>
            <a:ext cx="1254706" cy="2757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3222" y="13273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91148" y="841346"/>
            <a:ext cx="5020346" cy="1212754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11"/>
          <a:srcRect r="32119"/>
          <a:stretch/>
        </p:blipFill>
        <p:spPr>
          <a:xfrm>
            <a:off x="7101540" y="2054100"/>
            <a:ext cx="2947112" cy="3917407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miter lim="800000"/>
          </a:ln>
        </p:spPr>
      </p:pic>
    </p:spTree>
    <p:extLst>
      <p:ext uri="{BB962C8B-B14F-4D97-AF65-F5344CB8AC3E}">
        <p14:creationId xmlns:p14="http://schemas.microsoft.com/office/powerpoint/2010/main" val="57298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2" grpId="0"/>
      <p:bldP spid="16" grpId="0"/>
      <p:bldP spid="18" grpId="0"/>
      <p:bldP spid="22" grpId="0"/>
      <p:bldP spid="31" grpId="0" animBg="1"/>
      <p:bldP spid="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5: </a:t>
                </a:r>
                <a14:m>
                  <m:oMath xmlns:m="http://schemas.openxmlformats.org/officeDocument/2006/math">
                    <m:r>
                      <a:rPr lang="en-US" b="1" i="0" dirty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𝐢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𝐞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1514100"/>
                <a:ext cx="536648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such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 </a:t>
                </a: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1514100"/>
                <a:ext cx="5366489" cy="540000"/>
              </a:xfrm>
              <a:prstGeom prst="rect">
                <a:avLst/>
              </a:prstGeom>
              <a:blipFill>
                <a:blip r:embed="rId4"/>
                <a:stretch>
                  <a:fillRect l="-2386" t="-6742" r="-1136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0009" y="2814027"/>
                <a:ext cx="175955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09" y="2814027"/>
                <a:ext cx="1759551" cy="540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2162867"/>
                <a:ext cx="281368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2162867"/>
                <a:ext cx="2813688" cy="540000"/>
              </a:xfrm>
              <a:prstGeom prst="rect">
                <a:avLst/>
              </a:prstGeom>
              <a:blipFill>
                <a:blip r:embed="rId6"/>
                <a:stretch>
                  <a:fillRect l="-4555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6" y="4135796"/>
                <a:ext cx="6395784" cy="86640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𝐢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sz="28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sz="28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the additive inverse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</a:t>
                </a: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6" y="4135796"/>
                <a:ext cx="6395784" cy="866407"/>
              </a:xfrm>
              <a:prstGeom prst="rect">
                <a:avLst/>
              </a:prstGeom>
              <a:blipFill>
                <a:blip r:embed="rId7"/>
                <a:stretch>
                  <a:fillRect l="-2002" b="-559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1951" y="3221124"/>
                <a:ext cx="2568327" cy="914672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51" y="3221124"/>
                <a:ext cx="2568327" cy="91467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3222" y="13273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91148" y="841346"/>
            <a:ext cx="5020346" cy="121275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3F8848-2320-4308-BC56-EE2B10C0E5DF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32119"/>
          <a:stretch/>
        </p:blipFill>
        <p:spPr>
          <a:xfrm>
            <a:off x="7101540" y="2054100"/>
            <a:ext cx="2947112" cy="3917407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miter lim="800000"/>
          </a:ln>
        </p:spPr>
      </p:pic>
    </p:spTree>
    <p:extLst>
      <p:ext uri="{BB962C8B-B14F-4D97-AF65-F5344CB8AC3E}">
        <p14:creationId xmlns:p14="http://schemas.microsoft.com/office/powerpoint/2010/main" val="1017643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2" grpId="0"/>
      <p:bldP spid="16" grpId="0"/>
      <p:bldP spid="18" grpId="0"/>
      <p:bldP spid="2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6: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1357" y="1733616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148" y="841346"/>
            <a:ext cx="5020346" cy="1212754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5"/>
          <a:srcRect r="32119"/>
          <a:stretch/>
        </p:blipFill>
        <p:spPr>
          <a:xfrm>
            <a:off x="7101540" y="2054100"/>
            <a:ext cx="2947112" cy="3917407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miter lim="800000"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48055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Since,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&gt;0, 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48055"/>
                <a:ext cx="3258290" cy="540000"/>
              </a:xfrm>
              <a:prstGeom prst="rect">
                <a:avLst/>
              </a:prstGeom>
              <a:blipFill>
                <a:blip r:embed="rId7"/>
                <a:stretch>
                  <a:fillRect l="-3933" t="-10112" b="-2809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2230491"/>
                <a:ext cx="1734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 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sup>
                      </m:sSup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2230491"/>
                <a:ext cx="1734290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2865074"/>
                <a:ext cx="212149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2865074"/>
                <a:ext cx="2121492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3547510"/>
                <a:ext cx="26105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3547510"/>
                <a:ext cx="2610590" cy="54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E42A3D2-F344-4804-8D3B-98C5161F4AA7}"/>
                  </a:ext>
                </a:extLst>
              </p:cNvPr>
              <p:cNvSpPr txBox="1"/>
              <p:nvPr/>
            </p:nvSpPr>
            <p:spPr>
              <a:xfrm>
                <a:off x="2107806" y="2798919"/>
                <a:ext cx="2473031" cy="6904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&amp;</m:t>
                      </m:r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b="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E42A3D2-F344-4804-8D3B-98C5161F4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7806" y="2798919"/>
                <a:ext cx="2473031" cy="69044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C3CC3F8B-A303-46C4-958F-E9C22B385BF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850465" y="2230078"/>
                <a:ext cx="1734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&amp;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sup>
                      </m:sSup>
                      <m:r>
                        <a:rPr lang="en-US" sz="2800" b="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C3CC3F8B-A303-46C4-958F-E9C22B385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0465" y="2230078"/>
                <a:ext cx="1734290" cy="5400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1660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/>
      <p:bldP spid="20" grpId="0"/>
      <p:bldP spid="25" grpId="0"/>
      <p:bldP spid="27" grpId="0"/>
      <p:bldP spid="16" grpId="0"/>
      <p:bldP spid="1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7: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b="1" i="1" dirty="0" err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err="1" smtClean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b="1" i="0" dirty="0" err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0" dirty="0" err="1" smtClean="0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</m:d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1357" y="1733616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148" y="841346"/>
            <a:ext cx="5020346" cy="1212754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5"/>
          <a:srcRect r="32119"/>
          <a:stretch/>
        </p:blipFill>
        <p:spPr>
          <a:xfrm>
            <a:off x="7101540" y="2054100"/>
            <a:ext cx="2947112" cy="3917407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miter lim="800000"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48055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48055"/>
                <a:ext cx="3258290" cy="540000"/>
              </a:xfrm>
              <a:prstGeom prst="rect">
                <a:avLst/>
              </a:prstGeom>
              <a:blipFill>
                <a:blip r:embed="rId7"/>
                <a:stretch>
                  <a:fillRect l="-3933" t="-10112" b="-2809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88067" y="1592119"/>
                <a:ext cx="167180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xy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067" y="1592119"/>
                <a:ext cx="1671808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88067" y="2217135"/>
                <a:ext cx="129903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xy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067" y="2217135"/>
                <a:ext cx="1299039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88067" y="2823314"/>
                <a:ext cx="1668775" cy="46253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 i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sup>
                      </m:sSup>
                      <m:sSup>
                        <m:sSupPr>
                          <m:ctrlP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067" y="2823314"/>
                <a:ext cx="1668775" cy="462537"/>
              </a:xfrm>
              <a:prstGeom prst="rect">
                <a:avLst/>
              </a:prstGeom>
              <a:blipFill>
                <a:blip r:embed="rId10"/>
                <a:stretch>
                  <a:fillRect t="-131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29517" y="3389704"/>
                <a:ext cx="270584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1" i="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∵</m:t>
                          </m:r>
                          <m:r>
                            <a:rPr lang="en-US" sz="28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𝐤</m:t>
                          </m:r>
                          <m:r>
                            <a:rPr lang="en-US" sz="28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8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28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28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1" i="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p>
                              <m:r>
                                <a:rPr lang="en-US" sz="2800" b="1" i="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𝐤</m:t>
                              </m:r>
                            </m:sup>
                          </m:sSup>
                          <m:r>
                            <a:rPr lang="en-US" sz="28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9517" y="3389704"/>
                <a:ext cx="2705840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88066" y="3407692"/>
                <a:ext cx="3136557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066" y="3407692"/>
                <a:ext cx="3136557" cy="5400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88066" y="4069634"/>
                <a:ext cx="221324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b="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066" y="4069634"/>
                <a:ext cx="2213245" cy="5400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4632561"/>
                <a:ext cx="4396907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d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y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4632561"/>
                <a:ext cx="4396907" cy="540000"/>
              </a:xfrm>
              <a:prstGeom prst="rect">
                <a:avLst/>
              </a:prstGeom>
              <a:blipFill>
                <a:blip r:embed="rId14"/>
                <a:stretch>
                  <a:fillRect l="-2913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655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4" grpId="0"/>
      <p:bldP spid="18" grpId="0"/>
      <p:bldP spid="22" grpId="0"/>
      <p:bldP spid="26" grpId="0"/>
      <p:bldP spid="2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702158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8: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𝐤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𝐦</m:t>
                        </m:r>
                      </m:e>
                    </m:d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𝐦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702158" cy="540000"/>
              </a:xfrm>
              <a:prstGeom prst="rect">
                <a:avLst/>
              </a:prstGeom>
              <a:blipFill>
                <a:blip r:embed="rId2"/>
                <a:stretch>
                  <a:fillRect l="-2139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1357" y="1733616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148" y="841346"/>
            <a:ext cx="5020346" cy="1212754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5"/>
          <a:srcRect r="32119"/>
          <a:stretch/>
        </p:blipFill>
        <p:spPr>
          <a:xfrm>
            <a:off x="7101540" y="2054100"/>
            <a:ext cx="2947112" cy="3917407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miter lim="800000"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48055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</m:d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48055"/>
                <a:ext cx="3258290" cy="540000"/>
              </a:xfrm>
              <a:prstGeom prst="rect">
                <a:avLst/>
              </a:prstGeom>
              <a:blipFill>
                <a:blip r:embed="rId7"/>
                <a:stretch>
                  <a:fillRect l="-3933" t="-10112" b="-2809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67720" y="1590412"/>
                <a:ext cx="150438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 i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7720" y="1590412"/>
                <a:ext cx="1504384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29741" y="2217135"/>
                <a:ext cx="200472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b="0" i="1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800" i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p>
                          </m:sSup>
                        </m:e>
                      </m:d>
                      <m:d>
                        <m:dPr>
                          <m:ctrlP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800" b="0" i="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9741" y="2217135"/>
                <a:ext cx="2004721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07700" y="3470581"/>
                <a:ext cx="2554589" cy="46253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b="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7700" y="3470581"/>
                <a:ext cx="2554589" cy="46253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6406" y="4019841"/>
                <a:ext cx="478229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406" y="4019841"/>
                <a:ext cx="4782292" cy="540000"/>
              </a:xfrm>
              <a:prstGeom prst="rect">
                <a:avLst/>
              </a:prstGeom>
              <a:blipFill>
                <a:blip r:embed="rId11"/>
                <a:stretch>
                  <a:fillRect l="-2548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3B45AC3B-719F-4264-AE77-96B49D5042F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07700" y="2843858"/>
                <a:ext cx="176389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 i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sup>
                      </m:sSup>
                      <m:r>
                        <a:rPr lang="en-US" sz="2800" b="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3B45AC3B-719F-4264-AE77-96B49D504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7700" y="2843858"/>
                <a:ext cx="1763893" cy="5400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2296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4" grpId="0"/>
      <p:bldP spid="28" grpId="0"/>
      <p:bldP spid="13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9: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>
                            <a:latin typeface="Cambria Math" panose="02040503050406030204" pitchFamily="18" charset="0"/>
                          </a:rPr>
                          <m:t>𝐦</m:t>
                        </m:r>
                        <m:r>
                          <a:rPr lang="en-US" b="1" i="0" dirty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>
                            <a:latin typeface="Cambria Math" panose="02040503050406030204" pitchFamily="18" charset="0"/>
                          </a:rPr>
                          <m:t>𝐤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𝐦</m:t>
                        </m:r>
                      </m:e>
                    </m:d>
                    <m:r>
                      <a:rPr lang="en-US" b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blipFill>
                <a:blip r:embed="rId2"/>
                <a:stretch>
                  <a:fillRect l="-2172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1357" y="1733616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148" y="841346"/>
            <a:ext cx="5020346" cy="1212754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5"/>
          <a:srcRect r="32119"/>
          <a:stretch/>
        </p:blipFill>
        <p:spPr>
          <a:xfrm>
            <a:off x="7101540" y="2054100"/>
            <a:ext cx="2947112" cy="3917407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miter lim="800000"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48055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48055"/>
                <a:ext cx="3258290" cy="540000"/>
              </a:xfrm>
              <a:prstGeom prst="rect">
                <a:avLst/>
              </a:prstGeom>
              <a:blipFill>
                <a:blip r:embed="rId7"/>
                <a:stretch>
                  <a:fillRect l="-3933" t="-10112" b="-2809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28020" y="1603112"/>
                <a:ext cx="150438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m:rPr>
                          <m:nor/>
                        </m:rP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8020" y="1603112"/>
                <a:ext cx="1504384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28020" y="2230904"/>
                <a:ext cx="146925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800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m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8020" y="2230904"/>
                <a:ext cx="1469254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28020" y="2858696"/>
                <a:ext cx="1118629" cy="46253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8020" y="2858696"/>
                <a:ext cx="1118629" cy="462537"/>
              </a:xfrm>
              <a:prstGeom prst="rect">
                <a:avLst/>
              </a:prstGeom>
              <a:blipFill>
                <a:blip r:embed="rId10"/>
                <a:stretch>
                  <a:fillRect t="-131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08968" y="3986078"/>
                <a:ext cx="156740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m:rPr>
                          <m:nor/>
                        </m:rP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)⋅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8968" y="3986078"/>
                <a:ext cx="1567401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08968" y="3409025"/>
                <a:ext cx="1137681" cy="46253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km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8968" y="3409025"/>
                <a:ext cx="1137681" cy="462537"/>
              </a:xfrm>
              <a:prstGeom prst="rect">
                <a:avLst/>
              </a:prstGeom>
              <a:blipFill>
                <a:blip r:embed="rId12"/>
                <a:stretch>
                  <a:fillRect t="-131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1851" y="4499946"/>
                <a:ext cx="391233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)⋅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851" y="4499946"/>
                <a:ext cx="3912338" cy="540000"/>
              </a:xfrm>
              <a:prstGeom prst="rect">
                <a:avLst/>
              </a:prstGeom>
              <a:blipFill>
                <a:blip r:embed="rId13"/>
                <a:stretch>
                  <a:fillRect l="-3115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8859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4" grpId="0"/>
      <p:bldP spid="28" grpId="0"/>
      <p:bldP spid="16" grpId="0"/>
      <p:bldP spid="1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10: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blipFill>
                <a:blip r:embed="rId2"/>
                <a:stretch>
                  <a:fillRect l="-2172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1357" y="1733616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148" y="841346"/>
            <a:ext cx="5020346" cy="1212754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5"/>
          <a:srcRect r="32119"/>
          <a:stretch/>
        </p:blipFill>
        <p:spPr>
          <a:xfrm>
            <a:off x="7101540" y="2054100"/>
            <a:ext cx="2947112" cy="3917407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miter lim="800000"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48055"/>
                <a:ext cx="16453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48055"/>
                <a:ext cx="1645390" cy="540000"/>
              </a:xfrm>
              <a:prstGeom prst="rect">
                <a:avLst/>
              </a:prstGeom>
              <a:blipFill>
                <a:blip r:embed="rId7"/>
                <a:stretch>
                  <a:fillRect l="-7778" t="-10112" b="-2809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66020" y="1597115"/>
                <a:ext cx="82158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6020" y="1597115"/>
                <a:ext cx="821580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44739" y="1597115"/>
                <a:ext cx="80888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739" y="1597115"/>
                <a:ext cx="808880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2412750"/>
                <a:ext cx="6268190" cy="99001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Here, All the axioms are satisfied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under given operations. 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2412750"/>
                <a:ext cx="6268190" cy="990017"/>
              </a:xfrm>
              <a:prstGeom prst="rect">
                <a:avLst/>
              </a:prstGeom>
              <a:blipFill>
                <a:blip r:embed="rId10"/>
                <a:stretch>
                  <a:fillRect l="-2043" t="-6173" b="-2037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3678402"/>
                <a:ext cx="6268190" cy="6178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Hence,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  <m: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, + ,  ⋅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a vector space. 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3678402"/>
                <a:ext cx="6268190" cy="617827"/>
              </a:xfrm>
              <a:prstGeom prst="rect">
                <a:avLst/>
              </a:prstGeom>
              <a:blipFill>
                <a:blip r:embed="rId11"/>
                <a:stretch>
                  <a:fillRect l="-2043" t="-1961" b="-18627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6655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8" grpId="0"/>
      <p:bldP spid="1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Example:3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CAE77E5B-BF33-5497-20B0-3BFB83C99976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dirty="0">
              <a:solidFill>
                <a:schemeClr val="tx2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7272109-8DE2-50AC-004B-6C788F2ADE24}"/>
              </a:ext>
            </a:extLst>
          </p:cNvPr>
          <p:cNvSpPr/>
          <p:nvPr/>
        </p:nvSpPr>
        <p:spPr>
          <a:xfrm>
            <a:off x="122278" y="3406558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55930" y="859069"/>
                <a:ext cx="10448306" cy="2334395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be the set of all ordered pairs of real numbers with vector addition as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+1,</m:t>
                        </m:r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IN" sz="2800" dirty="0">
                    <a:solidFill>
                      <a:srgbClr val="002060"/>
                    </a:solidFill>
                    <a:latin typeface="+mj-lt"/>
                  </a:rPr>
                  <a:t> </a:t>
                </a: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Show that the first five axioms for vector addition are satisfied. Mention the zero vector and additive inverse.</a:t>
                </a:r>
                <a:endParaRPr lang="en-IN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930" y="859069"/>
                <a:ext cx="10448306" cy="2334395"/>
              </a:xfrm>
              <a:prstGeom prst="rect">
                <a:avLst/>
              </a:prstGeom>
              <a:blipFill>
                <a:blip r:embed="rId3"/>
                <a:stretch>
                  <a:fillRect l="-1225" t="-1828" r="-1167" b="-1279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32607" y="931955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3960698"/>
                <a:ext cx="10448306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Here,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Set of all ordered pairs of real numbers</a:t>
                </a:r>
                <a14:m>
                  <m:oMath xmlns:m="http://schemas.openxmlformats.org/officeDocument/2006/math"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d>
                        <m: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3960698"/>
                <a:ext cx="10448306" cy="544460"/>
              </a:xfrm>
              <a:prstGeom prst="rect">
                <a:avLst/>
              </a:prstGeom>
              <a:blipFill>
                <a:blip r:embed="rId4"/>
                <a:stretch>
                  <a:fillRect l="-117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7" y="4563312"/>
                <a:ext cx="11856193" cy="123668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Binary Operation is defined as</a:t>
                </a:r>
              </a:p>
              <a:p>
                <a:pPr marL="990600" indent="-457200"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Vector Addition	:	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d>
                      <m:d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+1,</m:t>
                        </m:r>
                        <m:sSub>
                          <m:sSubPr>
                            <m:ctrlPr>
                              <a:rPr lang="en-US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7" y="4563312"/>
                <a:ext cx="11856193" cy="1236684"/>
              </a:xfrm>
              <a:prstGeom prst="rect">
                <a:avLst/>
              </a:prstGeom>
              <a:blipFill>
                <a:blip r:embed="rId5"/>
                <a:stretch>
                  <a:fillRect l="-103" t="-3960" b="-15347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C2E3A768-B2DD-49B5-A909-9453EEB041E3}"/>
              </a:ext>
            </a:extLst>
          </p:cNvPr>
          <p:cNvSpPr txBox="1">
            <a:spLocks/>
          </p:cNvSpPr>
          <p:nvPr/>
        </p:nvSpPr>
        <p:spPr>
          <a:xfrm>
            <a:off x="132607" y="5944290"/>
            <a:ext cx="7706304" cy="5444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800" dirty="0">
                <a:solidFill>
                  <a:srgbClr val="002060"/>
                </a:solidFill>
                <a:latin typeface="+mj-lt"/>
              </a:rPr>
              <a:t>Let us check  </a:t>
            </a:r>
            <a:r>
              <a:rPr lang="en-US" sz="2800" b="1" dirty="0">
                <a:solidFill>
                  <a:srgbClr val="FF0000"/>
                </a:solidFill>
                <a:latin typeface="+mj-lt"/>
              </a:rPr>
              <a:t>first five axioms </a:t>
            </a:r>
            <a:r>
              <a:rPr lang="en-US" sz="2800" dirty="0">
                <a:solidFill>
                  <a:srgbClr val="002060"/>
                </a:solidFill>
                <a:latin typeface="+mj-lt"/>
              </a:rPr>
              <a:t>for a vector space.</a:t>
            </a:r>
          </a:p>
        </p:txBody>
      </p:sp>
    </p:spTree>
    <p:extLst>
      <p:ext uri="{BB962C8B-B14F-4D97-AF65-F5344CB8AC3E}">
        <p14:creationId xmlns:p14="http://schemas.microsoft.com/office/powerpoint/2010/main" val="474911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 animBg="1"/>
      <p:bldP spid="1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2201096"/>
                <a:ext cx="57600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1: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1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𝐯</m:t>
                    </m:r>
                    <m:r>
                      <a:rPr lang="en-US" b="1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2201096"/>
                <a:ext cx="5760000" cy="540000"/>
              </a:xfrm>
              <a:prstGeom prst="rect">
                <a:avLst/>
              </a:prstGeom>
              <a:blipFill>
                <a:blip r:embed="rId2"/>
                <a:stretch>
                  <a:fillRect l="-2116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Example:3(continue)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6" y="858197"/>
                <a:ext cx="739140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" y="858197"/>
                <a:ext cx="7391405" cy="540000"/>
              </a:xfrm>
              <a:prstGeom prst="rect">
                <a:avLst/>
              </a:prstGeom>
              <a:blipFill>
                <a:blip r:embed="rId5"/>
                <a:stretch>
                  <a:fillRect l="-165" t="-12500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14100"/>
                <a:ext cx="302982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14100"/>
                <a:ext cx="3029820" cy="540000"/>
              </a:xfrm>
              <a:prstGeom prst="rect">
                <a:avLst/>
              </a:prstGeom>
              <a:blipFill>
                <a:blip r:embed="rId6"/>
                <a:stretch>
                  <a:fillRect l="-4225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2805355"/>
                <a:ext cx="562738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2805355"/>
                <a:ext cx="5627389" cy="540000"/>
              </a:xfrm>
              <a:prstGeom prst="rect">
                <a:avLst/>
              </a:prstGeom>
              <a:blipFill>
                <a:blip r:embed="rId8"/>
                <a:stretch>
                  <a:fillRect l="-2275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58208" y="3487791"/>
                <a:ext cx="458544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208" y="3487791"/>
                <a:ext cx="4585442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9" y="4113077"/>
                <a:ext cx="562738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Since,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m:rPr>
                        <m:nor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</a:rPr>
                      <m:t>∈ 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 1</m:t>
                    </m:r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9" y="4113077"/>
                <a:ext cx="5627389" cy="540000"/>
              </a:xfrm>
              <a:prstGeom prst="rect">
                <a:avLst/>
              </a:prstGeom>
              <a:blipFill>
                <a:blip r:embed="rId10"/>
                <a:stretch>
                  <a:fillRect l="-2275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9842" y="4795513"/>
                <a:ext cx="351003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,1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842" y="4795513"/>
                <a:ext cx="3510033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8102872" y="13273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9842" y="5441157"/>
                <a:ext cx="655893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842" y="5441157"/>
                <a:ext cx="6558932" cy="5400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9" y="5981157"/>
                <a:ext cx="686061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9" y="5981157"/>
                <a:ext cx="6860618" cy="540000"/>
              </a:xfrm>
              <a:prstGeom prst="rect">
                <a:avLst/>
              </a:prstGeom>
              <a:blipFill>
                <a:blip r:embed="rId13"/>
                <a:stretch>
                  <a:fillRect l="-1867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93665" y="821738"/>
            <a:ext cx="3964985" cy="1095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04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26" grpId="0"/>
      <p:bldP spid="32" grpId="0"/>
      <p:bldP spid="33" grpId="0"/>
      <p:bldP spid="36" grpId="0"/>
      <p:bldP spid="38" grpId="0"/>
      <p:bldP spid="44" grpId="0" animBg="1"/>
      <p:bldP spid="20" grpId="0"/>
      <p:bldP spid="2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7600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>
                    <a:solidFill>
                      <a:schemeClr val="bg1"/>
                    </a:solidFill>
                  </a:rPr>
                  <a:t>Axiom 2: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1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𝐯</m:t>
                    </m:r>
                    <m:r>
                      <a:rPr lang="en-US" b="1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𝐯</m:t>
                    </m:r>
                    <m: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1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760000" cy="540000"/>
              </a:xfrm>
              <a:prstGeom prst="rect">
                <a:avLst/>
              </a:prstGeom>
              <a:blipFill>
                <a:blip r:embed="rId2"/>
                <a:stretch>
                  <a:fillRect l="-2116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Example:3(continue)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14100"/>
                <a:ext cx="573017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14100"/>
                <a:ext cx="5730176" cy="540000"/>
              </a:xfrm>
              <a:prstGeom prst="rect">
                <a:avLst/>
              </a:prstGeom>
              <a:blipFill>
                <a:blip r:embed="rId4"/>
                <a:stretch>
                  <a:fillRect l="-2234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862601" y="2802493"/>
                <a:ext cx="4521277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2601" y="2802493"/>
                <a:ext cx="4521277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891414" y="2162994"/>
                <a:ext cx="449246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1414" y="2162994"/>
                <a:ext cx="4492464" cy="540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6504" y="3364160"/>
                <a:ext cx="302982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504" y="3364160"/>
                <a:ext cx="3029820" cy="540000"/>
              </a:xfrm>
              <a:prstGeom prst="rect">
                <a:avLst/>
              </a:prstGeom>
              <a:blipFill>
                <a:blip r:embed="rId8"/>
                <a:stretch>
                  <a:fillRect l="-4225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8102872" y="13273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A8E1A519-75FC-461B-B9E6-035DF64AC1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78366" y="2782435"/>
                <a:ext cx="342653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A8E1A519-75FC-461B-B9E6-035DF64AC1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8366" y="2782435"/>
                <a:ext cx="3426531" cy="54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B3F18B0A-4480-4DB0-8067-11A83E9C7C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490032" y="2792464"/>
                <a:ext cx="201891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B3F18B0A-4480-4DB0-8067-11A83E9C7C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0032" y="2792464"/>
                <a:ext cx="2018910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E9E61148-A6BB-4BAE-8767-6F1C8833EAA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93665" y="821738"/>
            <a:ext cx="3964985" cy="1095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743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2" grpId="0"/>
      <p:bldP spid="16" grpId="0"/>
      <p:bldP spid="28" grpId="0"/>
      <p:bldP spid="13" grpId="0"/>
      <p:bldP spid="1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" y="865206"/>
                <a:ext cx="6256963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>
                    <a:solidFill>
                      <a:schemeClr val="bg1"/>
                    </a:solidFill>
                  </a:rPr>
                  <a:t>Axiom 3: </a:t>
                </a:r>
                <a14:m>
                  <m:oMath xmlns:m="http://schemas.openxmlformats.org/officeDocument/2006/math">
                    <m:r>
                      <a:rPr lang="en-US" b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⊕</m:t>
                    </m:r>
                    <m:d>
                      <m:dPr>
                        <m:ctrlPr>
                          <a:rPr lang="en-US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𝐯</m:t>
                        </m:r>
                        <m: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a:rPr lang="en-US" b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</m:d>
                    <m:r>
                      <a:rPr lang="en-US" b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  <m: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a:rPr lang="en-US" b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</m:d>
                    <m: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𝐰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" y="865206"/>
                <a:ext cx="6256963" cy="540000"/>
              </a:xfrm>
              <a:prstGeom prst="rect">
                <a:avLst/>
              </a:prstGeom>
              <a:blipFill>
                <a:blip r:embed="rId2"/>
                <a:stretch>
                  <a:fillRect l="-1949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Example:3(continue)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14100"/>
                <a:ext cx="314398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14100"/>
                <a:ext cx="3143989" cy="540000"/>
              </a:xfrm>
              <a:prstGeom prst="rect">
                <a:avLst/>
              </a:prstGeom>
              <a:blipFill>
                <a:blip r:embed="rId4"/>
                <a:stretch>
                  <a:fillRect l="-4078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582" y="2105234"/>
                <a:ext cx="617767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  <m:d>
                        <m:dPr>
                          <m:ctrlPr>
                            <a:rPr lang="en-US" sz="28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582" y="2105234"/>
                <a:ext cx="6177674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9708" y="2688769"/>
                <a:ext cx="733031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708" y="2688769"/>
                <a:ext cx="7330315" cy="540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8102872" y="13273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9708" y="3280563"/>
                <a:ext cx="607619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+2,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708" y="3280563"/>
                <a:ext cx="6076192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3872357"/>
                <a:ext cx="314398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3872357"/>
                <a:ext cx="3143989" cy="540000"/>
              </a:xfrm>
              <a:prstGeom prst="rect">
                <a:avLst/>
              </a:prstGeom>
              <a:blipFill>
                <a:blip r:embed="rId10"/>
                <a:stretch>
                  <a:fillRect l="-4078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67444" y="3923491"/>
                <a:ext cx="634094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7444" y="3923491"/>
                <a:ext cx="6340949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66602" y="4507026"/>
                <a:ext cx="733031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602" y="4507026"/>
                <a:ext cx="7330316" cy="5400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66603" y="5098820"/>
                <a:ext cx="607619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+2,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603" y="5098820"/>
                <a:ext cx="6076192" cy="5400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5205" y="5768035"/>
                <a:ext cx="535389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4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205" y="5768035"/>
                <a:ext cx="5353893" cy="540000"/>
              </a:xfrm>
              <a:prstGeom prst="rect">
                <a:avLst/>
              </a:prstGeom>
              <a:blipFill>
                <a:blip r:embed="rId15"/>
                <a:stretch>
                  <a:fillRect l="-2392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/>
          <p:cNvCxnSpPr/>
          <p:nvPr/>
        </p:nvCxnSpPr>
        <p:spPr>
          <a:xfrm>
            <a:off x="1057275" y="2578353"/>
            <a:ext cx="4191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2767977" y="2578353"/>
            <a:ext cx="175068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9708" y="2686602"/>
                <a:ext cx="733031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708" y="2686602"/>
                <a:ext cx="7330315" cy="5400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/>
          <p:cNvCxnSpPr/>
          <p:nvPr/>
        </p:nvCxnSpPr>
        <p:spPr>
          <a:xfrm>
            <a:off x="1537960" y="2578353"/>
            <a:ext cx="4191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>
            <a:off x="4607562" y="2578353"/>
            <a:ext cx="175068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66602" y="4504859"/>
                <a:ext cx="733031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602" y="4504859"/>
                <a:ext cx="7330316" cy="54000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/>
          <p:cNvCxnSpPr/>
          <p:nvPr/>
        </p:nvCxnSpPr>
        <p:spPr>
          <a:xfrm>
            <a:off x="8003459" y="4412357"/>
            <a:ext cx="4191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>
            <a:off x="3579819" y="4412357"/>
            <a:ext cx="175068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>
            <a:off x="8467766" y="4412357"/>
            <a:ext cx="4191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5439550" y="4412357"/>
            <a:ext cx="175068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F57F43B5-8403-4244-98C6-BBEC2D926469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93665" y="821738"/>
            <a:ext cx="3964985" cy="1095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474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500"/>
                            </p:stCondLst>
                            <p:childTnLst>
                              <p:par>
                                <p:cTn id="8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3" grpId="0"/>
      <p:bldP spid="31" grpId="0"/>
      <p:bldP spid="22" grpId="0"/>
      <p:bldP spid="33" grpId="0"/>
      <p:bldP spid="35" grpId="0"/>
      <p:bldP spid="38" grpId="0"/>
      <p:bldP spid="39" grpId="0"/>
      <p:bldP spid="41" grpId="0"/>
      <p:bldP spid="24" grpId="0"/>
      <p:bldP spid="2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>
                    <a:solidFill>
                      <a:schemeClr val="bg1"/>
                    </a:solidFill>
                  </a:rPr>
                  <a:t>Axiom 4: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1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𝐞</m:t>
                    </m:r>
                    <m:r>
                      <a:rPr lang="en-US" b="1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Example:3(continue)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7" y="1514100"/>
                <a:ext cx="683424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b="0" i="1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0" i="1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p>
                            <m: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such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 </a:t>
                </a: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7" y="1514100"/>
                <a:ext cx="6834249" cy="540000"/>
              </a:xfrm>
              <a:prstGeom prst="rect">
                <a:avLst/>
              </a:prstGeom>
              <a:blipFill>
                <a:blip r:embed="rId4"/>
                <a:stretch>
                  <a:fillRect l="-1873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07308" y="2814027"/>
                <a:ext cx="486479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p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308" y="2814027"/>
                <a:ext cx="4864792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2162867"/>
                <a:ext cx="281368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2162867"/>
                <a:ext cx="2813688" cy="540000"/>
              </a:xfrm>
              <a:prstGeom prst="rect">
                <a:avLst/>
              </a:prstGeom>
              <a:blipFill>
                <a:blip r:embed="rId7"/>
                <a:stretch>
                  <a:fillRect l="-4555"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5395" y="5333675"/>
                <a:ext cx="1078603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𝐞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en-US" sz="2800" b="1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8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p>
                            <m:r>
                              <a:rPr lang="en-US" sz="2800" b="1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8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,−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the </a:t>
                </a:r>
                <a:r>
                  <a:rPr lang="en-US" sz="2800" dirty="0">
                    <a:solidFill>
                      <a:srgbClr val="002060"/>
                    </a:solidFill>
                  </a:rPr>
                  <a:t>zero vector/identity element </a:t>
                </a: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</a:t>
                </a: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395" y="5333675"/>
                <a:ext cx="10786034" cy="540000"/>
              </a:xfrm>
              <a:prstGeom prst="rect">
                <a:avLst/>
              </a:prstGeom>
              <a:blipFill>
                <a:blip r:embed="rId8"/>
                <a:stretch>
                  <a:fillRect l="-1130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10479" y="3462104"/>
                <a:ext cx="600958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p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479" y="3462104"/>
                <a:ext cx="6009584" cy="5400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7298" y="5947250"/>
                <a:ext cx="6161834" cy="540000"/>
              </a:xfrm>
              <a:prstGeom prst="rect">
                <a:avLst/>
              </a:prstGeom>
              <a:noFill/>
              <a:ln w="127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b="1" dirty="0">
                    <a:solidFill>
                      <a:srgbClr val="FF0000"/>
                    </a:solidFill>
                  </a:rPr>
                  <a:t>In general, we use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lang="en-US" sz="2800" b="1" dirty="0">
                    <a:solidFill>
                      <a:srgbClr val="FF0000"/>
                    </a:solidFill>
                  </a:rPr>
                  <a:t> instead of 0.</a:t>
                </a:r>
              </a:p>
            </p:txBody>
          </p:sp>
        </mc:Choice>
        <mc:Fallback xmlns="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98" y="5947250"/>
                <a:ext cx="6161834" cy="540000"/>
              </a:xfrm>
              <a:prstGeom prst="rect">
                <a:avLst/>
              </a:prstGeom>
              <a:blipFill>
                <a:blip r:embed="rId10"/>
                <a:stretch>
                  <a:fillRect l="-1974" t="-8889" r="-790" b="-27778"/>
                </a:stretch>
              </a:blipFill>
              <a:ln w="127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1913" y="4107323"/>
                <a:ext cx="641636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b="0" i="0" dirty="0">
                    <a:solidFill>
                      <a:srgbClr val="002060"/>
                    </a:solidFill>
                    <a:latin typeface="+mj-lt"/>
                  </a:rPr>
                  <a:t> and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913" y="4107323"/>
                <a:ext cx="6416368" cy="540000"/>
              </a:xfrm>
              <a:prstGeom prst="rect">
                <a:avLst/>
              </a:prstGeom>
              <a:blipFill>
                <a:blip r:embed="rId16"/>
                <a:stretch>
                  <a:fillRect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1913" y="4756888"/>
                <a:ext cx="520261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800" b="0" i="0" dirty="0">
                    <a:solidFill>
                      <a:srgbClr val="002060"/>
                    </a:solidFill>
                    <a:latin typeface="+mj-lt"/>
                  </a:rPr>
                  <a:t>  and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913" y="4756888"/>
                <a:ext cx="5202612" cy="540000"/>
              </a:xfrm>
              <a:prstGeom prst="rect">
                <a:avLst/>
              </a:prstGeom>
              <a:blipFill>
                <a:blip r:embed="rId17"/>
                <a:stretch>
                  <a:fillRect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8102872" y="13273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93665" y="821738"/>
            <a:ext cx="3964985" cy="1095273"/>
          </a:xfrm>
          <a:prstGeom prst="rect">
            <a:avLst/>
          </a:prstGeom>
        </p:spPr>
      </p:pic>
      <p:cxnSp>
        <p:nvCxnSpPr>
          <p:cNvPr id="17" name="Straight Connector 16"/>
          <p:cNvCxnSpPr/>
          <p:nvPr/>
        </p:nvCxnSpPr>
        <p:spPr>
          <a:xfrm>
            <a:off x="1003990" y="4211034"/>
            <a:ext cx="405357" cy="40535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3098220" y="4244538"/>
            <a:ext cx="405357" cy="40535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4228520" y="4208462"/>
            <a:ext cx="405357" cy="40535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>
            <a:off x="6391330" y="4241966"/>
            <a:ext cx="405357" cy="40535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0753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2" grpId="0"/>
      <p:bldP spid="16" grpId="0"/>
      <p:bldP spid="18" grpId="0"/>
      <p:bldP spid="22" grpId="0"/>
      <p:bldP spid="31" grpId="0" animBg="1"/>
      <p:bldP spid="19" grpId="0"/>
      <p:bldP spid="23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5: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𝐢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𝐞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Example:3(continue)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4" y="1514100"/>
                <a:ext cx="681045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Let,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p>
                            <m: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such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. </a:t>
                </a: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4" y="1514100"/>
                <a:ext cx="6810455" cy="540000"/>
              </a:xfrm>
              <a:prstGeom prst="rect">
                <a:avLst/>
              </a:prstGeom>
              <a:blipFill>
                <a:blip r:embed="rId4"/>
                <a:stretch>
                  <a:fillRect l="-1880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2856" y="2814027"/>
                <a:ext cx="523309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 b="0" i="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p>
                              <m:r>
                                <a:rPr lang="en-US" sz="2800" b="0" i="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856" y="2814027"/>
                <a:ext cx="5233094" cy="5400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2162867"/>
                <a:ext cx="281368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2162867"/>
                <a:ext cx="2813688" cy="540000"/>
              </a:xfrm>
              <a:prstGeom prst="rect">
                <a:avLst/>
              </a:prstGeom>
              <a:blipFill>
                <a:blip r:embed="rId14"/>
                <a:stretch>
                  <a:fillRect l="-4555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5391" y="5384475"/>
                <a:ext cx="1205660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</a:t>
                </a:r>
                <a:r>
                  <a:rPr lang="en-US" sz="2800" b="1" dirty="0">
                    <a:solidFill>
                      <a:srgbClr val="002060"/>
                    </a:solidFill>
                    <a:latin typeface="+mj-lt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𝐢</m:t>
                    </m:r>
                    <m:r>
                      <a:rPr lang="en-US" sz="28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8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p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sz="28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8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,−</m:t>
                        </m:r>
                        <m:r>
                          <a:rPr lang="en-US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sz="28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8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the </a:t>
                </a:r>
                <a:r>
                  <a:rPr lang="en-US" sz="2800" dirty="0">
                    <a:solidFill>
                      <a:srgbClr val="002060"/>
                    </a:solidFill>
                  </a:rPr>
                  <a:t>additive inverse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391" y="5384475"/>
                <a:ext cx="12056608" cy="540000"/>
              </a:xfrm>
              <a:prstGeom prst="rect">
                <a:avLst/>
              </a:prstGeom>
              <a:blipFill>
                <a:blip r:embed="rId15"/>
                <a:stretch>
                  <a:fillRect l="-1011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3891" y="3462104"/>
                <a:ext cx="629291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 b="0" i="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p>
                              <m:r>
                                <a:rPr lang="en-US" sz="2800" b="0" i="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91" y="3462104"/>
                <a:ext cx="6292918" cy="5400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6671" y="4107323"/>
                <a:ext cx="667456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800" b="0" i="0" dirty="0">
                    <a:solidFill>
                      <a:srgbClr val="002060"/>
                    </a:solidFill>
                    <a:latin typeface="+mj-lt"/>
                  </a:rPr>
                  <a:t> and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671" y="4107323"/>
                <a:ext cx="6674561" cy="540000"/>
              </a:xfrm>
              <a:prstGeom prst="rect">
                <a:avLst/>
              </a:prstGeom>
              <a:blipFill>
                <a:blip r:embed="rId17"/>
                <a:stretch>
                  <a:fillRect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6672" y="4756888"/>
                <a:ext cx="551546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−2−</m:t>
                    </m:r>
                    <m:sSub>
                      <m:sSub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sz="2800" b="0" i="0" dirty="0">
                    <a:solidFill>
                      <a:srgbClr val="002060"/>
                    </a:solidFill>
                    <a:latin typeface="+mj-lt"/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672" y="4756888"/>
                <a:ext cx="5515461" cy="540000"/>
              </a:xfrm>
              <a:prstGeom prst="rect">
                <a:avLst/>
              </a:prstGeom>
              <a:blipFill>
                <a:blip r:embed="rId18"/>
                <a:stretch>
                  <a:fillRect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8102872" y="13273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93665" y="821738"/>
            <a:ext cx="3964985" cy="1095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19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14" grpId="0"/>
      <p:bldP spid="15" grpId="0"/>
      <p:bldP spid="23" grpId="0"/>
      <p:bldP spid="24" grpId="0"/>
      <p:bldP spid="25" grpId="0"/>
      <p:bldP spid="2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Example:4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CAE77E5B-BF33-5497-20B0-3BFB83C99976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dirty="0">
              <a:solidFill>
                <a:schemeClr val="tx2"/>
              </a:solidFill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D0F31B58-9644-11ED-9321-574F96F65607}"/>
              </a:ext>
            </a:extLst>
          </p:cNvPr>
          <p:cNvSpPr txBox="1">
            <a:spLocks/>
          </p:cNvSpPr>
          <p:nvPr/>
        </p:nvSpPr>
        <p:spPr>
          <a:xfrm>
            <a:off x="132610" y="1690078"/>
            <a:ext cx="7639790" cy="133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sz="28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7272109-8DE2-50AC-004B-6C788F2ADE24}"/>
              </a:ext>
            </a:extLst>
          </p:cNvPr>
          <p:cNvSpPr/>
          <p:nvPr/>
        </p:nvSpPr>
        <p:spPr>
          <a:xfrm>
            <a:off x="122278" y="3406558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55930" y="795159"/>
                <a:ext cx="10536070" cy="249373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The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of all triples of real numbers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with the operations: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p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&amp; 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kx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e>
                    </m:d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IN" sz="2800" dirty="0">
                    <a:solidFill>
                      <a:srgbClr val="002060"/>
                    </a:solidFill>
                    <a:latin typeface="+mj-lt"/>
                  </a:rPr>
                  <a:t> Determine whether the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IN" sz="2800" dirty="0">
                    <a:solidFill>
                      <a:srgbClr val="002060"/>
                    </a:solidFill>
                    <a:latin typeface="+mj-lt"/>
                  </a:rPr>
                  <a:t> is a vector space or not under the given operations</a:t>
                </a: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</a:t>
                </a:r>
                <a:endParaRPr lang="en-IN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930" y="795159"/>
                <a:ext cx="10536070" cy="2493731"/>
              </a:xfrm>
              <a:prstGeom prst="rect">
                <a:avLst/>
              </a:prstGeom>
              <a:blipFill>
                <a:blip r:embed="rId3"/>
                <a:stretch>
                  <a:fillRect l="-1215" r="-1157" b="-8537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8" y="953512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40494" y="3365636"/>
                <a:ext cx="10448306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Here,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Set of all triples of real numbers</a:t>
                </a:r>
                <a14:m>
                  <m:oMath xmlns:m="http://schemas.openxmlformats.org/officeDocument/2006/math"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m:rPr>
                                <m:sty m:val="p"/>
                              </m:rP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</m:d>
                        <m: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z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0494" y="3365636"/>
                <a:ext cx="10448306" cy="544460"/>
              </a:xfrm>
              <a:prstGeom prst="rect">
                <a:avLst/>
              </a:prstGeom>
              <a:blipFill>
                <a:blip r:embed="rId4"/>
                <a:stretch>
                  <a:fillRect l="-117" t="-8989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C2E3A768-B2DD-49B5-A909-9453EEB041E3}"/>
              </a:ext>
            </a:extLst>
          </p:cNvPr>
          <p:cNvSpPr txBox="1">
            <a:spLocks/>
          </p:cNvSpPr>
          <p:nvPr/>
        </p:nvSpPr>
        <p:spPr>
          <a:xfrm>
            <a:off x="66095" y="5953487"/>
            <a:ext cx="7706304" cy="5444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800" dirty="0">
                <a:solidFill>
                  <a:srgbClr val="002060"/>
                </a:solidFill>
                <a:latin typeface="+mj-lt"/>
              </a:rPr>
              <a:t>Let us check </a:t>
            </a:r>
            <a:r>
              <a:rPr lang="en-US" sz="2800" b="1" dirty="0">
                <a:solidFill>
                  <a:srgbClr val="FF0000"/>
                </a:solidFill>
                <a:latin typeface="+mj-lt"/>
              </a:rPr>
              <a:t>axioms</a:t>
            </a:r>
            <a:r>
              <a:rPr lang="en-US" sz="2800" dirty="0">
                <a:solidFill>
                  <a:srgbClr val="002060"/>
                </a:solidFill>
                <a:latin typeface="+mj-lt"/>
              </a:rPr>
              <a:t> for a vector space.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3939480"/>
                <a:ext cx="12059392" cy="19621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Binary Operations are defined as</a:t>
                </a:r>
              </a:p>
              <a:p>
                <a:pPr marL="990600" indent="-457200"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Vector Addition		:     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e>
                    </m:d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m:rPr>
                        <m:sty m:val="p"/>
                      </m:rP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′,</m:t>
                    </m:r>
                    <m:r>
                      <m:rPr>
                        <m:sty m:val="p"/>
                      </m:rP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′, </m:t>
                    </m:r>
                    <m:r>
                      <m:rPr>
                        <m:sty m:val="p"/>
                      </m:rP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z</m:t>
                    </m:r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z</m:t>
                    </m:r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  <a:p>
                <a:pPr marL="990600" indent="-457200"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Scalar Multiplication	:  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e>
                    </m:d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kx</m:t>
                        </m:r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e>
                    </m:d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3939480"/>
                <a:ext cx="12059392" cy="1962116"/>
              </a:xfrm>
              <a:prstGeom prst="rect">
                <a:avLst/>
              </a:prstGeom>
              <a:blipFill>
                <a:blip r:embed="rId5"/>
                <a:stretch>
                  <a:fillRect l="-101" t="-2174" b="-9317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4835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  <p:bldP spid="1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365" y="850686"/>
            <a:ext cx="5622335" cy="11963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2201096"/>
                <a:ext cx="57600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1: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𝐯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2201096"/>
                <a:ext cx="5760000" cy="540000"/>
              </a:xfrm>
              <a:prstGeom prst="rect">
                <a:avLst/>
              </a:prstGeom>
              <a:blipFill>
                <a:blip r:embed="rId3"/>
                <a:stretch>
                  <a:fillRect l="-2116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Example:4(continue)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9" y="858197"/>
                <a:ext cx="6134108" cy="1159078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00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, </a:t>
                </a:r>
              </a:p>
              <a:p>
                <a:pPr marL="118745" indent="0">
                  <a:lnSpc>
                    <a:spcPct val="100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′′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′′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′′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   ;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" y="858197"/>
                <a:ext cx="6134108" cy="1159078"/>
              </a:xfrm>
              <a:prstGeom prst="rect">
                <a:avLst/>
              </a:prstGeom>
              <a:blipFill>
                <a:blip r:embed="rId15"/>
                <a:stretch>
                  <a:fillRect l="-199" t="-6316" b="-15789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2805355"/>
                <a:ext cx="562738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2805355"/>
                <a:ext cx="5627389" cy="540000"/>
              </a:xfrm>
              <a:prstGeom prst="rect">
                <a:avLst/>
              </a:prstGeom>
              <a:blipFill>
                <a:blip r:embed="rId16"/>
                <a:stretch>
                  <a:fillRect l="-2275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58207" y="3487791"/>
                <a:ext cx="379592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207" y="3487791"/>
                <a:ext cx="3795925" cy="54000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4113077"/>
                <a:ext cx="499318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Since,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m:rPr>
                        <m:nor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</a:rPr>
                      <m:t>∈ </m:t>
                    </m:r>
                    <m:r>
                      <m:rPr>
                        <m:nor/>
                      </m:rPr>
                      <a:rPr lang="en-US" sz="2800" b="0" i="0" dirty="0" smtClean="0">
                        <a:solidFill>
                          <a:srgbClr val="002060"/>
                        </a:solidFill>
                      </a:rPr>
                      <m:t> 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4113077"/>
                <a:ext cx="4993182" cy="540000"/>
              </a:xfrm>
              <a:prstGeom prst="rect">
                <a:avLst/>
              </a:prstGeom>
              <a:blipFill>
                <a:blip r:embed="rId18"/>
                <a:stretch>
                  <a:fillRect l="-2564"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64142" y="4795513"/>
                <a:ext cx="329985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142" y="4795513"/>
                <a:ext cx="3299858" cy="54000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6464572" y="13273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64142" y="5477949"/>
                <a:ext cx="463082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80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p>
                          <m:r>
                            <a:rPr lang="en-US" sz="280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80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142" y="5477949"/>
                <a:ext cx="4630828" cy="54000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5981157"/>
                <a:ext cx="587308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5981157"/>
                <a:ext cx="5873080" cy="540000"/>
              </a:xfrm>
              <a:prstGeom prst="rect">
                <a:avLst/>
              </a:prstGeom>
              <a:blipFill>
                <a:blip r:embed="rId21"/>
                <a:stretch>
                  <a:fillRect l="-2181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4339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32" grpId="0"/>
      <p:bldP spid="33" grpId="0"/>
      <p:bldP spid="36" grpId="0"/>
      <p:bldP spid="38" grpId="0"/>
      <p:bldP spid="44" grpId="0" animBg="1"/>
      <p:bldP spid="20" grpId="0"/>
      <p:bldP spid="2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7600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2: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𝐯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𝐯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760000" cy="540000"/>
              </a:xfrm>
              <a:prstGeom prst="rect">
                <a:avLst/>
              </a:prstGeom>
              <a:blipFill>
                <a:blip r:embed="rId2"/>
                <a:stretch>
                  <a:fillRect l="-2116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Example:4(continue)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14100"/>
                <a:ext cx="573017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14100"/>
                <a:ext cx="5730176" cy="540000"/>
              </a:xfrm>
              <a:prstGeom prst="rect">
                <a:avLst/>
              </a:prstGeom>
              <a:blipFill>
                <a:blip r:embed="rId4"/>
                <a:stretch>
                  <a:fillRect l="-2234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45639" y="2802493"/>
                <a:ext cx="375765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5639" y="2802493"/>
                <a:ext cx="3757652" cy="54000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74450" y="2162994"/>
                <a:ext cx="372464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4450" y="2162994"/>
                <a:ext cx="3724648" cy="54000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8917" y="4700489"/>
                <a:ext cx="302982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917" y="4700489"/>
                <a:ext cx="3029820" cy="540000"/>
              </a:xfrm>
              <a:prstGeom prst="rect">
                <a:avLst/>
              </a:prstGeom>
              <a:blipFill>
                <a:blip r:embed="rId21"/>
                <a:stretch>
                  <a:fillRect l="-4225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6464572" y="13273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6983D4F-2ED8-401F-BF2C-9E71DB57FE2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55365" y="850686"/>
            <a:ext cx="5622335" cy="11963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AC9A003-046A-4E76-87C0-1734F750FE76}"/>
                  </a:ext>
                </a:extLst>
              </p:cNvPr>
              <p:cNvSpPr txBox="1"/>
              <p:nvPr/>
            </p:nvSpPr>
            <p:spPr>
              <a:xfrm>
                <a:off x="1774449" y="3441992"/>
                <a:ext cx="362975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sz="2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kumimoji="0" lang="en-US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US" sz="2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a</m:t>
                          </m:r>
                          <m:r>
                            <a:rPr kumimoji="0" lang="en-US" sz="2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en-US" sz="2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b</m:t>
                          </m:r>
                          <m:r>
                            <a:rPr kumimoji="0" lang="en-US" sz="2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en-US" sz="2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c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AC9A003-046A-4E76-87C0-1734F750F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4449" y="3441992"/>
                <a:ext cx="3629757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649D9EE-C669-4334-B076-5A016A9601B8}"/>
                  </a:ext>
                </a:extLst>
              </p:cNvPr>
              <p:cNvSpPr txBox="1"/>
              <p:nvPr/>
            </p:nvSpPr>
            <p:spPr>
              <a:xfrm>
                <a:off x="1766188" y="4127694"/>
                <a:ext cx="156937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sz="2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0" lang="en-US" sz="2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v</m:t>
                      </m:r>
                      <m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m:rPr>
                          <m:sty m:val="p"/>
                        </m:rPr>
                        <a:rPr kumimoji="0" lang="en-US" sz="2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u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649D9EE-C669-4334-B076-5A016A9601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6188" y="4127694"/>
                <a:ext cx="1569377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9840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2" grpId="0"/>
      <p:bldP spid="16" grpId="0"/>
      <p:bldP spid="28" grpId="0"/>
      <p:bldP spid="11" grpId="0"/>
      <p:bldP spid="1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" y="865206"/>
                <a:ext cx="5845997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3: </a:t>
                </a:r>
                <a14:m>
                  <m:oMath xmlns:m="http://schemas.openxmlformats.org/officeDocument/2006/math">
                    <m:r>
                      <a:rPr lang="en-US" b="1" dirty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𝐯</m:t>
                        </m:r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</m:d>
                    <m:r>
                      <a:rPr lang="en-US" b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𝐮</m:t>
                        </m:r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</m:d>
                    <m:r>
                      <a:rPr lang="en-US" b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𝐰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" y="865206"/>
                <a:ext cx="5845997" cy="540000"/>
              </a:xfrm>
              <a:prstGeom prst="rect">
                <a:avLst/>
              </a:prstGeom>
              <a:blipFill>
                <a:blip r:embed="rId2"/>
                <a:stretch>
                  <a:fillRect l="-2086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Example:4(continue)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14100"/>
                <a:ext cx="314398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14100"/>
                <a:ext cx="3143989" cy="540000"/>
              </a:xfrm>
              <a:prstGeom prst="rect">
                <a:avLst/>
              </a:prstGeom>
              <a:blipFill>
                <a:blip r:embed="rId4"/>
                <a:stretch>
                  <a:fillRect l="-4078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9224" y="2811888"/>
                <a:ext cx="614106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</m:sup>
                          </m:sSup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p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p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</m:sup>
                          </m:sSup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′′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224" y="2811888"/>
                <a:ext cx="6141061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9224" y="2162994"/>
                <a:ext cx="589635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</m:sup>
                          </m:s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</m:sup>
                          </m:s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′′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224" y="2162994"/>
                <a:ext cx="5896350" cy="540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5205" y="5430530"/>
                <a:ext cx="535389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205" y="5430530"/>
                <a:ext cx="5353893" cy="540000"/>
              </a:xfrm>
              <a:prstGeom prst="rect">
                <a:avLst/>
              </a:prstGeom>
              <a:blipFill>
                <a:blip r:embed="rId8"/>
                <a:stretch>
                  <a:fillRect l="-2392"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6464572" y="13273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3498178"/>
                <a:ext cx="314398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3498178"/>
                <a:ext cx="3143989" cy="540000"/>
              </a:xfrm>
              <a:prstGeom prst="rect">
                <a:avLst/>
              </a:prstGeom>
              <a:blipFill>
                <a:blip r:embed="rId10"/>
                <a:stretch>
                  <a:fillRect l="-4078"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9224" y="4795966"/>
                <a:ext cx="614106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</m:sup>
                          </m:sSup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p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p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</m:sup>
                          </m:sSup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′′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224" y="4795966"/>
                <a:ext cx="6141061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0196" y="4147072"/>
                <a:ext cx="589635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p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′′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′′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′′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196" y="4147072"/>
                <a:ext cx="5896350" cy="5400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375EEC01-6E38-4186-A1EE-AB945B4C368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365" y="850686"/>
            <a:ext cx="5622335" cy="1196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470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2" grpId="0"/>
      <p:bldP spid="16" grpId="0"/>
      <p:bldP spid="30" grpId="0"/>
      <p:bldP spid="22" grpId="0"/>
      <p:bldP spid="24" grpId="0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4: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Example:4(continue)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7" y="1514100"/>
                <a:ext cx="5366492" cy="89865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such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 </a:t>
                </a: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7" y="1514100"/>
                <a:ext cx="5366492" cy="898650"/>
              </a:xfrm>
              <a:prstGeom prst="rect">
                <a:avLst/>
              </a:prstGeom>
              <a:blipFill>
                <a:blip r:embed="rId16"/>
                <a:stretch>
                  <a:fillRect l="-2386" t="-12838" r="-2273" b="-2500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0006" y="3162366"/>
                <a:ext cx="523309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  <m: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a:rPr lang="en-US" sz="2800" i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06" y="3162366"/>
                <a:ext cx="5233093" cy="54000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2511206"/>
                <a:ext cx="281368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2511206"/>
                <a:ext cx="2813688" cy="540000"/>
              </a:xfrm>
              <a:prstGeom prst="rect">
                <a:avLst/>
              </a:prstGeom>
              <a:blipFill>
                <a:blip r:embed="rId25"/>
                <a:stretch>
                  <a:fillRect l="-4555" t="-10112" b="-2809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5394" y="5682014"/>
                <a:ext cx="861671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8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8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𝐜</m:t>
                            </m:r>
                          </m:e>
                          <m:sub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d>
                    <m:r>
                      <a:rPr lang="en-US" sz="28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the </a:t>
                </a:r>
                <a:r>
                  <a:rPr lang="en-US" sz="2800" dirty="0">
                    <a:solidFill>
                      <a:srgbClr val="002060"/>
                    </a:solidFill>
                  </a:rPr>
                  <a:t>zero vector </a:t>
                </a: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</a:t>
                </a: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394" y="5682014"/>
                <a:ext cx="8616719" cy="540000"/>
              </a:xfrm>
              <a:prstGeom prst="rect">
                <a:avLst/>
              </a:prstGeom>
              <a:blipFill>
                <a:blip r:embed="rId26"/>
                <a:stretch>
                  <a:fillRect l="-1414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0007" y="3810443"/>
                <a:ext cx="551793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b="0" i="1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b="0" i="1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07" y="3810443"/>
                <a:ext cx="5517936" cy="54000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28198" y="2042772"/>
                <a:ext cx="6049502" cy="540000"/>
              </a:xfrm>
              <a:prstGeom prst="rect">
                <a:avLst/>
              </a:prstGeom>
              <a:noFill/>
              <a:ln w="127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b="1" dirty="0">
                    <a:solidFill>
                      <a:srgbClr val="FF0000"/>
                    </a:solidFill>
                  </a:rPr>
                  <a:t>In general, we use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</m:d>
                  </m:oMath>
                </a14:m>
                <a:r>
                  <a:rPr lang="en-US" sz="2800" b="1" dirty="0">
                    <a:solidFill>
                      <a:srgbClr val="FF0000"/>
                    </a:solidFill>
                  </a:rPr>
                  <a:t> instead of 0.</a:t>
                </a:r>
              </a:p>
            </p:txBody>
          </p:sp>
        </mc:Choice>
        <mc:Fallback xmlns="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8198" y="2042772"/>
                <a:ext cx="6049502" cy="540000"/>
              </a:xfrm>
              <a:prstGeom prst="rect">
                <a:avLst/>
              </a:prstGeom>
              <a:blipFill>
                <a:blip r:embed="rId28"/>
                <a:stretch>
                  <a:fillRect l="-2012" t="-8791" b="-27473"/>
                </a:stretch>
              </a:blipFill>
              <a:ln w="12700" cap="flat" cmpd="sng" algn="ctr">
                <a:solidFill>
                  <a:srgbClr val="FF0000"/>
                </a:solidFill>
                <a:prstDash val="dash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0488" y="4455662"/>
                <a:ext cx="820162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sz="2800" b="0" dirty="0">
                    <a:solidFill>
                      <a:srgbClr val="002060"/>
                    </a:solidFill>
                    <a:latin typeface="+mj-lt"/>
                  </a:rPr>
                  <a:t>  ,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sz="2800" b="0" dirty="0">
                    <a:solidFill>
                      <a:srgbClr val="002060"/>
                    </a:solidFill>
                    <a:latin typeface="+mj-lt"/>
                  </a:rPr>
                  <a:t>  and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800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88" y="4455662"/>
                <a:ext cx="8201626" cy="540000"/>
              </a:xfrm>
              <a:prstGeom prst="rect">
                <a:avLst/>
              </a:prstGeom>
              <a:blipFill>
                <a:blip r:embed="rId29"/>
                <a:stretch>
                  <a:fillRect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0488" y="5105227"/>
                <a:ext cx="698242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and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88" y="5105227"/>
                <a:ext cx="6982426" cy="540000"/>
              </a:xfrm>
              <a:prstGeom prst="rect">
                <a:avLst/>
              </a:prstGeom>
              <a:blipFill>
                <a:blip r:embed="rId30"/>
                <a:stretch>
                  <a:fillRect t="-8989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6464572" y="13273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947546" y="4562420"/>
            <a:ext cx="405357" cy="40535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2336912" y="4595924"/>
            <a:ext cx="405357" cy="40535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2962394" y="4559848"/>
            <a:ext cx="405357" cy="40535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>
            <a:off x="4382242" y="4593352"/>
            <a:ext cx="405357" cy="40535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5524198" y="4559848"/>
            <a:ext cx="405357" cy="40535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6837366" y="4593352"/>
            <a:ext cx="405357" cy="40535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691644FE-3996-44D2-A3EB-30BD80DA0B47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455365" y="850686"/>
            <a:ext cx="5622335" cy="1196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260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2" grpId="0"/>
      <p:bldP spid="16" grpId="0"/>
      <p:bldP spid="18" grpId="0"/>
      <p:bldP spid="22" grpId="0"/>
      <p:bldP spid="31" grpId="0" animBg="1"/>
      <p:bldP spid="19" grpId="0"/>
      <p:bldP spid="23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5: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𝐢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𝐞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Example:4(continue)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5" y="1514100"/>
                <a:ext cx="5366494" cy="101138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Let,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en-US" sz="2800" b="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such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. </a:t>
                </a: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5" y="1514100"/>
                <a:ext cx="5366494" cy="1011386"/>
              </a:xfrm>
              <a:prstGeom prst="rect">
                <a:avLst/>
              </a:prstGeom>
              <a:blipFill>
                <a:blip r:embed="rId4"/>
                <a:stretch>
                  <a:fillRect l="-2386" t="-4217" r="-2273" b="-1867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0008" y="3162371"/>
                <a:ext cx="523309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08" y="3162371"/>
                <a:ext cx="5233092" cy="5400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2511211"/>
                <a:ext cx="281368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2511211"/>
                <a:ext cx="2813688" cy="540000"/>
              </a:xfrm>
              <a:prstGeom prst="rect">
                <a:avLst/>
              </a:prstGeom>
              <a:blipFill>
                <a:blip r:embed="rId15"/>
                <a:stretch>
                  <a:fillRect l="-4555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65" y="5731440"/>
                <a:ext cx="1118951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8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sz="28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sz="28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𝐜</m:t>
                            </m:r>
                          </m:e>
                          <m:sub>
                            <m:r>
                              <a:rPr lang="en-US" sz="2800" b="1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d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en-US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𝐛</m:t>
                        </m:r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−</m:t>
                        </m:r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the </a:t>
                </a:r>
                <a:r>
                  <a:rPr lang="en-US" sz="2800" dirty="0">
                    <a:solidFill>
                      <a:srgbClr val="002060"/>
                    </a:solidFill>
                  </a:rPr>
                  <a:t>additive inverse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65" y="5731440"/>
                <a:ext cx="11189516" cy="540000"/>
              </a:xfrm>
              <a:prstGeom prst="rect">
                <a:avLst/>
              </a:prstGeom>
              <a:blipFill>
                <a:blip r:embed="rId16"/>
                <a:stretch>
                  <a:fillRect l="-1144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0005" y="3810448"/>
                <a:ext cx="548890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b="0" i="1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b="0" i="1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a:rPr lang="en-US" sz="2800" b="0" i="0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05" y="3810448"/>
                <a:ext cx="5488908" cy="54000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0005" y="4457155"/>
                <a:ext cx="769362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,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and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05" y="4457155"/>
                <a:ext cx="7693626" cy="540000"/>
              </a:xfrm>
              <a:prstGeom prst="rect">
                <a:avLst/>
              </a:prstGeom>
              <a:blipFill>
                <a:blip r:embed="rId18"/>
                <a:stretch>
                  <a:fillRect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0004" y="5103862"/>
                <a:ext cx="569210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and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04" y="5103862"/>
                <a:ext cx="5692109" cy="540000"/>
              </a:xfrm>
              <a:prstGeom prst="rect">
                <a:avLst/>
              </a:prstGeom>
              <a:blipFill>
                <a:blip r:embed="rId19"/>
                <a:stretch>
                  <a:fillRect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6464572" y="13273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36A7BD6-3453-409D-85B7-FC1C3BAEB9D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55365" y="850686"/>
            <a:ext cx="5622335" cy="1196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813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14" grpId="0"/>
      <p:bldP spid="15" grpId="0"/>
      <p:bldP spid="23" grpId="0"/>
      <p:bldP spid="24" grpId="0"/>
      <p:bldP spid="25" grpId="0"/>
      <p:bldP spid="28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6: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𝐤</m:t>
                    </m:r>
                    <m:r>
                      <m:rPr>
                        <m:nor/>
                      </m:rPr>
                      <a:rPr lang="en-US" b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Example:4(continue)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7" y="1548055"/>
                <a:ext cx="358849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nor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7" y="1548055"/>
                <a:ext cx="3588492" cy="540000"/>
              </a:xfrm>
              <a:prstGeom prst="rect">
                <a:avLst/>
              </a:prstGeom>
              <a:blipFill>
                <a:blip r:embed="rId5"/>
                <a:stretch>
                  <a:fillRect l="-3571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489389" y="1599810"/>
                <a:ext cx="178496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9389" y="1599810"/>
                <a:ext cx="1784960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7210" y="2912927"/>
                <a:ext cx="24327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10" y="2912927"/>
                <a:ext cx="2432790" cy="5400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9910" y="3595363"/>
                <a:ext cx="22676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910" y="3595363"/>
                <a:ext cx="2267690" cy="5400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410" y="4277799"/>
                <a:ext cx="395206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So</m:t>
                      </m:r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10" y="4277799"/>
                <a:ext cx="3952064" cy="54000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2195993"/>
                <a:ext cx="499318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Since,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  <m:r>
                      <m:rPr>
                        <m:nor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</a:rPr>
                      <m:t>∈ 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</a:t>
                </a:r>
              </a:p>
            </p:txBody>
          </p:sp>
        </mc:Choice>
        <mc:Fallback xmlns="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2195993"/>
                <a:ext cx="4993182" cy="540000"/>
              </a:xfrm>
              <a:prstGeom prst="rect">
                <a:avLst/>
              </a:prstGeom>
              <a:blipFill>
                <a:blip r:embed="rId18"/>
                <a:stretch>
                  <a:fillRect l="-2564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6464572" y="1727379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4432AC5-F347-4F2F-BD5B-1A1C1E7C21CD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55365" y="850686"/>
            <a:ext cx="5622335" cy="1196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241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5" grpId="0"/>
      <p:bldP spid="27" grpId="0"/>
      <p:bldP spid="33" grpId="0"/>
      <p:bldP spid="1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" y="865206"/>
                <a:ext cx="5622335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7: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𝐮</m:t>
                        </m:r>
                        <m:r>
                          <a:rPr lang="en-US" b="1" i="0" dirty="0" err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</m:d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𝐯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" y="865206"/>
                <a:ext cx="5622335" cy="540000"/>
              </a:xfrm>
              <a:prstGeom prst="rect">
                <a:avLst/>
              </a:prstGeom>
              <a:blipFill>
                <a:blip r:embed="rId2"/>
                <a:stretch>
                  <a:fillRect l="-2169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Example:4(continue)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48055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48055"/>
                <a:ext cx="3258290" cy="540000"/>
              </a:xfrm>
              <a:prstGeom prst="rect">
                <a:avLst/>
              </a:prstGeom>
              <a:blipFill>
                <a:blip r:embed="rId5"/>
                <a:stretch>
                  <a:fillRect l="-3933" t="-10112" b="-2809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1700" y="2177503"/>
                <a:ext cx="421753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700" y="2177503"/>
                <a:ext cx="4217533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1700" y="2747965"/>
                <a:ext cx="459274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700" y="2747965"/>
                <a:ext cx="4592748" cy="540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3540286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3540286"/>
                <a:ext cx="3258290" cy="540000"/>
              </a:xfrm>
              <a:prstGeom prst="rect">
                <a:avLst/>
              </a:prstGeom>
              <a:blipFill>
                <a:blip r:embed="rId10"/>
                <a:stretch>
                  <a:fillRect l="-3933"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70640" y="3590700"/>
                <a:ext cx="433500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0640" y="3590700"/>
                <a:ext cx="4335009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87770" y="4209366"/>
                <a:ext cx="435406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  <m:r>
                        <a:rPr lang="en-US" sz="2800" b="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770" y="4209366"/>
                <a:ext cx="4354060" cy="5400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94122" y="4834382"/>
                <a:ext cx="4595718" cy="46253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4122" y="4834382"/>
                <a:ext cx="4595718" cy="46253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5488453"/>
                <a:ext cx="443939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So</m:t>
                      </m:r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,</m:t>
                      </m:r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</m:d>
                      <m:r>
                        <a:rPr lang="en-US" sz="2800" b="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5488453"/>
                <a:ext cx="4439391" cy="5400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6464572" y="1727379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6CE436F-B680-4B65-9E34-5A15577EA1B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365" y="850686"/>
            <a:ext cx="5622335" cy="1196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888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30" grpId="0"/>
      <p:bldP spid="31" grpId="0"/>
      <p:bldP spid="32" grpId="0"/>
      <p:bldP spid="33" grpId="0"/>
      <p:bldP spid="34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3" y="865206"/>
                <a:ext cx="5834126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8: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𝐤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𝐦</m:t>
                        </m:r>
                      </m:e>
                    </m:d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𝐦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" y="865206"/>
                <a:ext cx="5834126" cy="540000"/>
              </a:xfrm>
              <a:prstGeom prst="rect">
                <a:avLst/>
              </a:prstGeom>
              <a:blipFill>
                <a:blip r:embed="rId2"/>
                <a:stretch>
                  <a:fillRect l="-2090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Example:4(continue)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91357" y="1733616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48055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</m:d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48055"/>
                <a:ext cx="3258290" cy="540000"/>
              </a:xfrm>
              <a:prstGeom prst="rect">
                <a:avLst/>
              </a:prstGeom>
              <a:blipFill>
                <a:blip r:embed="rId5"/>
                <a:stretch>
                  <a:fillRect l="-3933" t="-10112" b="-2809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44988" y="1603291"/>
                <a:ext cx="328913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4988" y="1603291"/>
                <a:ext cx="3289136" cy="5400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32927" y="2217135"/>
                <a:ext cx="316870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800" i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r>
                                <a:rPr lang="en-US" sz="2800" i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800" i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2927" y="2217135"/>
                <a:ext cx="3168706" cy="5400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30681" y="2898112"/>
                <a:ext cx="3332591" cy="46253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i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 i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i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ma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81" y="2898112"/>
                <a:ext cx="3332591" cy="46253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084015" y="850686"/>
            <a:ext cx="5040000" cy="12083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5415" y="3501420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415" y="3501420"/>
                <a:ext cx="3258290" cy="540000"/>
              </a:xfrm>
              <a:prstGeom prst="rect">
                <a:avLst/>
              </a:prstGeom>
              <a:blipFill>
                <a:blip r:embed="rId23"/>
                <a:stretch>
                  <a:fillRect l="-3738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57015" y="3549429"/>
                <a:ext cx="4314547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7015" y="3549429"/>
                <a:ext cx="4314547" cy="54000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62786" y="4178120"/>
                <a:ext cx="417831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i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2786" y="4178120"/>
                <a:ext cx="4178314" cy="54000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57015" y="4828695"/>
                <a:ext cx="3702749" cy="46253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i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 i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i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ma</m:t>
                          </m:r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,2</m:t>
                          </m:r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7015" y="4828695"/>
                <a:ext cx="3702749" cy="46253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5395068"/>
                <a:ext cx="46840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So</m:t>
                      </m:r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, 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≠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5395068"/>
                <a:ext cx="4684090" cy="54000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5913357"/>
                <a:ext cx="6268190" cy="6178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Hence,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, + ,  ⋅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</a:t>
                </a:r>
                <a:r>
                  <a:rPr lang="en-US" sz="2800" b="1" dirty="0">
                    <a:solidFill>
                      <a:srgbClr val="FF0000"/>
                    </a:solidFill>
                    <a:latin typeface="+mj-lt"/>
                  </a:rPr>
                  <a:t>not</a:t>
                </a: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a vector space. 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5913357"/>
                <a:ext cx="6268190" cy="617827"/>
              </a:xfrm>
              <a:prstGeom prst="rect">
                <a:avLst/>
              </a:prstGeom>
              <a:blipFill>
                <a:blip r:embed="rId28"/>
                <a:stretch>
                  <a:fillRect l="-2043" b="-22772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2847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4" grpId="0"/>
      <p:bldP spid="16" grpId="0"/>
      <p:bldP spid="18" grpId="0"/>
      <p:bldP spid="22" grpId="0"/>
      <p:bldP spid="25" grpId="0"/>
      <p:bldP spid="26" grpId="0"/>
      <p:bldP spid="27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D0F31B58-9644-11ED-9321-574F96F65607}"/>
              </a:ext>
            </a:extLst>
          </p:cNvPr>
          <p:cNvSpPr txBox="1">
            <a:spLocks/>
          </p:cNvSpPr>
          <p:nvPr/>
        </p:nvSpPr>
        <p:spPr>
          <a:xfrm>
            <a:off x="132610" y="1690078"/>
            <a:ext cx="7639790" cy="133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55930" y="757059"/>
                <a:ext cx="10536070" cy="234174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buNone/>
                  <a:tabLst>
                    <a:tab pos="447675" algn="l"/>
                  </a:tabLst>
                </a:pP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Check the set of </a:t>
                </a:r>
                <a14:m>
                  <m:oMath xmlns:m="http://schemas.openxmlformats.org/officeDocument/2006/math"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2×2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matrices</a:t>
                </a:r>
                <a:r>
                  <a:rPr lang="en-US" sz="2800" dirty="0">
                    <a:solidFill>
                      <a:srgbClr val="002060"/>
                    </a:solidFill>
                    <a:latin typeface="Cambria" panose="02040503050406030204" pitchFamily="18" charset="0"/>
                    <a:ea typeface="Calibri" panose="020F0502020204030204" pitchFamily="34" charset="0"/>
                    <a:cs typeface="Shrut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V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a</m:t>
                                  </m:r>
                                </m:e>
                                <m:e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b</m:t>
                                  </m:r>
                                </m:e>
                              </m:mr>
                            </m:m>
                            <m: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 </m:t>
                            </m:r>
                          </m:e>
                        </m:d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/ 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b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∈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" panose="02040503050406030204" pitchFamily="18" charset="0"/>
                    <a:ea typeface="Calibri" panose="020F0502020204030204" pitchFamily="34" charset="0"/>
                    <a:cs typeface="Shruti" panose="020B0502040204020203" pitchFamily="34" charset="0"/>
                  </a:rPr>
                  <a:t> </a:t>
                </a:r>
              </a:p>
              <a:p>
                <a:pPr marL="0" indent="0">
                  <a:lnSpc>
                    <a:spcPct val="100000"/>
                  </a:lnSpc>
                  <a:buNone/>
                  <a:tabLst>
                    <a:tab pos="447675" algn="l"/>
                  </a:tabLst>
                </a:pP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is a</a:t>
                </a:r>
                <a:r>
                  <a:rPr lang="en-US" sz="2800" dirty="0">
                    <a:solidFill>
                      <a:srgbClr val="002060"/>
                    </a:solidFill>
                    <a:latin typeface="Cambria" panose="02040503050406030204" pitchFamily="18" charset="0"/>
                    <a:ea typeface="Calibri" panose="020F0502020204030204" pitchFamily="34" charset="0"/>
                    <a:cs typeface="Shruti" panose="020B0502040204020203" pitchFamily="34" charset="0"/>
                  </a:rPr>
                  <a:t> </a:t>
                </a: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vector space or not under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b</m:t>
                              </m:r>
                            </m:e>
                          </m:mr>
                        </m:m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y</m:t>
                              </m:r>
                            </m:e>
                          </m:mr>
                        </m:m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b</m:t>
                              </m:r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y</m:t>
                              </m:r>
                            </m:e>
                          </m:mr>
                        </m:m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b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</a:b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and</a:t>
                </a:r>
                <a:r>
                  <a:rPr lang="en-IN" sz="2800" dirty="0">
                    <a:solidFill>
                      <a:srgbClr val="002060"/>
                    </a:solidFill>
                    <a:latin typeface="Cambria" panose="02040503050406030204" pitchFamily="18" charset="0"/>
                    <a:ea typeface="Calibri" panose="020F0502020204030204" pitchFamily="34" charset="0"/>
                    <a:cs typeface="Shrut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k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⋅</m:t>
                    </m:r>
                    <m:d>
                      <m:dPr>
                        <m:begChr m:val="["/>
                        <m:endChr m:val="]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b</m:t>
                              </m:r>
                            </m:e>
                          </m:mr>
                        </m:m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ka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kb</m:t>
                              </m:r>
                            </m:e>
                          </m:mr>
                        </m:m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" panose="02040503050406030204" pitchFamily="18" charset="0"/>
                    <a:ea typeface="Calibri" panose="020F0502020204030204" pitchFamily="34" charset="0"/>
                    <a:cs typeface="Shruti" panose="020B0502040204020203" pitchFamily="34" charset="0"/>
                  </a:rPr>
                  <a:t>.</a:t>
                </a:r>
                <a:endParaRPr lang="en-IN" sz="2800" dirty="0">
                  <a:solidFill>
                    <a:srgbClr val="002060"/>
                  </a:solidFill>
                  <a:latin typeface="Cambria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930" y="757059"/>
                <a:ext cx="10536070" cy="2341741"/>
              </a:xfrm>
              <a:prstGeom prst="rect">
                <a:avLst/>
              </a:prstGeom>
              <a:blipFill>
                <a:blip r:embed="rId4"/>
                <a:stretch>
                  <a:fillRect l="-1215" b="-4427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p:sp>
        <p:nvSpPr>
          <p:cNvPr id="16" name="Rectangle: Rounded Corners 12">
            <a:extLst>
              <a:ext uri="{FF2B5EF4-FFF2-40B4-BE49-F238E27FC236}">
                <a16:creationId xmlns:a16="http://schemas.microsoft.com/office/drawing/2014/main" id="{E7272109-8DE2-50AC-004B-6C788F2ADE24}"/>
              </a:ext>
            </a:extLst>
          </p:cNvPr>
          <p:cNvSpPr/>
          <p:nvPr/>
        </p:nvSpPr>
        <p:spPr>
          <a:xfrm>
            <a:off x="122278" y="3497998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34835" y="3279557"/>
                <a:ext cx="10448306" cy="85705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002060"/>
                    </a:solidFill>
                    <a:latin typeface="+mj-lt"/>
                  </a:defRPr>
                </a:lvl1pPr>
              </a:lstStyle>
              <a:p>
                <a:r>
                  <a:rPr lang="en-US" dirty="0"/>
                  <a:t>Here,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dirty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</m:mr>
                            </m:m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 /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4835" y="3279557"/>
                <a:ext cx="10448306" cy="857051"/>
              </a:xfrm>
              <a:prstGeom prst="rect">
                <a:avLst/>
              </a:prstGeom>
              <a:blipFill>
                <a:blip r:embed="rId5"/>
                <a:stretch>
                  <a:fillRect l="-117" b="-7092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4206180"/>
                <a:ext cx="12059392" cy="228384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80000"/>
                  </a:lnSpc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Binary Operations are defined as</a:t>
                </a:r>
              </a:p>
              <a:p>
                <a:pPr marL="990600" indent="-457200">
                  <a:lnSpc>
                    <a:spcPct val="80000"/>
                  </a:lnSpc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Vector Addition		: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e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b</m:t>
                              </m:r>
                            </m:e>
                          </m:mr>
                        </m:m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e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y</m:t>
                              </m:r>
                            </m:e>
                          </m:mr>
                        </m:m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e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b</m:t>
                              </m:r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y</m:t>
                              </m:r>
                            </m:e>
                          </m:mr>
                        </m:m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  <a:p>
                <a:pPr marL="990600" indent="-457200">
                  <a:lnSpc>
                    <a:spcPct val="80000"/>
                  </a:lnSpc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Scalar Multiplication	: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k</m:t>
                    </m:r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⋅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e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b</m:t>
                              </m:r>
                            </m:e>
                          </m:mr>
                        </m:m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ka</m:t>
                              </m:r>
                            </m:e>
                            <m:e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kb</m:t>
                              </m:r>
                            </m:e>
                          </m:mr>
                        </m:m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4206180"/>
                <a:ext cx="12059392" cy="2283846"/>
              </a:xfrm>
              <a:prstGeom prst="rect">
                <a:avLst/>
              </a:prstGeom>
              <a:blipFill>
                <a:blip r:embed="rId10"/>
                <a:stretch>
                  <a:fillRect l="-101" t="-213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ounded Rectangle 21"/>
          <p:cNvSpPr/>
          <p:nvPr/>
        </p:nvSpPr>
        <p:spPr>
          <a:xfrm>
            <a:off x="10502863" y="4813616"/>
            <a:ext cx="323888" cy="317183"/>
          </a:xfrm>
          <a:prstGeom prst="round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Rounded Rectangle 24"/>
          <p:cNvSpPr/>
          <p:nvPr/>
        </p:nvSpPr>
        <p:spPr>
          <a:xfrm>
            <a:off x="9366213" y="5227741"/>
            <a:ext cx="323888" cy="317183"/>
          </a:xfrm>
          <a:prstGeom prst="round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8" name="Rounded Rectangle 27"/>
          <p:cNvSpPr/>
          <p:nvPr/>
        </p:nvSpPr>
        <p:spPr>
          <a:xfrm>
            <a:off x="8728038" y="5687045"/>
            <a:ext cx="323888" cy="317183"/>
          </a:xfrm>
          <a:prstGeom prst="round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Rounded Rectangle 29"/>
          <p:cNvSpPr/>
          <p:nvPr/>
        </p:nvSpPr>
        <p:spPr>
          <a:xfrm>
            <a:off x="8004773" y="6100203"/>
            <a:ext cx="323888" cy="317183"/>
          </a:xfrm>
          <a:prstGeom prst="round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/>
          <p:cNvSpPr txBox="1"/>
          <p:nvPr/>
        </p:nvSpPr>
        <p:spPr>
          <a:xfrm>
            <a:off x="9608871" y="5813836"/>
            <a:ext cx="2450521" cy="646331"/>
          </a:xfrm>
          <a:prstGeom prst="rect">
            <a:avLst/>
          </a:prstGeom>
          <a:noFill/>
          <a:ln w="38100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There is no impact of Binary Operation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43057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9" grpId="0" animBg="1"/>
      <p:bldP spid="22" grpId="0" animBg="1"/>
      <p:bldP spid="25" grpId="0" animBg="1"/>
      <p:bldP spid="28" grpId="0" animBg="1"/>
      <p:bldP spid="30" grpId="0" animBg="1"/>
      <p:bldP spid="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3013896"/>
                <a:ext cx="57600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1: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𝐁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3013896"/>
                <a:ext cx="5760000" cy="540000"/>
              </a:xfrm>
              <a:prstGeom prst="rect">
                <a:avLst/>
              </a:prstGeom>
              <a:blipFill>
                <a:blip r:embed="rId3"/>
                <a:stretch>
                  <a:fillRect l="-2116" t="-8989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9" y="858196"/>
                <a:ext cx="6134108" cy="194880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00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</m:m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, </a:t>
                </a:r>
              </a:p>
              <a:p>
                <a:pPr marL="118745" indent="0">
                  <a:lnSpc>
                    <a:spcPct val="100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mr>
                        </m:m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   ;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" y="858196"/>
                <a:ext cx="6134108" cy="1948807"/>
              </a:xfrm>
              <a:prstGeom prst="rect">
                <a:avLst/>
              </a:prstGeom>
              <a:blipFill>
                <a:blip r:embed="rId6"/>
                <a:stretch>
                  <a:fillRect l="-199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3618154"/>
                <a:ext cx="6134106" cy="858595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</m:m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3618154"/>
                <a:ext cx="6134106" cy="858595"/>
              </a:xfrm>
              <a:prstGeom prst="rect">
                <a:avLst/>
              </a:prstGeom>
              <a:blipFill>
                <a:blip r:embed="rId7"/>
                <a:stretch>
                  <a:fillRect l="-2087" b="-7857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69183" y="4678458"/>
                <a:ext cx="3645642" cy="933865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183" y="4678458"/>
                <a:ext cx="3645642" cy="93386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20615" y="3529999"/>
                <a:ext cx="5264980" cy="1060303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Since,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</m:m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&amp;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</a:rPr>
                      <m:t>∈ </m:t>
                    </m:r>
                    <m:r>
                      <m:rPr>
                        <m:nor/>
                      </m:rPr>
                      <a:rPr lang="en-US" sz="2800" b="0" i="0" dirty="0" smtClean="0">
                        <a:solidFill>
                          <a:srgbClr val="002060"/>
                        </a:solidFill>
                      </a:rPr>
                      <m:t> 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615" y="3529999"/>
                <a:ext cx="5264980" cy="1060303"/>
              </a:xfrm>
              <a:prstGeom prst="rect">
                <a:avLst/>
              </a:prstGeom>
              <a:blipFill>
                <a:blip r:embed="rId20"/>
                <a:stretch>
                  <a:fillRect l="-243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17556" y="4678458"/>
                <a:ext cx="329985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7556" y="4678458"/>
                <a:ext cx="3299858" cy="54000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7056391" y="15940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27290" y="5247196"/>
                <a:ext cx="366611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7290" y="5247196"/>
                <a:ext cx="3666110" cy="54000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11114" y="5815934"/>
                <a:ext cx="233128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1114" y="5815934"/>
                <a:ext cx="2331285" cy="540000"/>
              </a:xfrm>
              <a:prstGeom prst="rect">
                <a:avLst/>
              </a:prstGeom>
              <a:blipFill>
                <a:blip r:embed="rId23"/>
                <a:stretch>
                  <a:fillRect l="-5497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: Rounded Corners 37">
            <a:extLst>
              <a:ext uri="{FF2B5EF4-FFF2-40B4-BE49-F238E27FC236}">
                <a16:creationId xmlns:a16="http://schemas.microsoft.com/office/drawing/2014/main" id="{23999130-9AD4-44AB-92C0-19F9097507BD}"/>
              </a:ext>
            </a:extLst>
          </p:cNvPr>
          <p:cNvSpPr/>
          <p:nvPr/>
        </p:nvSpPr>
        <p:spPr>
          <a:xfrm>
            <a:off x="6298624" y="3429000"/>
            <a:ext cx="36000" cy="2880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BD69E2-088D-4978-BAE7-8CB2E4CF782E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034207" y="824757"/>
            <a:ext cx="5132393" cy="1746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79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32" grpId="0"/>
      <p:bldP spid="33" grpId="0"/>
      <p:bldP spid="36" grpId="0"/>
      <p:bldP spid="38" grpId="0"/>
      <p:bldP spid="44" grpId="0" animBg="1"/>
      <p:bldP spid="20" grpId="0"/>
      <p:bldP spid="23" grpId="0"/>
      <p:bldP spid="1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7600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2: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𝐁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𝐁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760000" cy="540000"/>
              </a:xfrm>
              <a:prstGeom prst="rect">
                <a:avLst/>
              </a:prstGeom>
              <a:blipFill>
                <a:blip r:embed="rId2"/>
                <a:stretch>
                  <a:fillRect l="-2116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411067"/>
                <a:ext cx="1852658" cy="1049749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411067"/>
                <a:ext cx="1852658" cy="1049749"/>
              </a:xfrm>
              <a:prstGeom prst="rect">
                <a:avLst/>
              </a:prstGeom>
              <a:blipFill>
                <a:blip r:embed="rId4"/>
                <a:stretch>
                  <a:fillRect l="-6908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95456" y="3681752"/>
                <a:ext cx="3569553" cy="108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456" y="3681752"/>
                <a:ext cx="3569553" cy="108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800208" y="2562241"/>
                <a:ext cx="3564801" cy="101808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208" y="2562241"/>
                <a:ext cx="3564801" cy="101808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95454" y="6032305"/>
                <a:ext cx="150480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454" y="6032305"/>
                <a:ext cx="1504804" cy="5400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95456" y="1454253"/>
                <a:ext cx="3942368" cy="1049749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456" y="1454253"/>
                <a:ext cx="3942368" cy="104974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Arrow 3">
            <a:extLst>
              <a:ext uri="{FF2B5EF4-FFF2-40B4-BE49-F238E27FC236}">
                <a16:creationId xmlns:a16="http://schemas.microsoft.com/office/drawing/2014/main" id="{82E823E9-D75A-4E1A-BF24-657B8A6E43F1}"/>
              </a:ext>
            </a:extLst>
          </p:cNvPr>
          <p:cNvSpPr/>
          <p:nvPr/>
        </p:nvSpPr>
        <p:spPr>
          <a:xfrm flipV="1">
            <a:off x="7056391" y="15940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4AF2070-320A-4443-AC68-4E13318E981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34207" y="824757"/>
            <a:ext cx="5132393" cy="17465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70AC8029-F977-4B26-AEE9-F7229D20547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95454" y="4912794"/>
                <a:ext cx="4300545" cy="108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70AC8029-F977-4B26-AEE9-F7229D205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454" y="4912794"/>
                <a:ext cx="4300545" cy="10800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92273D-10CE-4A66-9202-BCA57F27016C}"/>
                  </a:ext>
                </a:extLst>
              </p:cNvPr>
              <p:cNvSpPr txBox="1"/>
              <p:nvPr/>
            </p:nvSpPr>
            <p:spPr>
              <a:xfrm>
                <a:off x="5904024" y="5992794"/>
                <a:ext cx="308048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Roboto Condensed"/>
                    <a:ea typeface="+mn-ea"/>
                    <a:cs typeface="+mn-cs"/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0" lang="en-US" sz="2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A</m:t>
                    </m:r>
                    <m:r>
                      <a:rPr kumimoji="0" lang="en-US" sz="2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+</m:t>
                    </m:r>
                    <m:r>
                      <m:rPr>
                        <m:sty m:val="p"/>
                      </m:rPr>
                      <a:rPr kumimoji="0" lang="en-US" sz="2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B</m:t>
                    </m:r>
                    <m:r>
                      <a:rPr kumimoji="0" lang="en-US" sz="2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m:rPr>
                        <m:sty m:val="p"/>
                      </m:rPr>
                      <a:rPr kumimoji="0" lang="en-US" sz="2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B</m:t>
                    </m:r>
                    <m:r>
                      <a:rPr kumimoji="0" lang="en-US" sz="2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+</m:t>
                    </m:r>
                    <m:r>
                      <m:rPr>
                        <m:sty m:val="p"/>
                      </m:rPr>
                      <a:rPr kumimoji="0" lang="en-US" sz="2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A</m:t>
                    </m:r>
                  </m:oMath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Roboto Condensed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92273D-10CE-4A66-9202-BCA57F270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4024" y="5992794"/>
                <a:ext cx="3080488" cy="523220"/>
              </a:xfrm>
              <a:prstGeom prst="rect">
                <a:avLst/>
              </a:prstGeom>
              <a:blipFill>
                <a:blip r:embed="rId17"/>
                <a:stretch>
                  <a:fillRect l="-4158" t="-11628" b="-3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1527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2" grpId="0"/>
      <p:bldP spid="16" grpId="0"/>
      <p:bldP spid="28" grpId="0"/>
      <p:bldP spid="13" grpId="0"/>
      <p:bldP spid="11" grpId="0"/>
      <p:bldP spid="14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" y="865206"/>
                <a:ext cx="5907641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3: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𝐁</m:t>
                        </m:r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</m:d>
                    <m:r>
                      <a:rPr lang="en-US" b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𝐀</m:t>
                        </m:r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𝐁</m:t>
                        </m:r>
                      </m:e>
                    </m:d>
                    <m:r>
                      <a:rPr lang="en-US" b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𝐂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" y="865206"/>
                <a:ext cx="5907641" cy="540000"/>
              </a:xfrm>
              <a:prstGeom prst="rect">
                <a:avLst/>
              </a:prstGeom>
              <a:blipFill>
                <a:blip r:embed="rId2"/>
                <a:stretch>
                  <a:fillRect l="-2064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14100"/>
                <a:ext cx="314398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14100"/>
                <a:ext cx="3143989" cy="540000"/>
              </a:xfrm>
              <a:prstGeom prst="rect">
                <a:avLst/>
              </a:prstGeom>
              <a:blipFill>
                <a:blip r:embed="rId4"/>
                <a:stretch>
                  <a:fillRect l="-4078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07111" y="3329075"/>
                <a:ext cx="5538976" cy="87798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111" y="3329075"/>
                <a:ext cx="5538976" cy="877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6815" y="2011576"/>
                <a:ext cx="6440677" cy="122068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</m:m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28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8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8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28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8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b</m:t>
                                      </m:r>
                                    </m:e>
                                    <m:sub>
                                      <m:r>
                                        <a:rPr lang="en-US" sz="28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mr>
                            </m:m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 </m:t>
                            </m:r>
                          </m:e>
                        </m:d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28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8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800" b="0" i="0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28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8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b</m:t>
                                      </m:r>
                                    </m:e>
                                    <m:sub>
                                      <m:r>
                                        <a:rPr lang="en-US" sz="2800" b="0" i="0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mr>
                            </m:m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 </m:t>
                            </m:r>
                          </m:e>
                        </m:d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815" y="2011576"/>
                <a:ext cx="6440677" cy="122068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87999" y="4794772"/>
                <a:ext cx="135149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……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7999" y="4794772"/>
                <a:ext cx="1351493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6814" y="4456788"/>
                <a:ext cx="5099285" cy="87798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814" y="4456788"/>
                <a:ext cx="5099285" cy="87798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ight Arrow 3">
            <a:extLst>
              <a:ext uri="{FF2B5EF4-FFF2-40B4-BE49-F238E27FC236}">
                <a16:creationId xmlns:a16="http://schemas.microsoft.com/office/drawing/2014/main" id="{B10F2665-41DC-4552-A13B-829EE8E6426D}"/>
              </a:ext>
            </a:extLst>
          </p:cNvPr>
          <p:cNvSpPr/>
          <p:nvPr/>
        </p:nvSpPr>
        <p:spPr>
          <a:xfrm flipV="1">
            <a:off x="7056391" y="15940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725B15C-B346-4292-8C3E-40F4904A9BC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34207" y="824757"/>
            <a:ext cx="5132393" cy="1746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097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2" grpId="0"/>
      <p:bldP spid="16" grpId="0"/>
      <p:bldP spid="22" grpId="0"/>
      <p:bldP spid="17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92819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3: </a:t>
                </a:r>
                <a14:m>
                  <m:oMath xmlns:m="http://schemas.openxmlformats.org/officeDocument/2006/math">
                    <m:r>
                      <a:rPr lang="en-US" b="1" dirty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𝐁</m:t>
                        </m:r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</m:d>
                    <m:r>
                      <a:rPr lang="en-US" b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𝐀</m:t>
                        </m:r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𝐁</m:t>
                        </m:r>
                      </m:e>
                    </m:d>
                    <m:r>
                      <a:rPr lang="en-US" b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𝐂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928190" cy="540000"/>
              </a:xfrm>
              <a:prstGeom prst="rect">
                <a:avLst/>
              </a:prstGeom>
              <a:blipFill>
                <a:blip r:embed="rId2"/>
                <a:stretch>
                  <a:fillRect l="-2058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14100"/>
                <a:ext cx="314398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14100"/>
                <a:ext cx="3143989" cy="540000"/>
              </a:xfrm>
              <a:prstGeom prst="rect">
                <a:avLst/>
              </a:prstGeom>
              <a:blipFill>
                <a:blip r:embed="rId4"/>
                <a:stretch>
                  <a:fillRect l="-4078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07111" y="3329075"/>
                <a:ext cx="5538976" cy="87798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111" y="3329075"/>
                <a:ext cx="5538976" cy="87798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6815" y="2011576"/>
                <a:ext cx="6440677" cy="122068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</m:t>
                              </m:r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2800" i="1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 panose="020B0502040204020203" pitchFamily="34" charset="0"/>
                                          </a:rPr>
                                          <m:t>a</m:t>
                                        </m:r>
                                      </m:e>
                                      <m:sub>
                                        <m:r>
                                          <a:rPr lang="en-US" sz="280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sz="2800" i="1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 panose="020B0502040204020203" pitchFamily="34" charset="0"/>
                                          </a:rPr>
                                          <m:t>b</m:t>
                                        </m:r>
                                      </m:e>
                                      <m:sub>
                                        <m:r>
                                          <a:rPr lang="en-US" sz="280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</m:t>
                              </m:r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2800" i="1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 panose="020B0502040204020203" pitchFamily="34" charset="0"/>
                                          </a:rPr>
                                          <m:t>a</m:t>
                                        </m:r>
                                      </m:e>
                                      <m:sub>
                                        <m:r>
                                          <a:rPr lang="en-US" sz="280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 panose="020B0502040204020203" pitchFamily="3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sz="2800" i="1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80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 panose="020B0502040204020203" pitchFamily="34" charset="0"/>
                                          </a:rPr>
                                          <m:t>b</m:t>
                                        </m:r>
                                      </m:e>
                                      <m:sub>
                                        <m:r>
                                          <a:rPr lang="en-US" sz="280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Shruti" panose="020B0502040204020203" pitchFamily="3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815" y="2011576"/>
                <a:ext cx="6440677" cy="122068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87999" y="4794772"/>
                <a:ext cx="135149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……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7999" y="4794772"/>
                <a:ext cx="1351493" cy="5400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6814" y="4456788"/>
                <a:ext cx="5099285" cy="87798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814" y="4456788"/>
                <a:ext cx="5099285" cy="87798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3692" y="2634864"/>
            <a:ext cx="5117017" cy="543399"/>
          </a:xfrm>
          <a:prstGeom prst="rect">
            <a:avLst/>
          </a:prstGeom>
          <a:ln>
            <a:solidFill>
              <a:srgbClr val="FF0000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5652485"/>
                <a:ext cx="796364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 From eq. (1) and (2),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5652485"/>
                <a:ext cx="7963640" cy="540000"/>
              </a:xfrm>
              <a:prstGeom prst="rect">
                <a:avLst/>
              </a:prstGeom>
              <a:blipFill>
                <a:blip r:embed="rId16"/>
                <a:stretch>
                  <a:fillRect l="-1608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Arrow 3">
            <a:extLst>
              <a:ext uri="{FF2B5EF4-FFF2-40B4-BE49-F238E27FC236}">
                <a16:creationId xmlns:a16="http://schemas.microsoft.com/office/drawing/2014/main" id="{1ADCB09A-62C9-4AAA-B7F2-EA9C92148024}"/>
              </a:ext>
            </a:extLst>
          </p:cNvPr>
          <p:cNvSpPr/>
          <p:nvPr/>
        </p:nvSpPr>
        <p:spPr>
          <a:xfrm flipV="1">
            <a:off x="7056391" y="15940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DEB8375-F588-4D98-93BB-963E81EE8F1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034207" y="824757"/>
            <a:ext cx="5132393" cy="1746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178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2" grpId="0"/>
      <p:bldP spid="16" grpId="0"/>
      <p:bldP spid="22" grpId="0"/>
      <p:bldP spid="17" grpId="0"/>
      <p:bldP spid="13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4: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𝐄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3" y="1425199"/>
                <a:ext cx="7067787" cy="1049749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a</m:t>
                                  </m:r>
                                </m:e>
                                <m:sup>
                                  <m: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b</m:t>
                                  </m:r>
                                </m:e>
                                <m:sup>
                                  <m:r>
                                    <a:rPr lang="en-US" sz="2800" i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</m:m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such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 </a:t>
                </a: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3" y="1425199"/>
                <a:ext cx="7067787" cy="1049749"/>
              </a:xfrm>
              <a:prstGeom prst="rect">
                <a:avLst/>
              </a:prstGeom>
              <a:blipFill>
                <a:blip r:embed="rId4"/>
                <a:stretch>
                  <a:fillRect l="-1812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9156" y="3188946"/>
                <a:ext cx="5826844" cy="90254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p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mr>
                          </m:m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156" y="3188946"/>
                <a:ext cx="5826844" cy="9025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4" y="2563849"/>
                <a:ext cx="281368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4" y="2563849"/>
                <a:ext cx="2813688" cy="540000"/>
              </a:xfrm>
              <a:prstGeom prst="rect">
                <a:avLst/>
              </a:prstGeom>
              <a:blipFill>
                <a:blip r:embed="rId7"/>
                <a:stretch>
                  <a:fillRect l="-4555" t="-7955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48565" y="3103660"/>
                <a:ext cx="4688583" cy="132683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en-US" sz="28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1" i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𝐚</m:t>
                                  </m:r>
                                </m:e>
                                <m:sup>
                                  <m:r>
                                    <a:rPr lang="en-US" sz="2800" b="1" i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𝟏</m:t>
                              </m:r>
                            </m:e>
                          </m:mr>
                          <m:mr>
                            <m:e>
                              <m:r>
                                <a:rPr lang="en-US" sz="2800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𝟏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en-US" sz="28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1" i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𝐛</m:t>
                                  </m:r>
                                </m:e>
                                <m:sup>
                                  <m:r>
                                    <a:rPr lang="en-US" sz="2800" b="1" i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</m:m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 sz="28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𝟎</m:t>
                              </m:r>
                            </m:e>
                            <m:e>
                              <m:r>
                                <a:rPr lang="en-US" sz="2800" b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𝟏</m:t>
                              </m:r>
                            </m:e>
                          </m:mr>
                          <m:mr>
                            <m:e>
                              <m:r>
                                <a:rPr lang="en-US" sz="2800" b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𝟏</m:t>
                              </m:r>
                            </m:e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𝟎</m:t>
                              </m:r>
                            </m:e>
                          </m:mr>
                        </m:m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the identity element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</a:t>
                </a: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8565" y="3103660"/>
                <a:ext cx="4688583" cy="1326830"/>
              </a:xfrm>
              <a:prstGeom prst="rect">
                <a:avLst/>
              </a:prstGeom>
              <a:blipFill>
                <a:blip r:embed="rId8"/>
                <a:stretch>
                  <a:fillRect l="-2601" r="-2731" b="-3073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9156" y="4176584"/>
                <a:ext cx="5440161" cy="99481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a</m:t>
                                </m:r>
                                <m: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′</m:t>
                                </m:r>
                              </m:e>
                              <m:e>
                                <m:r>
                                  <a:rPr lang="en-US" sz="2800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b</m:t>
                                </m:r>
                                <m: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′</m:t>
                                </m:r>
                              </m:e>
                            </m:mr>
                          </m:m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156" y="4176584"/>
                <a:ext cx="5440161" cy="99481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9156" y="5316596"/>
                <a:ext cx="582684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a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′=</m:t>
                    </m:r>
                    <m:sSub>
                      <m:sSub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b="0" dirty="0">
                    <a:solidFill>
                      <a:srgbClr val="002060"/>
                    </a:solidFill>
                    <a:latin typeface="+mj-lt"/>
                  </a:rPr>
                  <a:t>   and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b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b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′=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b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156" y="5316596"/>
                <a:ext cx="5826844" cy="540000"/>
              </a:xfrm>
              <a:prstGeom prst="rect">
                <a:avLst/>
              </a:prstGeom>
              <a:blipFill>
                <a:blip r:embed="rId10"/>
                <a:stretch>
                  <a:fillRect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9156" y="6001797"/>
                <a:ext cx="582684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a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′=0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and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156" y="6001797"/>
                <a:ext cx="5826844" cy="540000"/>
              </a:xfrm>
              <a:prstGeom prst="rect">
                <a:avLst/>
              </a:prstGeom>
              <a:blipFill>
                <a:blip r:embed="rId11"/>
                <a:stretch>
                  <a:fillRect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: Rounded Corners 37">
            <a:extLst>
              <a:ext uri="{FF2B5EF4-FFF2-40B4-BE49-F238E27FC236}">
                <a16:creationId xmlns:a16="http://schemas.microsoft.com/office/drawing/2014/main" id="{23999130-9AD4-44AB-92C0-19F9097507BD}"/>
              </a:ext>
            </a:extLst>
          </p:cNvPr>
          <p:cNvSpPr/>
          <p:nvPr/>
        </p:nvSpPr>
        <p:spPr>
          <a:xfrm>
            <a:off x="6941600" y="3144493"/>
            <a:ext cx="36000" cy="3240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p:cxnSp>
        <p:nvCxnSpPr>
          <p:cNvPr id="15" name="Straight Connector 14"/>
          <p:cNvCxnSpPr/>
          <p:nvPr/>
        </p:nvCxnSpPr>
        <p:spPr>
          <a:xfrm>
            <a:off x="758721" y="5417735"/>
            <a:ext cx="405357" cy="40535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2148087" y="5451239"/>
            <a:ext cx="405357" cy="40535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3599069" y="5415163"/>
            <a:ext cx="405357" cy="40535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>
            <a:off x="5101467" y="5448667"/>
            <a:ext cx="405357" cy="40535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ight Arrow 3">
            <a:extLst>
              <a:ext uri="{FF2B5EF4-FFF2-40B4-BE49-F238E27FC236}">
                <a16:creationId xmlns:a16="http://schemas.microsoft.com/office/drawing/2014/main" id="{4E1F8262-BCE8-4CF8-A8E3-B80EE5E55976}"/>
              </a:ext>
            </a:extLst>
          </p:cNvPr>
          <p:cNvSpPr/>
          <p:nvPr/>
        </p:nvSpPr>
        <p:spPr>
          <a:xfrm flipV="1">
            <a:off x="7056391" y="15940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26CB9421-AC34-4F7F-8D29-D052DD9D7C3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34207" y="824757"/>
            <a:ext cx="5132393" cy="1746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888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2" grpId="0"/>
      <p:bldP spid="16" grpId="0"/>
      <p:bldP spid="18" grpId="0"/>
      <p:bldP spid="22" grpId="0"/>
      <p:bldP spid="19" grpId="0"/>
      <p:bldP spid="23" grpId="0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5: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𝐈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𝐄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3" y="1441530"/>
                <a:ext cx="6825682" cy="980842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Let,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a</m:t>
                                  </m:r>
                                </m:e>
                                <m:sup>
                                  <m: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b</m:t>
                                  </m:r>
                                </m:e>
                                <m:sup>
                                  <m: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mr>
                        </m:m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such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. </a:t>
                </a: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3" y="1441530"/>
                <a:ext cx="6825682" cy="980842"/>
              </a:xfrm>
              <a:prstGeom prst="rect">
                <a:avLst/>
              </a:prstGeom>
              <a:blipFill>
                <a:blip r:embed="rId4"/>
                <a:stretch>
                  <a:fillRect l="-1877" b="-62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9157" y="3152701"/>
                <a:ext cx="5580101" cy="90254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∗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p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∗</m:t>
                                    </m:r>
                                  </m:sup>
                                </m:sSup>
                              </m:e>
                            </m:mr>
                          </m:m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0</m:t>
                                </m:r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157" y="3152701"/>
                <a:ext cx="5580101" cy="90254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4" y="2520307"/>
                <a:ext cx="281368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4" y="2520307"/>
                <a:ext cx="2813688" cy="540000"/>
              </a:xfrm>
              <a:prstGeom prst="rect">
                <a:avLst/>
              </a:prstGeom>
              <a:blipFill>
                <a:blip r:embed="rId8"/>
                <a:stretch>
                  <a:fillRect l="-4555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9156" y="4140339"/>
                <a:ext cx="5229943" cy="99481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∗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800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p>
                                    <m: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∗</m:t>
                                    </m:r>
                                  </m:sup>
                                </m:sSup>
                              </m:e>
                            </m:mr>
                          </m:m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0</m:t>
                                </m:r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156" y="4140339"/>
                <a:ext cx="5229943" cy="99481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9157" y="5220247"/>
                <a:ext cx="582684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∗</m:t>
                        </m:r>
                      </m:sup>
                    </m:sSup>
                    <m: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0</m:t>
                    </m:r>
                  </m:oMath>
                </a14:m>
                <a:r>
                  <a:rPr lang="en-US" sz="2800" b="0" dirty="0">
                    <a:solidFill>
                      <a:srgbClr val="002060"/>
                    </a:solidFill>
                    <a:latin typeface="+mj-lt"/>
                  </a:rPr>
                  <a:t>  and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b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b</m:t>
                        </m:r>
                      </m:e>
                      <m:sup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∗</m:t>
                        </m:r>
                      </m:sup>
                    </m:sSup>
                    <m: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0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157" y="5220247"/>
                <a:ext cx="5826844" cy="540000"/>
              </a:xfrm>
              <a:prstGeom prst="rect">
                <a:avLst/>
              </a:prstGeom>
              <a:blipFill>
                <a:blip r:embed="rId10"/>
                <a:stretch>
                  <a:fillRect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9157" y="5841769"/>
                <a:ext cx="582684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∗</m:t>
                        </m:r>
                      </m:sup>
                    </m:sSup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and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b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157" y="5841769"/>
                <a:ext cx="5826844" cy="540000"/>
              </a:xfrm>
              <a:prstGeom prst="rect">
                <a:avLst/>
              </a:prstGeom>
              <a:blipFill>
                <a:blip r:embed="rId11"/>
                <a:stretch>
                  <a:fillRect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46282" y="2915133"/>
                <a:ext cx="5720317" cy="2731653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So, </a:t>
                </a:r>
                <a14:m>
                  <m:oMath xmlns:m="http://schemas.openxmlformats.org/officeDocument/2006/math"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𝐈</m:t>
                    </m:r>
                    <m:r>
                      <a:rPr lang="en-US" sz="28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en-US" sz="28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𝐚</m:t>
                                  </m:r>
                                </m:e>
                                <m:sup>
                                  <m:r>
                                    <a:rPr lang="en-US" sz="2800" b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b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𝟏</m:t>
                              </m:r>
                            </m:e>
                          </m:mr>
                          <m:mr>
                            <m:e>
                              <m:r>
                                <a:rPr lang="en-US" sz="2800" b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𝟏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en-US" sz="28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𝐛</m:t>
                                  </m:r>
                                </m:e>
                                <m:sup>
                                  <m:r>
                                    <a:rPr lang="en-US" sz="2800" b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mr>
                        </m:m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 sz="28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800" b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8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𝐚</m:t>
                                  </m:r>
                                </m:e>
                                <m:sub>
                                  <m:r>
                                    <a:rPr lang="en-US" sz="2800" b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𝟏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800" b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𝟏</m:t>
                              </m:r>
                            </m:e>
                          </m:mr>
                          <m:mr>
                            <m:e>
                              <m:r>
                                <a:rPr lang="en-US" sz="2800" b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𝟏</m:t>
                              </m:r>
                            </m:e>
                            <m:e>
                              <m:r>
                                <a:rPr lang="en-US" sz="2800" b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8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𝐛</m:t>
                                  </m:r>
                                </m:e>
                                <m:sub>
                                  <m:r>
                                    <a:rPr lang="en-US" sz="2800" b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𝟏</m:t>
                                  </m:r>
                                </m:sub>
                              </m:sSub>
                            </m:e>
                          </m:mr>
                        </m:m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is the additive inverse of </a:t>
                </a:r>
                <a14:m>
                  <m:oMath xmlns:m="http://schemas.openxmlformats.org/officeDocument/2006/math"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8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1" i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𝐚</m:t>
                                  </m:r>
                                </m:e>
                                <m:sub>
                                  <m:r>
                                    <a:rPr lang="en-US" sz="2800" b="1" i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𝟏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800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𝟏</m:t>
                              </m:r>
                            </m:e>
                          </m:mr>
                          <m:mr>
                            <m:e>
                              <m:r>
                                <a:rPr lang="en-US" sz="2800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𝟏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8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1" i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𝐛</m:t>
                                  </m:r>
                                </m:e>
                                <m:sub>
                                  <m:r>
                                    <a:rPr lang="en-US" sz="2800" b="1" i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𝟏</m:t>
                                  </m:r>
                                </m:sub>
                              </m:sSub>
                            </m:e>
                          </m:mr>
                        </m:m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282" y="2915133"/>
                <a:ext cx="5720317" cy="2731653"/>
              </a:xfrm>
              <a:prstGeom prst="rect">
                <a:avLst/>
              </a:prstGeom>
              <a:blipFill>
                <a:blip r:embed="rId12"/>
                <a:stretch>
                  <a:fillRect l="-2130" r="-213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: Rounded Corners 37">
            <a:extLst>
              <a:ext uri="{FF2B5EF4-FFF2-40B4-BE49-F238E27FC236}">
                <a16:creationId xmlns:a16="http://schemas.microsoft.com/office/drawing/2014/main" id="{23999130-9AD4-44AB-92C0-19F9097507BD}"/>
              </a:ext>
            </a:extLst>
          </p:cNvPr>
          <p:cNvSpPr/>
          <p:nvPr/>
        </p:nvSpPr>
        <p:spPr>
          <a:xfrm>
            <a:off x="6306744" y="3152701"/>
            <a:ext cx="36000" cy="3240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9" name="Right Arrow 3">
            <a:extLst>
              <a:ext uri="{FF2B5EF4-FFF2-40B4-BE49-F238E27FC236}">
                <a16:creationId xmlns:a16="http://schemas.microsoft.com/office/drawing/2014/main" id="{6D4A2C37-A53A-47B7-8892-AB7781239225}"/>
              </a:ext>
            </a:extLst>
          </p:cNvPr>
          <p:cNvSpPr/>
          <p:nvPr/>
        </p:nvSpPr>
        <p:spPr>
          <a:xfrm flipV="1">
            <a:off x="7056391" y="15940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0B813F3E-6917-4C3E-8A11-936163DEBF0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34207" y="824757"/>
            <a:ext cx="5132393" cy="1746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12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0" grpId="0"/>
      <p:bldP spid="22" grpId="0"/>
      <p:bldP spid="27" grpId="0"/>
      <p:bldP spid="30" grpId="0"/>
      <p:bldP spid="31" grpId="0"/>
      <p:bldP spid="33" grpId="0"/>
      <p:bldP spid="3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2BA24BF4-EA92-4E06-B0F0-6CF2E4CEFB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207" y="824757"/>
            <a:ext cx="5132393" cy="17465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6: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3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7" y="1548054"/>
                <a:ext cx="4176922" cy="864695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</m:m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7" y="1548054"/>
                <a:ext cx="4176922" cy="864695"/>
              </a:xfrm>
              <a:prstGeom prst="rect">
                <a:avLst/>
              </a:prstGeom>
              <a:blipFill>
                <a:blip r:embed="rId5"/>
                <a:stretch>
                  <a:fillRect l="-3066" b="-7042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32492" y="1552830"/>
                <a:ext cx="2496112" cy="97589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2492" y="1552830"/>
                <a:ext cx="2496112" cy="97589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6" y="3652235"/>
                <a:ext cx="2565437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6" y="3652235"/>
                <a:ext cx="2565437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4733" y="4348750"/>
                <a:ext cx="247602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733" y="4348750"/>
                <a:ext cx="2476026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5" y="4888750"/>
                <a:ext cx="4528294" cy="98162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So</m:t>
                      </m:r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5" y="4888750"/>
                <a:ext cx="4528294" cy="98162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7" y="2488644"/>
                <a:ext cx="4811925" cy="100707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Since,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</m:m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</a:rPr>
                      <m:t>∈ 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</a:t>
                </a:r>
              </a:p>
            </p:txBody>
          </p:sp>
        </mc:Choice>
        <mc:Fallback xmlns="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7" y="2488644"/>
                <a:ext cx="4811925" cy="1007076"/>
              </a:xfrm>
              <a:prstGeom prst="rect">
                <a:avLst/>
              </a:prstGeom>
              <a:blipFill>
                <a:blip r:embed="rId11"/>
                <a:stretch>
                  <a:fillRect l="-2662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Arrow 3">
            <a:extLst>
              <a:ext uri="{FF2B5EF4-FFF2-40B4-BE49-F238E27FC236}">
                <a16:creationId xmlns:a16="http://schemas.microsoft.com/office/drawing/2014/main" id="{621C4B05-DB32-4009-B5B0-7A7A46FECB43}"/>
              </a:ext>
            </a:extLst>
          </p:cNvPr>
          <p:cNvSpPr/>
          <p:nvPr/>
        </p:nvSpPr>
        <p:spPr>
          <a:xfrm flipV="1">
            <a:off x="7056391" y="21782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513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5" grpId="0"/>
      <p:bldP spid="27" grpId="0"/>
      <p:bldP spid="33" grpId="0"/>
      <p:bldP spid="1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21AA09B2-6F4D-490E-B622-F009731729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207" y="824757"/>
            <a:ext cx="5132393" cy="17465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650788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7: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𝐀</m:t>
                        </m:r>
                        <m:r>
                          <a:rPr lang="en-US" b="1" i="0" dirty="0" err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𝐁</m:t>
                        </m:r>
                      </m:e>
                    </m:d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𝐁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650788" cy="540000"/>
              </a:xfrm>
              <a:prstGeom prst="rect">
                <a:avLst/>
              </a:prstGeom>
              <a:blipFill>
                <a:blip r:embed="rId3"/>
                <a:stretch>
                  <a:fillRect l="-215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48055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48055"/>
                <a:ext cx="3258290" cy="540000"/>
              </a:xfrm>
              <a:prstGeom prst="rect">
                <a:avLst/>
              </a:prstGeom>
              <a:blipFill>
                <a:blip r:embed="rId5"/>
                <a:stretch>
                  <a:fillRect l="-3933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1700" y="2140042"/>
                <a:ext cx="4078399" cy="1062408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700" y="2140042"/>
                <a:ext cx="4078399" cy="106240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7100" y="3254437"/>
                <a:ext cx="4335267" cy="101532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100" y="3254437"/>
                <a:ext cx="4335267" cy="10153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4315650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4315650"/>
                <a:ext cx="3258290" cy="540000"/>
              </a:xfrm>
              <a:prstGeom prst="rect">
                <a:avLst/>
              </a:prstGeom>
              <a:blipFill>
                <a:blip r:embed="rId9"/>
                <a:stretch>
                  <a:fillRect l="-3933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7100" y="4901543"/>
                <a:ext cx="4840400" cy="895165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100" y="4901543"/>
                <a:ext cx="4840400" cy="8951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23868" y="3202298"/>
                <a:ext cx="4782584" cy="1067459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868" y="3202298"/>
                <a:ext cx="4782584" cy="106745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77208" y="4269757"/>
                <a:ext cx="4234688" cy="97792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208" y="4269757"/>
                <a:ext cx="4234688" cy="9779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77207" y="5412408"/>
                <a:ext cx="5216167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So</m:t>
                      </m:r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,</m:t>
                      </m:r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d>
                      <m:r>
                        <a:rPr lang="en-US" sz="2800" b="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207" y="5412408"/>
                <a:ext cx="5216167" cy="5400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: Rounded Corners 37">
            <a:extLst>
              <a:ext uri="{FF2B5EF4-FFF2-40B4-BE49-F238E27FC236}">
                <a16:creationId xmlns:a16="http://schemas.microsoft.com/office/drawing/2014/main" id="{23999130-9AD4-44AB-92C0-19F9097507BD}"/>
              </a:ext>
            </a:extLst>
          </p:cNvPr>
          <p:cNvSpPr/>
          <p:nvPr/>
        </p:nvSpPr>
        <p:spPr>
          <a:xfrm>
            <a:off x="6941600" y="3144493"/>
            <a:ext cx="36000" cy="3240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26" name="Right Arrow 3">
            <a:extLst>
              <a:ext uri="{FF2B5EF4-FFF2-40B4-BE49-F238E27FC236}">
                <a16:creationId xmlns:a16="http://schemas.microsoft.com/office/drawing/2014/main" id="{AEB778E2-F354-45C9-B507-B2C3BE00E1A1}"/>
              </a:ext>
            </a:extLst>
          </p:cNvPr>
          <p:cNvSpPr/>
          <p:nvPr/>
        </p:nvSpPr>
        <p:spPr>
          <a:xfrm flipV="1">
            <a:off x="7056391" y="21782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7558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30" grpId="0"/>
      <p:bldP spid="31" grpId="0"/>
      <p:bldP spid="32" grpId="0"/>
      <p:bldP spid="33" grpId="0"/>
      <p:bldP spid="34" grpId="0"/>
      <p:bldP spid="2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B0DC11A5-3B7B-4027-92AB-F9716BF52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207" y="824757"/>
            <a:ext cx="5132393" cy="17465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3" y="865206"/>
                <a:ext cx="5969288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8: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𝐤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𝐦</m:t>
                        </m:r>
                      </m:e>
                    </m:d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𝐦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" y="865206"/>
                <a:ext cx="5969288" cy="540000"/>
              </a:xfrm>
              <a:prstGeom prst="rect">
                <a:avLst/>
              </a:prstGeom>
              <a:blipFill>
                <a:blip r:embed="rId3"/>
                <a:stretch>
                  <a:fillRect l="-2043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677570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</m:d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677570"/>
                <a:ext cx="3258290" cy="540000"/>
              </a:xfrm>
              <a:prstGeom prst="rect">
                <a:avLst/>
              </a:prstGeom>
              <a:blipFill>
                <a:blip r:embed="rId5"/>
                <a:stretch>
                  <a:fillRect l="-3745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3524" y="2269824"/>
                <a:ext cx="3519120" cy="930359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524" y="2269824"/>
                <a:ext cx="3519120" cy="93035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3524" y="3277367"/>
                <a:ext cx="4291994" cy="910875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) 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524" y="3277367"/>
                <a:ext cx="4291994" cy="9108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3524" y="4266303"/>
                <a:ext cx="4176164" cy="103486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524" y="4266303"/>
                <a:ext cx="4176164" cy="103486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49688" y="4662216"/>
                <a:ext cx="151609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……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9688" y="4662216"/>
                <a:ext cx="1516095" cy="54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Arrow 3">
            <a:extLst>
              <a:ext uri="{FF2B5EF4-FFF2-40B4-BE49-F238E27FC236}">
                <a16:creationId xmlns:a16="http://schemas.microsoft.com/office/drawing/2014/main" id="{A9BA8B99-C42F-4B42-9B3C-1BDCA269B6F8}"/>
              </a:ext>
            </a:extLst>
          </p:cNvPr>
          <p:cNvSpPr/>
          <p:nvPr/>
        </p:nvSpPr>
        <p:spPr>
          <a:xfrm flipV="1">
            <a:off x="7056391" y="21782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195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4" grpId="0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82378C41-6059-433F-8B37-38AC89CCF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207" y="824757"/>
            <a:ext cx="5132393" cy="17465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" y="865206"/>
                <a:ext cx="5876821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8: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𝐤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𝐦</m:t>
                        </m:r>
                      </m:e>
                    </m:d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𝐦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" y="865206"/>
                <a:ext cx="5876821" cy="540000"/>
              </a:xfrm>
              <a:prstGeom prst="rect">
                <a:avLst/>
              </a:prstGeom>
              <a:blipFill>
                <a:blip r:embed="rId3"/>
                <a:stretch>
                  <a:fillRect l="-2075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677570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677570"/>
                <a:ext cx="3258290" cy="540000"/>
              </a:xfrm>
              <a:prstGeom prst="rect">
                <a:avLst/>
              </a:prstGeom>
              <a:blipFill>
                <a:blip r:embed="rId5"/>
                <a:stretch>
                  <a:fillRect l="-3745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3523" y="2269824"/>
                <a:ext cx="4965727" cy="930359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523" y="2269824"/>
                <a:ext cx="4965727" cy="93035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3524" y="3277367"/>
                <a:ext cx="4965726" cy="910875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524" y="3277367"/>
                <a:ext cx="4965726" cy="9108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3524" y="4266303"/>
                <a:ext cx="4176164" cy="103486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nor/>
                                  </m:rPr>
                                  <a:rPr lang="en-US" sz="2800" i="0" dirty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524" y="4266303"/>
                <a:ext cx="4176164" cy="103486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49688" y="4662216"/>
                <a:ext cx="151609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……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9688" y="4662216"/>
                <a:ext cx="1516095" cy="54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52556" y="2628217"/>
            <a:ext cx="5117017" cy="716730"/>
          </a:xfrm>
          <a:prstGeom prst="rect">
            <a:avLst/>
          </a:prstGeom>
          <a:ln w="9525">
            <a:solidFill>
              <a:srgbClr val="FF0000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5652485"/>
                <a:ext cx="796364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 From eq. (1) and (2), 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5652485"/>
                <a:ext cx="7963640" cy="540000"/>
              </a:xfrm>
              <a:prstGeom prst="rect">
                <a:avLst/>
              </a:prstGeom>
              <a:blipFill>
                <a:blip r:embed="rId12"/>
                <a:stretch>
                  <a:fillRect l="-1608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ight Arrow 3">
            <a:extLst>
              <a:ext uri="{FF2B5EF4-FFF2-40B4-BE49-F238E27FC236}">
                <a16:creationId xmlns:a16="http://schemas.microsoft.com/office/drawing/2014/main" id="{64B70303-3083-49DE-96FB-37D5880C59BD}"/>
              </a:ext>
            </a:extLst>
          </p:cNvPr>
          <p:cNvSpPr/>
          <p:nvPr/>
        </p:nvSpPr>
        <p:spPr>
          <a:xfrm flipV="1">
            <a:off x="7056391" y="21782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7230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4" grpId="0"/>
      <p:bldP spid="22" grpId="0"/>
      <p:bldP spid="36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59E8D68C-E7AF-4FEF-BE0E-01030F21F8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207" y="824757"/>
            <a:ext cx="5132393" cy="17465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9: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>
                            <a:latin typeface="Cambria Math" panose="02040503050406030204" pitchFamily="18" charset="0"/>
                          </a:rPr>
                          <m:t>𝐦</m:t>
                        </m:r>
                        <m:r>
                          <a:rPr lang="en-US" b="1" i="0" dirty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>
                            <a:latin typeface="Cambria Math" panose="02040503050406030204" pitchFamily="18" charset="0"/>
                          </a:rPr>
                          <m:t>𝐤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𝐦</m:t>
                        </m:r>
                      </m:e>
                    </m:d>
                    <m:r>
                      <a:rPr lang="en-US" b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blipFill>
                <a:blip r:embed="rId3"/>
                <a:stretch>
                  <a:fillRect l="-2172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70087" y="1391776"/>
                <a:ext cx="3450301" cy="101579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28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8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8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1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28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8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b</m:t>
                                      </m:r>
                                    </m:e>
                                    <m:sub>
                                      <m:r>
                                        <a:rPr lang="en-US" sz="28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mr>
                            </m:m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 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0087" y="1391776"/>
                <a:ext cx="3450301" cy="10157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70087" y="2476765"/>
                <a:ext cx="2882459" cy="86665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m:rPr>
                          <m:nor/>
                        </m:rP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m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m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0087" y="2476765"/>
                <a:ext cx="2882459" cy="8666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70087" y="3412617"/>
                <a:ext cx="3000335" cy="95581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m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m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0087" y="3412617"/>
                <a:ext cx="3000335" cy="9558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8976" y="6083357"/>
                <a:ext cx="4072270" cy="462873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976" y="6083357"/>
                <a:ext cx="4072270" cy="462873"/>
              </a:xfrm>
              <a:prstGeom prst="rect">
                <a:avLst/>
              </a:prstGeom>
              <a:blipFill>
                <a:blip r:embed="rId9"/>
                <a:stretch>
                  <a:fillRect l="-2994" t="-17105" b="-4605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70086" y="4437623"/>
                <a:ext cx="2882459" cy="984005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m:rPr>
                          <m:nor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0086" y="4437623"/>
                <a:ext cx="2882459" cy="98400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70086" y="5490655"/>
                <a:ext cx="1580717" cy="49327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m:rPr>
                          <m:nor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)⋅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0086" y="5490655"/>
                <a:ext cx="1580717" cy="49327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677570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677570"/>
                <a:ext cx="3258290" cy="540000"/>
              </a:xfrm>
              <a:prstGeom prst="rect">
                <a:avLst/>
              </a:prstGeom>
              <a:blipFill>
                <a:blip r:embed="rId12"/>
                <a:stretch>
                  <a:fillRect l="-3745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ight Arrow 3">
            <a:extLst>
              <a:ext uri="{FF2B5EF4-FFF2-40B4-BE49-F238E27FC236}">
                <a16:creationId xmlns:a16="http://schemas.microsoft.com/office/drawing/2014/main" id="{4364891D-F36F-4018-98A3-FD77B94F3C68}"/>
              </a:ext>
            </a:extLst>
          </p:cNvPr>
          <p:cNvSpPr/>
          <p:nvPr/>
        </p:nvSpPr>
        <p:spPr>
          <a:xfrm flipV="1">
            <a:off x="7056391" y="21782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4088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3" grpId="0"/>
      <p:bldP spid="24" grpId="0"/>
      <p:bldP spid="28" grpId="0"/>
      <p:bldP spid="16" grpId="0"/>
      <p:bldP spid="22" grpId="0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2805C7D-A106-43A7-9F07-869E22F44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207" y="824757"/>
            <a:ext cx="5132393" cy="17465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10: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blipFill>
                <a:blip r:embed="rId3"/>
                <a:stretch>
                  <a:fillRect l="-2172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62701" y="2424712"/>
                <a:ext cx="1920277" cy="96673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2701" y="2424712"/>
                <a:ext cx="1920277" cy="96673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4168978"/>
                <a:ext cx="6268190" cy="99001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Here, All the axioms are satisfied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under given operations. </a:t>
                </a: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4168978"/>
                <a:ext cx="6268190" cy="990017"/>
              </a:xfrm>
              <a:prstGeom prst="rect">
                <a:avLst/>
              </a:prstGeom>
              <a:blipFill>
                <a:blip r:embed="rId6"/>
                <a:stretch>
                  <a:fillRect l="-2043" t="-6173" b="-2037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5434630"/>
                <a:ext cx="6268190" cy="6178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Hence,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, + ,  ⋅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a vector space. 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5434630"/>
                <a:ext cx="6268190" cy="617827"/>
              </a:xfrm>
              <a:prstGeom prst="rect">
                <a:avLst/>
              </a:prstGeom>
              <a:blipFill>
                <a:blip r:embed="rId7"/>
                <a:stretch>
                  <a:fillRect l="-2043" t="-2970" b="-18812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62701" y="3510212"/>
                <a:ext cx="74662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A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2701" y="3510212"/>
                <a:ext cx="746625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62701" y="1439673"/>
                <a:ext cx="2331299" cy="101579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r>
                        <m:rPr>
                          <m:nor/>
                        </m:rP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2701" y="1439673"/>
                <a:ext cx="2331299" cy="101579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677570"/>
                <a:ext cx="32582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677570"/>
                <a:ext cx="3258290" cy="540000"/>
              </a:xfrm>
              <a:prstGeom prst="rect">
                <a:avLst/>
              </a:prstGeom>
              <a:blipFill>
                <a:blip r:embed="rId11"/>
                <a:stretch>
                  <a:fillRect l="-3745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ight Arrow 3">
            <a:extLst>
              <a:ext uri="{FF2B5EF4-FFF2-40B4-BE49-F238E27FC236}">
                <a16:creationId xmlns:a16="http://schemas.microsoft.com/office/drawing/2014/main" id="{F4369370-CBE9-4DE0-BA3B-B6CF511F6E99}"/>
              </a:ext>
            </a:extLst>
          </p:cNvPr>
          <p:cNvSpPr/>
          <p:nvPr/>
        </p:nvSpPr>
        <p:spPr>
          <a:xfrm flipV="1">
            <a:off x="7056391" y="2178227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3221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8" grpId="0"/>
      <p:bldP spid="18" grpId="0"/>
      <p:bldP spid="16" grpId="0"/>
      <p:bldP spid="22" grpId="0"/>
      <p:bldP spid="24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CAE77E5B-BF33-5497-20B0-3BFB83C99976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dirty="0">
              <a:solidFill>
                <a:schemeClr val="tx2"/>
              </a:solidFill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D0F31B58-9644-11ED-9321-574F96F65607}"/>
              </a:ext>
            </a:extLst>
          </p:cNvPr>
          <p:cNvSpPr txBox="1">
            <a:spLocks/>
          </p:cNvSpPr>
          <p:nvPr/>
        </p:nvSpPr>
        <p:spPr>
          <a:xfrm>
            <a:off x="132610" y="1690078"/>
            <a:ext cx="7639790" cy="133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sz="28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7272109-8DE2-50AC-004B-6C788F2ADE24}"/>
              </a:ext>
            </a:extLst>
          </p:cNvPr>
          <p:cNvSpPr/>
          <p:nvPr/>
        </p:nvSpPr>
        <p:spPr>
          <a:xfrm>
            <a:off x="122278" y="2168308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55930" y="756519"/>
                <a:ext cx="10536070" cy="131572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Check whether the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/ 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is a vector space or not, with standard operations. </a:t>
                </a:r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930" y="756519"/>
                <a:ext cx="10536070" cy="1315720"/>
              </a:xfrm>
              <a:prstGeom prst="rect">
                <a:avLst/>
              </a:prstGeom>
              <a:blipFill>
                <a:blip r:embed="rId3"/>
                <a:stretch>
                  <a:fillRect l="-1215" r="-1157" b="-1250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8" y="960818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97" y="2736264"/>
                <a:ext cx="7199676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Here,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/ 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97" y="2736264"/>
                <a:ext cx="7199676" cy="544460"/>
              </a:xfrm>
              <a:prstGeom prst="rect">
                <a:avLst/>
              </a:prstGeom>
              <a:blipFill>
                <a:blip r:embed="rId4"/>
                <a:stretch>
                  <a:fillRect l="-169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407" y="3380680"/>
                <a:ext cx="12783292" cy="252482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Binary Operations are defined as</a:t>
                </a:r>
              </a:p>
              <a:p>
                <a:pPr marL="990600" indent="-457200">
                  <a:lnSpc>
                    <a:spcPct val="90000"/>
                  </a:lnSpc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Vector Addition:									     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6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6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6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6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26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6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6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6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6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26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6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6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6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6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6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a:rPr lang="en-US" sz="26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6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6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6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 </m:t>
                    </m:r>
                    <m:sSup>
                      <m:sSupPr>
                        <m:ctrlPr>
                          <a:rPr lang="en-US" sz="26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600" dirty="0">
                  <a:solidFill>
                    <a:srgbClr val="002060"/>
                  </a:solidFill>
                  <a:latin typeface="+mj-lt"/>
                </a:endParaRPr>
              </a:p>
              <a:p>
                <a:pPr marL="990600" indent="-457200">
                  <a:lnSpc>
                    <a:spcPct val="90000"/>
                  </a:lnSpc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Scalar Multiplication: 								     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d>
                      <m:dPr>
                        <m:ctrlPr>
                          <a:rPr lang="en-US" sz="26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6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6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6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26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6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sSub>
                      <m:sSubPr>
                        <m:ctrlPr>
                          <a:rPr lang="en-US" sz="26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6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6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6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US" sz="26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a:rPr lang="en-US" sz="26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6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600" i="0" dirty="0">
                        <a:solidFill>
                          <a:srgbClr val="002060"/>
                        </a:solidFill>
                      </a:rPr>
                      <m:t> </m:t>
                    </m:r>
                    <m:d>
                      <m:dPr>
                        <m:ctrlPr>
                          <a:rPr lang="en-US" sz="26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6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US" sz="26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6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sz="26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6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6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07" y="3380680"/>
                <a:ext cx="12783292" cy="2524820"/>
              </a:xfrm>
              <a:prstGeom prst="rect">
                <a:avLst/>
              </a:prstGeom>
              <a:blipFill>
                <a:blip r:embed="rId5"/>
                <a:stretch>
                  <a:fillRect l="-48" t="-217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Content Placeholder 4">
            <a:extLst>
              <a:ext uri="{FF2B5EF4-FFF2-40B4-BE49-F238E27FC236}">
                <a16:creationId xmlns:a16="http://schemas.microsoft.com/office/drawing/2014/main" id="{C2E3A768-B2DD-49B5-A909-9453EEB041E3}"/>
              </a:ext>
            </a:extLst>
          </p:cNvPr>
          <p:cNvSpPr txBox="1">
            <a:spLocks/>
          </p:cNvSpPr>
          <p:nvPr/>
        </p:nvSpPr>
        <p:spPr>
          <a:xfrm>
            <a:off x="66095" y="6048737"/>
            <a:ext cx="6694300" cy="5444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800" dirty="0">
                <a:solidFill>
                  <a:srgbClr val="002060"/>
                </a:solidFill>
                <a:latin typeface="+mj-lt"/>
              </a:rPr>
              <a:t>Let us check </a:t>
            </a:r>
            <a:r>
              <a:rPr lang="en-US" sz="2800" b="1" dirty="0">
                <a:solidFill>
                  <a:srgbClr val="FF0000"/>
                </a:solidFill>
                <a:latin typeface="+mj-lt"/>
              </a:rPr>
              <a:t>ten axioms </a:t>
            </a:r>
            <a:r>
              <a:rPr lang="en-US" sz="2800" dirty="0">
                <a:solidFill>
                  <a:srgbClr val="002060"/>
                </a:solidFill>
                <a:latin typeface="+mj-lt"/>
              </a:rPr>
              <a:t>for a vector space.</a:t>
            </a:r>
          </a:p>
        </p:txBody>
      </p:sp>
    </p:spTree>
    <p:extLst>
      <p:ext uri="{BB962C8B-B14F-4D97-AF65-F5344CB8AC3E}">
        <p14:creationId xmlns:p14="http://schemas.microsoft.com/office/powerpoint/2010/main" val="1691969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2" grpId="0"/>
      <p:bldP spid="28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710" y="756408"/>
            <a:ext cx="5353067" cy="13596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3591746"/>
                <a:ext cx="57600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1: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3591746"/>
                <a:ext cx="5760000" cy="540000"/>
              </a:xfrm>
              <a:prstGeom prst="rect">
                <a:avLst/>
              </a:prstGeom>
              <a:blipFill>
                <a:blip r:embed="rId3"/>
                <a:stretch>
                  <a:fillRect l="-2116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" y="858197"/>
                <a:ext cx="6019807" cy="193767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Let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  <a:p>
                <a:pPr marL="73977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800" b="0" i="0" dirty="0">
                    <a:solidFill>
                      <a:srgbClr val="002060"/>
                    </a:solidFill>
                    <a:latin typeface="+mj-lt"/>
                  </a:rPr>
                  <a:t>and</a:t>
                </a:r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  <a:p>
                <a:pPr marL="73977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ℙ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" y="858197"/>
                <a:ext cx="6019807" cy="1937674"/>
              </a:xfrm>
              <a:prstGeom prst="rect">
                <a:avLst/>
              </a:prstGeom>
              <a:blipFill>
                <a:blip r:embed="rId5"/>
                <a:stretch>
                  <a:fillRect l="-203" t="-31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2942866"/>
                <a:ext cx="302982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2942866"/>
                <a:ext cx="3029820" cy="540000"/>
              </a:xfrm>
              <a:prstGeom prst="rect">
                <a:avLst/>
              </a:prstGeom>
              <a:blipFill>
                <a:blip r:embed="rId6"/>
                <a:stretch>
                  <a:fillRect l="-4225"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8" y="4196005"/>
                <a:ext cx="1017237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8" y="4196005"/>
                <a:ext cx="10172371" cy="540000"/>
              </a:xfrm>
              <a:prstGeom prst="rect">
                <a:avLst/>
              </a:prstGeom>
              <a:blipFill>
                <a:blip r:embed="rId7"/>
                <a:stretch>
                  <a:fillRect l="-1259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22909" y="4991880"/>
                <a:ext cx="626184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909" y="4991880"/>
                <a:ext cx="6261842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6782712" y="1229558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499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26" grpId="0"/>
      <p:bldP spid="32" grpId="0"/>
      <p:bldP spid="33" grpId="0"/>
      <p:bldP spid="16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DD59CEEB-AF94-47C4-B071-EE5F7486C3E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1209" y="4297249"/>
                <a:ext cx="690525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ℙ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DD59CEEB-AF94-47C4-B071-EE5F7486C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209" y="4297249"/>
                <a:ext cx="6905252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7600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1: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760000" cy="540000"/>
              </a:xfrm>
              <a:prstGeom prst="rect">
                <a:avLst/>
              </a:prstGeom>
              <a:blipFill>
                <a:blip r:embed="rId7"/>
                <a:stretch>
                  <a:fillRect l="-2116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1209" y="2906033"/>
                <a:ext cx="405904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209" y="2906033"/>
                <a:ext cx="4059043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1209" y="3603244"/>
                <a:ext cx="584268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209" y="3603244"/>
                <a:ext cx="5842685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5308" y="4991254"/>
                <a:ext cx="419038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308" y="4991254"/>
                <a:ext cx="4190385" cy="540000"/>
              </a:xfrm>
              <a:prstGeom prst="rect">
                <a:avLst/>
              </a:prstGeom>
              <a:blipFill>
                <a:blip r:embed="rId10"/>
                <a:stretch>
                  <a:fillRect l="-3057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551" y="1563047"/>
                <a:ext cx="5760007" cy="1152458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rgbClr val="3A4A6A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>
                    <a:solidFill>
                      <a:srgbClr val="3A4A6A"/>
                    </a:solidFill>
                  </a:rPr>
                  <a:t>Since,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800" dirty="0">
                    <a:solidFill>
                      <a:srgbClr val="3A4A6A"/>
                    </a:solidFill>
                  </a:rPr>
                  <a:t>                                                                                                                                                         </a:t>
                </a:r>
              </a:p>
              <a:p>
                <a:pPr marL="0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3A4A6A"/>
                    </a:solidFill>
                  </a:rPr>
                  <a:t>         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0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51" y="1563047"/>
                <a:ext cx="5760007" cy="1152458"/>
              </a:xfrm>
              <a:prstGeom prst="rect">
                <a:avLst/>
              </a:prstGeom>
              <a:blipFill>
                <a:blip r:embed="rId11"/>
                <a:stretch>
                  <a:fillRect l="-847" t="-899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Picture 44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2710" y="756408"/>
            <a:ext cx="5353067" cy="1359637"/>
          </a:xfrm>
          <a:prstGeom prst="rect">
            <a:avLst/>
          </a:prstGeom>
        </p:spPr>
      </p:pic>
      <p:sp>
        <p:nvSpPr>
          <p:cNvPr id="46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6782712" y="1229558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6391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5" grpId="0"/>
      <p:bldP spid="37" grpId="0"/>
      <p:bldP spid="39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6464354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2: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6464354" cy="540000"/>
              </a:xfrm>
              <a:prstGeom prst="rect">
                <a:avLst/>
              </a:prstGeom>
              <a:blipFill>
                <a:blip r:embed="rId2"/>
                <a:stretch>
                  <a:fillRect l="-188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7668" y="2520313"/>
                <a:ext cx="353239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68" y="2520313"/>
                <a:ext cx="3532398" cy="540000"/>
              </a:xfrm>
              <a:prstGeom prst="rect">
                <a:avLst/>
              </a:prstGeom>
              <a:blipFill>
                <a:blip r:embed="rId4"/>
                <a:stretch>
                  <a:fillRect l="-3627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092122" y="3922470"/>
                <a:ext cx="607084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2122" y="3922470"/>
                <a:ext cx="6070844" cy="540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089860" y="3281624"/>
                <a:ext cx="607084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9860" y="3281624"/>
                <a:ext cx="6070845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1721" y="5803278"/>
                <a:ext cx="5784417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721" y="5803278"/>
                <a:ext cx="5784417" cy="540000"/>
              </a:xfrm>
              <a:prstGeom prst="rect">
                <a:avLst/>
              </a:prstGeom>
              <a:blipFill>
                <a:blip r:embed="rId7"/>
                <a:stretch>
                  <a:fillRect l="-2107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B88EBA83-8768-41A4-B644-AD633B142EE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33218" y="2589195"/>
                <a:ext cx="646435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)+(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B88EBA83-8768-41A4-B644-AD633B142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3218" y="2589195"/>
                <a:ext cx="6464354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82710" y="756408"/>
            <a:ext cx="5353067" cy="1359637"/>
          </a:xfrm>
          <a:prstGeom prst="rect">
            <a:avLst/>
          </a:prstGeom>
        </p:spPr>
      </p:pic>
      <p:sp>
        <p:nvSpPr>
          <p:cNvPr id="17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6782712" y="1229558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4">
                <a:extLst>
                  <a:ext uri="{FF2B5EF4-FFF2-40B4-BE49-F238E27FC236}">
                    <a16:creationId xmlns:a16="http://schemas.microsoft.com/office/drawing/2014/main" id="{449284D4-486E-46D3-84CD-DC9A05215F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33218" y="4603334"/>
                <a:ext cx="646435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)+(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" name="Content Placeholder 4">
                <a:extLst>
                  <a:ext uri="{FF2B5EF4-FFF2-40B4-BE49-F238E27FC236}">
                    <a16:creationId xmlns:a16="http://schemas.microsoft.com/office/drawing/2014/main" id="{449284D4-486E-46D3-84CD-DC9A05215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3218" y="4603334"/>
                <a:ext cx="6464354" cy="54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4E8452A3-41A4-4112-A95F-751FEA486AC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14024" y="5203306"/>
                <a:ext cx="275252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4E8452A3-41A4-4112-A95F-751FEA486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4024" y="5203306"/>
                <a:ext cx="2752520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7483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2" grpId="0"/>
      <p:bldP spid="16" grpId="0"/>
      <p:bldP spid="28" grpId="0"/>
      <p:bldP spid="19" grpId="0"/>
      <p:bldP spid="12" grpId="0"/>
      <p:bldP spid="13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897049"/>
                <a:ext cx="10068674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3: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d>
                          <m:d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d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  <m:d>
                          <m:d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d>
                      </m:e>
                    </m:d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d>
                          <m:d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d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d>
                          <m:d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d>
                      </m:e>
                    </m:d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897049"/>
                <a:ext cx="10068674" cy="540000"/>
              </a:xfrm>
              <a:prstGeom prst="rect">
                <a:avLst/>
              </a:prstGeom>
              <a:blipFill>
                <a:blip r:embed="rId3"/>
                <a:stretch>
                  <a:fillRect l="-1211" t="-8989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6909" y="2746303"/>
                <a:ext cx="522596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d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d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09" y="2746303"/>
                <a:ext cx="5225963" cy="540000"/>
              </a:xfrm>
              <a:prstGeom prst="rect">
                <a:avLst/>
              </a:prstGeom>
              <a:blipFill>
                <a:blip r:embed="rId4"/>
                <a:stretch>
                  <a:fillRect l="-2450" t="-5682" b="-35227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4446" y="3447731"/>
                <a:ext cx="947667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446" y="3447731"/>
                <a:ext cx="9476674" cy="540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AEC1AF95-6B03-429C-9DC9-73D2526AB0D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9805" y="4170578"/>
                <a:ext cx="9518759" cy="550352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a:rPr lang="en-US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AEC1AF95-6B03-429C-9DC9-73D2526AB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805" y="4170578"/>
                <a:ext cx="9518759" cy="5503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CF97745C-B091-4A42-B425-C591566279F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9805" y="4877061"/>
                <a:ext cx="8731359" cy="68794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c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CF97745C-B091-4A42-B425-C591566279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805" y="4877061"/>
                <a:ext cx="8731359" cy="68794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E5A6E3B7-DA19-4416-8777-06E7A4FCAA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1322" y="1619896"/>
            <a:ext cx="5353067" cy="1359637"/>
          </a:xfrm>
          <a:prstGeom prst="rect">
            <a:avLst/>
          </a:prstGeom>
        </p:spPr>
      </p:pic>
      <p:sp>
        <p:nvSpPr>
          <p:cNvPr id="11" name="Right Arrow 3">
            <a:extLst>
              <a:ext uri="{FF2B5EF4-FFF2-40B4-BE49-F238E27FC236}">
                <a16:creationId xmlns:a16="http://schemas.microsoft.com/office/drawing/2014/main" id="{71FB22DC-9192-4C00-889C-1096C9B62957}"/>
              </a:ext>
            </a:extLst>
          </p:cNvPr>
          <p:cNvSpPr/>
          <p:nvPr/>
        </p:nvSpPr>
        <p:spPr>
          <a:xfrm flipV="1">
            <a:off x="6781324" y="2093046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2093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31" grpId="0"/>
      <p:bldP spid="20" grpId="0"/>
      <p:bldP spid="24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7104" y="2885630"/>
                <a:ext cx="499969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d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d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104" y="2885630"/>
                <a:ext cx="4999699" cy="540000"/>
              </a:xfrm>
              <a:prstGeom prst="rect">
                <a:avLst/>
              </a:prstGeom>
              <a:blipFill>
                <a:blip r:embed="rId3"/>
                <a:stretch>
                  <a:fillRect l="-2561" t="-4494" b="-3483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640" y="3587058"/>
                <a:ext cx="968975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40" y="3587058"/>
                <a:ext cx="9689759" cy="540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AEC1AF95-6B03-429C-9DC9-73D2526AB0D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640" y="4330073"/>
                <a:ext cx="9518759" cy="550352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AEC1AF95-6B03-429C-9DC9-73D2526AB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40" y="4330073"/>
                <a:ext cx="9518759" cy="5503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CF97745C-B091-4A42-B425-C591566279F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5079829"/>
                <a:ext cx="8731359" cy="68794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c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CF97745C-B091-4A42-B425-C591566279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079829"/>
                <a:ext cx="8731359" cy="68794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CF97745C-B091-4A42-B425-C591566279F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5960951"/>
                <a:ext cx="9804399" cy="525619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Hence</m:t>
                      </m:r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, 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</m:d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</m:d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</m:d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</m:d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CF97745C-B091-4A42-B425-C591566279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5960951"/>
                <a:ext cx="9804399" cy="52561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6782712" y="1229558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A55E760D-164B-4BE4-9027-2F8D0D5840C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897049"/>
                <a:ext cx="10212512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3: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d>
                          <m:d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d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  <m:d>
                          <m:d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d>
                      </m:e>
                    </m:d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d>
                          <m:d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d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d>
                          <m:d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d>
                      </m:e>
                    </m:d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A55E760D-164B-4BE4-9027-2F8D0D5840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897049"/>
                <a:ext cx="10212512" cy="540000"/>
              </a:xfrm>
              <a:prstGeom prst="rect">
                <a:avLst/>
              </a:prstGeom>
              <a:blipFill>
                <a:blip r:embed="rId8"/>
                <a:stretch>
                  <a:fillRect l="-1194" t="-8989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88410A60-1554-4451-B46A-973C7EE7910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81322" y="1619896"/>
            <a:ext cx="5353067" cy="1359637"/>
          </a:xfrm>
          <a:prstGeom prst="rect">
            <a:avLst/>
          </a:prstGeom>
        </p:spPr>
      </p:pic>
      <p:sp>
        <p:nvSpPr>
          <p:cNvPr id="15" name="Right Arrow 3">
            <a:extLst>
              <a:ext uri="{FF2B5EF4-FFF2-40B4-BE49-F238E27FC236}">
                <a16:creationId xmlns:a16="http://schemas.microsoft.com/office/drawing/2014/main" id="{782C95AF-4367-4D9C-BD68-61FFFECB4160}"/>
              </a:ext>
            </a:extLst>
          </p:cNvPr>
          <p:cNvSpPr/>
          <p:nvPr/>
        </p:nvSpPr>
        <p:spPr>
          <a:xfrm flipV="1">
            <a:off x="6781324" y="2093046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575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31" grpId="0"/>
      <p:bldP spid="20" grpId="0"/>
      <p:bldP spid="24" grpId="0"/>
      <p:bldP spid="13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4: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𝐞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5" y="1514100"/>
                <a:ext cx="536649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dirty="0">
                        <a:solidFill>
                          <a:srgbClr val="3A4A6A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′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′′′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p>
                    </m:sSup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5" y="1514100"/>
                <a:ext cx="5366493" cy="540000"/>
              </a:xfrm>
              <a:prstGeom prst="rect">
                <a:avLst/>
              </a:prstGeom>
              <a:blipFill>
                <a:blip r:embed="rId4"/>
                <a:stretch>
                  <a:fillRect l="-2386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3802" y="3462966"/>
                <a:ext cx="1002099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sz="280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′</m:t>
                              </m:r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′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′′′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02" y="3462966"/>
                <a:ext cx="10020998" cy="540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6" y="2811806"/>
                <a:ext cx="467569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6" y="2811806"/>
                <a:ext cx="4675699" cy="540000"/>
              </a:xfrm>
              <a:prstGeom prst="rect">
                <a:avLst/>
              </a:prstGeom>
              <a:blipFill>
                <a:blip r:embed="rId6"/>
                <a:stretch>
                  <a:fillRect l="-2738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9394" y="6007314"/>
                <a:ext cx="929228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𝐞</m:t>
                    </m:r>
                    <m:d>
                      <m:d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sz="28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𝟎</m:t>
                    </m:r>
                    <m:r>
                      <a:rPr lang="en-US" sz="2800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+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𝟎</m:t>
                    </m:r>
                    <m:r>
                      <a:rPr lang="en-US" sz="2800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𝐱</m:t>
                    </m:r>
                    <m:r>
                      <a:rPr lang="en-US" sz="2800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+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𝟎</m:t>
                    </m:r>
                    <m:sSup>
                      <m:sSup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𝐱</m:t>
                        </m:r>
                      </m:e>
                      <m:sup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𝟐</m:t>
                        </m:r>
                      </m:sup>
                    </m:sSup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𝟎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the identity element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</a:t>
                </a: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394" y="6007314"/>
                <a:ext cx="9292281" cy="540000"/>
              </a:xfrm>
              <a:prstGeom prst="rect">
                <a:avLst/>
              </a:prstGeom>
              <a:blipFill>
                <a:blip r:embed="rId7"/>
                <a:stretch>
                  <a:fillRect l="-1378" t="-4494" b="-33708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3802" y="4111043"/>
                <a:ext cx="957649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)+(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′</m:t>
                              </m:r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)</m:t>
                          </m:r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a</m:t>
                                  </m:r>
                                </m:e>
                                <m:sup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  <m:t>′′′</m:t>
                                  </m:r>
                                </m:sup>
                              </m:sSup>
                            </m:e>
                          </m:d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02" y="4111043"/>
                <a:ext cx="9576498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8794" y="4762938"/>
                <a:ext cx="793590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  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′</m:t>
                        </m:r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 and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′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′</m:t>
                        </m:r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94" y="4762938"/>
                <a:ext cx="7935906" cy="540000"/>
              </a:xfrm>
              <a:prstGeom prst="rect">
                <a:avLst/>
              </a:prstGeom>
              <a:blipFill>
                <a:blip r:embed="rId9"/>
                <a:stretch>
                  <a:fillRect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AD72AFE7-1C85-4BFF-A6F1-C2DBC11445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6" y="2162994"/>
                <a:ext cx="536649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</a:t>
                </a:r>
              </a:p>
            </p:txBody>
          </p:sp>
        </mc:Choice>
        <mc:Fallback xmlns="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AD72AFE7-1C85-4BFF-A6F1-C2DBC11445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6" y="2162994"/>
                <a:ext cx="5366491" cy="540000"/>
              </a:xfrm>
              <a:prstGeom prst="rect">
                <a:avLst/>
              </a:prstGeom>
              <a:blipFill>
                <a:blip r:embed="rId10"/>
                <a:stretch>
                  <a:fillRect l="-2386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C9F287AA-6B96-4C7F-8E5B-6899F67C960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8794" y="5385126"/>
                <a:ext cx="504030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  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′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 and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′′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C9F287AA-6B96-4C7F-8E5B-6899F67C9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94" y="5385126"/>
                <a:ext cx="5040304" cy="540000"/>
              </a:xfrm>
              <a:prstGeom prst="rect">
                <a:avLst/>
              </a:prstGeom>
              <a:blipFill>
                <a:blip r:embed="rId11"/>
                <a:stretch>
                  <a:fillRect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" name="Picture 2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2710" y="756408"/>
            <a:ext cx="5353067" cy="1359637"/>
          </a:xfrm>
          <a:prstGeom prst="rect">
            <a:avLst/>
          </a:prstGeom>
        </p:spPr>
      </p:pic>
      <p:sp>
        <p:nvSpPr>
          <p:cNvPr id="30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6782712" y="1229558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2906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2" grpId="0"/>
      <p:bldP spid="16" grpId="0"/>
      <p:bldP spid="18" grpId="0"/>
      <p:bldP spid="22" grpId="0"/>
      <p:bldP spid="23" grpId="0"/>
      <p:bldP spid="15" grpId="0"/>
      <p:bldP spid="19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5: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𝐢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𝐞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5" y="1514100"/>
                <a:ext cx="639698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Let,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i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∗</m:t>
                        </m:r>
                      </m:sup>
                    </m:sSup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∗∗</m:t>
                        </m:r>
                      </m:sup>
                    </m:sSup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∗∗∗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p>
                    </m:sSup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∈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ℙ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5" y="1514100"/>
                <a:ext cx="6396983" cy="540000"/>
              </a:xfrm>
              <a:prstGeom prst="rect">
                <a:avLst/>
              </a:prstGeom>
              <a:blipFill>
                <a:blip r:embed="rId4"/>
                <a:stretch>
                  <a:fillRect l="-2002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4685" y="3553270"/>
                <a:ext cx="915739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∗∗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∗∗∗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0+0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x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+0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685" y="3553270"/>
                <a:ext cx="9157399" cy="540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3" y="2889000"/>
                <a:ext cx="415172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i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3" y="2889000"/>
                <a:ext cx="4151720" cy="540000"/>
              </a:xfrm>
              <a:prstGeom prst="rect">
                <a:avLst/>
              </a:prstGeom>
              <a:blipFill>
                <a:blip r:embed="rId6"/>
                <a:stretch>
                  <a:fillRect l="-3084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13015" y="6041332"/>
                <a:ext cx="1176390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</a:t>
                </a:r>
                <a14:m>
                  <m:oMath xmlns:m="http://schemas.openxmlformats.org/officeDocument/2006/math">
                    <m:r>
                      <a:rPr lang="en-US" sz="28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𝐢</m:t>
                    </m:r>
                    <m:d>
                      <m:d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sz="28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sSup>
                      <m:sSup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</a:t>
                </a:r>
                <a:r>
                  <a:rPr lang="en-US" sz="2800" dirty="0">
                    <a:solidFill>
                      <a:srgbClr val="002060"/>
                    </a:solidFill>
                  </a:rPr>
                  <a:t>additive inverse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2800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800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sz="2800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sSup>
                      <m:sSup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3015" y="6041332"/>
                <a:ext cx="11763909" cy="540000"/>
              </a:xfrm>
              <a:prstGeom prst="rect">
                <a:avLst/>
              </a:prstGeom>
              <a:blipFill>
                <a:blip r:embed="rId7"/>
                <a:stretch>
                  <a:fillRect l="-1036" t="-5618" b="-33708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0811" y="4239622"/>
                <a:ext cx="889047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∗</m:t>
                              </m:r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∗</m:t>
                              </m:r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∗</m:t>
                              </m:r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0+0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x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+0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811" y="4239622"/>
                <a:ext cx="8890479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2106" y="4853412"/>
                <a:ext cx="759529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∗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0,   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∗</m:t>
                        </m:r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∗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and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∗</m:t>
                        </m:r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∗∗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106" y="4853412"/>
                <a:ext cx="7595296" cy="540000"/>
              </a:xfrm>
              <a:prstGeom prst="rect">
                <a:avLst/>
              </a:prstGeom>
              <a:blipFill>
                <a:blip r:embed="rId9"/>
                <a:stretch>
                  <a:fillRect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5169" y="5496131"/>
                <a:ext cx="637622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∗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b="0" i="0" dirty="0">
                    <a:solidFill>
                      <a:srgbClr val="002060"/>
                    </a:solidFill>
                    <a:latin typeface="+mj-lt"/>
                  </a:rPr>
                  <a:t>,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∗</m:t>
                        </m:r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∗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b="0" i="0" dirty="0">
                    <a:solidFill>
                      <a:srgbClr val="002060"/>
                    </a:solidFill>
                    <a:latin typeface="+mj-lt"/>
                  </a:rPr>
                  <a:t> and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∗</m:t>
                        </m:r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∗∗</m:t>
                        </m:r>
                      </m:sup>
                    </m:sSup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169" y="5496131"/>
                <a:ext cx="6376228" cy="540000"/>
              </a:xfrm>
              <a:prstGeom prst="rect">
                <a:avLst/>
              </a:prstGeom>
              <a:blipFill>
                <a:blip r:embed="rId10"/>
                <a:stretch>
                  <a:fillRect t="-7955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15B4A631-8592-4729-98DA-7249454054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4" y="2208105"/>
                <a:ext cx="484008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15B4A631-8592-4729-98DA-724945405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4" y="2208105"/>
                <a:ext cx="4840088" cy="540000"/>
              </a:xfrm>
              <a:prstGeom prst="rect">
                <a:avLst/>
              </a:prstGeom>
              <a:blipFill>
                <a:blip r:embed="rId11"/>
                <a:stretch>
                  <a:fillRect l="-2645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6782712" y="2215874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95185B9-CF6B-407F-AC65-0325C6A5540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2710" y="1742724"/>
            <a:ext cx="5353067" cy="135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427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14" grpId="0"/>
      <p:bldP spid="15" grpId="0"/>
      <p:bldP spid="23" grpId="0"/>
      <p:bldP spid="24" grpId="0"/>
      <p:bldP spid="25" grpId="0"/>
      <p:bldP spid="28" grpId="0"/>
      <p:bldP spid="16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6: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499100" cy="540000"/>
              </a:xfrm>
              <a:prstGeom prst="rect">
                <a:avLst/>
              </a:prstGeom>
              <a:blipFill>
                <a:blip r:embed="rId2"/>
                <a:stretch>
                  <a:fillRect l="-2217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5" y="1548055"/>
                <a:ext cx="634011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5" y="1548055"/>
                <a:ext cx="6340113" cy="540000"/>
              </a:xfrm>
              <a:prstGeom prst="rect">
                <a:avLst/>
              </a:prstGeom>
              <a:blipFill>
                <a:blip r:embed="rId4"/>
                <a:stretch>
                  <a:fillRect l="-2019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84189" y="2196819"/>
                <a:ext cx="511497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4189" y="2196819"/>
                <a:ext cx="5114970" cy="540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9987" y="3630687"/>
                <a:ext cx="298450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87" y="3630687"/>
                <a:ext cx="2984501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6048" y="4313123"/>
                <a:ext cx="379673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48" y="4313123"/>
                <a:ext cx="3796735" cy="540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8514" y="4995559"/>
                <a:ext cx="565370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b="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2800" i="0" dirty="0">
                          <a:solidFill>
                            <a:srgbClr val="002060"/>
                          </a:solidFill>
                        </a:rPr>
                        <m:t> 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ℙ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14" y="4995559"/>
                <a:ext cx="5653700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449" y="2913753"/>
                <a:ext cx="618066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Since,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</a:rPr>
                      <m:t>∈</m:t>
                    </m:r>
                    <m:r>
                      <m:rPr>
                        <m:nor/>
                      </m:rPr>
                      <a:rPr lang="en-US" sz="2800" b="0" i="0" dirty="0" smtClean="0">
                        <a:solidFill>
                          <a:srgbClr val="002060"/>
                        </a:solidFill>
                      </a:rPr>
                      <m:t>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ℙ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</a:t>
                </a:r>
              </a:p>
            </p:txBody>
          </p:sp>
        </mc:Choice>
        <mc:Fallback xmlns="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449" y="2913753"/>
                <a:ext cx="6180669" cy="540000"/>
              </a:xfrm>
              <a:prstGeom prst="rect">
                <a:avLst/>
              </a:prstGeom>
              <a:blipFill>
                <a:blip r:embed="rId9"/>
                <a:stretch>
                  <a:fillRect l="-1972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63C60F34-B474-4634-96A1-1BC8F88468D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9968" y="5665359"/>
                <a:ext cx="394887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</a:rPr>
                        <m:t>Hence</m:t>
                      </m:r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63C60F34-B474-4634-96A1-1BC8F88468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968" y="5665359"/>
                <a:ext cx="3948872" cy="54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Picture 2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82710" y="756408"/>
            <a:ext cx="5353067" cy="1359637"/>
          </a:xfrm>
          <a:prstGeom prst="rect">
            <a:avLst/>
          </a:prstGeom>
        </p:spPr>
      </p:pic>
      <p:sp>
        <p:nvSpPr>
          <p:cNvPr id="24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6782712" y="1686758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2319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5" grpId="0"/>
      <p:bldP spid="27" grpId="0"/>
      <p:bldP spid="33" grpId="0"/>
      <p:bldP spid="13" grpId="0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3" y="865206"/>
                <a:ext cx="8399842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7: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d>
                          <m:d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d>
                        <m:r>
                          <a:rPr lang="en-US" b="1" i="0" dirty="0" err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d>
                          <m:d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d>
                      </m:e>
                    </m:d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" y="865206"/>
                <a:ext cx="8399842" cy="540000"/>
              </a:xfrm>
              <a:prstGeom prst="rect">
                <a:avLst/>
              </a:prstGeom>
              <a:blipFill>
                <a:blip r:embed="rId2"/>
                <a:stretch>
                  <a:fillRect l="-1451" t="-8989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4990" y="1548055"/>
                <a:ext cx="441051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Now,</a:t>
                </a:r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d>
                        <m:r>
                          <a:rPr lang="en-US" sz="2800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d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990" y="1548055"/>
                <a:ext cx="4410514" cy="540000"/>
              </a:xfrm>
              <a:prstGeom prst="rect">
                <a:avLst/>
              </a:prstGeom>
              <a:blipFill>
                <a:blip r:embed="rId4"/>
                <a:stretch>
                  <a:fillRect l="-2905" t="-4494" b="-33708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2827" y="2158727"/>
                <a:ext cx="716393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827" y="2158727"/>
                <a:ext cx="7163935" cy="540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2197" y="2833660"/>
                <a:ext cx="716393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)+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197" y="2833660"/>
                <a:ext cx="7163935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4989" y="3429000"/>
                <a:ext cx="414905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989" y="3429000"/>
                <a:ext cx="4149059" cy="540000"/>
              </a:xfrm>
              <a:prstGeom prst="rect">
                <a:avLst/>
              </a:prstGeom>
              <a:blipFill>
                <a:blip r:embed="rId7"/>
                <a:stretch>
                  <a:fillRect l="-3088" t="-7955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7467" y="4183519"/>
                <a:ext cx="839984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467" y="4183519"/>
                <a:ext cx="8399844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7941" y="4808535"/>
                <a:ext cx="840936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k</m:t>
                              </m:r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k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k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941" y="4808535"/>
                <a:ext cx="8409369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7939" y="5433551"/>
                <a:ext cx="6745273" cy="46253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)+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939" y="5433551"/>
                <a:ext cx="6745273" cy="46253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6112" y="6087622"/>
                <a:ext cx="734237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So</m:t>
                      </m:r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,</m:t>
                      </m:r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</m:d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</m:d>
                        </m:e>
                      </m:d>
                      <m:r>
                        <a:rPr lang="en-US" sz="2800" b="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12" y="6087622"/>
                <a:ext cx="7342378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4855DA2A-34D9-4187-89B5-6047CBC27A58}"/>
              </a:ext>
            </a:extLst>
          </p:cNvPr>
          <p:cNvGrpSpPr/>
          <p:nvPr/>
        </p:nvGrpSpPr>
        <p:grpSpPr>
          <a:xfrm>
            <a:off x="7306132" y="1533190"/>
            <a:ext cx="4843070" cy="1141292"/>
            <a:chOff x="6796135" y="1533189"/>
            <a:chExt cx="5353067" cy="1359637"/>
          </a:xfrm>
        </p:grpSpPr>
        <p:pic>
          <p:nvPicPr>
            <p:cNvPr id="22" name="Picture 21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96135" y="1533189"/>
              <a:ext cx="5353067" cy="1359637"/>
            </a:xfrm>
            <a:prstGeom prst="rect">
              <a:avLst/>
            </a:prstGeom>
          </p:spPr>
        </p:pic>
        <p:sp>
          <p:nvSpPr>
            <p:cNvPr id="24" name="Right Arrow 3">
              <a:extLst>
                <a:ext uri="{FF2B5EF4-FFF2-40B4-BE49-F238E27FC236}">
                  <a16:creationId xmlns:a16="http://schemas.microsoft.com/office/drawing/2014/main" id="{3FE11F38-A8D0-406B-A77F-9DE69C4F1B02}"/>
                </a:ext>
              </a:extLst>
            </p:cNvPr>
            <p:cNvSpPr/>
            <p:nvPr/>
          </p:nvSpPr>
          <p:spPr>
            <a:xfrm flipV="1">
              <a:off x="6796137" y="2463539"/>
              <a:ext cx="144000" cy="180000"/>
            </a:xfrm>
            <a:prstGeom prst="rightArrow">
              <a:avLst/>
            </a:prstGeom>
            <a:gradFill>
              <a:gsLst>
                <a:gs pos="10000">
                  <a:srgbClr val="0E47A1"/>
                </a:gs>
                <a:gs pos="100000">
                  <a:srgbClr val="03A9F5"/>
                </a:gs>
              </a:gsLst>
              <a:lin ang="10800000" scaled="1"/>
            </a:gradFill>
            <a:ln>
              <a:noFill/>
            </a:ln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Wingdings 3" panose="05040102010807070707" pitchFamily="18" charset="2"/>
                <a:buNone/>
              </a:pPr>
              <a:endParaRPr lang="en-IN" sz="28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53793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30" grpId="0"/>
      <p:bldP spid="31" grpId="0"/>
      <p:bldP spid="32" grpId="0"/>
      <p:bldP spid="33" grpId="0"/>
      <p:bldP spid="34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5" y="865206"/>
                <a:ext cx="8106314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8: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𝐤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𝐦</m:t>
                        </m:r>
                      </m:e>
                    </m:d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dirty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𝐦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" y="865206"/>
                <a:ext cx="8106314" cy="540000"/>
              </a:xfrm>
              <a:prstGeom prst="rect">
                <a:avLst/>
              </a:prstGeom>
              <a:blipFill>
                <a:blip r:embed="rId2"/>
                <a:stretch>
                  <a:fillRect l="-1504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1548055"/>
                <a:ext cx="363800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</m:d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1548055"/>
                <a:ext cx="3638006" cy="540000"/>
              </a:xfrm>
              <a:prstGeom prst="rect">
                <a:avLst/>
              </a:prstGeom>
              <a:blipFill>
                <a:blip r:embed="rId4"/>
                <a:stretch>
                  <a:fillRect l="-3518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7966" y="2229032"/>
                <a:ext cx="519670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966" y="2229032"/>
                <a:ext cx="5196705" cy="540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7966" y="2915625"/>
                <a:ext cx="784299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966" y="2915625"/>
                <a:ext cx="7842992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1474" y="3596602"/>
                <a:ext cx="8147790" cy="46253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474" y="3596602"/>
                <a:ext cx="8147790" cy="46253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7166" y="4200116"/>
                <a:ext cx="432154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166" y="4200116"/>
                <a:ext cx="4321544" cy="540000"/>
              </a:xfrm>
              <a:prstGeom prst="rect">
                <a:avLst/>
              </a:prstGeom>
              <a:blipFill>
                <a:blip r:embed="rId8"/>
                <a:stretch>
                  <a:fillRect l="-2962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30378" y="4286174"/>
                <a:ext cx="746305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0378" y="4286174"/>
                <a:ext cx="7463051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93590" y="4881093"/>
                <a:ext cx="950233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3590" y="4881093"/>
                <a:ext cx="9502338" cy="54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88836" y="5556674"/>
                <a:ext cx="8399970" cy="46253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8836" y="5556674"/>
                <a:ext cx="8399970" cy="46253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85362" y="6088503"/>
                <a:ext cx="666175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So</m:t>
                      </m:r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, 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5362" y="6088503"/>
                <a:ext cx="6661758" cy="5400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" name="Picture 3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82710" y="1526966"/>
            <a:ext cx="5353067" cy="1359637"/>
          </a:xfrm>
          <a:prstGeom prst="rect">
            <a:avLst/>
          </a:prstGeom>
        </p:spPr>
      </p:pic>
      <p:sp>
        <p:nvSpPr>
          <p:cNvPr id="32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6782712" y="2457316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3953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4" grpId="0"/>
      <p:bldP spid="16" grpId="0"/>
      <p:bldP spid="18" grpId="0"/>
      <p:bldP spid="22" grpId="0"/>
      <p:bldP spid="25" grpId="0"/>
      <p:bldP spid="26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" y="865206"/>
                <a:ext cx="6497053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9: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>
                            <a:latin typeface="Cambria Math" panose="02040503050406030204" pitchFamily="18" charset="0"/>
                          </a:rPr>
                          <m:t>𝐦</m:t>
                        </m:r>
                        <m:r>
                          <a:rPr lang="en-US" b="1" i="0" dirty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d>
                          <m:d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d>
                      </m:e>
                    </m:d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>
                            <a:latin typeface="Cambria Math" panose="02040503050406030204" pitchFamily="18" charset="0"/>
                          </a:rPr>
                          <m:t>𝐤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𝐦</m:t>
                        </m:r>
                      </m:e>
                    </m:d>
                    <m:r>
                      <a:rPr lang="en-US" b="1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" y="865206"/>
                <a:ext cx="6497053" cy="540000"/>
              </a:xfrm>
              <a:prstGeom prst="rect">
                <a:avLst/>
              </a:prstGeom>
              <a:blipFill>
                <a:blip r:embed="rId2"/>
                <a:stretch>
                  <a:fillRect l="-1876" t="-8989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335" y="2360638"/>
                <a:ext cx="308320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d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35" y="2360638"/>
                <a:ext cx="3083201" cy="540000"/>
              </a:xfrm>
              <a:prstGeom prst="rect">
                <a:avLst/>
              </a:prstGeom>
              <a:blipFill>
                <a:blip r:embed="rId4"/>
                <a:stretch>
                  <a:fillRect l="-3953" t="-4494" b="-3483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47071" y="2360638"/>
                <a:ext cx="482029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x</m:t>
                            </m:r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2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7071" y="2360638"/>
                <a:ext cx="4820298" cy="540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40633" y="3054643"/>
                <a:ext cx="529837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m:rPr>
                          <m:nor/>
                        </m:rP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nor/>
                        </m:rPr>
                        <a:rPr lang="en-US" sz="2800" i="0" dirty="0">
                          <a:solidFill>
                            <a:srgbClr val="002060"/>
                          </a:solidFill>
                        </a:rPr>
                        <m:t> 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0633" y="3054643"/>
                <a:ext cx="5298374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47068" y="3682435"/>
                <a:ext cx="4820302" cy="46253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km</m:t>
                              </m:r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km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nor/>
                        </m:rPr>
                        <a:rPr lang="en-US" sz="2800" i="0" dirty="0">
                          <a:solidFill>
                            <a:srgbClr val="002060"/>
                          </a:solidFill>
                        </a:rPr>
                        <m:t> 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7068" y="3682435"/>
                <a:ext cx="4820302" cy="46253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4119" y="5394918"/>
                <a:ext cx="495310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d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)⋅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119" y="5394918"/>
                <a:ext cx="4953100" cy="540000"/>
              </a:xfrm>
              <a:prstGeom prst="rect">
                <a:avLst/>
              </a:prstGeom>
              <a:blipFill>
                <a:blip r:embed="rId8"/>
                <a:stretch>
                  <a:fillRect l="-2460" t="-4494" b="-33708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40633" y="4276671"/>
                <a:ext cx="4162593" cy="49327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m:rPr>
                          <m:nor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0633" y="4276671"/>
                <a:ext cx="4162593" cy="49327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40633" y="4901644"/>
                <a:ext cx="2453299" cy="49327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m:rPr>
                          <m:nor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)⋅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0633" y="4901644"/>
                <a:ext cx="2453299" cy="49327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" name="Picture 3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82710" y="756408"/>
            <a:ext cx="5353067" cy="1359637"/>
          </a:xfrm>
          <a:prstGeom prst="rect">
            <a:avLst/>
          </a:prstGeom>
        </p:spPr>
      </p:pic>
      <p:sp>
        <p:nvSpPr>
          <p:cNvPr id="32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6782712" y="1686758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524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4" grpId="0"/>
      <p:bldP spid="28" grpId="0"/>
      <p:bldP spid="16" grpId="0"/>
      <p:bldP spid="22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4564549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/>
                <a:r>
                  <a:rPr lang="en-US" b="1" dirty="0"/>
                  <a:t>Axiom 10: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4564549" cy="540000"/>
              </a:xfrm>
              <a:prstGeom prst="rect">
                <a:avLst/>
              </a:prstGeom>
              <a:blipFill>
                <a:blip r:embed="rId2"/>
                <a:stretch>
                  <a:fillRect l="-2670" t="-10112" b="-292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-1" y="0"/>
                <a:ext cx="12192000" cy="711200"/>
              </a:xfrm>
            </p:spPr>
            <p:txBody>
              <a:bodyPr/>
              <a:lstStyle/>
              <a:p>
                <a:r>
                  <a:rPr lang="en-IN" dirty="0"/>
                  <a:t>Method:1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-1" y="0"/>
                <a:ext cx="12192000" cy="711200"/>
              </a:xfrm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09" y="1548055"/>
                <a:ext cx="242565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09" y="1548055"/>
                <a:ext cx="2425655" cy="540000"/>
              </a:xfrm>
              <a:prstGeom prst="rect">
                <a:avLst/>
              </a:prstGeom>
              <a:blipFill>
                <a:blip r:embed="rId4"/>
                <a:stretch>
                  <a:fillRect l="-5276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72192" y="1597115"/>
                <a:ext cx="396148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nor/>
                        </m:rP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2192" y="1597115"/>
                <a:ext cx="3961480" cy="540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57512" y="2230904"/>
                <a:ext cx="335429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0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x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7512" y="2230904"/>
                <a:ext cx="3354294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2913753"/>
                <a:ext cx="6268190" cy="99001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Here, All the axioms are satisfied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3A4A6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3A4A6A"/>
                            </a:solidFill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sz="2800">
                            <a:solidFill>
                              <a:srgbClr val="3A4A6A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solidFill>
                          <a:srgbClr val="3A4A6A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under given operations. 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2913753"/>
                <a:ext cx="6268190" cy="990017"/>
              </a:xfrm>
              <a:prstGeom prst="rect">
                <a:avLst/>
              </a:prstGeom>
              <a:blipFill>
                <a:blip r:embed="rId7"/>
                <a:stretch>
                  <a:fillRect l="-2043" t="-6173" r="-1946" b="-2037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610" y="4179405"/>
                <a:ext cx="6268190" cy="6178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Hence,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3A4A6A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3A4A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>
                                <a:solidFill>
                                  <a:srgbClr val="3A4A6A"/>
                                </a:solidFill>
                                <a:latin typeface="Cambria Math" panose="02040503050406030204" pitchFamily="18" charset="0"/>
                              </a:rPr>
                              <m:t>ℙ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3A4A6A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+ ,  ⋅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a vector space. 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10" y="4179405"/>
                <a:ext cx="6268190" cy="617827"/>
              </a:xfrm>
              <a:prstGeom prst="rect">
                <a:avLst/>
              </a:prstGeom>
              <a:blipFill>
                <a:blip r:embed="rId9"/>
                <a:stretch>
                  <a:fillRect l="-2043" b="-21782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170722" y="2219748"/>
                <a:ext cx="175598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722" y="2219748"/>
                <a:ext cx="1755989" cy="54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Picture 2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82710" y="756408"/>
            <a:ext cx="5353067" cy="1359637"/>
          </a:xfrm>
          <a:prstGeom prst="rect">
            <a:avLst/>
          </a:prstGeom>
        </p:spPr>
      </p:pic>
      <p:sp>
        <p:nvSpPr>
          <p:cNvPr id="24" name="Right Arrow 3">
            <a:extLst>
              <a:ext uri="{FF2B5EF4-FFF2-40B4-BE49-F238E27FC236}">
                <a16:creationId xmlns:a16="http://schemas.microsoft.com/office/drawing/2014/main" id="{3FE11F38-A8D0-406B-A77F-9DE69C4F1B02}"/>
              </a:ext>
            </a:extLst>
          </p:cNvPr>
          <p:cNvSpPr/>
          <p:nvPr/>
        </p:nvSpPr>
        <p:spPr>
          <a:xfrm flipV="1">
            <a:off x="6782712" y="1686758"/>
            <a:ext cx="144000" cy="180000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6926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3" grpId="0"/>
      <p:bldP spid="28" grpId="0"/>
      <p:bldP spid="18" grpId="0"/>
      <p:bldP spid="16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Method-2</a:t>
            </a:r>
            <a:br>
              <a:rPr lang="en-US" dirty="0"/>
            </a:br>
            <a:r>
              <a:rPr lang="en-US" dirty="0"/>
              <a:t>Subspaces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1B15B0-DB21-4AD4-8A0D-08E74D04D8C7}"/>
              </a:ext>
            </a:extLst>
          </p:cNvPr>
          <p:cNvSpPr txBox="1">
            <a:spLocks/>
          </p:cNvSpPr>
          <p:nvPr/>
        </p:nvSpPr>
        <p:spPr>
          <a:xfrm>
            <a:off x="838200" y="2002632"/>
            <a:ext cx="10515600" cy="28527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kern="1200" dirty="0">
                <a:gradFill flip="none" rotWithShape="1">
                  <a:gsLst>
                    <a:gs pos="0">
                      <a:srgbClr val="1D3064"/>
                    </a:gs>
                    <a:gs pos="100000">
                      <a:schemeClr val="tx2"/>
                    </a:gs>
                  </a:gsLst>
                  <a:lin ang="0" scaled="1"/>
                  <a:tileRect/>
                </a:gradFill>
                <a:effectLst/>
                <a:latin typeface="+mn-lt"/>
                <a:ea typeface="+mn-ea"/>
                <a:cs typeface="+mn-cs"/>
              </a:defRPr>
            </a:lvl1pPr>
          </a:lstStyle>
          <a:p>
            <a:endParaRPr lang="en-IN" dirty="0">
              <a:gradFill flip="none" rotWithShape="1">
                <a:gsLst>
                  <a:gs pos="10000">
                    <a:schemeClr val="accent6">
                      <a:lumMod val="50000"/>
                    </a:schemeClr>
                  </a:gs>
                  <a:gs pos="100000">
                    <a:schemeClr val="accent6"/>
                  </a:gs>
                </a:gsLst>
                <a:lin ang="0" scaled="1"/>
                <a:tileRect/>
              </a:gradFill>
            </a:endParaRPr>
          </a:p>
          <a:p>
            <a:endParaRPr lang="en-IN" dirty="0">
              <a:gradFill flip="none" rotWithShape="1">
                <a:gsLst>
                  <a:gs pos="10000">
                    <a:schemeClr val="accent6">
                      <a:lumMod val="50000"/>
                    </a:schemeClr>
                  </a:gs>
                  <a:gs pos="100000">
                    <a:schemeClr val="accent6"/>
                  </a:gs>
                </a:gsLst>
                <a:lin ang="0" scaled="1"/>
                <a:tileRect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295732953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8A814-E960-4A9A-9533-046AA2FC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Subspace of a Vector Space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CE115E-0DAA-4310-8C47-0D579246D2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347345" indent="-228600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dirty="0"/>
                  <a:t>A non-empty subset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dirty="0"/>
                  <a:t> of a vector 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(i.e.,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) is called a </a:t>
                </a:r>
                <a:r>
                  <a:rPr lang="en-US" b="1" dirty="0"/>
                  <a:t>subspace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itself a vector space under the </a:t>
                </a:r>
                <a:r>
                  <a:rPr lang="en-US" b="1" dirty="0">
                    <a:solidFill>
                      <a:srgbClr val="FF0000"/>
                    </a:solidFill>
                  </a:rPr>
                  <a:t>same vector addition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and </a:t>
                </a:r>
                <a:r>
                  <a:rPr lang="en-US" b="1" dirty="0">
                    <a:solidFill>
                      <a:srgbClr val="FF0000"/>
                    </a:solidFill>
                  </a:rPr>
                  <a:t>scalar multiplication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defined 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347345" indent="-228600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dirty="0">
                    <a:ea typeface="Cambria Math" panose="02040503050406030204" pitchFamily="18" charset="0"/>
                  </a:rPr>
                  <a:t>In other words, 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be a vector space with the binary operations ‘</a:t>
                </a:r>
                <a14:m>
                  <m:oMath xmlns:m="http://schemas.openxmlformats.org/officeDocument/2006/math">
                    <m:r>
                      <a:rPr lang="en-US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’ and ‘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’. 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be a non-empty subset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.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is said to be a subspace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if the following conditions are satisfied for all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W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and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k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:</a:t>
                </a:r>
              </a:p>
              <a:p>
                <a:pPr marL="891857" lvl="1" indent="-228600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IN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  <m: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		</a:t>
                </a:r>
                <a:r>
                  <a:rPr lang="en-US" b="1" dirty="0">
                    <a:solidFill>
                      <a:srgbClr val="FF0000"/>
                    </a:solidFill>
                  </a:rPr>
                  <a:t>(Closure under vector addition)</a:t>
                </a:r>
                <a:endParaRPr lang="en-IN" b="1" dirty="0">
                  <a:solidFill>
                    <a:srgbClr val="FF0000"/>
                  </a:solidFill>
                </a:endParaRPr>
              </a:p>
              <a:p>
                <a:pPr marL="891857" lvl="1" indent="-228600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k</m:t>
                    </m:r>
                    <m: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		</a:t>
                </a:r>
                <a:r>
                  <a:rPr lang="en-US" b="1" dirty="0">
                    <a:solidFill>
                      <a:srgbClr val="FF0000"/>
                    </a:solidFill>
                  </a:rPr>
                  <a:t>(Closure under scalar multiplication)</a:t>
                </a:r>
              </a:p>
              <a:p>
                <a:pPr marL="0" indent="0">
                  <a:buNone/>
                </a:pPr>
                <a:endParaRPr lang="en-IN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CE115E-0DAA-4310-8C47-0D579246D2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654" r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6571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8A814-E960-4A9A-9533-046AA2FC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Remarks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CE115E-0DAA-4310-8C47-0D579246D2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:r>
                  <a:rPr lang="en-US" i="0" dirty="0">
                    <a:latin typeface="+mj-lt"/>
                  </a:rPr>
                  <a:t>Every subspace of a vector space is itself a vector space under the same operations inherited from the parent vector space.</a:t>
                </a:r>
              </a:p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:r>
                  <a:rPr lang="en-US" dirty="0"/>
                  <a:t>Every subspace </a:t>
                </a:r>
                <a:r>
                  <a:rPr lang="en-US" b="1" dirty="0">
                    <a:solidFill>
                      <a:srgbClr val="FF0000"/>
                    </a:solidFill>
                  </a:rPr>
                  <a:t>must</a:t>
                </a:r>
                <a:r>
                  <a:rPr lang="en-US" dirty="0"/>
                  <a:t> contain the </a:t>
                </a:r>
                <a:r>
                  <a:rPr lang="en-US" b="1" dirty="0">
                    <a:solidFill>
                      <a:srgbClr val="FF0000"/>
                    </a:solidFill>
                  </a:rPr>
                  <a:t>zero vector</a:t>
                </a:r>
                <a:r>
                  <a:rPr lang="en-US" b="1" dirty="0"/>
                  <a:t>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:r>
                  <a:rPr lang="en-US" dirty="0"/>
                  <a:t>The trivial subspaces of a vector 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are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}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r>
                  <a:rPr lang="en-US" dirty="0"/>
                  <a:t> itself.</a:t>
                </a:r>
              </a:p>
              <a:p>
                <a:pPr marL="633095" indent="-5143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:r>
                  <a:rPr lang="en-US" dirty="0"/>
                  <a:t>A non-empty subset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is a subspace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if and only if</a:t>
                </a:r>
              </a:p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dirty="0"/>
                  <a:t>    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dirty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dirty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𝐯</m:t>
                    </m:r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𝐖</m:t>
                    </m:r>
                  </m:oMath>
                </a14:m>
                <a:r>
                  <a:rPr lang="en-US" i="0" dirty="0">
                    <a:latin typeface="+mj-lt"/>
                  </a:rPr>
                  <a:t>.</a:t>
                </a:r>
                <a:endParaRPr lang="en-IN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CE115E-0DAA-4310-8C47-0D579246D2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56" t="-1527" r="-107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673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Method:2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7272109-8DE2-50AC-004B-6C788F2ADE24}"/>
              </a:ext>
            </a:extLst>
          </p:cNvPr>
          <p:cNvSpPr/>
          <p:nvPr/>
        </p:nvSpPr>
        <p:spPr>
          <a:xfrm>
            <a:off x="122278" y="158571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04479" y="800834"/>
                <a:ext cx="10272088" cy="592338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Prove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W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x</m:t>
                            </m:r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y</m:t>
                            </m:r>
                          </m:e>
                        </m:d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y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mx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m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∈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ℝ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}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is subspace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</a:t>
                </a:r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479" y="800834"/>
                <a:ext cx="10272088" cy="592338"/>
              </a:xfrm>
              <a:prstGeom prst="rect">
                <a:avLst/>
              </a:prstGeom>
              <a:blipFill>
                <a:blip r:embed="rId3"/>
                <a:stretch>
                  <a:fillRect l="-1187" b="-3469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9" y="96057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97" y="2101264"/>
                <a:ext cx="6512502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Here,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W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x</m:t>
                            </m:r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y</m:t>
                            </m:r>
                          </m:e>
                        </m:d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y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mx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m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∈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ℝ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}</m:t>
                    </m:r>
                  </m:oMath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97" y="2101264"/>
                <a:ext cx="6512502" cy="544460"/>
              </a:xfrm>
              <a:prstGeom prst="rect">
                <a:avLst/>
              </a:prstGeom>
              <a:blipFill>
                <a:blip r:embed="rId4"/>
                <a:stretch>
                  <a:fillRect l="-187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6164" y="2821880"/>
                <a:ext cx="10878827" cy="19621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Binary Operations are defined as</a:t>
                </a:r>
              </a:p>
              <a:p>
                <a:pPr marL="990600" indent="-457200"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Vector Addition		:	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)+(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)=</m:t>
                    </m:r>
                    <m:d>
                      <m:d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</m:e>
                    </m:d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  <a:p>
                <a:pPr marL="990600" indent="-457200"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Scalar Multiplication	: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ka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kb</m:t>
                        </m:r>
                      </m:e>
                    </m:d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64" y="2821880"/>
                <a:ext cx="10878827" cy="1962116"/>
              </a:xfrm>
              <a:prstGeom prst="rect">
                <a:avLst/>
              </a:prstGeom>
              <a:blipFill>
                <a:blip r:embed="rId5"/>
                <a:stretch>
                  <a:fillRect l="-56" t="-3106" b="-838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6193" y="4871397"/>
                <a:ext cx="880110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   and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93" y="4871397"/>
                <a:ext cx="8801106" cy="540000"/>
              </a:xfrm>
              <a:prstGeom prst="rect">
                <a:avLst/>
              </a:prstGeom>
              <a:blipFill>
                <a:blip r:embed="rId6"/>
                <a:stretch>
                  <a:fillRect l="-69" t="-12360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97" y="5498798"/>
                <a:ext cx="464022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3A4A6A"/>
                    </a:solidFill>
                  </a:rPr>
                  <a:t>   and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97" y="5498798"/>
                <a:ext cx="4640223" cy="540000"/>
              </a:xfrm>
              <a:prstGeom prst="rect">
                <a:avLst/>
              </a:prstGeom>
              <a:blipFill>
                <a:blip r:embed="rId7"/>
                <a:stretch>
                  <a:fillRect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0709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1" grpId="0" animBg="1"/>
      <p:bldP spid="14" grpId="0"/>
      <p:bldP spid="17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1559211"/>
                <a:ext cx="261257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nor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1559211"/>
                <a:ext cx="2612572" cy="540000"/>
              </a:xfrm>
              <a:prstGeom prst="rect">
                <a:avLst/>
              </a:prstGeom>
              <a:blipFill>
                <a:blip r:embed="rId2"/>
                <a:stretch>
                  <a:fillRect l="-233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Method:2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094847" y="1613124"/>
                <a:ext cx="4118115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4847" y="1613124"/>
                <a:ext cx="4118115" cy="5444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43" y="3745337"/>
                <a:ext cx="260902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3" y="3745337"/>
                <a:ext cx="2609028" cy="540000"/>
              </a:xfrm>
              <a:prstGeom prst="rect">
                <a:avLst/>
              </a:prstGeom>
              <a:blipFill>
                <a:blip r:embed="rId5"/>
                <a:stretch>
                  <a:fillRect l="-467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6"/>
          <a:srcRect b="13116"/>
          <a:stretch/>
        </p:blipFill>
        <p:spPr>
          <a:xfrm>
            <a:off x="7837563" y="756404"/>
            <a:ext cx="4255377" cy="6568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05479" y="2361787"/>
                <a:ext cx="4118114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479" y="2361787"/>
                <a:ext cx="4118114" cy="54446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32AF40C0-CB5C-4EC3-A661-3EBE5C14DA1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3055792"/>
                <a:ext cx="651213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b="1" dirty="0">
                    <a:solidFill>
                      <a:srgbClr val="FF0000"/>
                    </a:solidFill>
                    <a:latin typeface="+mj-lt"/>
                  </a:rPr>
                  <a:t>To show :   </a:t>
                </a:r>
                <a14:m>
                  <m:oMath xmlns:m="http://schemas.openxmlformats.org/officeDocument/2006/math"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𝐤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800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</m:t>
                    </m:r>
                    <m:d>
                      <m:d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𝐤</m:t>
                        </m:r>
                        <m:sSub>
                          <m:sSubPr>
                            <m:ctrlP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d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32AF40C0-CB5C-4EC3-A661-3EBE5C14D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3055792"/>
                <a:ext cx="6512133" cy="540000"/>
              </a:xfrm>
              <a:prstGeom prst="rect">
                <a:avLst/>
              </a:prstGeom>
              <a:blipFill>
                <a:blip r:embed="rId8"/>
                <a:stretch>
                  <a:fillRect l="-94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marL="118745" lvl="0" algn="l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b="1" dirty="0"/>
                  <a:t>Axiom :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𝐯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𝐖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blipFill>
                <a:blip r:embed="rId9"/>
                <a:stretch>
                  <a:fillRect l="-109" t="-6742" b="-3146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75027" y="3804455"/>
                <a:ext cx="290657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5027" y="3804455"/>
                <a:ext cx="2906571" cy="54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75027" y="4552373"/>
                <a:ext cx="257274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5027" y="4552373"/>
                <a:ext cx="2572744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5250838"/>
                <a:ext cx="3563007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So,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5250838"/>
                <a:ext cx="3563007" cy="540000"/>
              </a:xfrm>
              <a:prstGeom prst="rect">
                <a:avLst/>
              </a:prstGeom>
              <a:blipFill>
                <a:blip r:embed="rId12"/>
                <a:stretch>
                  <a:fillRect l="-171" t="-8989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4">
                <a:extLst>
                  <a:ext uri="{FF2B5EF4-FFF2-40B4-BE49-F238E27FC236}">
                    <a16:creationId xmlns:a16="http://schemas.microsoft.com/office/drawing/2014/main" id="{B001E28D-BE0A-AA4E-2AD9-91C5A098FD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3" y="5940383"/>
                <a:ext cx="484777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Hence,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is a subspace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.</a:t>
                </a:r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4">
                <a:extLst>
                  <a:ext uri="{FF2B5EF4-FFF2-40B4-BE49-F238E27FC236}">
                    <a16:creationId xmlns:a16="http://schemas.microsoft.com/office/drawing/2014/main" id="{B001E28D-BE0A-AA4E-2AD9-91C5A098FD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" y="5940383"/>
                <a:ext cx="4847773" cy="540000"/>
              </a:xfrm>
              <a:prstGeom prst="rect">
                <a:avLst/>
              </a:prstGeom>
              <a:blipFill>
                <a:blip r:embed="rId13"/>
                <a:stretch>
                  <a:fillRect l="-126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E5D244-4FC0-4547-9534-D792612D6093}"/>
                  </a:ext>
                </a:extLst>
              </p:cNvPr>
              <p:cNvSpPr txBox="1"/>
              <p:nvPr/>
            </p:nvSpPr>
            <p:spPr>
              <a:xfrm>
                <a:off x="5824259" y="2361787"/>
                <a:ext cx="450398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sz="2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d>
                        <m:dPr>
                          <m:ctrlPr>
                            <a:rPr kumimoji="0" lang="en-US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US" sz="2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k</m:t>
                          </m:r>
                          <m:sSub>
                            <m:sSubPr>
                              <m:ctrlPr>
                                <a:rPr kumimoji="0" lang="en-US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US" sz="2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x</m:t>
                              </m:r>
                            </m:e>
                            <m:sub>
                              <m:r>
                                <a:rPr kumimoji="0" lang="en-US" sz="2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US" sz="2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US" sz="2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x</m:t>
                              </m:r>
                            </m:e>
                            <m:sub>
                              <m:r>
                                <a:rPr kumimoji="0" lang="en-US" sz="2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r>
                            <a:rPr kumimoji="0" lang="en-US" sz="2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en-US" sz="2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k</m:t>
                          </m:r>
                          <m:sSub>
                            <m:sSubPr>
                              <m:ctrlPr>
                                <a:rPr kumimoji="0" lang="en-US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US" sz="2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y</m:t>
                              </m:r>
                            </m:e>
                            <m:sub>
                              <m:r>
                                <a:rPr kumimoji="0" lang="en-US" sz="2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US" sz="2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US" sz="2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y</m:t>
                              </m:r>
                            </m:e>
                            <m:sub>
                              <m:r>
                                <a:rPr kumimoji="0" lang="en-US" sz="2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E5D244-4FC0-4547-9534-D792612D60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259" y="2361787"/>
                <a:ext cx="4503988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0549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6" grpId="0"/>
      <p:bldP spid="14" grpId="0"/>
      <p:bldP spid="15" grpId="0"/>
      <p:bldP spid="18" grpId="0"/>
      <p:bldP spid="20" grpId="0"/>
      <p:bldP spid="21" grpId="0"/>
      <p:bldP spid="22" grpId="0"/>
      <p:bldP spid="3" grpId="0"/>
      <p:bldP spid="23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2381025"/>
                <a:ext cx="222716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2381025"/>
                <a:ext cx="2227160" cy="540000"/>
              </a:xfrm>
              <a:prstGeom prst="rect">
                <a:avLst/>
              </a:prstGeom>
              <a:blipFill>
                <a:blip r:embed="rId2"/>
                <a:stretch>
                  <a:fillRect l="-274"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Method:2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Example:1(continue) </a:t>
                </a:r>
                <a:r>
                  <a:rPr lang="en-IN" dirty="0">
                    <a:solidFill>
                      <a:srgbClr val="FF0000"/>
                    </a:solidFill>
                  </a:rPr>
                  <a:t>[ Alternate Method ]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76940" y="2434938"/>
                <a:ext cx="3637303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940" y="2434938"/>
                <a:ext cx="3637303" cy="5444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43" y="4567151"/>
                <a:ext cx="260902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3" y="4567151"/>
                <a:ext cx="2609028" cy="540000"/>
              </a:xfrm>
              <a:prstGeom prst="rect">
                <a:avLst/>
              </a:prstGeom>
              <a:blipFill>
                <a:blip r:embed="rId5"/>
                <a:stretch>
                  <a:fillRect l="-467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6"/>
          <a:srcRect b="13116"/>
          <a:stretch/>
        </p:blipFill>
        <p:spPr>
          <a:xfrm>
            <a:off x="7837152" y="850209"/>
            <a:ext cx="4255377" cy="6568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76939" y="3183601"/>
                <a:ext cx="3637305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939" y="3183601"/>
                <a:ext cx="3637305" cy="54446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32AF40C0-CB5C-4EC3-A661-3EBE5C14DA1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3877606"/>
                <a:ext cx="56151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b="1" dirty="0">
                    <a:solidFill>
                      <a:srgbClr val="FF0000"/>
                    </a:solidFill>
                    <a:latin typeface="+mj-lt"/>
                  </a:rPr>
                  <a:t>To show 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800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</m:t>
                    </m:r>
                    <m:d>
                      <m:d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d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32AF40C0-CB5C-4EC3-A661-3EBE5C14D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3877606"/>
                <a:ext cx="5615190" cy="540000"/>
              </a:xfrm>
              <a:prstGeom prst="rect">
                <a:avLst/>
              </a:prstGeom>
              <a:blipFill>
                <a:blip r:embed="rId8"/>
                <a:stretch>
                  <a:fillRect l="-109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1687020"/>
                <a:ext cx="561519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marL="118745" lvl="0" algn="l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b="1" dirty="0"/>
                  <a:t>Axiom :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𝐯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𝐖</m:t>
                    </m:r>
                  </m:oMath>
                </a14:m>
                <a:endParaRPr lang="en-US" b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1687020"/>
                <a:ext cx="5615190" cy="540000"/>
              </a:xfrm>
              <a:prstGeom prst="rect">
                <a:avLst/>
              </a:prstGeom>
              <a:blipFill>
                <a:blip r:embed="rId9"/>
                <a:stretch>
                  <a:fillRect l="-109" t="-6818" b="-329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043533" y="4626269"/>
                <a:ext cx="290657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3533" y="4626269"/>
                <a:ext cx="2906571" cy="54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043533" y="5374187"/>
                <a:ext cx="257274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3533" y="5374187"/>
                <a:ext cx="2572744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5850246"/>
                <a:ext cx="284480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So,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5850246"/>
                <a:ext cx="2844801" cy="540000"/>
              </a:xfrm>
              <a:prstGeom prst="rect">
                <a:avLst/>
              </a:prstGeom>
              <a:blipFill>
                <a:blip r:embed="rId12"/>
                <a:stretch>
                  <a:fillRect l="-214" t="-12500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4">
                <a:extLst>
                  <a:ext uri="{FF2B5EF4-FFF2-40B4-BE49-F238E27FC236}">
                    <a16:creationId xmlns:a16="http://schemas.microsoft.com/office/drawing/2014/main" id="{B001E28D-BE0A-AA4E-2AD9-91C5A098FD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9288" y="5850246"/>
                <a:ext cx="4901327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Hence,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is a subspace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.</a:t>
                </a:r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4">
                <a:extLst>
                  <a:ext uri="{FF2B5EF4-FFF2-40B4-BE49-F238E27FC236}">
                    <a16:creationId xmlns:a16="http://schemas.microsoft.com/office/drawing/2014/main" id="{B001E28D-BE0A-AA4E-2AD9-91C5A098FD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9288" y="5850246"/>
                <a:ext cx="4901327" cy="540000"/>
              </a:xfrm>
              <a:prstGeom prst="rect">
                <a:avLst/>
              </a:prstGeom>
              <a:blipFill>
                <a:blip r:embed="rId13"/>
                <a:stretch>
                  <a:fillRect l="-124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: Rounded Corners 37">
            <a:extLst>
              <a:ext uri="{FF2B5EF4-FFF2-40B4-BE49-F238E27FC236}">
                <a16:creationId xmlns:a16="http://schemas.microsoft.com/office/drawing/2014/main" id="{23999130-9AD4-44AB-92C0-19F9097507BD}"/>
              </a:ext>
            </a:extLst>
          </p:cNvPr>
          <p:cNvSpPr/>
          <p:nvPr/>
        </p:nvSpPr>
        <p:spPr>
          <a:xfrm>
            <a:off x="5780054" y="1716651"/>
            <a:ext cx="36000" cy="4680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5746" y="2410656"/>
                <a:ext cx="222716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5746" y="2410656"/>
                <a:ext cx="2227160" cy="540000"/>
              </a:xfrm>
              <a:prstGeom prst="rect">
                <a:avLst/>
              </a:prstGeom>
              <a:blipFill>
                <a:blip r:embed="rId14"/>
                <a:stretch>
                  <a:fillRect l="-548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83453" y="2464569"/>
                <a:ext cx="2652535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3453" y="2464569"/>
                <a:ext cx="2652535" cy="54446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9290" y="4596782"/>
                <a:ext cx="260902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9290" y="4596782"/>
                <a:ext cx="2609028" cy="540000"/>
              </a:xfrm>
              <a:prstGeom prst="rect">
                <a:avLst/>
              </a:prstGeom>
              <a:blipFill>
                <a:blip r:embed="rId16"/>
                <a:stretch>
                  <a:fillRect l="-234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83453" y="3166073"/>
                <a:ext cx="2098149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3453" y="3166073"/>
                <a:ext cx="2098149" cy="54446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32AF40C0-CB5C-4EC3-A661-3EBE5C14DA1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5746" y="3907237"/>
                <a:ext cx="561519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b="1" dirty="0">
                    <a:solidFill>
                      <a:srgbClr val="FF0000"/>
                    </a:solidFill>
                    <a:latin typeface="+mj-lt"/>
                  </a:rPr>
                  <a:t>To show :   </a:t>
                </a:r>
                <a14:m>
                  <m:oMath xmlns:m="http://schemas.openxmlformats.org/officeDocument/2006/math"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𝐤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</m:t>
                    </m:r>
                    <m:d>
                      <m:d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𝐤</m:t>
                        </m:r>
                        <m:sSub>
                          <m:sSubPr>
                            <m:ctrlP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2800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d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32AF40C0-CB5C-4EC3-A661-3EBE5C14D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5746" y="3907237"/>
                <a:ext cx="5615190" cy="540000"/>
              </a:xfrm>
              <a:prstGeom prst="rect">
                <a:avLst/>
              </a:prstGeom>
              <a:blipFill>
                <a:blip r:embed="rId18"/>
                <a:stretch>
                  <a:fillRect l="-217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5746" y="1716651"/>
                <a:ext cx="561519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marL="118745" lvl="0" algn="l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b="1" dirty="0"/>
                  <a:t>Axiom :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𝐖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5746" y="1716651"/>
                <a:ext cx="5615190" cy="540000"/>
              </a:xfrm>
              <a:prstGeom prst="rect">
                <a:avLst/>
              </a:prstGeom>
              <a:blipFill>
                <a:blip r:embed="rId19"/>
                <a:stretch>
                  <a:fillRect l="-217" t="-6818" b="-329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65374" y="4669811"/>
                <a:ext cx="380020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374" y="4669811"/>
                <a:ext cx="3800208" cy="54000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9290" y="5223514"/>
                <a:ext cx="284480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So,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9290" y="5223514"/>
                <a:ext cx="2844801" cy="540000"/>
              </a:xfrm>
              <a:prstGeom prst="rect">
                <a:avLst/>
              </a:prstGeom>
              <a:blipFill>
                <a:blip r:embed="rId21"/>
                <a:stretch>
                  <a:fillRect l="-214" t="-9091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" y="908618"/>
                <a:ext cx="6390527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Let us check 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 </a:t>
                </a: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and</a:t>
                </a:r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E2369E14-FB7F-439F-B8BC-3D00ED9E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" y="908618"/>
                <a:ext cx="6390527" cy="540000"/>
              </a:xfrm>
              <a:prstGeom prst="rect">
                <a:avLst/>
              </a:prstGeom>
              <a:blipFill>
                <a:blip r:embed="rId22"/>
                <a:stretch>
                  <a:fillRect l="-95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2522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6" grpId="0"/>
      <p:bldP spid="14" grpId="0"/>
      <p:bldP spid="15" grpId="0"/>
      <p:bldP spid="18" grpId="0"/>
      <p:bldP spid="19" grpId="0" animBg="1"/>
      <p:bldP spid="20" grpId="0"/>
      <p:bldP spid="21" grpId="0"/>
      <p:bldP spid="22" grpId="0"/>
      <p:bldP spid="3" grpId="0"/>
      <p:bldP spid="23" grpId="0" animBg="1"/>
      <p:bldP spid="24" grpId="0"/>
      <p:bldP spid="25" grpId="0"/>
      <p:bldP spid="26" grpId="0"/>
      <p:bldP spid="27" grpId="0"/>
      <p:bldP spid="28" grpId="0"/>
      <p:bldP spid="29" grpId="0" animBg="1"/>
      <p:bldP spid="30" grpId="0"/>
      <p:bldP spid="32" grpId="0"/>
      <p:bldP spid="3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E97E7-BE34-B24A-C202-D07D4E081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0497D1C-BF2C-D6F4-376C-C449FF44DF7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Method:2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0497D1C-BF2C-D6F4-376C-C449FF44DF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7BA75CBB-3BC9-DAD0-5BDA-FF215297FFDE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dirty="0">
              <a:solidFill>
                <a:schemeClr val="tx2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C791EE4-2C97-6EBA-75B2-A18AD54B79A9}"/>
              </a:ext>
            </a:extLst>
          </p:cNvPr>
          <p:cNvSpPr/>
          <p:nvPr/>
        </p:nvSpPr>
        <p:spPr>
          <a:xfrm>
            <a:off x="122278" y="1553815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3C55A250-EBDF-F579-F373-21026D42F3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04479" y="800834"/>
                <a:ext cx="9139721" cy="592338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3A4A6A"/>
                    </a:solidFill>
                  </a:rPr>
                  <a:t>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W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x</m:t>
                            </m:r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y</m:t>
                            </m:r>
                          </m:e>
                        </m:d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</m:t>
                    </m:r>
                    <m:sSup>
                      <m:sSup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</m:e>
                      <m:sup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p>
                    </m:sSup>
                    <m: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y</m:t>
                        </m:r>
                      </m:e>
                      <m:sup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p>
                    </m:sSup>
                    <m:r>
                      <a:rPr lang="en-IN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} </m:t>
                    </m:r>
                  </m:oMath>
                </a14:m>
                <a:r>
                  <a:rPr lang="en-US" sz="2800" dirty="0">
                    <a:solidFill>
                      <a:srgbClr val="3A4A6A"/>
                    </a:solidFill>
                  </a:rPr>
                  <a:t>is subspace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dirty="0">
                            <a:solidFill>
                              <a:srgbClr val="3A4A6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dirty="0">
                            <a:solidFill>
                              <a:srgbClr val="3A4A6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3A4A6A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dirty="0" smtClean="0">
                        <a:solidFill>
                          <a:srgbClr val="3A4A6A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0" i="0" dirty="0" smtClean="0">
                        <a:solidFill>
                          <a:srgbClr val="3A4A6A"/>
                        </a:solidFill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</a:t>
                </a:r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3C55A250-EBDF-F579-F373-21026D42F3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479" y="800834"/>
                <a:ext cx="9139721" cy="592338"/>
              </a:xfrm>
              <a:prstGeom prst="rect">
                <a:avLst/>
              </a:prstGeom>
              <a:blipFill>
                <a:blip r:embed="rId3"/>
                <a:stretch>
                  <a:fillRect l="-1333" b="-3469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822AF29-7BCA-274B-D268-A8B5A412E631}"/>
              </a:ext>
            </a:extLst>
          </p:cNvPr>
          <p:cNvSpPr/>
          <p:nvPr/>
        </p:nvSpPr>
        <p:spPr>
          <a:xfrm>
            <a:off x="122279" y="928675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978F76D2-263F-751B-140F-20DA276AC71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97" y="2101264"/>
                <a:ext cx="6512502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Here,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W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x</m:t>
                            </m:r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y</m:t>
                            </m:r>
                          </m:e>
                        </m:d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IN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</m:t>
                    </m:r>
                    <m:sSup>
                      <m:sSup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</m:e>
                      <m:sup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p>
                    </m:sSup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y</m:t>
                        </m:r>
                      </m:e>
                      <m:sup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p>
                    </m:sSup>
                    <m:r>
                      <a:rPr lang="en-IN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}</m:t>
                    </m:r>
                  </m:oMath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978F76D2-263F-751B-140F-20DA276AC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97" y="2101264"/>
                <a:ext cx="6512502" cy="544460"/>
              </a:xfrm>
              <a:prstGeom prst="rect">
                <a:avLst/>
              </a:prstGeom>
              <a:blipFill>
                <a:blip r:embed="rId4"/>
                <a:stretch>
                  <a:fillRect l="-187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01C879C0-1796-CD99-913A-EA0730C1ECE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6164" y="2821880"/>
                <a:ext cx="10878827" cy="19621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Binary Operations are defined as</a:t>
                </a:r>
              </a:p>
              <a:p>
                <a:pPr marL="990600" indent="-457200"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Vector Addition		:	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)+(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)=</m:t>
                    </m:r>
                    <m:d>
                      <m:d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</m:e>
                    </m:d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  <a:p>
                <a:pPr marL="990600" indent="-457200"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Scalar Multiplication	: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ka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kb</m:t>
                        </m:r>
                      </m:e>
                    </m:d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64" y="2821880"/>
                <a:ext cx="10878827" cy="1962116"/>
              </a:xfrm>
              <a:prstGeom prst="rect">
                <a:avLst/>
              </a:prstGeom>
              <a:blipFill>
                <a:blip r:embed="rId5"/>
                <a:stretch>
                  <a:fillRect l="-56" t="-3106" b="-838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F3D6D602-8FD9-701A-FBEC-0076A250859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6193" y="4871397"/>
                <a:ext cx="880110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   and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93" y="4871397"/>
                <a:ext cx="8801106" cy="540000"/>
              </a:xfrm>
              <a:prstGeom prst="rect">
                <a:avLst/>
              </a:prstGeom>
              <a:blipFill>
                <a:blip r:embed="rId6"/>
                <a:stretch>
                  <a:fillRect l="-69" t="-12360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2DF1F421-367C-EFD0-E37F-2AEA8B5C43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97" y="5498798"/>
                <a:ext cx="464022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bSup>
                      <m:sSubSup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</m:e>
                      <m:sub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  <m:sup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p>
                    </m:sSubSup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sSubSup>
                      <m:sSubSup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y</m:t>
                        </m:r>
                      </m:e>
                      <m:sub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  <m:sup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800" dirty="0">
                    <a:solidFill>
                      <a:srgbClr val="3A4A6A"/>
                    </a:solidFill>
                  </a:rPr>
                  <a:t>   and 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</m:e>
                      <m:sub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  <m:sup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p>
                    </m:sSubSup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sSubSup>
                      <m:sSubSup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y</m:t>
                        </m:r>
                      </m:e>
                      <m:sub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  <m:sup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2DF1F421-367C-EFD0-E37F-2AEA8B5C4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97" y="5498798"/>
                <a:ext cx="4640223" cy="540000"/>
              </a:xfrm>
              <a:prstGeom prst="rect">
                <a:avLst/>
              </a:prstGeom>
              <a:blipFill>
                <a:blip r:embed="rId7"/>
                <a:stretch>
                  <a:fillRect t="-5618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0816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1" grpId="0" animBg="1"/>
      <p:bldP spid="14" grpId="0"/>
      <p:bldP spid="17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61B61-1AEE-6A79-055F-E4BEDC78F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F0E3776A-673B-8FC3-6B58-62E1B539A93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" y="1559211"/>
                <a:ext cx="240295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F0E3776A-673B-8FC3-6B58-62E1B539A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" y="1559211"/>
                <a:ext cx="2402959" cy="540000"/>
              </a:xfrm>
              <a:prstGeom prst="rect">
                <a:avLst/>
              </a:prstGeom>
              <a:blipFill>
                <a:blip r:embed="rId2"/>
                <a:stretch>
                  <a:fillRect l="-254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71C3409-94BF-8645-B3D0-B5A4A6A93E5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Method:2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71C3409-94BF-8645-B3D0-B5A4A6A93E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574DBD0E-2101-0BAA-1C77-8780E4EC544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26740" y="1634390"/>
                <a:ext cx="3969260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574DBD0E-2101-0BAA-1C77-8780E4EC54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740" y="1634390"/>
                <a:ext cx="3969260" cy="5444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F42521B6-E504-73D2-66A8-6E7E430A3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42" y="3745337"/>
                <a:ext cx="302841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  <m:sSub>
                              <m:sSubPr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IN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IN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F42521B6-E504-73D2-66A8-6E7E430A3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2" y="3745337"/>
                <a:ext cx="3028415" cy="540000"/>
              </a:xfrm>
              <a:prstGeom prst="rect">
                <a:avLst/>
              </a:prstGeom>
              <a:blipFill>
                <a:blip r:embed="rId5"/>
                <a:stretch>
                  <a:fillRect l="-403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CA971112-8C16-A4D7-AF8E-A15F5C26AB2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26741" y="2301768"/>
                <a:ext cx="3761731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CA971112-8C16-A4D7-AF8E-A15F5C26A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741" y="2301768"/>
                <a:ext cx="3761731" cy="54446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8FD5F866-DD65-48DA-7C4D-00368BAB75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3055792"/>
                <a:ext cx="651213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b="1" dirty="0">
                    <a:solidFill>
                      <a:srgbClr val="FF0000"/>
                    </a:solidFill>
                    <a:latin typeface="+mj-lt"/>
                  </a:rPr>
                  <a:t>To show :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1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𝐤</m:t>
                            </m:r>
                            <m:sSub>
                              <m:sSubPr>
                                <m:ctrlPr>
                                  <a:rPr lang="en-US" sz="28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b="1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  <m:sub>
                                <m:r>
                                  <a:rPr lang="en-US" sz="2800" b="1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28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b="1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  <m:sub>
                                <m:r>
                                  <a:rPr lang="en-US" sz="2800" b="1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IN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IN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𝐤</m:t>
                            </m:r>
                            <m:sSub>
                              <m:sSubPr>
                                <m:ctrlPr>
                                  <a:rPr lang="en-IN" sz="2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sz="2800" b="1" i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a:rPr lang="en-US" sz="2800" b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  <m:r>
                              <a:rPr lang="en-US" sz="2800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IN" sz="2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sz="2800" b="1" i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a:rPr lang="en-US" sz="2800" b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8FD5F866-DD65-48DA-7C4D-00368BAB7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3055792"/>
                <a:ext cx="6512133" cy="540000"/>
              </a:xfrm>
              <a:prstGeom prst="rect">
                <a:avLst/>
              </a:prstGeom>
              <a:blipFill>
                <a:blip r:embed="rId8"/>
                <a:stretch>
                  <a:fillRect l="-94" t="-4494" b="-33708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9DD73434-C6FB-9227-96E0-9061495D94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marL="118745" lvl="0" algn="l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b="1" dirty="0"/>
                  <a:t>Axiom :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𝐯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𝐖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9DD73434-C6FB-9227-96E0-9061495D94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blipFill>
                <a:blip r:embed="rId9"/>
                <a:stretch>
                  <a:fillRect l="-109" t="-6742" b="-3146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B162C4C7-8A82-99CC-6694-E338FBE61AE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27410" y="3804455"/>
                <a:ext cx="402952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p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</m:e>
                        <m:sub>
                          <m:r>
                            <a:rPr lang="en-IN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1</m:t>
                          </m:r>
                        </m:sub>
                        <m:sup>
                          <m:r>
                            <a:rPr lang="en-IN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</m:sup>
                      </m:sSubSup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+2 </m:t>
                      </m:r>
                      <m:r>
                        <m:rPr>
                          <m:sty m:val="p"/>
                        </m:rP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k</m:t>
                      </m:r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</m:sub>
                        <m:sup>
                          <m:r>
                            <a:rPr lang="en-IN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B162C4C7-8A82-99CC-6694-E338FBE61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7410" y="3804455"/>
                <a:ext cx="4029524" cy="54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9F64DA90-2029-052B-C31B-23C122C459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27412" y="4552373"/>
                <a:ext cx="402952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p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y</m:t>
                          </m:r>
                        </m:e>
                        <m:sub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1</m:t>
                          </m:r>
                        </m:sub>
                        <m:sup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</m:sup>
                      </m:sSubSup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−</m:t>
                      </m:r>
                      <m: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2 </m:t>
                      </m:r>
                      <m:r>
                        <m:rPr>
                          <m:sty m:val="p"/>
                        </m:rP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k</m:t>
                      </m:r>
                      <m: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y</m:t>
                          </m:r>
                        </m:e>
                        <m:sub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 </m:t>
                      </m:r>
                      <m:sSub>
                        <m:sSub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y</m:t>
                          </m:r>
                        </m:e>
                        <m:sub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y</m:t>
                          </m:r>
                        </m:e>
                        <m:sub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</m:sub>
                        <m:sup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9F64DA90-2029-052B-C31B-23C122C45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7412" y="4552373"/>
                <a:ext cx="4029521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20AB93E0-58E6-1863-1486-4C73EF3D522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5958214"/>
                <a:ext cx="284480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So,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nor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IN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20AB93E0-58E6-1863-1486-4C73EF3D52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958214"/>
                <a:ext cx="2844801" cy="540000"/>
              </a:xfrm>
              <a:prstGeom prst="rect">
                <a:avLst/>
              </a:prstGeom>
              <a:blipFill>
                <a:blip r:embed="rId12"/>
                <a:stretch>
                  <a:fillRect l="-214" t="-8989" r="-2570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FA25C2A-C960-3FB4-3F0D-F2D435CA643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41972" y="4552372"/>
                <a:ext cx="5650028" cy="54000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00000"/>
                  </a:lnSpc>
                  <a:spcAft>
                    <a:spcPts val="800"/>
                  </a:spcAft>
                  <a:buNone/>
                </a:pPr>
                <a:r>
                  <a:rPr lang="en-IN" sz="2800" b="1" dirty="0">
                    <a:solidFill>
                      <a:srgbClr val="FF0000"/>
                    </a:solidFill>
                    <a:latin typeface="+mj-lt"/>
                  </a:rPr>
                  <a:t>[ By assuming,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IN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IN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IN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IN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IN" sz="2800" b="1" dirty="0">
                    <a:solidFill>
                      <a:srgbClr val="FF0000"/>
                    </a:solidFill>
                    <a:latin typeface="+mj-lt"/>
                  </a:rPr>
                  <a:t> &amp;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IN" sz="2800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IN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IN" sz="2800" b="1" dirty="0">
                    <a:solidFill>
                      <a:srgbClr val="FF0000"/>
                    </a:solidFill>
                    <a:latin typeface="+mj-lt"/>
                  </a:rPr>
                  <a:t> ]</a:t>
                </a:r>
                <a:endParaRPr lang="en-US" sz="2800" b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FA25C2A-C960-3FB4-3F0D-F2D435CA64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1972" y="4552372"/>
                <a:ext cx="5650028" cy="540001"/>
              </a:xfrm>
              <a:prstGeom prst="rect">
                <a:avLst/>
              </a:prstGeom>
              <a:blipFill>
                <a:blip r:embed="rId13"/>
                <a:stretch>
                  <a:fillRect l="-108" t="-9091" r="-1834" b="-31818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Picture 22">
            <a:extLst>
              <a:ext uri="{FF2B5EF4-FFF2-40B4-BE49-F238E27FC236}">
                <a16:creationId xmlns:a16="http://schemas.microsoft.com/office/drawing/2014/main" id="{B3DC156E-A5F4-299E-27D5-43BFF1455305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b="15649"/>
          <a:stretch>
            <a:fillRect/>
          </a:stretch>
        </p:blipFill>
        <p:spPr>
          <a:xfrm>
            <a:off x="7884036" y="755876"/>
            <a:ext cx="4208904" cy="7112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E7B0A4A-D560-2DB0-2077-92D3522696A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84035" y="1449600"/>
            <a:ext cx="4208903" cy="25350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26CC8D69-78B8-65A6-C2EC-645D1661B18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27410" y="5300290"/>
                <a:ext cx="250560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sSub>
                                <m:sSubPr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26CC8D69-78B8-65A6-C2EC-645D1661B1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7410" y="5300290"/>
                <a:ext cx="2505602" cy="54000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B390A581-B973-B496-95D2-820AB653B4C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71059" y="5300290"/>
                <a:ext cx="250560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≠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sSub>
                                <m:sSubPr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en-US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B390A581-B973-B496-95D2-820AB653B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1059" y="5300290"/>
                <a:ext cx="2505602" cy="54000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FE265B56-1542-183A-D544-98C27506B76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4801" y="5977192"/>
                <a:ext cx="540080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Hence,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is </a:t>
                </a:r>
                <a:r>
                  <a:rPr lang="en-US" sz="2800" b="1" i="0" dirty="0">
                    <a:solidFill>
                      <a:srgbClr val="FF0000"/>
                    </a:solidFill>
                    <a:latin typeface="+mj-lt"/>
                  </a:rPr>
                  <a:t>not</a:t>
                </a: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 a subspace </a:t>
                </a:r>
                <a:r>
                  <a:rPr lang="en-US" sz="2800" dirty="0">
                    <a:solidFill>
                      <a:srgbClr val="3A4A6A"/>
                    </a:solidFill>
                  </a:rPr>
                  <a:t>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dirty="0">
                            <a:solidFill>
                              <a:srgbClr val="3A4A6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dirty="0">
                            <a:solidFill>
                              <a:srgbClr val="3A4A6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3A4A6A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.</a:t>
                </a:r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FE265B56-1542-183A-D544-98C27506B7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4801" y="5977192"/>
                <a:ext cx="5400802" cy="540000"/>
              </a:xfrm>
              <a:prstGeom prst="rect">
                <a:avLst/>
              </a:prstGeom>
              <a:blipFill>
                <a:blip r:embed="rId20"/>
                <a:stretch>
                  <a:fillRect l="-226" t="-7955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8363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6" grpId="0"/>
      <p:bldP spid="14" grpId="0"/>
      <p:bldP spid="15" grpId="0"/>
      <p:bldP spid="18" grpId="0"/>
      <p:bldP spid="20" grpId="0"/>
      <p:bldP spid="21" grpId="0"/>
      <p:bldP spid="22" grpId="0"/>
      <p:bldP spid="5" grpId="0"/>
      <p:bldP spid="28" grpId="0"/>
      <p:bldP spid="29" grpId="0"/>
      <p:bldP spid="30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E97E7-BE34-B24A-C202-D07D4E081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0497D1C-BF2C-D6F4-376C-C449FF44DF7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Method:2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Example:2(continue)</a:t>
                </a:r>
                <a:r>
                  <a:rPr lang="en-IN" dirty="0">
                    <a:solidFill>
                      <a:srgbClr val="FF0000"/>
                    </a:solidFill>
                  </a:rPr>
                  <a:t> [ Alternate Method ]</a:t>
                </a:r>
                <a:endParaRPr lang="en-IN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0497D1C-BF2C-D6F4-376C-C449FF44DF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7BA75CBB-3BC9-DAD0-5BDA-FF215297FFDE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dirty="0">
              <a:solidFill>
                <a:schemeClr val="tx2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C791EE4-2C97-6EBA-75B2-A18AD54B79A9}"/>
              </a:ext>
            </a:extLst>
          </p:cNvPr>
          <p:cNvSpPr/>
          <p:nvPr/>
        </p:nvSpPr>
        <p:spPr>
          <a:xfrm>
            <a:off x="122278" y="1521916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3C55A250-EBDF-F579-F373-21026D42F3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04479" y="800834"/>
                <a:ext cx="9139721" cy="592338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Prove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W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x</m:t>
                            </m:r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y</m:t>
                            </m:r>
                          </m:e>
                        </m:d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</m:t>
                    </m:r>
                    <m:sSup>
                      <m:sSup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</m:e>
                      <m:sup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p>
                    </m:sSup>
                    <m: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y</m:t>
                        </m:r>
                      </m:e>
                      <m:sup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p>
                    </m:sSup>
                    <m:r>
                      <a:rPr lang="en-IN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}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is subspace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</a:t>
                </a:r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3C55A250-EBDF-F579-F373-21026D42F3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479" y="800834"/>
                <a:ext cx="9139721" cy="592338"/>
              </a:xfrm>
              <a:prstGeom prst="rect">
                <a:avLst/>
              </a:prstGeom>
              <a:blipFill>
                <a:blip r:embed="rId3"/>
                <a:stretch>
                  <a:fillRect l="-1333" b="-3469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822AF29-7BCA-274B-D268-A8B5A412E631}"/>
              </a:ext>
            </a:extLst>
          </p:cNvPr>
          <p:cNvSpPr/>
          <p:nvPr/>
        </p:nvSpPr>
        <p:spPr>
          <a:xfrm>
            <a:off x="122279" y="907409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978F76D2-263F-751B-140F-20DA276AC71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93624" y="1467887"/>
                <a:ext cx="4680715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Here,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W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x</m:t>
                            </m:r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y</m:t>
                            </m:r>
                          </m:e>
                        </m:d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IN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</m:t>
                    </m:r>
                    <m:sSup>
                      <m:sSup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</m:e>
                      <m:sup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p>
                    </m:sSup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y</m:t>
                        </m:r>
                      </m:e>
                      <m:sup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p>
                    </m:sSup>
                    <m:r>
                      <a:rPr lang="en-IN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}</m:t>
                    </m:r>
                  </m:oMath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978F76D2-263F-751B-140F-20DA276AC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3624" y="1467887"/>
                <a:ext cx="4680715" cy="544460"/>
              </a:xfrm>
              <a:prstGeom prst="rect">
                <a:avLst/>
              </a:prstGeom>
              <a:blipFill>
                <a:blip r:embed="rId4"/>
                <a:stretch>
                  <a:fillRect l="-130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01C879C0-1796-CD99-913A-EA0730C1ECE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6164" y="2109189"/>
                <a:ext cx="10878827" cy="19621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Binary Operations are defined as</a:t>
                </a:r>
              </a:p>
              <a:p>
                <a:pPr marL="990600" indent="-457200"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Vector Addition		:	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)+(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)=</m:t>
                    </m:r>
                    <m:d>
                      <m:d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</m:e>
                    </m:d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  <a:p>
                <a:pPr marL="990600" indent="-457200"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Scalar Multiplication	: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ka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kb</m:t>
                        </m:r>
                      </m:e>
                    </m:d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01C879C0-1796-CD99-913A-EA0730C1EC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64" y="2109189"/>
                <a:ext cx="10878827" cy="1962116"/>
              </a:xfrm>
              <a:prstGeom prst="rect">
                <a:avLst/>
              </a:prstGeom>
              <a:blipFill>
                <a:blip r:embed="rId5"/>
                <a:stretch>
                  <a:fillRect l="-56" t="-2484" b="-9317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F3D6D602-8FD9-701A-FBEC-0076A250859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884" y="4155729"/>
                <a:ext cx="500679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1, 1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F3D6D602-8FD9-701A-FBEC-0076A25085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84" y="4155729"/>
                <a:ext cx="5006795" cy="540000"/>
              </a:xfrm>
              <a:prstGeom prst="rect">
                <a:avLst/>
              </a:prstGeom>
              <a:blipFill>
                <a:blip r:embed="rId6"/>
                <a:stretch>
                  <a:fillRect l="-122" t="-9091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2DF1F421-367C-EFD0-E37F-2AEA8B5C43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8788" y="4783130"/>
                <a:ext cx="192406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u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v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2DF1F421-367C-EFD0-E37F-2AEA8B5C4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88" y="4783130"/>
                <a:ext cx="1924068" cy="540000"/>
              </a:xfrm>
              <a:prstGeom prst="rect">
                <a:avLst/>
              </a:prstGeom>
              <a:blipFill>
                <a:blip r:embed="rId7"/>
                <a:stretch>
                  <a:fillRect l="-316" t="-10227" b="-2954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2DF1F421-367C-EFD0-E37F-2AEA8B5C43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99360" y="4840726"/>
                <a:ext cx="301515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2DF1F421-367C-EFD0-E37F-2AEA8B5C4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9360" y="4840726"/>
                <a:ext cx="3015155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2DF1F421-367C-EFD0-E37F-2AEA8B5C43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99359" y="5525723"/>
                <a:ext cx="156130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2DF1F421-367C-EFD0-E37F-2AEA8B5C4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9359" y="5525723"/>
                <a:ext cx="1561308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2DF1F421-367C-EFD0-E37F-2AEA8B5C43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082880" y="5525723"/>
                <a:ext cx="84413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∉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W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2DF1F421-367C-EFD0-E37F-2AEA8B5C4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2880" y="5525723"/>
                <a:ext cx="844133" cy="540000"/>
              </a:xfrm>
              <a:prstGeom prst="rect">
                <a:avLst/>
              </a:prstGeom>
              <a:blipFill>
                <a:blip r:embed="rId13"/>
                <a:stretch>
                  <a:fillRect r="-2899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BFA25C2A-C960-3FB4-3F0D-F2D435CA643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60858" y="5469293"/>
                <a:ext cx="2300897" cy="54000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00000"/>
                  </a:lnSpc>
                  <a:spcAft>
                    <a:spcPts val="800"/>
                  </a:spcAft>
                  <a:buNone/>
                </a:pPr>
                <a:r>
                  <a:rPr lang="en-IN" sz="2800" b="1" dirty="0">
                    <a:solidFill>
                      <a:srgbClr val="FF0000"/>
                    </a:solidFill>
                    <a:latin typeface="+mj-lt"/>
                  </a:rPr>
                  <a:t>[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∵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IN" sz="2800" b="1" dirty="0">
                    <a:solidFill>
                      <a:srgbClr val="FF0000"/>
                    </a:solidFill>
                    <a:latin typeface="+mj-lt"/>
                  </a:rPr>
                  <a:t> ]</a:t>
                </a:r>
                <a:endParaRPr lang="en-US" sz="2800" b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BFA25C2A-C960-3FB4-3F0D-F2D435CA64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0858" y="5469293"/>
                <a:ext cx="2300897" cy="540001"/>
              </a:xfrm>
              <a:prstGeom prst="rect">
                <a:avLst/>
              </a:prstGeom>
              <a:blipFill>
                <a:blip r:embed="rId14"/>
                <a:stretch>
                  <a:fillRect l="-265" t="-7865" b="-30337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3D4FA6A2-4536-95D8-ED58-8F435F82D6B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6043874"/>
                <a:ext cx="328546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So,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3D4FA6A2-4536-95D8-ED58-8F435F82D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6043874"/>
                <a:ext cx="3285460" cy="540000"/>
              </a:xfrm>
              <a:prstGeom prst="rect">
                <a:avLst/>
              </a:prstGeom>
              <a:blipFill>
                <a:blip r:embed="rId15"/>
                <a:stretch>
                  <a:fillRect l="-186" t="-8989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7E7936FE-EC87-27C6-1C46-F4060965A2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49050" y="6039688"/>
                <a:ext cx="549118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Hence,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2800" dirty="0">
                    <a:solidFill>
                      <a:srgbClr val="002060"/>
                    </a:solidFill>
                  </a:rPr>
                  <a:t>is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not</a:t>
                </a:r>
                <a:r>
                  <a:rPr lang="en-US" sz="2800" dirty="0">
                    <a:solidFill>
                      <a:srgbClr val="002060"/>
                    </a:solidFill>
                  </a:rPr>
                  <a:t> a subspace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.</a:t>
                </a:r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7E7936FE-EC87-27C6-1C46-F4060965A2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9050" y="6039688"/>
                <a:ext cx="5491186" cy="540000"/>
              </a:xfrm>
              <a:prstGeom prst="rect">
                <a:avLst/>
              </a:prstGeom>
              <a:blipFill>
                <a:blip r:embed="rId16"/>
                <a:stretch>
                  <a:fillRect l="-222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2556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1" grpId="0"/>
      <p:bldP spid="14" grpId="0"/>
      <p:bldP spid="17" grpId="0"/>
      <p:bldP spid="15" grpId="0"/>
      <p:bldP spid="19" grpId="0"/>
      <p:bldP spid="20" grpId="0"/>
      <p:bldP spid="21" grpId="0"/>
      <p:bldP spid="23" grpId="0"/>
      <p:bldP spid="2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28A30-9F9C-CCB2-2562-56A11DFE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7F65214-8FF1-7C84-B79D-5B5772FA806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Method:2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Example:3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7F65214-8FF1-7C84-B79D-5B5772FA80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68F927D4-0E0F-E941-618B-19DA352EEF01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dirty="0">
              <a:solidFill>
                <a:schemeClr val="tx2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0BE686F-F0FA-AFFB-8B43-31E8EF4A8C8C}"/>
              </a:ext>
            </a:extLst>
          </p:cNvPr>
          <p:cNvSpPr/>
          <p:nvPr/>
        </p:nvSpPr>
        <p:spPr>
          <a:xfrm>
            <a:off x="122278" y="1983250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A5AEA378-7336-7681-D0DA-1B236F69716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04480" y="800834"/>
                <a:ext cx="10465242" cy="112427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Check whether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m:rPr>
                                <m:sty m:val="p"/>
                              </m:rP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m:rPr>
                                <m:sty m:val="p"/>
                              </m:rP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</m:d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/ 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ax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by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cz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a subspace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or not?</a:t>
                </a:r>
                <a:endParaRPr lang="en-IN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A5AEA378-7336-7681-D0DA-1B236F6971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480" y="800834"/>
                <a:ext cx="10465242" cy="1124274"/>
              </a:xfrm>
              <a:prstGeom prst="rect">
                <a:avLst/>
              </a:prstGeom>
              <a:blipFill>
                <a:blip r:embed="rId3"/>
                <a:stretch>
                  <a:fillRect l="-1165" t="-541" b="-2324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2BAEB38-1604-6D67-83DE-97158C5606B3}"/>
              </a:ext>
            </a:extLst>
          </p:cNvPr>
          <p:cNvSpPr/>
          <p:nvPr/>
        </p:nvSpPr>
        <p:spPr>
          <a:xfrm>
            <a:off x="122279" y="875510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00294356-7D18-0DB2-449E-F8B3F48A182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97" y="2583864"/>
                <a:ext cx="6512502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Here,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W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m:rPr>
                                <m:sty m:val="p"/>
                              </m:rP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m:rPr>
                                <m:sty m:val="p"/>
                              </m:rP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</m:d>
                        <m: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/ 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ax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by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cz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d>
                  </m:oMath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00294356-7D18-0DB2-449E-F8B3F48A1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97" y="2583864"/>
                <a:ext cx="6512502" cy="544460"/>
              </a:xfrm>
              <a:prstGeom prst="rect">
                <a:avLst/>
              </a:prstGeom>
              <a:blipFill>
                <a:blip r:embed="rId4"/>
                <a:stretch>
                  <a:fillRect l="-187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05427B71-A300-E0DE-2C06-4A6CD120201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6163" y="3304480"/>
                <a:ext cx="11993558" cy="19621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Binary Operations are defined as</a:t>
                </a:r>
              </a:p>
              <a:p>
                <a:pPr marL="990600" indent="-457200"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Vector Addition		:	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IN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IN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)+(</m:t>
                    </m:r>
                    <m:r>
                      <m:rPr>
                        <m:sty m:val="p"/>
                      </m:rPr>
                      <a:rPr lang="en-IN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IN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IN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IN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f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)=</m:t>
                    </m:r>
                    <m:d>
                      <m:d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IN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IN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  <m:r>
                          <a:rPr lang="en-IN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IN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IN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IN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</m:d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  <a:p>
                <a:pPr marL="990600" indent="-457200"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Scalar Multiplication	: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IN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IN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ka</m:t>
                        </m:r>
                        <m: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kb</m:t>
                        </m:r>
                        <m:r>
                          <a:rPr lang="en-IN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en-IN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05427B71-A300-E0DE-2C06-4A6CD12020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63" y="3304480"/>
                <a:ext cx="11993558" cy="1962116"/>
              </a:xfrm>
              <a:prstGeom prst="rect">
                <a:avLst/>
              </a:prstGeom>
              <a:blipFill>
                <a:blip r:embed="rId5"/>
                <a:stretch>
                  <a:fillRect l="-51" t="-2174" b="-9317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A5F3DFD5-C6B8-3192-D7EE-CF497B81A8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6193" y="5353997"/>
                <a:ext cx="880110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IN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IN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   and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A5F3DFD5-C6B8-3192-D7EE-CF497B81A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93" y="5353997"/>
                <a:ext cx="8801106" cy="540000"/>
              </a:xfrm>
              <a:prstGeom prst="rect">
                <a:avLst/>
              </a:prstGeom>
              <a:blipFill>
                <a:blip r:embed="rId6"/>
                <a:stretch>
                  <a:fillRect l="-69" t="-8989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89BC98C2-0C25-83A7-7317-0AE96E1514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96" y="5981398"/>
                <a:ext cx="840413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ax</m:t>
                        </m:r>
                      </m:e>
                      <m:sub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by</m:t>
                        </m:r>
                      </m:e>
                      <m:sub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cz</m:t>
                        </m:r>
                      </m:e>
                      <m:sub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 and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ax</m:t>
                        </m:r>
                      </m:e>
                      <m:sub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by</m:t>
                        </m:r>
                      </m:e>
                      <m:sub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cz</m:t>
                        </m:r>
                      </m:e>
                      <m:sub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89BC98C2-0C25-83A7-7317-0AE96E1514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96" y="5981398"/>
                <a:ext cx="8404135" cy="540000"/>
              </a:xfrm>
              <a:prstGeom prst="rect">
                <a:avLst/>
              </a:prstGeom>
              <a:blipFill>
                <a:blip r:embed="rId7"/>
                <a:stretch>
                  <a:fillRect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6797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1" grpId="0"/>
      <p:bldP spid="14" grpId="0"/>
      <p:bldP spid="17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A9C9A-DB85-C609-DBFB-F4AC08220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5ABA484-D2FF-87B3-102A-24F3FB7ADD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076" y="806601"/>
            <a:ext cx="3401863" cy="12436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E4C665BA-57CF-5451-648D-7C9C1890836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" y="1559211"/>
                <a:ext cx="266877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E4C665BA-57CF-5451-648D-7C9C18908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" y="1559211"/>
                <a:ext cx="2668773" cy="540000"/>
              </a:xfrm>
              <a:prstGeom prst="rect">
                <a:avLst/>
              </a:prstGeom>
              <a:blipFill>
                <a:blip r:embed="rId3"/>
                <a:stretch>
                  <a:fillRect l="-228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32E79DB-A6B0-384A-EC1C-D960DC85A1C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Method:2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Example:3(continue)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32E79DB-A6B0-384A-EC1C-D960DC85A1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C82FBEED-B847-C89F-1D60-94FBE288B6F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16110" y="1613124"/>
                <a:ext cx="4664216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C82FBEED-B847-C89F-1D60-94FBE288B6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6110" y="1613124"/>
                <a:ext cx="4664216" cy="544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8F70D48A-BABB-4984-0E18-1BC7F972FD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41" y="3745337"/>
                <a:ext cx="737206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IN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IN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IN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IN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8F70D48A-BABB-4984-0E18-1BC7F972F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1" y="3745337"/>
                <a:ext cx="7372069" cy="540000"/>
              </a:xfrm>
              <a:prstGeom prst="rect">
                <a:avLst/>
              </a:prstGeom>
              <a:blipFill>
                <a:blip r:embed="rId6"/>
                <a:stretch>
                  <a:fillRect l="-165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ED931027-FFC8-B682-272D-5B98F55AF66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16110" y="2361787"/>
                <a:ext cx="5108715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ED931027-FFC8-B682-272D-5B98F55AF6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6110" y="2361787"/>
                <a:ext cx="5108715" cy="54446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AF84CE8F-E527-AAF2-3148-D9A81E9BA07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" y="3055792"/>
                <a:ext cx="951387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b="1" dirty="0">
                    <a:solidFill>
                      <a:srgbClr val="FF0000"/>
                    </a:solidFill>
                    <a:latin typeface="+mj-lt"/>
                  </a:rPr>
                  <a:t>To show :   </a:t>
                </a:r>
                <a14:m>
                  <m:oMath xmlns:m="http://schemas.openxmlformats.org/officeDocument/2006/math">
                    <m:r>
                      <a:rPr lang="en-IN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𝐤</m:t>
                        </m:r>
                        <m:sSub>
                          <m:sSubPr>
                            <m:ctrlP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d>
                    <m:r>
                      <a:rPr lang="en-IN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IN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𝐛</m:t>
                    </m:r>
                    <m:d>
                      <m:d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𝐤</m:t>
                        </m:r>
                        <m:sSub>
                          <m:sSubPr>
                            <m:ctrlP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d>
                    <m:r>
                      <a:rPr lang="en-IN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𝐜</m:t>
                    </m:r>
                    <m:d>
                      <m:d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𝐤</m:t>
                        </m:r>
                        <m:sSub>
                          <m:sSubPr>
                            <m:ctrlPr>
                              <a:rPr lang="en-IN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𝐳</m:t>
                            </m:r>
                          </m:e>
                          <m:sub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IN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𝐳</m:t>
                            </m:r>
                          </m:e>
                          <m:sub>
                            <m:r>
                              <a:rPr lang="en-US" sz="2800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d>
                    <m:r>
                      <a:rPr lang="en-IN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IN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AF84CE8F-E527-AAF2-3148-D9A81E9BA0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" y="3055792"/>
                <a:ext cx="9513874" cy="540000"/>
              </a:xfrm>
              <a:prstGeom prst="rect">
                <a:avLst/>
              </a:prstGeom>
              <a:blipFill>
                <a:blip r:embed="rId8"/>
                <a:stretch>
                  <a:fillRect l="-64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A01E423D-AE9F-3F28-6697-8D85DD12835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marL="118745" lvl="0" algn="l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b="1" dirty="0"/>
                  <a:t>Axiom :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𝐯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𝐖</m:t>
                    </m:r>
                  </m:oMath>
                </a14:m>
                <a:endParaRPr lang="en-US" b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A01E423D-AE9F-3F28-6697-8D85DD1283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blipFill>
                <a:blip r:embed="rId9"/>
                <a:stretch>
                  <a:fillRect l="-109" t="-6742" b="-3146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6C0705E2-CC93-FA7F-DA27-D66E0C395D6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3192" y="4443802"/>
                <a:ext cx="650340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IN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IN" sz="2800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N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IN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bk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en-US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N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IN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ck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6C0705E2-CC93-FA7F-DA27-D66E0C395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192" y="4443802"/>
                <a:ext cx="6503406" cy="54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36808058-3EC5-3579-9AAA-82B4418ED0D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4684" y="5114310"/>
                <a:ext cx="367978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ax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by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cz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36808058-3EC5-3579-9AAA-82B4418ED0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684" y="5114310"/>
                <a:ext cx="3679789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3D4FA6A2-4536-95D8-ED58-8F435F82D6B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5802574"/>
                <a:ext cx="3174858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So,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3D4FA6A2-4536-95D8-ED58-8F435F82D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5802574"/>
                <a:ext cx="3174858" cy="540000"/>
              </a:xfrm>
              <a:prstGeom prst="rect">
                <a:avLst/>
              </a:prstGeom>
              <a:blipFill>
                <a:blip r:embed="rId12"/>
                <a:stretch>
                  <a:fillRect l="-192" t="-9091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BD5AAA56-83F2-3198-8C2E-276620C745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93182" y="5111873"/>
                <a:ext cx="329215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r>
                        <m:rPr>
                          <m:sty m:val="p"/>
                        </m:rP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BD5AAA56-83F2-3198-8C2E-276620C74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3182" y="5111873"/>
                <a:ext cx="3292154" cy="5400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466EBE5D-E480-300A-2541-C35A347E8F0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35104" y="5101290"/>
                <a:ext cx="82681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466EBE5D-E480-300A-2541-C35A347E8F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5104" y="5101290"/>
                <a:ext cx="826815" cy="5400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7E7936FE-EC87-27C6-1C46-F4060965A2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70317" y="5798388"/>
                <a:ext cx="521473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Hence,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is a subspace </a:t>
                </a:r>
                <a:r>
                  <a:rPr lang="en-US" sz="2800" dirty="0">
                    <a:solidFill>
                      <a:srgbClr val="002060"/>
                    </a:solidFill>
                  </a:rPr>
                  <a:t>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.</a:t>
                </a:r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7E7936FE-EC87-27C6-1C46-F4060965A2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0317" y="5798388"/>
                <a:ext cx="5214739" cy="540000"/>
              </a:xfrm>
              <a:prstGeom prst="rect">
                <a:avLst/>
              </a:prstGeom>
              <a:blipFill>
                <a:blip r:embed="rId17"/>
                <a:stretch>
                  <a:fillRect l="-117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9A4DA9E-4078-B405-C9E3-E663D6905D7C}"/>
              </a:ext>
            </a:extLst>
          </p:cNvPr>
          <p:cNvCxnSpPr/>
          <p:nvPr/>
        </p:nvCxnSpPr>
        <p:spPr>
          <a:xfrm>
            <a:off x="1119876" y="4967378"/>
            <a:ext cx="7200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655847-7F2C-EB09-F3EF-531EAEB2A454}"/>
              </a:ext>
            </a:extLst>
          </p:cNvPr>
          <p:cNvCxnSpPr/>
          <p:nvPr/>
        </p:nvCxnSpPr>
        <p:spPr>
          <a:xfrm>
            <a:off x="3174858" y="4967378"/>
            <a:ext cx="7200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61C0989-71BD-1F3F-5762-77023538FA85}"/>
              </a:ext>
            </a:extLst>
          </p:cNvPr>
          <p:cNvCxnSpPr/>
          <p:nvPr/>
        </p:nvCxnSpPr>
        <p:spPr>
          <a:xfrm>
            <a:off x="5291864" y="4967924"/>
            <a:ext cx="7200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44C125B2-BD10-4409-A683-7D048FADC07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20863" y="5107687"/>
                <a:ext cx="225950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+0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44C125B2-BD10-4409-A683-7D048FADC0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0863" y="5107687"/>
                <a:ext cx="2259506" cy="54000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0470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6" grpId="0"/>
      <p:bldP spid="14" grpId="0"/>
      <p:bldP spid="15" grpId="0"/>
      <p:bldP spid="18" grpId="0"/>
      <p:bldP spid="20" grpId="0"/>
      <p:bldP spid="21" grpId="0"/>
      <p:bldP spid="22" grpId="0"/>
      <p:bldP spid="28" grpId="0"/>
      <p:bldP spid="29" grpId="0"/>
      <p:bldP spid="30" grpId="0"/>
      <p:bldP spid="2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D6824-A87F-7DBB-7757-D9C453529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ABF43AA-D4D8-E164-3107-115656B7EA7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Method:2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Example:4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ABF43AA-D4D8-E164-3107-115656B7EA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315C5BC5-8B35-1FF8-7371-9FEEFC96D666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dirty="0">
              <a:solidFill>
                <a:schemeClr val="tx2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2F3A2FF-0D79-2136-CBB5-EE2ECCF5F124}"/>
              </a:ext>
            </a:extLst>
          </p:cNvPr>
          <p:cNvSpPr/>
          <p:nvPr/>
        </p:nvSpPr>
        <p:spPr>
          <a:xfrm>
            <a:off x="122278" y="1633060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CBFBA230-D589-B0D7-B158-9952C916D7D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04480" y="509009"/>
                <a:ext cx="10844580" cy="112427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Prove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</m:m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e>
                              </m:mr>
                            </m:m>
                            <m:r>
                              <a:rPr lang="en-IN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/ 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+3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=0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a subspace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𝕄</m:t>
                        </m:r>
                      </m:e>
                      <m:sub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2800" dirty="0">
                    <a:solidFill>
                      <a:srgbClr val="002060"/>
                    </a:solidFill>
                    <a:latin typeface="+mj-lt"/>
                  </a:rPr>
                  <a:t>.</a:t>
                </a: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CBFBA230-D589-B0D7-B158-9952C916D7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480" y="509009"/>
                <a:ext cx="10844580" cy="1124274"/>
              </a:xfrm>
              <a:prstGeom prst="rect">
                <a:avLst/>
              </a:prstGeom>
              <a:blipFill>
                <a:blip r:embed="rId3"/>
                <a:stretch>
                  <a:fillRect l="-1124" b="-108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5E67170-AB4A-6A63-9763-5CB499E1AE1B}"/>
              </a:ext>
            </a:extLst>
          </p:cNvPr>
          <p:cNvSpPr/>
          <p:nvPr/>
        </p:nvSpPr>
        <p:spPr>
          <a:xfrm>
            <a:off x="122279" y="970980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444899FE-38EC-83B7-3526-EBAA7C2F8C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97" y="2030473"/>
                <a:ext cx="7240636" cy="1188393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Here,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W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</m:m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e>
                              </m:mr>
                            </m:m>
                            <m: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/ 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+3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=0 </m:t>
                        </m:r>
                      </m:e>
                    </m:d>
                  </m:oMath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444899FE-38EC-83B7-3526-EBAA7C2F8C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97" y="2030473"/>
                <a:ext cx="7240636" cy="1188393"/>
              </a:xfrm>
              <a:prstGeom prst="rect">
                <a:avLst/>
              </a:prstGeom>
              <a:blipFill>
                <a:blip r:embed="rId4"/>
                <a:stretch>
                  <a:fillRect l="-168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7EE67D66-DD1D-1BD2-C127-A6CC3EA4902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6163" y="3152189"/>
                <a:ext cx="11993558" cy="2905648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Binary Operations are defined as</a:t>
                </a:r>
              </a:p>
              <a:p>
                <a:pPr marL="990600" indent="-457200"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Vector Addition		: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IN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</m:mr>
                        </m:m>
                        <m: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IN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mr>
                        </m:m>
                        <m: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N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  <m: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mr>
                        </m:m>
                        <m: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  <a:p>
                <a:pPr marL="990600" indent="-457200">
                  <a:buFont typeface="Wingdings" panose="05000000000000000000" pitchFamily="2" charset="2"/>
                  <a:buChar char="§"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Scalar Multiplication	: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begChr m:val="["/>
                        <m:endChr m:val="]"/>
                        <m:ctrlPr>
                          <a:rPr lang="en-IN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</m:mr>
                        </m:m>
                        <m: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N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kb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kc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IN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kd</m:t>
                              </m:r>
                            </m:e>
                          </m:mr>
                        </m:m>
                        <m: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7EE67D66-DD1D-1BD2-C127-A6CC3EA49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63" y="3152189"/>
                <a:ext cx="11993558" cy="2905648"/>
              </a:xfrm>
              <a:prstGeom prst="rect">
                <a:avLst/>
              </a:prstGeom>
              <a:blipFill>
                <a:blip r:embed="rId5"/>
                <a:stretch>
                  <a:fillRect l="-5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4305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1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B463D-04E0-D5B0-F446-F76B9061A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4">
                <a:extLst>
                  <a:ext uri="{FF2B5EF4-FFF2-40B4-BE49-F238E27FC236}">
                    <a16:creationId xmlns:a16="http://schemas.microsoft.com/office/drawing/2014/main" id="{6F724449-D379-D194-23CC-433F5CBFB96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043" y="567447"/>
                <a:ext cx="8801106" cy="119709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</m:mr>
                        </m:m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mr>
                        </m:m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   and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4">
                <a:extLst>
                  <a:ext uri="{FF2B5EF4-FFF2-40B4-BE49-F238E27FC236}">
                    <a16:creationId xmlns:a16="http://schemas.microsoft.com/office/drawing/2014/main" id="{6F724449-D379-D194-23CC-433F5CBFB9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43" y="567447"/>
                <a:ext cx="8801106" cy="1197096"/>
              </a:xfrm>
              <a:prstGeom prst="rect">
                <a:avLst/>
              </a:prstGeom>
              <a:blipFill>
                <a:blip r:embed="rId2"/>
                <a:stretch>
                  <a:fillRect l="-69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3CDDC041-9C55-1421-C214-C875C7CF8F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042" y="2440002"/>
                <a:ext cx="248460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3CDDC041-9C55-1421-C214-C875C7CF8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42" y="2440002"/>
                <a:ext cx="2484605" cy="540000"/>
              </a:xfrm>
              <a:prstGeom prst="rect">
                <a:avLst/>
              </a:prstGeom>
              <a:blipFill>
                <a:blip r:embed="rId3"/>
                <a:stretch>
                  <a:fillRect l="-245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26C83B-9069-014D-BF05-5388F7B5CE3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Method:2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Example:4(continue)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26C83B-9069-014D-BF05-5388F7B5CE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96233AC3-CFA4-1670-CAC9-4A8A970C692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77039" y="2244384"/>
                <a:ext cx="4148130" cy="90585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IN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IN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IN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IN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</m:mr>
                          </m:m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IN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IN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IN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g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IN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mr>
                          </m:m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96233AC3-CFA4-1670-CAC9-4A8A970C69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039" y="2244384"/>
                <a:ext cx="4148130" cy="9058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BDD0A9FB-A358-8023-90F5-E62B30C2F6F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4032821"/>
                <a:ext cx="809625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  </a:t>
                </a:r>
                <a14:m>
                  <m:oMath xmlns:m="http://schemas.openxmlformats.org/officeDocument/2006/math"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  <m:brk m:alnAt="7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d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+3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</m:d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g</m:t>
                        </m:r>
                      </m:e>
                    </m:d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BDD0A9FB-A358-8023-90F5-E62B30C2F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032821"/>
                <a:ext cx="8096250" cy="540000"/>
              </a:xfrm>
              <a:prstGeom prst="rect">
                <a:avLst/>
              </a:prstGeom>
              <a:blipFill>
                <a:blip r:embed="rId7"/>
                <a:stretch>
                  <a:fillRect l="-75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BD9CE873-727C-F49B-252B-89370A20827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00732" y="2202634"/>
                <a:ext cx="3408469" cy="98461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en-IN" sz="2800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en-IN" sz="2800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  <m: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en-IN" sz="2800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  <m: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g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en-IN" sz="2800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  <m: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mr>
                          </m:m>
                          <m:r>
                            <a:rPr lang="en-IN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BD9CE873-727C-F49B-252B-89370A2082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0732" y="2202634"/>
                <a:ext cx="3408469" cy="9846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D8C06405-1543-EFAC-56E2-1C31A42AABE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042" y="3345856"/>
                <a:ext cx="1027566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b="1" dirty="0">
                    <a:solidFill>
                      <a:srgbClr val="FF0000"/>
                    </a:solidFill>
                    <a:latin typeface="+mj-lt"/>
                  </a:rPr>
                  <a:t>To show :   </a:t>
                </a:r>
                <a14:m>
                  <m:oMath xmlns:m="http://schemas.openxmlformats.org/officeDocument/2006/math">
                    <m:r>
                      <a:rPr lang="en-IN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d>
                      <m:d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brk m:alnAt="7"/>
                          </m:r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𝐤</m:t>
                        </m:r>
                        <m: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𝐞</m:t>
                        </m:r>
                      </m:e>
                    </m:d>
                    <m:r>
                      <a:rPr lang="en-IN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d>
                      <m:d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𝐤</m:t>
                        </m:r>
                        <m: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𝐛</m:t>
                        </m:r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</m:d>
                    <m:r>
                      <a:rPr lang="en-IN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𝐤</m:t>
                        </m:r>
                        <m: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𝐠</m:t>
                        </m:r>
                      </m:e>
                    </m:d>
                    <m:r>
                      <a:rPr lang="en-IN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𝐤</m:t>
                        </m:r>
                        <m: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𝐝</m:t>
                        </m:r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</m:d>
                    <m:r>
                      <a:rPr lang="en-IN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IN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D8C06405-1543-EFAC-56E2-1C31A42AAB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42" y="3345856"/>
                <a:ext cx="10275663" cy="540000"/>
              </a:xfrm>
              <a:prstGeom prst="rect">
                <a:avLst/>
              </a:prstGeom>
              <a:blipFill>
                <a:blip r:embed="rId9"/>
                <a:stretch>
                  <a:fillRect l="-59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81155472-34B5-E4EF-18E7-C55225B5CC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8863" y="4719786"/>
                <a:ext cx="671870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m:rPr>
                          <m:sty m:val="p"/>
                          <m:brk m:alnAt="7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81155472-34B5-E4EF-18E7-C55225B5C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863" y="4719786"/>
                <a:ext cx="6718700" cy="54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E117500D-22E6-49FB-EE5B-7A222935A94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8863" y="5396207"/>
                <a:ext cx="3679789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d>
                        <m:d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+3</m:t>
                          </m:r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E117500D-22E6-49FB-EE5B-7A222935A9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863" y="5396207"/>
                <a:ext cx="3679789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9133F36F-C2A5-B7B1-629E-E6F3D15198E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0414" y="5941180"/>
                <a:ext cx="329215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So,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9133F36F-C2A5-B7B1-629E-E6F3D151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14" y="5941180"/>
                <a:ext cx="3292153" cy="540000"/>
              </a:xfrm>
              <a:prstGeom prst="rect">
                <a:avLst/>
              </a:prstGeom>
              <a:blipFill>
                <a:blip r:embed="rId12"/>
                <a:stretch>
                  <a:fillRect l="-185" t="-9091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FCBA3E4A-B1D3-23AF-6EF1-45F4906C73F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14860" y="5396207"/>
                <a:ext cx="329215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Content Placeholder 4">
                <a:extLst>
                  <a:ext uri="{FF2B5EF4-FFF2-40B4-BE49-F238E27FC236}">
                    <a16:creationId xmlns:a16="http://schemas.microsoft.com/office/drawing/2014/main" id="{FCBA3E4A-B1D3-23AF-6EF1-45F4906C73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860" y="5396207"/>
                <a:ext cx="3292154" cy="5400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6EC1A33C-0DFF-C21D-9DDE-5827908248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67833" y="5423097"/>
                <a:ext cx="215231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6EC1A33C-0DFF-C21D-9DDE-5827908248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7833" y="5423097"/>
                <a:ext cx="2152316" cy="5400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5F6A13A7-BCCF-DCAC-AD2C-4F915E29F1B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83048" y="5936994"/>
                <a:ext cx="526875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Hence,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is a subspace </a:t>
                </a:r>
                <a:r>
                  <a:rPr lang="en-US" sz="2800" dirty="0">
                    <a:solidFill>
                      <a:srgbClr val="002060"/>
                    </a:solidFill>
                  </a:rPr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𝕄</m:t>
                        </m:r>
                      </m:e>
                      <m:sub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.</a:t>
                </a:r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5F6A13A7-BCCF-DCAC-AD2C-4F915E29F1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3048" y="5936994"/>
                <a:ext cx="5268752" cy="540000"/>
              </a:xfrm>
              <a:prstGeom prst="rect">
                <a:avLst/>
              </a:prstGeom>
              <a:blipFill>
                <a:blip r:embed="rId15"/>
                <a:stretch>
                  <a:fillRect l="-231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3A6C260-8F74-5C07-BDBF-7AAD41A8DAF7}"/>
              </a:ext>
            </a:extLst>
          </p:cNvPr>
          <p:cNvCxnSpPr/>
          <p:nvPr/>
        </p:nvCxnSpPr>
        <p:spPr>
          <a:xfrm>
            <a:off x="1071663" y="5237265"/>
            <a:ext cx="7200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CE3EBD8-508D-B08A-6F83-C1CB8537118D}"/>
              </a:ext>
            </a:extLst>
          </p:cNvPr>
          <p:cNvCxnSpPr/>
          <p:nvPr/>
        </p:nvCxnSpPr>
        <p:spPr>
          <a:xfrm>
            <a:off x="2829465" y="5237265"/>
            <a:ext cx="7200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1BB6AB8-57B8-4615-91F8-3C230265BB22}"/>
              </a:ext>
            </a:extLst>
          </p:cNvPr>
          <p:cNvCxnSpPr/>
          <p:nvPr/>
        </p:nvCxnSpPr>
        <p:spPr>
          <a:xfrm>
            <a:off x="4513651" y="5237811"/>
            <a:ext cx="59504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415E82A2-61E5-4558-9DFE-01B6DCD9B2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676425"/>
                <a:ext cx="840413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+3</m:t>
                    </m:r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d</m:t>
                    </m:r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  and   </a:t>
                </a:r>
                <a14:m>
                  <m:oMath xmlns:m="http://schemas.openxmlformats.org/officeDocument/2006/math"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+3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f</m:t>
                    </m:r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g</m:t>
                    </m:r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415E82A2-61E5-4558-9DFE-01B6DCD9B2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676425"/>
                <a:ext cx="8404135" cy="540000"/>
              </a:xfrm>
              <a:prstGeom prst="rect">
                <a:avLst/>
              </a:prstGeom>
              <a:blipFill>
                <a:blip r:embed="rId16"/>
                <a:stretch>
                  <a:fillRect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D93020A-B8BC-49D0-AA5D-36CF2C924FA6}"/>
              </a:ext>
            </a:extLst>
          </p:cNvPr>
          <p:cNvCxnSpPr/>
          <p:nvPr/>
        </p:nvCxnSpPr>
        <p:spPr>
          <a:xfrm>
            <a:off x="5911879" y="5214397"/>
            <a:ext cx="59504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FC5B7A6-75BE-4F68-B869-3FAEED3EA3D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50037" y="5423097"/>
                <a:ext cx="215231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EFC5B7A6-75BE-4F68-B869-3FAEED3EA3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0037" y="5423097"/>
                <a:ext cx="2152316" cy="54000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4956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500"/>
                            </p:stCondLst>
                            <p:childTnLst>
                              <p:par>
                                <p:cTn id="4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7" grpId="0"/>
      <p:bldP spid="16" grpId="0"/>
      <p:bldP spid="14" grpId="0"/>
      <p:bldP spid="15" grpId="0"/>
      <p:bldP spid="18" grpId="0"/>
      <p:bldP spid="20" grpId="0"/>
      <p:bldP spid="21" grpId="0"/>
      <p:bldP spid="22" grpId="0"/>
      <p:bldP spid="28" grpId="0"/>
      <p:bldP spid="29" grpId="0"/>
      <p:bldP spid="30" grpId="0"/>
      <p:bldP spid="23" grpId="0"/>
      <p:bldP spid="2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28A30-9F9C-CCB2-2562-56A11DFE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7F65214-8FF1-7C84-B79D-5B5772FA806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Method:2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7F65214-8FF1-7C84-B79D-5B5772FA80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0BE686F-F0FA-AFFB-8B43-31E8EF4A8C8C}"/>
              </a:ext>
            </a:extLst>
          </p:cNvPr>
          <p:cNvSpPr/>
          <p:nvPr/>
        </p:nvSpPr>
        <p:spPr>
          <a:xfrm>
            <a:off x="122278" y="2153039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A5AEA378-7336-7681-D0DA-1B236F69716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04480" y="748618"/>
                <a:ext cx="10587520" cy="112569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800" i="1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80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80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800" i="1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p>
                          <m:sSupPr>
                            <m:ctrlPr>
                              <a:rPr lang="en-US" sz="2800" i="1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 i="0" dirty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en-US" sz="280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 </m:t>
                        </m:r>
                      </m:e>
                    </m:d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80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ℤ</m:t>
                    </m:r>
                    <m: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and</m:t>
                    </m:r>
                    <m: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i="0" dirty="0" err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i="0" dirty="0" err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a subspace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sz="280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?</a:t>
                </a:r>
                <a:endParaRPr lang="en-IN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A5AEA378-7336-7681-D0DA-1B236F6971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480" y="748618"/>
                <a:ext cx="10587520" cy="1125690"/>
              </a:xfrm>
              <a:prstGeom prst="rect">
                <a:avLst/>
              </a:prstGeom>
              <a:blipFill>
                <a:blip r:embed="rId3"/>
                <a:stretch>
                  <a:fillRect l="-1151" t="-543" b="-2337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2BAEB38-1604-6D67-83DE-97158C5606B3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00294356-7D18-0DB2-449E-F8B3F48A182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4354" y="2120163"/>
                <a:ext cx="10687646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Here,</a:t>
                </a:r>
                <a14:m>
                  <m:oMath xmlns:m="http://schemas.openxmlformats.org/officeDocument/2006/math"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p>
                          <m:sSup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 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ℤ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and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dirty="0" err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 err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}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00294356-7D18-0DB2-449E-F8B3F48A1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4354" y="2120163"/>
                <a:ext cx="10687646" cy="544460"/>
              </a:xfrm>
              <a:prstGeom prst="rect">
                <a:avLst/>
              </a:prstGeom>
              <a:blipFill>
                <a:blip r:embed="rId4"/>
                <a:stretch>
                  <a:fillRect l="-114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A5F3DFD5-C6B8-3192-D7EE-CF497B81A8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4995085"/>
                <a:ext cx="1219200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en-US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i="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d>
                      <m:d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en-IN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IN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 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A5F3DFD5-C6B8-3192-D7EE-CF497B81A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995085"/>
                <a:ext cx="12192000" cy="540000"/>
              </a:xfrm>
              <a:prstGeom prst="rect">
                <a:avLst/>
              </a:prstGeom>
              <a:blipFill>
                <a:blip r:embed="rId5"/>
                <a:stretch>
                  <a:fillRect b="-21348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89BC98C2-0C25-83A7-7317-0AE96E1514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5666070"/>
                <a:ext cx="513080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ℤ</m:t>
                      </m:r>
                    </m:oMath>
                  </m:oMathPara>
                </a14:m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89BC98C2-0C25-83A7-7317-0AE96E1514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666070"/>
                <a:ext cx="5130800" cy="540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2752024"/>
                <a:ext cx="12192000" cy="211207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Binary Operations are defined as</a:t>
                </a:r>
              </a:p>
              <a:p>
                <a:pPr marL="628650" indent="-457200">
                  <a:lnSpc>
                    <a:spcPct val="9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rgbClr val="002060"/>
                    </a:solidFill>
                    <a:latin typeface="+mj-lt"/>
                  </a:rPr>
                  <a:t>Vector Addition	        :   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IN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IN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p>
                          <m:sSupPr>
                            <m:ctrlPr>
                              <a:rPr lang="en-IN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IN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p>
                          <m:sSupPr>
                            <m:ctrlPr>
                              <a:rPr lang="en-IN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IN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en-US" sz="240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  <a:p>
                <a:pPr marL="3860800" indent="-901700"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4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4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4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4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4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4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4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4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4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4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rgbClr val="002060"/>
                  </a:solidFill>
                  <a:latin typeface="+mj-lt"/>
                </a:endParaRPr>
              </a:p>
              <a:p>
                <a:pPr marL="628650" indent="-457200">
                  <a:lnSpc>
                    <a:spcPct val="9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rgbClr val="002060"/>
                    </a:solidFill>
                    <a:latin typeface="+mj-lt"/>
                  </a:rPr>
                  <a:t>Scalar Multiplication   :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k</m:t>
                    </m:r>
                    <m:d>
                      <m:d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IN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IN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p>
                          <m:sSupPr>
                            <m:ctrlPr>
                              <a:rPr lang="en-IN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IN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4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4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4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4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752024"/>
                <a:ext cx="12192000" cy="2112076"/>
              </a:xfrm>
              <a:prstGeom prst="rect">
                <a:avLst/>
              </a:prstGeom>
              <a:blipFill>
                <a:blip r:embed="rId7"/>
                <a:stretch>
                  <a:fillRect l="-50" t="-2882" b="-461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7554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4" grpId="0"/>
      <p:bldP spid="17" grpId="0"/>
      <p:bldP spid="1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A9C9A-DB85-C609-DBFB-F4AC08220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E4C665BA-57CF-5451-648D-7C9C1890836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" y="1559211"/>
                <a:ext cx="3965827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E4C665BA-57CF-5451-648D-7C9C18908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" y="1559211"/>
                <a:ext cx="3965827" cy="540000"/>
              </a:xfrm>
              <a:prstGeom prst="rect">
                <a:avLst/>
              </a:prstGeom>
              <a:blipFill>
                <a:blip r:embed="rId2"/>
                <a:stretch>
                  <a:fillRect l="-154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32E79DB-A6B0-384A-EC1C-D960DC85A1C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Method:2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32E79DB-A6B0-384A-EC1C-D960DC85A1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C82FBEED-B847-C89F-1D60-94FBE288B6F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016854" y="1613124"/>
                <a:ext cx="9553719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C82FBEED-B847-C89F-1D60-94FBE288B6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854" y="1613124"/>
                <a:ext cx="9553719" cy="544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8F70D48A-BABB-4984-0E18-1BC7F972FD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39" y="3745337"/>
                <a:ext cx="786411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   </a:t>
                </a: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and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 </a:t>
                </a: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8F70D48A-BABB-4984-0E18-1BC7F972F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9" y="3745337"/>
                <a:ext cx="7864110" cy="540000"/>
              </a:xfrm>
              <a:prstGeom prst="rect">
                <a:avLst/>
              </a:prstGeom>
              <a:blipFill>
                <a:blip r:embed="rId6"/>
                <a:stretch>
                  <a:fillRect l="-155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ED931027-FFC8-B682-272D-5B98F55AF66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029554" y="2361787"/>
                <a:ext cx="9288430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  <m:sSub>
                            <m:sSub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i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800" i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ED931027-FFC8-B682-272D-5B98F55AF6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9554" y="2361787"/>
                <a:ext cx="9288430" cy="54446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AF84CE8F-E527-AAF2-3148-D9A81E9BA07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5" y="3055792"/>
                <a:ext cx="10859915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b="1" dirty="0">
                    <a:solidFill>
                      <a:srgbClr val="FF0000"/>
                    </a:solidFill>
                    <a:latin typeface="+mj-lt"/>
                  </a:rPr>
                  <a:t>To show :   </a:t>
                </a:r>
                <a14:m>
                  <m:oMath xmlns:m="http://schemas.openxmlformats.org/officeDocument/2006/math">
                    <m:r>
                      <a:rPr lang="en-US" sz="2800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𝐤</m:t>
                    </m:r>
                    <m:sSub>
                      <m:sSub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8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28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sz="2800" b="1" dirty="0">
                    <a:solidFill>
                      <a:srgbClr val="FF0000"/>
                    </a:solidFill>
                  </a:rPr>
                  <a:t>,   </a:t>
                </a:r>
                <a14:m>
                  <m:oMath xmlns:m="http://schemas.openxmlformats.org/officeDocument/2006/math">
                    <m:r>
                      <a:rPr lang="en-US" sz="28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𝐤</m:t>
                    </m:r>
                    <m:sSub>
                      <m:sSub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8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800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800" b="1" dirty="0">
                    <a:solidFill>
                      <a:srgbClr val="FF0000"/>
                    </a:solidFill>
                  </a:rPr>
                  <a:t>,   </a:t>
                </a:r>
                <a14:m>
                  <m:oMath xmlns:m="http://schemas.openxmlformats.org/officeDocument/2006/math">
                    <m:r>
                      <a:rPr lang="en-US" sz="28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𝐤</m:t>
                    </m:r>
                    <m:sSub>
                      <m:sSub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sz="2800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sz="2800" b="1" dirty="0">
                    <a:solidFill>
                      <a:srgbClr val="FF0000"/>
                    </a:solidFill>
                  </a:rPr>
                  <a:t>,   </a:t>
                </a:r>
                <a14:m>
                  <m:oMath xmlns:m="http://schemas.openxmlformats.org/officeDocument/2006/math">
                    <m:r>
                      <a:rPr lang="en-US" sz="28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𝐤</m:t>
                    </m:r>
                    <m:sSub>
                      <m:sSub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en-US" sz="2800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en-US" sz="28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AF84CE8F-E527-AAF2-3148-D9A81E9BA0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" y="3055792"/>
                <a:ext cx="10859915" cy="540000"/>
              </a:xfrm>
              <a:prstGeom prst="rect">
                <a:avLst/>
              </a:prstGeom>
              <a:blipFill>
                <a:blip r:embed="rId8"/>
                <a:stretch>
                  <a:fillRect l="-56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A01E423D-AE9F-3F28-6697-8D85DD12835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gradFill>
                <a:gsLst>
                  <a:gs pos="10000">
                    <a:srgbClr val="0E47A1"/>
                  </a:gs>
                  <a:gs pos="100000">
                    <a:srgbClr val="03A9F5"/>
                  </a:gs>
                </a:gsLst>
                <a:lin ang="108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algn="ctr">
                  <a:defRPr sz="2800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marL="118745" lvl="0" algn="l">
                  <a:lnSpc>
                    <a:spcPct val="115000"/>
                  </a:lnSpc>
                  <a:spcAft>
                    <a:spcPts val="800"/>
                  </a:spcAft>
                </a:pPr>
                <a:r>
                  <a:rPr lang="en-US" b="1" dirty="0"/>
                  <a:t>Axiom :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𝐤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𝐯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𝐖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A01E423D-AE9F-3F28-6697-8D85DD1283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865206"/>
                <a:ext cx="5615190" cy="540000"/>
              </a:xfrm>
              <a:prstGeom prst="rect">
                <a:avLst/>
              </a:prstGeom>
              <a:blipFill>
                <a:blip r:embed="rId9"/>
                <a:stretch>
                  <a:fillRect l="-109" t="-6742" b="-3146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6C0705E2-CC93-FA7F-DA27-D66E0C395D6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3192" y="4443802"/>
                <a:ext cx="190004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∉</m:t>
                      </m:r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ℤ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6C0705E2-CC93-FA7F-DA27-D66E0C395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192" y="4443802"/>
                <a:ext cx="1900041" cy="54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36808058-3EC5-3579-9AAA-82B4418ED0D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4684" y="5114310"/>
                <a:ext cx="270191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∉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ℤ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36808058-3EC5-3579-9AAA-82B4418ED0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684" y="5114310"/>
                <a:ext cx="2701916" cy="5400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3D4FA6A2-4536-95D8-ED58-8F435F82D6B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" y="5802574"/>
                <a:ext cx="4191857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So,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3D4FA6A2-4536-95D8-ED58-8F435F82D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" y="5802574"/>
                <a:ext cx="4191857" cy="540000"/>
              </a:xfrm>
              <a:prstGeom prst="rect">
                <a:avLst/>
              </a:prstGeom>
              <a:blipFill>
                <a:blip r:embed="rId12"/>
                <a:stretch>
                  <a:fillRect l="-145" t="-9091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7E7936FE-EC87-27C6-1C46-F4060965A2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72174" y="5798388"/>
                <a:ext cx="5949567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Hence,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is </a:t>
                </a:r>
                <a:r>
                  <a:rPr lang="en-US" sz="2800" b="1" i="0" dirty="0">
                    <a:solidFill>
                      <a:srgbClr val="FF0000"/>
                    </a:solidFill>
                    <a:latin typeface="+mj-lt"/>
                  </a:rPr>
                  <a:t>not</a:t>
                </a: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 a subspace </a:t>
                </a:r>
                <a:r>
                  <a:rPr lang="en-US" sz="2800" dirty="0">
                    <a:solidFill>
                      <a:srgbClr val="002060"/>
                    </a:solidFill>
                  </a:rPr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.</a:t>
                </a:r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7E7936FE-EC87-27C6-1C46-F4060965A2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2174" y="5798388"/>
                <a:ext cx="5949567" cy="540000"/>
              </a:xfrm>
              <a:prstGeom prst="rect">
                <a:avLst/>
              </a:prstGeom>
              <a:blipFill>
                <a:blip r:embed="rId13"/>
                <a:stretch>
                  <a:fillRect l="-102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38630" y="5237019"/>
            <a:ext cx="2853175" cy="12436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BFA25C2A-C960-3FB4-3F0D-F2D435CA643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90900" y="4364366"/>
                <a:ext cx="7345594" cy="54000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00000"/>
                  </a:lnSpc>
                  <a:spcAft>
                    <a:spcPts val="800"/>
                  </a:spcAft>
                  <a:buNone/>
                </a:pPr>
                <a:r>
                  <a:rPr lang="en-IN" sz="2800" b="1" dirty="0">
                    <a:solidFill>
                      <a:srgbClr val="FF0000"/>
                    </a:solidFill>
                    <a:latin typeface="+mj-lt"/>
                  </a:rPr>
                  <a:t>[ </a:t>
                </a:r>
                <a:r>
                  <a:rPr lang="en-IN" sz="2800" b="1" dirty="0">
                    <a:solidFill>
                      <a:srgbClr val="FF0000"/>
                    </a:solidFill>
                  </a:rPr>
                  <a:t>For Example: </a:t>
                </a:r>
                <a14:m>
                  <m:oMath xmlns:m="http://schemas.openxmlformats.org/officeDocument/2006/math"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8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ℤ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  </m:t>
                    </m:r>
                    <m:rad>
                      <m:radPr>
                        <m:degHide m:val="on"/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rad>
                    <m:r>
                      <a:rPr lang="en-US" sz="28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ℝ</m:t>
                    </m:r>
                    <m:r>
                      <a:rPr lang="en-US" sz="28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ad>
                      <m:radPr>
                        <m:degHide m:val="on"/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rad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ℤ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IN" sz="2800" b="1" dirty="0">
                    <a:solidFill>
                      <a:srgbClr val="FF0000"/>
                    </a:solidFill>
                    <a:latin typeface="+mj-lt"/>
                  </a:rPr>
                  <a:t>]</a:t>
                </a:r>
                <a:endParaRPr lang="en-US" sz="2800" b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BFA25C2A-C960-3FB4-3F0D-F2D435CA64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900" y="4364366"/>
                <a:ext cx="7345594" cy="540001"/>
              </a:xfrm>
              <a:prstGeom prst="rect">
                <a:avLst/>
              </a:prstGeom>
              <a:blipFill>
                <a:blip r:embed="rId16"/>
                <a:stretch>
                  <a:fillRect l="-83" t="-5618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BFA25C2A-C960-3FB4-3F0D-F2D435CA643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90900" y="5048445"/>
                <a:ext cx="5435599" cy="54000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00000"/>
                  </a:lnSpc>
                  <a:spcAft>
                    <a:spcPts val="800"/>
                  </a:spcAft>
                  <a:buNone/>
                </a:pPr>
                <a:r>
                  <a:rPr lang="en-IN" sz="2800" b="1" dirty="0">
                    <a:solidFill>
                      <a:srgbClr val="FF0000"/>
                    </a:solidFill>
                    <a:latin typeface="+mj-lt"/>
                  </a:rPr>
                  <a:t>[ </a:t>
                </a:r>
                <a:r>
                  <a:rPr lang="en-IN" sz="2800" b="1" dirty="0">
                    <a:solidFill>
                      <a:srgbClr val="FF0000"/>
                    </a:solidFill>
                  </a:rPr>
                  <a:t>For Example: </a:t>
                </a:r>
                <a14:m>
                  <m:oMath xmlns:m="http://schemas.openxmlformats.org/officeDocument/2006/math"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ad>
                      <m:radPr>
                        <m:degHide m:val="on"/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rad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ℤ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IN" sz="2800" b="1" dirty="0">
                    <a:solidFill>
                      <a:srgbClr val="FF0000"/>
                    </a:solidFill>
                    <a:latin typeface="+mj-lt"/>
                  </a:rPr>
                  <a:t>]</a:t>
                </a:r>
                <a:endParaRPr lang="en-US" sz="2800" b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BFA25C2A-C960-3FB4-3F0D-F2D435CA64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900" y="5048445"/>
                <a:ext cx="5435599" cy="540001"/>
              </a:xfrm>
              <a:prstGeom prst="rect">
                <a:avLst/>
              </a:prstGeom>
              <a:blipFill>
                <a:blip r:embed="rId17"/>
                <a:stretch>
                  <a:fillRect l="-112" t="-5618" b="-33708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5134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6" grpId="0"/>
      <p:bldP spid="14" grpId="0"/>
      <p:bldP spid="15" grpId="0"/>
      <p:bldP spid="18" grpId="0"/>
      <p:bldP spid="20" grpId="0"/>
      <p:bldP spid="21" grpId="0"/>
      <p:bldP spid="22" grpId="0"/>
      <p:bldP spid="30" grpId="0"/>
      <p:bldP spid="25" grpId="0"/>
      <p:bldP spid="26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28A30-9F9C-CCB2-2562-56A11DFE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7F65214-8FF1-7C84-B79D-5B5772FA806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Method:2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Example:5(continue)</a:t>
                </a:r>
                <a:r>
                  <a:rPr lang="en-IN" dirty="0">
                    <a:solidFill>
                      <a:srgbClr val="FF0000"/>
                    </a:solidFill>
                  </a:rPr>
                  <a:t> [ Alternate Method ]</a:t>
                </a:r>
                <a:endParaRPr lang="en-IN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7F65214-8FF1-7C84-B79D-5B5772FA80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2BAEB38-1604-6D67-83DE-97158C5606B3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00294356-7D18-0DB2-449E-F8B3F48A182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4354" y="842910"/>
                <a:ext cx="10687646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Here,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p>
                          <m:sSup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 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ℤ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and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dirty="0" err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 err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00294356-7D18-0DB2-449E-F8B3F48A1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4354" y="842910"/>
                <a:ext cx="10687646" cy="544460"/>
              </a:xfrm>
              <a:prstGeom prst="rect">
                <a:avLst/>
              </a:prstGeom>
              <a:blipFill>
                <a:blip r:embed="rId3"/>
                <a:stretch>
                  <a:fillRect l="-114" t="-5556" b="-3111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A5F3DFD5-C6B8-3192-D7EE-CF497B81A8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3849226"/>
                <a:ext cx="1219200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=2+3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+4</m:t>
                    </m:r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800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   and  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3 </m:t>
                        </m:r>
                      </m:e>
                    </m:ra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A5F3DFD5-C6B8-3192-D7EE-CF497B81A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849226"/>
                <a:ext cx="12192000" cy="540000"/>
              </a:xfrm>
              <a:prstGeom prst="rect">
                <a:avLst/>
              </a:prstGeom>
              <a:blipFill>
                <a:blip r:embed="rId4"/>
                <a:stretch>
                  <a:fillRect l="-50" t="-4494" b="-35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89BC98C2-0C25-83A7-7317-0AE96E1514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4639935"/>
                <a:ext cx="263018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Now</m:t>
                      </m:r>
                      <m:r>
                        <m:rPr>
                          <m:nor/>
                        </m:rPr>
                        <a:rPr lang="en-US" sz="2800" i="0" dirty="0" smtClean="0">
                          <a:solidFill>
                            <a:srgbClr val="002060"/>
                          </a:solidFill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u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x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89BC98C2-0C25-83A7-7317-0AE96E1514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639935"/>
                <a:ext cx="2630184" cy="540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474771"/>
                <a:ext cx="12192000" cy="211207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Binary Operations are defined as</a:t>
                </a:r>
              </a:p>
              <a:p>
                <a:pPr marL="628650" indent="-457200">
                  <a:lnSpc>
                    <a:spcPct val="9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rgbClr val="002060"/>
                    </a:solidFill>
                    <a:latin typeface="+mj-lt"/>
                  </a:rPr>
                  <a:t>Vector Addition	        :   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IN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IN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p>
                          <m:sSupPr>
                            <m:ctrlPr>
                              <a:rPr lang="en-IN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IN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p>
                          <m:sSupPr>
                            <m:ctrlPr>
                              <a:rPr lang="en-IN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IN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en-US" sz="240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  <a:p>
                <a:pPr marL="3860800" indent="-901700"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4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4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4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4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4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a:rPr lang="en-US" sz="24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4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sz="24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24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4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rgbClr val="002060"/>
                  </a:solidFill>
                  <a:latin typeface="+mj-lt"/>
                </a:endParaRPr>
              </a:p>
              <a:p>
                <a:pPr marL="628650" indent="-457200">
                  <a:lnSpc>
                    <a:spcPct val="90000"/>
                  </a:lnSpc>
                  <a:buFont typeface="Wingdings" panose="05000000000000000000" pitchFamily="2" charset="2"/>
                  <a:buChar char="§"/>
                </a:pPr>
                <a:r>
                  <a:rPr lang="en-US" sz="2400" dirty="0">
                    <a:solidFill>
                      <a:srgbClr val="002060"/>
                    </a:solidFill>
                    <a:latin typeface="+mj-lt"/>
                  </a:rPr>
                  <a:t>Scalar Multiplication   :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d>
                      <m:d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IN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IN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p>
                          <m:sSupPr>
                            <m:ctrlPr>
                              <a:rPr lang="en-IN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IN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4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4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4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4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4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74771"/>
                <a:ext cx="12192000" cy="2112076"/>
              </a:xfrm>
              <a:prstGeom prst="rect">
                <a:avLst/>
              </a:prstGeom>
              <a:blipFill>
                <a:blip r:embed="rId6"/>
                <a:stretch>
                  <a:fillRect l="-50" t="-2890" b="-462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4">
                <a:extLst>
                  <a:ext uri="{FF2B5EF4-FFF2-40B4-BE49-F238E27FC236}">
                    <a16:creationId xmlns:a16="http://schemas.microsoft.com/office/drawing/2014/main" id="{89BC98C2-0C25-83A7-7317-0AE96E1514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20457" y="4651605"/>
                <a:ext cx="4666344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3 </m:t>
                          </m:r>
                        </m:e>
                      </m:rad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+4</m:t>
                          </m:r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sSup>
                            <m:sSupPr>
                              <m:ctrlPr>
                                <a:rPr lang="en-US" sz="280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80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sz="2800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Content Placeholder 4">
                <a:extLst>
                  <a:ext uri="{FF2B5EF4-FFF2-40B4-BE49-F238E27FC236}">
                    <a16:creationId xmlns:a16="http://schemas.microsoft.com/office/drawing/2014/main" id="{89BC98C2-0C25-83A7-7317-0AE96E1514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457" y="4651605"/>
                <a:ext cx="4666344" cy="540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89BC98C2-0C25-83A7-7317-0AE96E1514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20456" y="5326519"/>
                <a:ext cx="6037941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ad>
                        <m:radPr>
                          <m:degHide m:val="on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3 </m:t>
                          </m:r>
                        </m:e>
                      </m:rad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ad>
                        <m:radPr>
                          <m:degHide m:val="on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3 </m:t>
                          </m:r>
                        </m:e>
                      </m:rad>
                      <m:r>
                        <m:rPr>
                          <m:sty m:val="p"/>
                        </m:rP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ad>
                        <m:radPr>
                          <m:degHide m:val="on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3 </m:t>
                          </m:r>
                        </m:e>
                      </m:rad>
                      <m:sSup>
                        <m:sSup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ad>
                        <m:radPr>
                          <m:degHide m:val="on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3 </m:t>
                          </m:r>
                        </m:e>
                      </m:rad>
                      <m:sSup>
                        <m:sSupPr>
                          <m:ctrlPr>
                            <a:rPr lang="en-US" sz="280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 sz="280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89BC98C2-0C25-83A7-7317-0AE96E1514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456" y="5326519"/>
                <a:ext cx="6037941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2DF1F421-367C-EFD0-E37F-2AEA8B5C43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665227" y="5332928"/>
                <a:ext cx="844133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∉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W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2DF1F421-367C-EFD0-E37F-2AEA8B5C4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5227" y="5332928"/>
                <a:ext cx="844133" cy="540000"/>
              </a:xfrm>
              <a:prstGeom prst="rect">
                <a:avLst/>
              </a:prstGeom>
              <a:blipFill>
                <a:blip r:embed="rId9"/>
                <a:stretch>
                  <a:fillRect r="-2158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BFA25C2A-C960-3FB4-3F0D-F2D435CA643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911584" y="5257448"/>
                <a:ext cx="2699390" cy="54000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00000"/>
                  </a:lnSpc>
                  <a:spcAft>
                    <a:spcPts val="800"/>
                  </a:spcAft>
                  <a:buNone/>
                </a:pPr>
                <a:r>
                  <a:rPr lang="en-IN" sz="2800" b="1" dirty="0">
                    <a:solidFill>
                      <a:srgbClr val="FF0000"/>
                    </a:solidFill>
                    <a:latin typeface="+mj-lt"/>
                  </a:rPr>
                  <a:t>[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∵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ad>
                      <m:radPr>
                        <m:degHide m:val="on"/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rad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ℤ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IN" sz="2800" b="1" dirty="0">
                    <a:solidFill>
                      <a:srgbClr val="FF0000"/>
                    </a:solidFill>
                    <a:latin typeface="+mj-lt"/>
                  </a:rPr>
                  <a:t>]</a:t>
                </a:r>
                <a:endParaRPr lang="en-US" sz="2800" b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BFA25C2A-C960-3FB4-3F0D-F2D435CA64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1584" y="5257448"/>
                <a:ext cx="2699390" cy="540001"/>
              </a:xfrm>
              <a:prstGeom prst="rect">
                <a:avLst/>
              </a:prstGeom>
              <a:blipFill>
                <a:blip r:embed="rId10"/>
                <a:stretch>
                  <a:fillRect l="-451" t="-5618" b="-33708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3D4FA6A2-4536-95D8-ED58-8F435F82D6B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5929574"/>
                <a:ext cx="3022600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So,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3D4FA6A2-4536-95D8-ED58-8F435F82D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5929574"/>
                <a:ext cx="3022600" cy="540000"/>
              </a:xfrm>
              <a:prstGeom prst="rect">
                <a:avLst/>
              </a:prstGeom>
              <a:blipFill>
                <a:blip r:embed="rId11"/>
                <a:stretch>
                  <a:fillRect l="-202" t="-9091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7E7936FE-EC87-27C6-1C46-F4060965A2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30184" y="5935983"/>
                <a:ext cx="580434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Hence,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2800" dirty="0">
                    <a:solidFill>
                      <a:srgbClr val="002060"/>
                    </a:solidFill>
                  </a:rPr>
                  <a:t>is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not</a:t>
                </a:r>
                <a:r>
                  <a:rPr lang="en-US" sz="2800" dirty="0">
                    <a:solidFill>
                      <a:srgbClr val="002060"/>
                    </a:solidFill>
                  </a:rPr>
                  <a:t> a subspace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.</a:t>
                </a:r>
                <a:endParaRPr lang="en-US" sz="28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7E7936FE-EC87-27C6-1C46-F4060965A2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184" y="5935983"/>
                <a:ext cx="5804342" cy="540000"/>
              </a:xfrm>
              <a:prstGeom prst="rect">
                <a:avLst/>
              </a:prstGeom>
              <a:blipFill>
                <a:blip r:embed="rId12"/>
                <a:stretch>
                  <a:fillRect l="-105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899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4" grpId="0"/>
      <p:bldP spid="17" grpId="0"/>
      <p:bldP spid="19" grpId="0"/>
      <p:bldP spid="10" grpId="0"/>
      <p:bldP spid="11" grpId="0"/>
      <p:bldP spid="20" grpId="0"/>
      <p:bldP spid="21" grpId="0"/>
      <p:bldP spid="23" grpId="0"/>
      <p:bldP spid="2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Method-3</a:t>
            </a:r>
            <a:br>
              <a:rPr lang="en-US" dirty="0"/>
            </a:br>
            <a:r>
              <a:rPr lang="en-US" dirty="0"/>
              <a:t>Linear Combination and Span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1B15B0-DB21-4AD4-8A0D-08E74D04D8C7}"/>
              </a:ext>
            </a:extLst>
          </p:cNvPr>
          <p:cNvSpPr txBox="1">
            <a:spLocks/>
          </p:cNvSpPr>
          <p:nvPr/>
        </p:nvSpPr>
        <p:spPr>
          <a:xfrm>
            <a:off x="838200" y="2002632"/>
            <a:ext cx="10515600" cy="28527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kern="1200" dirty="0">
                <a:gradFill flip="none" rotWithShape="1">
                  <a:gsLst>
                    <a:gs pos="0">
                      <a:srgbClr val="1D3064"/>
                    </a:gs>
                    <a:gs pos="100000">
                      <a:schemeClr val="tx2"/>
                    </a:gs>
                  </a:gsLst>
                  <a:lin ang="0" scaled="1"/>
                  <a:tileRect/>
                </a:gradFill>
                <a:effectLst/>
                <a:latin typeface="+mn-lt"/>
                <a:ea typeface="+mn-ea"/>
                <a:cs typeface="+mn-cs"/>
              </a:defRPr>
            </a:lvl1pPr>
          </a:lstStyle>
          <a:p>
            <a:endParaRPr lang="en-IN" dirty="0">
              <a:gradFill flip="none" rotWithShape="1">
                <a:gsLst>
                  <a:gs pos="10000">
                    <a:schemeClr val="accent6">
                      <a:lumMod val="50000"/>
                    </a:schemeClr>
                  </a:gs>
                  <a:gs pos="100000">
                    <a:schemeClr val="accent6"/>
                  </a:gs>
                </a:gsLst>
                <a:lin ang="0" scaled="1"/>
                <a:tileRect/>
              </a:gradFill>
            </a:endParaRPr>
          </a:p>
          <a:p>
            <a:endParaRPr lang="en-IN" dirty="0">
              <a:gradFill flip="none" rotWithShape="1">
                <a:gsLst>
                  <a:gs pos="10000">
                    <a:schemeClr val="accent6">
                      <a:lumMod val="50000"/>
                    </a:schemeClr>
                  </a:gs>
                  <a:gs pos="100000">
                    <a:schemeClr val="accent6"/>
                  </a:gs>
                </a:gsLst>
                <a:lin ang="0" scaled="1"/>
                <a:tileRect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21181632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Combination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en-US" dirty="0">
                    <a:latin typeface="+mj-lt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>
                    <a:latin typeface="+mj-lt"/>
                  </a:rPr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>
                    <a:latin typeface="+mj-lt"/>
                  </a:rPr>
                  <a:t> be scalars. The expression of the form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is called a </a:t>
                </a:r>
                <a:r>
                  <a:rPr lang="en-US" b="1" dirty="0">
                    <a:solidFill>
                      <a:srgbClr val="FF0000"/>
                    </a:solidFill>
                    <a:latin typeface="+mj-lt"/>
                  </a:rPr>
                  <a:t>linear combination</a:t>
                </a:r>
                <a:r>
                  <a:rPr lang="en-US" dirty="0">
                    <a:latin typeface="+mj-lt"/>
                  </a:rPr>
                  <a:t> of the vectors of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1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b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dirty="0">
                  <a:latin typeface="+mj-lt"/>
                </a:endParaRPr>
              </a:p>
              <a:p>
                <a:r>
                  <a:rPr lang="en-US" dirty="0">
                    <a:latin typeface="+mj-lt"/>
                  </a:rPr>
                  <a:t>A vector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>
                    <a:latin typeface="+mj-lt"/>
                  </a:rPr>
                  <a:t> can be written as linear combination of the vectors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if</a:t>
                </a:r>
                <a:br>
                  <a:rPr lang="en-US" dirty="0">
                    <a:latin typeface="+mj-lt"/>
                  </a:rPr>
                </a:br>
                <a:r>
                  <a:rPr lang="en-US" dirty="0">
                    <a:latin typeface="+mj-lt"/>
                  </a:rPr>
                  <a:t>there exist scalars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>
                    <a:latin typeface="+mj-lt"/>
                  </a:rPr>
                  <a:t> such that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𝐯</m:t>
                      </m:r>
                      <m:r>
                        <a:rPr lang="en-US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b>
                        <m:sSub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sSub>
                        <m:sSub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sSub>
                        <m:sSub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en-US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𝐧</m:t>
                          </m:r>
                        </m:sub>
                      </m:sSub>
                      <m:sSub>
                        <m:sSub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𝐧</m:t>
                          </m:r>
                        </m:sub>
                      </m:sSub>
                    </m:oMath>
                  </m:oMathPara>
                </a14:m>
                <a:endParaRPr lang="en-IN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71" r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0495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0" y="1"/>
                <a:ext cx="12192000" cy="711200"/>
              </a:xfrm>
            </p:spPr>
            <p:txBody>
              <a:bodyPr>
                <a:noAutofit/>
              </a:bodyPr>
              <a:lstStyle/>
              <a:p>
                <a:r>
                  <a:rPr lang="en-US" sz="2700" dirty="0"/>
                  <a:t>Procedure to check a vector </a:t>
                </a:r>
                <a14:m>
                  <m:oMath xmlns:m="http://schemas.openxmlformats.org/officeDocument/2006/math">
                    <m:r>
                      <a:rPr lang="en-US" sz="2700" b="1" i="1" dirty="0">
                        <a:latin typeface="Cambria Math" panose="02040503050406030204" pitchFamily="18" charset="0"/>
                      </a:rPr>
                      <m:t>𝐯</m:t>
                    </m:r>
                  </m:oMath>
                </a14:m>
                <a:r>
                  <a:rPr lang="en-US" sz="2700" dirty="0"/>
                  <a:t> can be written as linear combination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7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700" b="1" i="0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700" b="1" i="0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700" b="1" i="0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7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700" b="1" i="0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700" b="1" i="0" dirty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sz="2700" b="1" i="0" dirty="0">
                        <a:latin typeface="Cambria Math" panose="02040503050406030204" pitchFamily="18" charset="0"/>
                      </a:rPr>
                      <m:t>, …,</m:t>
                    </m:r>
                    <m:sSub>
                      <m:sSubPr>
                        <m:ctrlPr>
                          <a:rPr lang="en-US" sz="27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700" b="1" i="0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700" b="1" i="0" dirty="0">
                            <a:latin typeface="Cambria Math" panose="02040503050406030204" pitchFamily="18" charset="0"/>
                          </a:rPr>
                          <m:t>𝐧</m:t>
                        </m:r>
                      </m:sub>
                    </m:sSub>
                  </m:oMath>
                </a14:m>
                <a:endParaRPr lang="en-IN" sz="2700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0" y="1"/>
                <a:ext cx="12192000" cy="711200"/>
              </a:xfrm>
              <a:blipFill>
                <a:blip r:embed="rId2"/>
                <a:stretch>
                  <a:fillRect b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31180" y="863445"/>
                <a:ext cx="11929641" cy="2070256"/>
              </a:xfrm>
            </p:spPr>
            <p:txBody>
              <a:bodyPr/>
              <a:lstStyle/>
              <a:p>
                <a:pPr marL="514350" lvl="0" indent="-514350">
                  <a:buFont typeface="+mj-lt"/>
                  <a:buAutoNum type="arabicPeriod"/>
                </a:pPr>
                <a:r>
                  <a:rPr lang="en-US" dirty="0"/>
                  <a:t>Express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 as a linear combination of the given vectors.</a:t>
                </a:r>
              </a:p>
              <a:p>
                <a:pPr marL="0" lvl="0" indent="0">
                  <a:buNone/>
                </a:pPr>
                <a:r>
                  <a:rPr lang="en-US" dirty="0"/>
                  <a:t>       i.e.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𝐯</m:t>
                    </m:r>
                  </m:oMath>
                </a14:m>
                <a:endParaRPr lang="en-IN" b="1" dirty="0">
                  <a:solidFill>
                    <a:srgbClr val="FF0000"/>
                  </a:solidFill>
                  <a:latin typeface="+mj-lt"/>
                </a:endParaRPr>
              </a:p>
              <a:p>
                <a:pPr marL="514350" indent="-514350">
                  <a:buFont typeface="+mj-lt"/>
                  <a:buAutoNum type="arabicPeriod" startAt="2"/>
                </a:pPr>
                <a:r>
                  <a:rPr lang="en-US" dirty="0"/>
                  <a:t>Form the corresponding system of linear equations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AX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1180" y="863445"/>
                <a:ext cx="11929641" cy="2070256"/>
              </a:xfrm>
              <a:blipFill>
                <a:blip r:embed="rId3"/>
                <a:stretch>
                  <a:fillRect l="-1074" b="-3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/>
              <p:cNvSpPr txBox="1">
                <a:spLocks/>
              </p:cNvSpPr>
              <p:nvPr/>
            </p:nvSpPr>
            <p:spPr>
              <a:xfrm>
                <a:off x="-333279" y="2898011"/>
                <a:ext cx="7517849" cy="294398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13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buNone/>
                </a:pPr>
                <a:r>
                  <a:rPr lang="en-US" dirty="0">
                    <a:solidFill>
                      <a:srgbClr val="002060"/>
                    </a:solidFill>
                  </a:rPr>
                  <a:t>	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IN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5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4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13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…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23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…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33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…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m</m:t>
                                      </m:r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m</m:t>
                                      </m:r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m</m:t>
                                      </m:r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…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mn</m:t>
                                      </m:r>
                                    </m:sub>
                                  </m:sSub>
                                </m:e>
                              </m:mr>
                            </m:m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endParaRPr lang="en-US" sz="2400" dirty="0">
                  <a:solidFill>
                    <a:srgbClr val="002060"/>
                  </a:solidFill>
                </a:endParaRPr>
              </a:p>
              <a:p>
                <a:pPr marL="0" indent="0">
                  <a:buFont typeface="Wingdings 3" panose="05040102010807070707" pitchFamily="18" charset="2"/>
                  <a:buNone/>
                </a:pPr>
                <a:r>
                  <a:rPr lang="en-US" sz="2400" dirty="0">
                    <a:solidFill>
                      <a:srgbClr val="002060"/>
                    </a:solidFill>
                  </a:rPr>
                  <a:t>	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400" b="1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𝐢</m:t>
                        </m:r>
                      </m:sub>
                    </m:sSub>
                    <m:r>
                      <a:rPr lang="en-US" sz="2400" b="1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400" b="1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400" b="1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sz="2400" b="1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𝐢𝟏</m:t>
                            </m:r>
                          </m:sub>
                        </m:sSub>
                        <m:r>
                          <a:rPr lang="en-US" sz="2400" b="1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b="1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sz="2400" b="1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𝐢𝟐</m:t>
                            </m:r>
                          </m:sub>
                        </m:sSub>
                        <m:r>
                          <a:rPr lang="en-US" sz="2400" b="1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b="1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sz="2400" b="1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𝐢𝟑</m:t>
                            </m:r>
                          </m:sub>
                        </m:sSub>
                        <m:r>
                          <a:rPr lang="en-US" sz="2400" b="1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400" b="1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sz="2400" b="1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𝐢𝐧</m:t>
                            </m:r>
                          </m:sub>
                        </m:sSub>
                        <m:r>
                          <a:rPr lang="en-US" sz="2400" b="1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IN" sz="2400" b="1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4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3279" y="2898011"/>
                <a:ext cx="7517849" cy="294398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/>
              <p:cNvSpPr txBox="1">
                <a:spLocks/>
              </p:cNvSpPr>
              <p:nvPr/>
            </p:nvSpPr>
            <p:spPr>
              <a:xfrm>
                <a:off x="6316634" y="2898011"/>
                <a:ext cx="2236611" cy="273373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13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; </m:t>
                      </m:r>
                      <m:r>
                        <m:rPr>
                          <m:sty m:val="p"/>
                        </m:rP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eqArr>
                            <m:eqArrPr>
                              <m:ctrlPr>
                                <a:rPr lang="en-IN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</m:e>
                            <m:e>
                              <m: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sub>
                              </m:sSub>
                            </m:e>
                          </m:eqArr>
                          <m: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</m:e>
                      </m:d>
                    </m:oMath>
                  </m:oMathPara>
                </a14:m>
                <a:endParaRPr lang="en-IN" sz="2400" b="1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5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6634" y="2898011"/>
                <a:ext cx="2236611" cy="273373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 txBox="1">
                <a:spLocks/>
              </p:cNvSpPr>
              <p:nvPr/>
            </p:nvSpPr>
            <p:spPr>
              <a:xfrm>
                <a:off x="8760073" y="2898010"/>
                <a:ext cx="3555297" cy="273373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13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r>
                        <m:rPr>
                          <m:sty m:val="p"/>
                        </m:rP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sz="24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eqArr>
                            <m:eqArrPr>
                              <m:ctrlPr>
                                <a:rPr lang="en-IN" sz="24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</m:e>
                            <m:e>
                              <m: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sub>
                              </m:sSub>
                            </m:e>
                          </m:eqArr>
                          <m:r>
                            <a:rPr lang="en-US" sz="24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</m:e>
                      </m:d>
                    </m:oMath>
                  </m:oMathPara>
                </a14:m>
                <a:endParaRPr lang="en-IN" sz="2400" b="1" dirty="0">
                  <a:solidFill>
                    <a:srgbClr val="002060"/>
                  </a:solidFill>
                  <a:latin typeface="+mj-lt"/>
                </a:endParaRPr>
              </a:p>
              <a:p>
                <a:pPr marL="0" indent="0">
                  <a:buNone/>
                </a:pPr>
                <a:endParaRPr lang="en-US" sz="40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𝐯</m:t>
                      </m:r>
                      <m:r>
                        <a:rPr lang="en-US" sz="2400" b="1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1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𝐯</m:t>
                              </m:r>
                            </m:e>
                            <m:sub>
                              <m:r>
                                <a:rPr lang="en-US" sz="2400" b="1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sz="2400" b="1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𝐯</m:t>
                              </m:r>
                            </m:e>
                            <m:sub>
                              <m:r>
                                <a:rPr lang="en-US" sz="2400" b="1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r>
                            <a:rPr lang="en-US" sz="2400" b="1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𝐯</m:t>
                              </m:r>
                            </m:e>
                            <m:sub>
                              <m:r>
                                <a:rPr lang="en-US" sz="2400" b="1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  <m:r>
                            <a:rPr lang="en-US" sz="2400" b="1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𝐯</m:t>
                              </m:r>
                            </m:e>
                            <m:sub>
                              <m:r>
                                <a:rPr lang="en-US" sz="2400" b="1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𝐧</m:t>
                              </m:r>
                            </m:sub>
                          </m:sSub>
                          <m:r>
                            <a:rPr lang="en-US" sz="2400" b="1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IN" sz="2400" b="1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0073" y="2898010"/>
                <a:ext cx="3555297" cy="2733733"/>
              </a:xfrm>
              <a:prstGeom prst="rect">
                <a:avLst/>
              </a:prstGeom>
              <a:blipFill>
                <a:blip r:embed="rId6"/>
                <a:stretch>
                  <a:fillRect b="-4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1295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uiExpand="1" build="p"/>
      <p:bldP spid="6" grpId="0" uiExpand="1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700" dirty="0"/>
                  <a:t>Procedure to check a vector </a:t>
                </a:r>
                <a14:m>
                  <m:oMath xmlns:m="http://schemas.openxmlformats.org/officeDocument/2006/math">
                    <m:r>
                      <a:rPr lang="en-US" sz="2700" i="1" dirty="0">
                        <a:latin typeface="Cambria Math" panose="02040503050406030204" pitchFamily="18" charset="0"/>
                      </a:rPr>
                      <m:t>𝐯</m:t>
                    </m:r>
                  </m:oMath>
                </a14:m>
                <a:r>
                  <a:rPr lang="en-US" sz="2700" dirty="0"/>
                  <a:t> can be written as linear combination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7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700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700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700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7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700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700" dirty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sz="2700" dirty="0">
                        <a:latin typeface="Cambria Math" panose="02040503050406030204" pitchFamily="18" charset="0"/>
                      </a:rPr>
                      <m:t>, …,</m:t>
                    </m:r>
                    <m:sSub>
                      <m:sSubPr>
                        <m:ctrlPr>
                          <a:rPr lang="en-US" sz="27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700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700" dirty="0">
                            <a:latin typeface="Cambria Math" panose="02040503050406030204" pitchFamily="18" charset="0"/>
                          </a:rPr>
                          <m:t>𝐧</m:t>
                        </m:r>
                      </m:sub>
                    </m:sSub>
                  </m:oMath>
                </a14:m>
                <a:endParaRPr lang="en-IN" sz="2700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31180" y="863444"/>
                <a:ext cx="11929641" cy="3213255"/>
              </a:xfrm>
            </p:spPr>
            <p:txBody>
              <a:bodyPr/>
              <a:lstStyle/>
              <a:p>
                <a:pPr marL="514350" lvl="0" indent="-514350">
                  <a:buFont typeface="+mj-lt"/>
                  <a:buAutoNum type="arabicPeriod" startAt="3"/>
                </a:pPr>
                <a:r>
                  <a:rPr lang="en-US" dirty="0"/>
                  <a:t>Solve the system and analyze the consistency of the system:</a:t>
                </a:r>
                <a:endParaRPr lang="en-IN" dirty="0"/>
              </a:p>
              <a:p>
                <a:pPr lvl="1"/>
                <a:r>
                  <a:rPr lang="en-US" dirty="0"/>
                  <a:t>If the system is consistent </a:t>
                </a:r>
                <a:r>
                  <a:rPr lang="en-US" b="1" dirty="0">
                    <a:solidFill>
                      <a:srgbClr val="FF0000"/>
                    </a:solidFill>
                  </a:rPr>
                  <a:t>(i.e., at least one solution exists)</a:t>
                </a:r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is a linear combination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If the system is inconsistent </a:t>
                </a:r>
                <a:r>
                  <a:rPr lang="en-US" b="1" dirty="0">
                    <a:solidFill>
                      <a:srgbClr val="FF0000"/>
                    </a:solidFill>
                  </a:rPr>
                  <a:t>(i.e., no solution exists)</a:t>
                </a:r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is not a linear combination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1180" y="863444"/>
                <a:ext cx="11929641" cy="3213255"/>
              </a:xfrm>
              <a:blipFill>
                <a:blip r:embed="rId3"/>
                <a:stretch>
                  <a:fillRect l="-1074" r="-107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4993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Remarks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31180" y="863444"/>
                <a:ext cx="11929641" cy="3213255"/>
              </a:xfrm>
            </p:spPr>
            <p:txBody>
              <a:bodyPr/>
              <a:lstStyle/>
              <a:p>
                <a:pPr lvl="0"/>
                <a:r>
                  <a:rPr lang="en-US" dirty="0"/>
                  <a:t>To analyze the consistency of the system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AX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(For Square Matrix only)</a:t>
                </a:r>
                <a:endParaRPr lang="en-IN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𝐝𝐞𝐭</m:t>
                    </m:r>
                    <m:r>
                      <a:rPr lang="en-US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)≠</m:t>
                    </m:r>
                    <m:r>
                      <a:rPr lang="en-US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, then the system has a unique solution. Hence,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𝐯</m:t>
                    </m:r>
                  </m:oMath>
                </a14:m>
                <a:r>
                  <a:rPr lang="en-US" dirty="0"/>
                  <a:t> is a linear combination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en-US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…,</m:t>
                    </m:r>
                    <m:sSub>
                      <m:sSub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endParaRPr lang="en-IN" dirty="0"/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𝐝𝐞𝐭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</m:e>
                    </m:func>
                    <m:r>
                      <a:rPr lang="en-US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, then the system have infinitely many solutions or no solution. So, </a:t>
                </a:r>
                <a:r>
                  <a:rPr lang="en-US" b="1" dirty="0">
                    <a:solidFill>
                      <a:srgbClr val="FF0000"/>
                    </a:solidFill>
                  </a:rPr>
                  <a:t>There is no conclusion</a:t>
                </a:r>
                <a:r>
                  <a:rPr lang="en-US" dirty="0"/>
                  <a:t>.</a:t>
                </a:r>
                <a:endParaRPr lang="en-IN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1180" y="863444"/>
                <a:ext cx="11929641" cy="3213255"/>
              </a:xfrm>
              <a:blipFill>
                <a:blip r:embed="rId2"/>
                <a:stretch>
                  <a:fillRect l="-971" r="-107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8565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28A30-9F9C-CCB2-2562-56A11DFE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7F65214-8FF1-7C84-B79D-5B5772FA806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Method:3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</a:t>
                </a:r>
                <a:endParaRPr lang="en-IN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7F65214-8FF1-7C84-B79D-5B5772FA80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0BE686F-F0FA-AFFB-8B43-31E8EF4A8C8C}"/>
              </a:ext>
            </a:extLst>
          </p:cNvPr>
          <p:cNvSpPr/>
          <p:nvPr/>
        </p:nvSpPr>
        <p:spPr>
          <a:xfrm>
            <a:off x="122278" y="2153039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A5AEA378-7336-7681-D0DA-1B236F69716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04480" y="798602"/>
                <a:ext cx="10587520" cy="112569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b="1" dirty="0">
                    <a:solidFill>
                      <a:srgbClr val="FF0000"/>
                    </a:solidFill>
                  </a:rPr>
                  <a:t>Express</a:t>
                </a: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the vector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−1, 1,10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as a linear combination of the vectors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1, 0, 1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−2, 3, −2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&amp;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−6, 7, 5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A5AEA378-7336-7681-D0DA-1B236F6971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480" y="798602"/>
                <a:ext cx="10587520" cy="1125690"/>
              </a:xfrm>
              <a:prstGeom prst="rect">
                <a:avLst/>
              </a:prstGeom>
              <a:blipFill>
                <a:blip r:embed="rId3"/>
                <a:stretch>
                  <a:fillRect l="-1151" t="-541" r="-1324" b="-108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2BAEB38-1604-6D67-83DE-97158C5606B3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00294356-7D18-0DB2-449E-F8B3F48A182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4354" y="2120163"/>
                <a:ext cx="4591646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00294356-7D18-0DB2-449E-F8B3F48A1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4354" y="2120163"/>
                <a:ext cx="4591646" cy="544460"/>
              </a:xfrm>
              <a:prstGeom prst="rect">
                <a:avLst/>
              </a:prstGeom>
              <a:blipFill>
                <a:blip r:embed="rId4"/>
                <a:stretch>
                  <a:fillRect l="-266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2808" y="2789654"/>
                <a:ext cx="8954692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−1, 1,10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1, 0, 1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−2, 3, −2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−6, 7, 5</m:t>
                          </m:r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08" y="2789654"/>
                <a:ext cx="8954692" cy="5436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2808" y="3447291"/>
                <a:ext cx="10910492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−1, 1,10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−6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08" y="3447291"/>
                <a:ext cx="10910492" cy="543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Content Placeholder 4">
            <a:extLst>
              <a:ext uri="{FF2B5EF4-FFF2-40B4-BE49-F238E27FC236}">
                <a16:creationId xmlns:a16="http://schemas.microsoft.com/office/drawing/2014/main" id="{C2E3A768-B2DD-49B5-A909-9453EEB041E3}"/>
              </a:ext>
            </a:extLst>
          </p:cNvPr>
          <p:cNvSpPr txBox="1">
            <a:spLocks/>
          </p:cNvSpPr>
          <p:nvPr/>
        </p:nvSpPr>
        <p:spPr>
          <a:xfrm>
            <a:off x="122278" y="4084644"/>
            <a:ext cx="6138822" cy="5436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118745" algn="just">
              <a:lnSpc>
                <a:spcPct val="115000"/>
              </a:lnSpc>
              <a:spcBef>
                <a:spcPts val="1000"/>
              </a:spcBef>
              <a:spcAft>
                <a:spcPts val="800"/>
              </a:spcAft>
              <a:buClr>
                <a:schemeClr val="accent6"/>
              </a:buClr>
              <a:buFont typeface="Wingdings 3" panose="05040102010807070707" pitchFamily="18" charset="2"/>
              <a:buNone/>
              <a:defRPr sz="2800">
                <a:solidFill>
                  <a:srgbClr val="3A4A6A"/>
                </a:solidFill>
              </a:defRPr>
            </a:lvl1pPr>
          </a:lstStyle>
          <a:p>
            <a:pPr>
              <a:lnSpc>
                <a:spcPct val="90000"/>
              </a:lnSpc>
            </a:pPr>
            <a:r>
              <a:rPr lang="en-US" i="0" dirty="0">
                <a:solidFill>
                  <a:srgbClr val="002060"/>
                </a:solidFill>
                <a:latin typeface="+mj-lt"/>
              </a:rPr>
              <a:t>Comparing both the sides, we have </a:t>
            </a:r>
            <a:endParaRPr lang="en-US" dirty="0">
              <a:solidFill>
                <a:srgbClr val="002060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2808" y="4721997"/>
                <a:ext cx="4027765" cy="181378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 algn="l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1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−6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en-US" b="0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algn="l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3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+7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b="0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algn="l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1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+5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08" y="4721997"/>
                <a:ext cx="4027765" cy="18137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/>
          <p:cNvSpPr/>
          <p:nvPr/>
        </p:nvSpPr>
        <p:spPr>
          <a:xfrm>
            <a:off x="3895725" y="4721997"/>
            <a:ext cx="571500" cy="1734456"/>
          </a:xfrm>
          <a:prstGeom prst="rightBrace">
            <a:avLst>
              <a:gd name="adj1" fmla="val 230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Content Placeholder 4">
            <a:extLst>
              <a:ext uri="{FF2B5EF4-FFF2-40B4-BE49-F238E27FC236}">
                <a16:creationId xmlns:a16="http://schemas.microsoft.com/office/drawing/2014/main" id="{C2E3A768-B2DD-49B5-A909-9453EEB041E3}"/>
              </a:ext>
            </a:extLst>
          </p:cNvPr>
          <p:cNvSpPr txBox="1">
            <a:spLocks/>
          </p:cNvSpPr>
          <p:nvPr/>
        </p:nvSpPr>
        <p:spPr>
          <a:xfrm>
            <a:off x="4657725" y="5317425"/>
            <a:ext cx="6707147" cy="543600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ysDash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118745" algn="just">
              <a:lnSpc>
                <a:spcPct val="115000"/>
              </a:lnSpc>
              <a:spcBef>
                <a:spcPts val="1000"/>
              </a:spcBef>
              <a:spcAft>
                <a:spcPts val="800"/>
              </a:spcAft>
              <a:buClr>
                <a:schemeClr val="accent6"/>
              </a:buClr>
              <a:buFont typeface="Wingdings 3" panose="05040102010807070707" pitchFamily="18" charset="2"/>
              <a:buNone/>
              <a:defRPr sz="2800">
                <a:solidFill>
                  <a:srgbClr val="3A4A6A"/>
                </a:solidFill>
              </a:defRPr>
            </a:lvl1pPr>
          </a:lstStyle>
          <a:p>
            <a:pPr>
              <a:lnSpc>
                <a:spcPct val="90000"/>
              </a:lnSpc>
            </a:pPr>
            <a:r>
              <a:rPr lang="en-US" i="0" dirty="0">
                <a:solidFill>
                  <a:srgbClr val="002060"/>
                </a:solidFill>
                <a:latin typeface="+mj-lt"/>
              </a:rPr>
              <a:t>Let us solve using Gauss Elimination Method.</a:t>
            </a:r>
            <a:endParaRPr lang="en-US" dirty="0">
              <a:solidFill>
                <a:srgbClr val="002060"/>
              </a:solidFill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1835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  <p:bldP spid="28" grpId="0"/>
      <p:bldP spid="29" grpId="0"/>
      <p:bldP spid="4" grpId="0" animBg="1"/>
      <p:bldP spid="3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28A30-9F9C-CCB2-2562-56A11DFE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7F65214-8FF1-7C84-B79D-5B5772FA806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Method:3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7F65214-8FF1-7C84-B79D-5B5772FA80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2808" y="848497"/>
                <a:ext cx="4027765" cy="181378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 algn="l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1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−6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en-US" b="0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algn="l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3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+7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b="0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algn="l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1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+5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08" y="848497"/>
                <a:ext cx="4027765" cy="18137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D6BB27F5-314D-4AAC-8F53-48AA88AF0786}"/>
              </a:ext>
            </a:extLst>
          </p:cNvPr>
          <p:cNvSpPr/>
          <p:nvPr/>
        </p:nvSpPr>
        <p:spPr>
          <a:xfrm>
            <a:off x="252808" y="2799580"/>
            <a:ext cx="6020992" cy="54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rgbClr val="002060"/>
                </a:solidFill>
              </a:rPr>
              <a:t>The Augmented matrix of the </a:t>
            </a:r>
            <a:r>
              <a:rPr lang="en-US" sz="2800" dirty="0">
                <a:solidFill>
                  <a:srgbClr val="002060"/>
                </a:solidFill>
              </a:rPr>
              <a:t>system is</a:t>
            </a:r>
            <a:endParaRPr lang="en-IN" sz="28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21C6629-897D-4685-8AB6-97C2187F442B}"/>
                  </a:ext>
                </a:extLst>
              </p:cNvPr>
              <p:cNvSpPr/>
              <p:nvPr/>
            </p:nvSpPr>
            <p:spPr>
              <a:xfrm>
                <a:off x="252808" y="3848776"/>
                <a:ext cx="1728392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"/>
                              <m:endChr m:val="|"/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IN" sz="2800" b="0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IN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  <a:p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21C6629-897D-4685-8AB6-97C2187F44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08" y="3848776"/>
                <a:ext cx="1728392" cy="543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A25BBD92-83A9-0836-B2E2-5DF4BD05BDFC}"/>
              </a:ext>
            </a:extLst>
          </p:cNvPr>
          <p:cNvGrpSpPr/>
          <p:nvPr/>
        </p:nvGrpSpPr>
        <p:grpSpPr>
          <a:xfrm>
            <a:off x="1910158" y="3480476"/>
            <a:ext cx="3341292" cy="1370924"/>
            <a:chOff x="1910158" y="3480476"/>
            <a:chExt cx="3459402" cy="14852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3F1DF14-D3C3-112A-0784-8BF11A4599C9}"/>
                    </a:ext>
                  </a:extLst>
                </p:cNvPr>
                <p:cNvSpPr/>
                <p:nvPr/>
              </p:nvSpPr>
              <p:spPr>
                <a:xfrm>
                  <a:off x="4321468" y="3480476"/>
                  <a:ext cx="813992" cy="137206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 1</m:t>
                              </m:r>
                            </m:e>
                          </m:mr>
                          <m:mr>
                            <m:e>
                              <m: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  <a:p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3F1DF14-D3C3-112A-0784-8BF11A4599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1468" y="3480476"/>
                  <a:ext cx="813992" cy="137206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" name="Group 2"/>
            <p:cNvGrpSpPr/>
            <p:nvPr/>
          </p:nvGrpSpPr>
          <p:grpSpPr>
            <a:xfrm>
              <a:off x="1910158" y="3480476"/>
              <a:ext cx="3459402" cy="1485224"/>
              <a:chOff x="1833958" y="3480476"/>
              <a:chExt cx="2858692" cy="148522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621C6629-897D-4685-8AB6-97C2187F442B}"/>
                      </a:ext>
                    </a:extLst>
                  </p:cNvPr>
                  <p:cNvSpPr/>
                  <p:nvPr/>
                </p:nvSpPr>
                <p:spPr>
                  <a:xfrm>
                    <a:off x="1833958" y="3480476"/>
                    <a:ext cx="2858692" cy="14852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GB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e>
                                  <m:e>
                                    <m:r>
                                      <a:rPr lang="en-GB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−6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 3</m:t>
                                    </m:r>
                                  </m:e>
                                  <m:e>
                                    <m:r>
                                      <a:rPr lang="en-GB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 7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GB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e>
                                  <m:e>
                                    <m:r>
                                      <a:rPr lang="en-GB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 5</m:t>
                                    </m:r>
                                  </m:e>
                                </m:mr>
                              </m:m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        </m:t>
                              </m:r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oMath>
                      </m:oMathPara>
                    </a14:m>
                    <a:endParaRPr lang="en-IN" sz="2800" dirty="0">
                      <a:solidFill>
                        <a:srgbClr val="002060"/>
                      </a:solidFill>
                    </a:endParaRPr>
                  </a:p>
                  <a:p>
                    <a:endParaRPr lang="en-IN" sz="2800" dirty="0">
                      <a:solidFill>
                        <a:srgbClr val="00206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621C6629-897D-4685-8AB6-97C2187F442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3958" y="3480476"/>
                    <a:ext cx="2858692" cy="148522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52E1E46E-4AFC-4631-8570-EC9C5FE8887E}"/>
                  </a:ext>
                </a:extLst>
              </p:cNvPr>
              <p:cNvCxnSpPr/>
              <p:nvPr/>
            </p:nvCxnSpPr>
            <p:spPr>
              <a:xfrm>
                <a:off x="3851658" y="3514747"/>
                <a:ext cx="0" cy="132605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6" name="Rectangle: Rounded Corners 37">
            <a:extLst>
              <a:ext uri="{FF2B5EF4-FFF2-40B4-BE49-F238E27FC236}">
                <a16:creationId xmlns:a16="http://schemas.microsoft.com/office/drawing/2014/main" id="{66F8BC7F-F3B7-BEC7-1433-0C9A9F189E15}"/>
              </a:ext>
            </a:extLst>
          </p:cNvPr>
          <p:cNvSpPr/>
          <p:nvPr/>
        </p:nvSpPr>
        <p:spPr>
          <a:xfrm>
            <a:off x="6078000" y="861732"/>
            <a:ext cx="36000" cy="56628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E7ECF67-D60A-18B0-6EC0-CFB8AA52EA41}"/>
                  </a:ext>
                </a:extLst>
              </p:cNvPr>
              <p:cNvSpPr/>
              <p:nvPr/>
            </p:nvSpPr>
            <p:spPr>
              <a:xfrm>
                <a:off x="1995544" y="4885518"/>
                <a:ext cx="1623409" cy="5801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GB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IN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d>
                        <m:dPr>
                          <m:ctrlPr>
                            <a:rPr lang="en-GB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IN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E7ECF67-D60A-18B0-6EC0-CFB8AA52EA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5544" y="4885518"/>
                <a:ext cx="1623409" cy="58015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E5B97EF7-1AC3-CA96-A22B-B5E7DCC1BFEB}"/>
              </a:ext>
            </a:extLst>
          </p:cNvPr>
          <p:cNvGrpSpPr/>
          <p:nvPr/>
        </p:nvGrpSpPr>
        <p:grpSpPr>
          <a:xfrm>
            <a:off x="6451827" y="906039"/>
            <a:ext cx="3571656" cy="1370924"/>
            <a:chOff x="6686773" y="3163313"/>
            <a:chExt cx="3571656" cy="1370924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223008A-01CA-A6E6-9573-0F5F98D6721A}"/>
                </a:ext>
              </a:extLst>
            </p:cNvPr>
            <p:cNvGrpSpPr/>
            <p:nvPr/>
          </p:nvGrpSpPr>
          <p:grpSpPr>
            <a:xfrm>
              <a:off x="6686773" y="3163313"/>
              <a:ext cx="3571656" cy="1370924"/>
              <a:chOff x="1833958" y="3480478"/>
              <a:chExt cx="3055783" cy="148522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A640C855-EF07-981C-89C5-FEB249DF1553}"/>
                      </a:ext>
                    </a:extLst>
                  </p:cNvPr>
                  <p:cNvSpPr/>
                  <p:nvPr/>
                </p:nvSpPr>
                <p:spPr>
                  <a:xfrm>
                    <a:off x="1833958" y="3480478"/>
                    <a:ext cx="3055783" cy="148522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r>
                      <a:rPr lang="en-IN" sz="2800" b="0" dirty="0">
                        <a:solidFill>
                          <a:srgbClr val="002060"/>
                        </a:solidFill>
                      </a:rPr>
                      <a:t>~ </a:t>
                    </a:r>
                    <a14:m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e>
                                <m:e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−6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e>
                              </m:mr>
                            </m:m>
                            <m: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</m:t>
                            </m:r>
                            <m:r>
                              <a:rPr lang="en-GB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oMath>
                    </a14:m>
                    <a:endParaRPr lang="en-IN" sz="2800" dirty="0">
                      <a:solidFill>
                        <a:srgbClr val="00206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A640C855-EF07-981C-89C5-FEB249DF155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3958" y="3480478"/>
                    <a:ext cx="3055783" cy="148522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3413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FABEB5BB-05B5-3776-7B0D-23A15C81742C}"/>
                  </a:ext>
                </a:extLst>
              </p:cNvPr>
              <p:cNvCxnSpPr/>
              <p:nvPr/>
            </p:nvCxnSpPr>
            <p:spPr>
              <a:xfrm>
                <a:off x="4030938" y="3514747"/>
                <a:ext cx="0" cy="132605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A8FB4B99-7FB9-7C64-6B1D-42A2D4C32C28}"/>
                    </a:ext>
                  </a:extLst>
                </p:cNvPr>
                <p:cNvSpPr/>
                <p:nvPr/>
              </p:nvSpPr>
              <p:spPr>
                <a:xfrm>
                  <a:off x="9253262" y="3163314"/>
                  <a:ext cx="786201" cy="12664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A8FB4B99-7FB9-7C64-6B1D-42A2D4C32C2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53262" y="3163314"/>
                  <a:ext cx="786201" cy="1266470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5" name="Rectangle 64">
            <a:extLst>
              <a:ext uri="{FF2B5EF4-FFF2-40B4-BE49-F238E27FC236}">
                <a16:creationId xmlns:a16="http://schemas.microsoft.com/office/drawing/2014/main" id="{1073AFBA-D271-1643-1F5B-01DCFDB307CE}"/>
              </a:ext>
            </a:extLst>
          </p:cNvPr>
          <p:cNvSpPr/>
          <p:nvPr/>
        </p:nvSpPr>
        <p:spPr>
          <a:xfrm>
            <a:off x="6376092" y="2303784"/>
            <a:ext cx="4251412" cy="54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rgbClr val="002060"/>
                </a:solidFill>
              </a:rPr>
              <a:t>Apply the Back Substitution,</a:t>
            </a:r>
            <a:endParaRPr lang="en-IN" sz="2800" b="1" dirty="0">
              <a:solidFill>
                <a:srgbClr val="002060"/>
              </a:solidFill>
            </a:endParaRPr>
          </a:p>
        </p:txBody>
      </p:sp>
      <p:sp>
        <p:nvSpPr>
          <p:cNvPr id="66" name="Right Arrow 3">
            <a:extLst>
              <a:ext uri="{FF2B5EF4-FFF2-40B4-BE49-F238E27FC236}">
                <a16:creationId xmlns:a16="http://schemas.microsoft.com/office/drawing/2014/main" id="{6ECC5895-4D4D-3E04-00ED-EB825216BF58}"/>
              </a:ext>
            </a:extLst>
          </p:cNvPr>
          <p:cNvSpPr/>
          <p:nvPr/>
        </p:nvSpPr>
        <p:spPr>
          <a:xfrm flipV="1">
            <a:off x="6218772" y="2948831"/>
            <a:ext cx="576777" cy="394349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D8C5BC41-C895-415F-FC64-1752E7B9E429}"/>
                  </a:ext>
                </a:extLst>
              </p:cNvPr>
              <p:cNvSpPr/>
              <p:nvPr/>
            </p:nvSpPr>
            <p:spPr>
              <a:xfrm>
                <a:off x="6844298" y="2874205"/>
                <a:ext cx="1931946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  <m:sSub>
                        <m:sSub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D8C5BC41-C895-415F-FC64-1752E7B9E4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4298" y="2874205"/>
                <a:ext cx="1931946" cy="54360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7057047F-2DF9-97D4-54CE-0868EA63C4A9}"/>
                  </a:ext>
                </a:extLst>
              </p:cNvPr>
              <p:cNvSpPr/>
              <p:nvPr/>
            </p:nvSpPr>
            <p:spPr>
              <a:xfrm>
                <a:off x="10278618" y="2881592"/>
                <a:ext cx="1692392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7057047F-2DF9-97D4-54CE-0868EA63C4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618" y="2881592"/>
                <a:ext cx="1692392" cy="54360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3">
            <a:extLst>
              <a:ext uri="{FF2B5EF4-FFF2-40B4-BE49-F238E27FC236}">
                <a16:creationId xmlns:a16="http://schemas.microsoft.com/office/drawing/2014/main" id="{7BD0210D-8886-283C-00B2-07D307354444}"/>
              </a:ext>
            </a:extLst>
          </p:cNvPr>
          <p:cNvSpPr/>
          <p:nvPr/>
        </p:nvSpPr>
        <p:spPr>
          <a:xfrm flipV="1">
            <a:off x="6218772" y="3726632"/>
            <a:ext cx="576777" cy="394349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AE6EBB7E-34B9-EF20-AA0C-0FE3E24F8BF9}"/>
                  </a:ext>
                </a:extLst>
              </p:cNvPr>
              <p:cNvSpPr/>
              <p:nvPr/>
            </p:nvSpPr>
            <p:spPr>
              <a:xfrm>
                <a:off x="6844298" y="3658356"/>
                <a:ext cx="2600250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AE6EBB7E-34B9-EF20-AA0C-0FE3E24F8B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4298" y="3658356"/>
                <a:ext cx="2600250" cy="54360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3C80AA27-FD6E-AEEB-7625-49AA9061A823}"/>
                  </a:ext>
                </a:extLst>
              </p:cNvPr>
              <p:cNvSpPr/>
              <p:nvPr/>
            </p:nvSpPr>
            <p:spPr>
              <a:xfrm>
                <a:off x="10286009" y="3660438"/>
                <a:ext cx="1943238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3C80AA27-FD6E-AEEB-7625-49AA9061A8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6009" y="3660438"/>
                <a:ext cx="1943238" cy="54360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Right Arrow 3">
            <a:extLst>
              <a:ext uri="{FF2B5EF4-FFF2-40B4-BE49-F238E27FC236}">
                <a16:creationId xmlns:a16="http://schemas.microsoft.com/office/drawing/2014/main" id="{56CEEEAE-EEAB-04C6-7857-0A1D5C5980EC}"/>
              </a:ext>
            </a:extLst>
          </p:cNvPr>
          <p:cNvSpPr/>
          <p:nvPr/>
        </p:nvSpPr>
        <p:spPr>
          <a:xfrm flipV="1">
            <a:off x="6218772" y="4532586"/>
            <a:ext cx="576777" cy="394349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9703EF3D-DCB7-124C-0499-91BD43E468CC}"/>
                  </a:ext>
                </a:extLst>
              </p:cNvPr>
              <p:cNvSpPr/>
              <p:nvPr/>
            </p:nvSpPr>
            <p:spPr>
              <a:xfrm>
                <a:off x="6844298" y="4464310"/>
                <a:ext cx="3478405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−6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9703EF3D-DCB7-124C-0499-91BD43E468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4298" y="4464310"/>
                <a:ext cx="3478405" cy="54360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6A95DB13-DD6D-51CB-9AD9-86AC90137EBE}"/>
                  </a:ext>
                </a:extLst>
              </p:cNvPr>
              <p:cNvSpPr/>
              <p:nvPr/>
            </p:nvSpPr>
            <p:spPr>
              <a:xfrm>
                <a:off x="10281913" y="4465708"/>
                <a:ext cx="1656392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6A95DB13-DD6D-51CB-9AD9-86AC90137E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1913" y="4465708"/>
                <a:ext cx="1656392" cy="54360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35858" y="5193447"/>
                <a:ext cx="4591646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Since,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IN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77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858" y="5193447"/>
                <a:ext cx="4591646" cy="544460"/>
              </a:xfrm>
              <a:prstGeom prst="rect">
                <a:avLst/>
              </a:prstGeom>
              <a:blipFill>
                <a:blip r:embed="rId24"/>
                <a:stretch>
                  <a:fillRect l="-133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Content Placeholder 4">
                <a:extLst>
                  <a:ext uri="{FF2B5EF4-FFF2-40B4-BE49-F238E27FC236}">
                    <a16:creationId xmlns:a16="http://schemas.microsoft.com/office/drawing/2014/main" id="{CE265650-D4E2-E41A-1812-4ABB21319C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40481" y="5878039"/>
                <a:ext cx="3571642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IN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78" name="Content Placeholder 4">
                <a:extLst>
                  <a:ext uri="{FF2B5EF4-FFF2-40B4-BE49-F238E27FC236}">
                    <a16:creationId xmlns:a16="http://schemas.microsoft.com/office/drawing/2014/main" id="{CE265650-D4E2-E41A-1812-4ABB21319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481" y="5878039"/>
                <a:ext cx="3571642" cy="54446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80270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 animBg="1"/>
      <p:bldP spid="17" grpId="0"/>
      <p:bldP spid="65" grpId="0"/>
      <p:bldP spid="66" grpId="0" animBg="1"/>
      <p:bldP spid="67" grpId="0"/>
      <p:bldP spid="68" grpId="0"/>
      <p:bldP spid="69" grpId="0" animBg="1"/>
      <p:bldP spid="70" grpId="0"/>
      <p:bldP spid="71" grpId="0"/>
      <p:bldP spid="72" grpId="0" animBg="1"/>
      <p:bldP spid="73" grpId="0"/>
      <p:bldP spid="74" grpId="0"/>
      <p:bldP spid="77" grpId="0"/>
      <p:bldP spid="78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28A30-9F9C-CCB2-2562-56A11DFE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7F65214-8FF1-7C84-B79D-5B5772FA806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Method:3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Example:1*</a:t>
                </a:r>
                <a:r>
                  <a:rPr lang="en-IN" dirty="0">
                    <a:solidFill>
                      <a:srgbClr val="FF0000"/>
                    </a:solidFill>
                  </a:rPr>
                  <a:t> [ For understanding ]</a:t>
                </a:r>
                <a:endParaRPr lang="en-IN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7F65214-8FF1-7C84-B79D-5B5772FA80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0BE686F-F0FA-AFFB-8B43-31E8EF4A8C8C}"/>
              </a:ext>
            </a:extLst>
          </p:cNvPr>
          <p:cNvSpPr/>
          <p:nvPr/>
        </p:nvSpPr>
        <p:spPr>
          <a:xfrm>
            <a:off x="122278" y="2153039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A5AEA378-7336-7681-D0DA-1B236F69716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04480" y="798602"/>
                <a:ext cx="10587520" cy="112569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b="1" dirty="0">
                    <a:solidFill>
                      <a:srgbClr val="FF0000"/>
                    </a:solidFill>
                    <a:latin typeface="+mj-lt"/>
                  </a:rPr>
                  <a:t>Determine</a:t>
                </a: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whether vector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−1, 1,10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a linear combination of the vectors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1, 0, 1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−2, 3, −2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&amp;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−6, 7, 5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A5AEA378-7336-7681-D0DA-1B236F6971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480" y="798602"/>
                <a:ext cx="10587520" cy="1125690"/>
              </a:xfrm>
              <a:prstGeom prst="rect">
                <a:avLst/>
              </a:prstGeom>
              <a:blipFill>
                <a:blip r:embed="rId3"/>
                <a:stretch>
                  <a:fillRect l="-1151" t="-541" b="-2324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2BAEB38-1604-6D67-83DE-97158C5606B3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00294356-7D18-0DB2-449E-F8B3F48A182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4354" y="2120163"/>
                <a:ext cx="10522546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00294356-7D18-0DB2-449E-F8B3F48A1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4354" y="2120163"/>
                <a:ext cx="10522546" cy="544460"/>
              </a:xfrm>
              <a:prstGeom prst="rect">
                <a:avLst/>
              </a:prstGeom>
              <a:blipFill>
                <a:blip r:embed="rId4"/>
                <a:stretch>
                  <a:fillRect l="-116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A5F3DFD5-C6B8-3192-D7EE-CF497B81A8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97405" y="3393365"/>
                <a:ext cx="787237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Also,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has 3 co-ordinates       	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𝐢</m:t>
                        </m:r>
                        <m:r>
                          <a:rPr lang="en-US" sz="28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𝐞</m:t>
                        </m:r>
                        <m:r>
                          <a:rPr lang="en-US" sz="28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.   −</m:t>
                        </m:r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8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8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𝟏𝟎</m:t>
                        </m:r>
                        <m:r>
                          <a:rPr lang="en-US" sz="28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. </a:t>
                </a: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A5F3DFD5-C6B8-3192-D7EE-CF497B81A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7405" y="3393365"/>
                <a:ext cx="7872372" cy="540000"/>
              </a:xfrm>
              <a:prstGeom prst="rect">
                <a:avLst/>
              </a:prstGeom>
              <a:blipFill>
                <a:blip r:embed="rId5"/>
                <a:stretch>
                  <a:fillRect l="-155" t="-7955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97408" y="2762365"/>
                <a:ext cx="7465970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Here, There are 3 unknowns	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𝐢</m:t>
                        </m:r>
                        <m:r>
                          <a:rPr lang="en-US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𝐞</m:t>
                        </m:r>
                        <m:r>
                          <a:rPr lang="en-US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.   </m:t>
                        </m:r>
                        <m:sSub>
                          <m:sSubPr>
                            <m:ctrlP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𝐤</m:t>
                            </m:r>
                          </m:e>
                          <m:sub>
                            <m:r>
                              <a:rPr lang="en-US" b="1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𝐤</m:t>
                            </m:r>
                          </m:e>
                          <m:sub>
                            <m:r>
                              <a:rPr lang="en-US" b="1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𝐤</m:t>
                            </m:r>
                          </m:e>
                          <m:sub>
                            <m:r>
                              <a:rPr lang="en-US" b="1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600" i="0" dirty="0">
                    <a:solidFill>
                      <a:srgbClr val="002060"/>
                    </a:solidFill>
                    <a:latin typeface="+mj-lt"/>
                  </a:rPr>
                  <a:t>.</a:t>
                </a:r>
                <a:endParaRPr lang="en-US" sz="2600" b="1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C2E3A768-B2DD-49B5-A909-9453EEB04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7408" y="2762365"/>
                <a:ext cx="7465970" cy="543600"/>
              </a:xfrm>
              <a:prstGeom prst="rect">
                <a:avLst/>
              </a:prstGeom>
              <a:blipFill>
                <a:blip r:embed="rId6"/>
                <a:stretch>
                  <a:fillRect l="-163" t="-13483" r="-1225" b="-2584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4">
                <a:extLst>
                  <a:ext uri="{FF2B5EF4-FFF2-40B4-BE49-F238E27FC236}">
                    <a16:creationId xmlns:a16="http://schemas.microsoft.com/office/drawing/2014/main" id="{A5F3DFD5-C6B8-3192-D7EE-CF497B81A8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97408" y="4027876"/>
                <a:ext cx="703699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So for system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AX</m:t>
                    </m:r>
                    <m: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is a square matrix.  </a:t>
                </a:r>
              </a:p>
            </p:txBody>
          </p:sp>
        </mc:Choice>
        <mc:Fallback xmlns="">
          <p:sp>
            <p:nvSpPr>
              <p:cNvPr id="10" name="Content Placeholder 4">
                <a:extLst>
                  <a:ext uri="{FF2B5EF4-FFF2-40B4-BE49-F238E27FC236}">
                    <a16:creationId xmlns:a16="http://schemas.microsoft.com/office/drawing/2014/main" id="{A5F3DFD5-C6B8-3192-D7EE-CF497B81A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7408" y="4027876"/>
                <a:ext cx="7036992" cy="540000"/>
              </a:xfrm>
              <a:prstGeom prst="rect">
                <a:avLst/>
              </a:prstGeom>
              <a:blipFill>
                <a:blip r:embed="rId7"/>
                <a:stretch>
                  <a:fillRect l="-173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A5F3DFD5-C6B8-3192-D7EE-CF497B81A8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97408" y="4662387"/>
                <a:ext cx="1105761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So, we can check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is linear combination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and</a:t>
                </a:r>
                <a14:m>
                  <m:oMath xmlns:m="http://schemas.openxmlformats.org/officeDocument/2006/math"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using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𝐀</m:t>
                        </m:r>
                        <m:r>
                          <a:rPr lang="en-US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A5F3DFD5-C6B8-3192-D7EE-CF497B81A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7408" y="4662387"/>
                <a:ext cx="11057612" cy="540000"/>
              </a:xfrm>
              <a:prstGeom prst="rect">
                <a:avLst/>
              </a:prstGeom>
              <a:blipFill>
                <a:blip r:embed="rId8"/>
                <a:stretch>
                  <a:fillRect l="-110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4">
                <a:extLst>
                  <a:ext uri="{FF2B5EF4-FFF2-40B4-BE49-F238E27FC236}">
                    <a16:creationId xmlns:a16="http://schemas.microsoft.com/office/drawing/2014/main" id="{A5F3DFD5-C6B8-3192-D7EE-CF497B81A8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4354" y="5296898"/>
                <a:ext cx="860484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Where, columns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𝐀</m:t>
                        </m:r>
                        <m:r>
                          <a:rPr lang="en-US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are vectors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and</a:t>
                </a:r>
                <a14:m>
                  <m:oMath xmlns:m="http://schemas.openxmlformats.org/officeDocument/2006/math"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.</a:t>
                </a:r>
                <a:endParaRPr lang="en-US" sz="28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2" name="Content Placeholder 4">
                <a:extLst>
                  <a:ext uri="{FF2B5EF4-FFF2-40B4-BE49-F238E27FC236}">
                    <a16:creationId xmlns:a16="http://schemas.microsoft.com/office/drawing/2014/main" id="{A5F3DFD5-C6B8-3192-D7EE-CF497B81A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4354" y="5296898"/>
                <a:ext cx="8604846" cy="540000"/>
              </a:xfrm>
              <a:prstGeom prst="rect">
                <a:avLst/>
              </a:prstGeom>
              <a:blipFill>
                <a:blip r:embed="rId9"/>
                <a:stretch>
                  <a:fillRect l="-142" t="-6818" b="-3295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5605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4" grpId="0"/>
      <p:bldP spid="19" grpId="0"/>
      <p:bldP spid="10" grpId="0"/>
      <p:bldP spid="11" grpId="0"/>
      <p:bldP spid="12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28A30-9F9C-CCB2-2562-56A11DFE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7F65214-8FF1-7C84-B79D-5B5772FA806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Method:3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Example:1*</a:t>
                </a:r>
                <a:r>
                  <a:rPr lang="en-IN" dirty="0">
                    <a:solidFill>
                      <a:srgbClr val="FF0000"/>
                    </a:solidFill>
                  </a:rPr>
                  <a:t> [ only for determine ]</a:t>
                </a:r>
                <a:endParaRPr lang="en-IN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7F65214-8FF1-7C84-B79D-5B5772FA80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505A178-6E1B-4EF3-8C4E-F903342994B6}"/>
              </a:ext>
            </a:extLst>
          </p:cNvPr>
          <p:cNvSpPr/>
          <p:nvPr/>
        </p:nvSpPr>
        <p:spPr>
          <a:xfrm>
            <a:off x="122278" y="2153039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EAED72FD-3A0B-4725-8EFB-6EC4D54333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04480" y="798602"/>
                <a:ext cx="10587520" cy="112569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b="1" dirty="0">
                    <a:solidFill>
                      <a:srgbClr val="FF0000"/>
                    </a:solidFill>
                  </a:rPr>
                  <a:t>Determine</a:t>
                </a:r>
                <a:r>
                  <a:rPr lang="en-US" sz="2800" b="1" dirty="0">
                    <a:solidFill>
                      <a:srgbClr val="002060"/>
                    </a:solidFill>
                  </a:rPr>
                  <a:t> </a:t>
                </a:r>
                <a:r>
                  <a:rPr lang="en-US" sz="2800" dirty="0">
                    <a:solidFill>
                      <a:srgbClr val="002060"/>
                    </a:solidFill>
                  </a:rPr>
                  <a:t>whether vector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−1, 1,10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is linear combination of the vectors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1, 0, 1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−2, 3, −2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 &amp;  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−6, 7, 5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EAED72FD-3A0B-4725-8EFB-6EC4D5433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480" y="798602"/>
                <a:ext cx="10587520" cy="1125690"/>
              </a:xfrm>
              <a:prstGeom prst="rect">
                <a:avLst/>
              </a:prstGeom>
              <a:blipFill>
                <a:blip r:embed="rId3"/>
                <a:stretch>
                  <a:fillRect l="-1151" t="-541" b="-2324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4B04F55-3F0B-4BCE-961C-C3442A2016F7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765E7C09-568D-4DA2-89CD-729385F88549}"/>
                  </a:ext>
                </a:extLst>
              </p:cNvPr>
              <p:cNvSpPr txBox="1">
                <a:spLocks/>
              </p:cNvSpPr>
              <p:nvPr/>
            </p:nvSpPr>
            <p:spPr>
              <a:xfrm flipH="1">
                <a:off x="0" y="2954630"/>
                <a:ext cx="1739900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sz="2600" b="1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2" name="Content Placeholder 4">
                <a:extLst>
                  <a:ext uri="{FF2B5EF4-FFF2-40B4-BE49-F238E27FC236}">
                    <a16:creationId xmlns:a16="http://schemas.microsoft.com/office/drawing/2014/main" id="{765E7C09-568D-4DA2-89CD-729385F88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0" y="2954630"/>
                <a:ext cx="1739900" cy="543600"/>
              </a:xfrm>
              <a:prstGeom prst="rect">
                <a:avLst/>
              </a:prstGeom>
              <a:blipFill>
                <a:blip r:embed="rId4"/>
                <a:stretch>
                  <a:fillRect l="-351" t="-13483" b="-24719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02B44620-D312-4E58-9A98-68676648A2C8}"/>
                  </a:ext>
                </a:extLst>
              </p:cNvPr>
              <p:cNvSpPr txBox="1">
                <a:spLocks/>
              </p:cNvSpPr>
              <p:nvPr/>
            </p:nvSpPr>
            <p:spPr>
              <a:xfrm flipH="1">
                <a:off x="1477480" y="2624382"/>
                <a:ext cx="2971800" cy="1356728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en-GB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−6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   </m:t>
                                </m:r>
                                <m:r>
                                  <a:rPr lang="en-US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GB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   7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en-US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   5</m:t>
                                </m:r>
                              </m:e>
                            </m:mr>
                          </m:m>
                          <m:r>
                            <a:rPr lang="en-US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600" b="1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3" name="Content Placeholder 4">
                <a:extLst>
                  <a:ext uri="{FF2B5EF4-FFF2-40B4-BE49-F238E27FC236}">
                    <a16:creationId xmlns:a16="http://schemas.microsoft.com/office/drawing/2014/main" id="{02B44620-D312-4E58-9A98-68676648A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77480" y="2624382"/>
                <a:ext cx="2971800" cy="13567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4">
                <a:extLst>
                  <a:ext uri="{FF2B5EF4-FFF2-40B4-BE49-F238E27FC236}">
                    <a16:creationId xmlns:a16="http://schemas.microsoft.com/office/drawing/2014/main" id="{DA7E507A-F31C-42CD-A275-299A5B1FC3E9}"/>
                  </a:ext>
                </a:extLst>
              </p:cNvPr>
              <p:cNvSpPr txBox="1">
                <a:spLocks/>
              </p:cNvSpPr>
              <p:nvPr/>
            </p:nvSpPr>
            <p:spPr>
              <a:xfrm flipH="1">
                <a:off x="1545214" y="4088325"/>
                <a:ext cx="5846188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 marL="0"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15+14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GB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0−7</m:t>
                          </m:r>
                        </m:e>
                      </m:d>
                      <m:r>
                        <a:rPr lang="en-GB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−6</m:t>
                      </m:r>
                      <m:d>
                        <m:dPr>
                          <m:ctrlPr>
                            <a:rPr lang="en-GB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0−3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600" b="1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6" name="Content Placeholder 4">
                <a:extLst>
                  <a:ext uri="{FF2B5EF4-FFF2-40B4-BE49-F238E27FC236}">
                    <a16:creationId xmlns:a16="http://schemas.microsoft.com/office/drawing/2014/main" id="{DA7E507A-F31C-42CD-A275-299A5B1FC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545214" y="4088325"/>
                <a:ext cx="5846188" cy="543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4">
                <a:extLst>
                  <a:ext uri="{FF2B5EF4-FFF2-40B4-BE49-F238E27FC236}">
                    <a16:creationId xmlns:a16="http://schemas.microsoft.com/office/drawing/2014/main" id="{762FA9B7-4E94-4777-815B-577EDA2B72E1}"/>
                  </a:ext>
                </a:extLst>
              </p:cNvPr>
              <p:cNvSpPr txBox="1">
                <a:spLocks/>
              </p:cNvSpPr>
              <p:nvPr/>
            </p:nvSpPr>
            <p:spPr>
              <a:xfrm flipH="1">
                <a:off x="1502880" y="4739140"/>
                <a:ext cx="2654252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 marL="0"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29</m:t>
                      </m:r>
                      <m:r>
                        <a:rPr lang="en-GB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US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+18</m:t>
                      </m:r>
                    </m:oMath>
                  </m:oMathPara>
                </a14:m>
                <a:endParaRPr lang="en-US" sz="2600" b="1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7" name="Content Placeholder 4">
                <a:extLst>
                  <a:ext uri="{FF2B5EF4-FFF2-40B4-BE49-F238E27FC236}">
                    <a16:creationId xmlns:a16="http://schemas.microsoft.com/office/drawing/2014/main" id="{762FA9B7-4E94-4777-815B-577EDA2B72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502880" y="4739140"/>
                <a:ext cx="2654252" cy="5436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Content Placeholder 4">
                <a:extLst>
                  <a:ext uri="{FF2B5EF4-FFF2-40B4-BE49-F238E27FC236}">
                    <a16:creationId xmlns:a16="http://schemas.microsoft.com/office/drawing/2014/main" id="{431BECED-A5BC-4C97-8036-05C73C134C7F}"/>
                  </a:ext>
                </a:extLst>
              </p:cNvPr>
              <p:cNvSpPr txBox="1">
                <a:spLocks/>
              </p:cNvSpPr>
              <p:nvPr/>
            </p:nvSpPr>
            <p:spPr>
              <a:xfrm flipH="1">
                <a:off x="1502880" y="5389955"/>
                <a:ext cx="1748320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 marL="0"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33≠0 </m:t>
                      </m:r>
                    </m:oMath>
                  </m:oMathPara>
                </a14:m>
                <a:endParaRPr lang="en-US" sz="2600" b="1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8" name="Content Placeholder 4">
                <a:extLst>
                  <a:ext uri="{FF2B5EF4-FFF2-40B4-BE49-F238E27FC236}">
                    <a16:creationId xmlns:a16="http://schemas.microsoft.com/office/drawing/2014/main" id="{431BECED-A5BC-4C97-8036-05C73C134C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502880" y="5389955"/>
                <a:ext cx="1748320" cy="5436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ontent Placeholder 4">
                <a:extLst>
                  <a:ext uri="{FF2B5EF4-FFF2-40B4-BE49-F238E27FC236}">
                    <a16:creationId xmlns:a16="http://schemas.microsoft.com/office/drawing/2014/main" id="{D203491D-E5C9-44A5-AB60-0AB6126D93EC}"/>
                  </a:ext>
                </a:extLst>
              </p:cNvPr>
              <p:cNvSpPr txBox="1">
                <a:spLocks/>
              </p:cNvSpPr>
              <p:nvPr/>
            </p:nvSpPr>
            <p:spPr>
              <a:xfrm flipH="1">
                <a:off x="-22344" y="5894291"/>
                <a:ext cx="6435844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 is linear combination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.</a:t>
                </a:r>
                <a:endParaRPr lang="en-US" sz="2600" b="1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9" name="Content Placeholder 4">
                <a:extLst>
                  <a:ext uri="{FF2B5EF4-FFF2-40B4-BE49-F238E27FC236}">
                    <a16:creationId xmlns:a16="http://schemas.microsoft.com/office/drawing/2014/main" id="{D203491D-E5C9-44A5-AB60-0AB6126D9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-22344" y="5894291"/>
                <a:ext cx="6435844" cy="543600"/>
              </a:xfrm>
              <a:prstGeom prst="rect">
                <a:avLst/>
              </a:prstGeom>
              <a:blipFill>
                <a:blip r:embed="rId9"/>
                <a:stretch>
                  <a:fillRect l="-95" t="-13483" b="-24719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C83AA0FF-5450-45FF-842F-153A73CD3AAE}"/>
              </a:ext>
            </a:extLst>
          </p:cNvPr>
          <p:cNvGrpSpPr/>
          <p:nvPr/>
        </p:nvGrpSpPr>
        <p:grpSpPr>
          <a:xfrm rot="16200000">
            <a:off x="2001565" y="2127523"/>
            <a:ext cx="618918" cy="479544"/>
            <a:chOff x="4191001" y="2560916"/>
            <a:chExt cx="618918" cy="479544"/>
          </a:xfrm>
        </p:grpSpPr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39F93132-3D45-4EB4-BAF7-F26F035EAA12}"/>
                </a:ext>
              </a:extLst>
            </p:cNvPr>
            <p:cNvCxnSpPr/>
            <p:nvPr/>
          </p:nvCxnSpPr>
          <p:spPr>
            <a:xfrm>
              <a:off x="4191001" y="2846161"/>
              <a:ext cx="360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Content Placeholder 4">
                  <a:extLst>
                    <a:ext uri="{FF2B5EF4-FFF2-40B4-BE49-F238E27FC236}">
                      <a16:creationId xmlns:a16="http://schemas.microsoft.com/office/drawing/2014/main" id="{E2D190A5-6CAE-4FE7-AFB1-8B2D3DC22F5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rot="5400000" flipH="1">
                  <a:off x="4386900" y="2617440"/>
                  <a:ext cx="479544" cy="366495"/>
                </a:xfrm>
                <a:prstGeom prst="rect">
                  <a:avLst/>
                </a:prstGeom>
                <a:noFill/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lIns="91440" tIns="45720" rIns="91440" bIns="45720" rtlCol="0" anchor="ctr">
                  <a:noAutofit/>
                </a:bodyPr>
                <a:lstStyle>
                  <a:defPPr>
                    <a:defRPr lang="en-US"/>
                  </a:defPPr>
                  <a:lvl1pPr marL="118745" algn="just">
                    <a:lnSpc>
                      <a:spcPct val="115000"/>
                    </a:lnSpc>
                    <a:spcBef>
                      <a:spcPts val="1000"/>
                    </a:spcBef>
                    <a:spcAft>
                      <a:spcPts val="800"/>
                    </a:spcAft>
                    <a:buClr>
                      <a:schemeClr val="accent6"/>
                    </a:buClr>
                    <a:buFont typeface="Wingdings 3" panose="05040102010807070707" pitchFamily="18" charset="2"/>
                    <a:buNone/>
                    <a:defRPr sz="2800">
                      <a:solidFill>
                        <a:srgbClr val="3A4A6A"/>
                      </a:solidFill>
                    </a:defRPr>
                  </a:lvl1pPr>
                </a:lstStyle>
                <a:p>
                  <a:pPr>
                    <a:lnSpc>
                      <a:spcPct val="9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oMath>
                    </m:oMathPara>
                  </a14:m>
                  <a:endParaRPr lang="en-US" sz="2600" b="1" dirty="0">
                    <a:solidFill>
                      <a:srgbClr val="002060"/>
                    </a:solidFill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14" name="Content Placeholder 4">
                  <a:extLst>
                    <a:ext uri="{FF2B5EF4-FFF2-40B4-BE49-F238E27FC236}">
                      <a16:creationId xmlns:a16="http://schemas.microsoft.com/office/drawing/2014/main" id="{C2E3A768-B2DD-49B5-A909-9453EEB041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 flipH="1">
                  <a:off x="4386900" y="2617440"/>
                  <a:ext cx="479544" cy="36649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12700" cap="flat" cmpd="sng" algn="ctr">
                  <a:noFill/>
                  <a:prstDash val="solid"/>
                  <a:miter lim="800000"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0ABD359-7D25-4907-AFED-411A47AF2415}"/>
              </a:ext>
            </a:extLst>
          </p:cNvPr>
          <p:cNvGrpSpPr/>
          <p:nvPr/>
        </p:nvGrpSpPr>
        <p:grpSpPr>
          <a:xfrm rot="16200000">
            <a:off x="2801099" y="2125971"/>
            <a:ext cx="614036" cy="479544"/>
            <a:chOff x="4191000" y="2533930"/>
            <a:chExt cx="614036" cy="479544"/>
          </a:xfrm>
        </p:grpSpPr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7A972D2A-6330-4071-94EA-40BB37781B75}"/>
                </a:ext>
              </a:extLst>
            </p:cNvPr>
            <p:cNvCxnSpPr/>
            <p:nvPr/>
          </p:nvCxnSpPr>
          <p:spPr>
            <a:xfrm>
              <a:off x="4191000" y="2830286"/>
              <a:ext cx="360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Content Placeholder 4">
                  <a:extLst>
                    <a:ext uri="{FF2B5EF4-FFF2-40B4-BE49-F238E27FC236}">
                      <a16:creationId xmlns:a16="http://schemas.microsoft.com/office/drawing/2014/main" id="{7AD73C57-3BA7-45D4-A5AF-D212E6E73C6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rot="5400000" flipH="1">
                  <a:off x="4382017" y="2590454"/>
                  <a:ext cx="479544" cy="366495"/>
                </a:xfrm>
                <a:prstGeom prst="rect">
                  <a:avLst/>
                </a:prstGeom>
                <a:noFill/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lIns="91440" tIns="45720" rIns="91440" bIns="45720" rtlCol="0" anchor="ctr">
                  <a:noAutofit/>
                </a:bodyPr>
                <a:lstStyle>
                  <a:defPPr>
                    <a:defRPr lang="en-US"/>
                  </a:defPPr>
                  <a:lvl1pPr marL="118745" algn="just">
                    <a:lnSpc>
                      <a:spcPct val="115000"/>
                    </a:lnSpc>
                    <a:spcBef>
                      <a:spcPts val="1000"/>
                    </a:spcBef>
                    <a:spcAft>
                      <a:spcPts val="800"/>
                    </a:spcAft>
                    <a:buClr>
                      <a:schemeClr val="accent6"/>
                    </a:buClr>
                    <a:buFont typeface="Wingdings 3" panose="05040102010807070707" pitchFamily="18" charset="2"/>
                    <a:buNone/>
                    <a:defRPr sz="2800">
                      <a:solidFill>
                        <a:srgbClr val="3A4A6A"/>
                      </a:solidFill>
                    </a:defRPr>
                  </a:lvl1pPr>
                </a:lstStyle>
                <a:p>
                  <a:pPr>
                    <a:lnSpc>
                      <a:spcPct val="9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oMath>
                    </m:oMathPara>
                  </a14:m>
                  <a:endParaRPr lang="en-US" sz="2600" b="1" dirty="0">
                    <a:solidFill>
                      <a:srgbClr val="002060"/>
                    </a:solidFill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22" name="Content Placeholder 4">
                  <a:extLst>
                    <a:ext uri="{FF2B5EF4-FFF2-40B4-BE49-F238E27FC236}">
                      <a16:creationId xmlns:a16="http://schemas.microsoft.com/office/drawing/2014/main" id="{C2E3A768-B2DD-49B5-A909-9453EEB041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 flipH="1">
                  <a:off x="4382017" y="2590454"/>
                  <a:ext cx="479544" cy="366495"/>
                </a:xfrm>
                <a:prstGeom prst="rect">
                  <a:avLst/>
                </a:prstGeom>
                <a:blipFill>
                  <a:blip r:embed="rId11"/>
                  <a:stretch>
                    <a:fillRect t="-5000"/>
                  </a:stretch>
                </a:blipFill>
                <a:ln w="12700" cap="flat" cmpd="sng" algn="ctr">
                  <a:noFill/>
                  <a:prstDash val="solid"/>
                  <a:miter lim="800000"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F76BF64-DBEC-4B09-9990-A0430F703508}"/>
              </a:ext>
            </a:extLst>
          </p:cNvPr>
          <p:cNvGrpSpPr/>
          <p:nvPr/>
        </p:nvGrpSpPr>
        <p:grpSpPr>
          <a:xfrm rot="16200000">
            <a:off x="3662475" y="2124916"/>
            <a:ext cx="616149" cy="479544"/>
            <a:chOff x="4191001" y="2549123"/>
            <a:chExt cx="616149" cy="479544"/>
          </a:xfrm>
        </p:grpSpPr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E12E5519-F369-4727-9E67-A162657D600A}"/>
                </a:ext>
              </a:extLst>
            </p:cNvPr>
            <p:cNvCxnSpPr/>
            <p:nvPr/>
          </p:nvCxnSpPr>
          <p:spPr>
            <a:xfrm>
              <a:off x="4191001" y="2830285"/>
              <a:ext cx="360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Content Placeholder 4">
                  <a:extLst>
                    <a:ext uri="{FF2B5EF4-FFF2-40B4-BE49-F238E27FC236}">
                      <a16:creationId xmlns:a16="http://schemas.microsoft.com/office/drawing/2014/main" id="{67448279-4C4B-4CC0-B7AD-5B702BECE9C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rot="5400000" flipH="1">
                  <a:off x="4384131" y="2605647"/>
                  <a:ext cx="479544" cy="366495"/>
                </a:xfrm>
                <a:prstGeom prst="rect">
                  <a:avLst/>
                </a:prstGeom>
                <a:noFill/>
                <a:ln w="12700" cap="flat" cmpd="sng" algn="ctr">
                  <a:noFill/>
                  <a:prstDash val="solid"/>
                  <a:miter lim="800000"/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lIns="91440" tIns="45720" rIns="91440" bIns="45720" rtlCol="0" anchor="ctr">
                  <a:noAutofit/>
                </a:bodyPr>
                <a:lstStyle>
                  <a:defPPr>
                    <a:defRPr lang="en-US"/>
                  </a:defPPr>
                  <a:lvl1pPr marL="118745" algn="just">
                    <a:lnSpc>
                      <a:spcPct val="115000"/>
                    </a:lnSpc>
                    <a:spcBef>
                      <a:spcPts val="1000"/>
                    </a:spcBef>
                    <a:spcAft>
                      <a:spcPts val="800"/>
                    </a:spcAft>
                    <a:buClr>
                      <a:schemeClr val="accent6"/>
                    </a:buClr>
                    <a:buFont typeface="Wingdings 3" panose="05040102010807070707" pitchFamily="18" charset="2"/>
                    <a:buNone/>
                    <a:defRPr sz="2800">
                      <a:solidFill>
                        <a:srgbClr val="3A4A6A"/>
                      </a:solidFill>
                    </a:defRPr>
                  </a:lvl1pPr>
                </a:lstStyle>
                <a:p>
                  <a:pPr>
                    <a:lnSpc>
                      <a:spcPct val="9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oMath>
                    </m:oMathPara>
                  </a14:m>
                  <a:endParaRPr lang="en-US" sz="2600" b="1" dirty="0">
                    <a:solidFill>
                      <a:srgbClr val="002060"/>
                    </a:solidFill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25" name="Content Placeholder 4">
                  <a:extLst>
                    <a:ext uri="{FF2B5EF4-FFF2-40B4-BE49-F238E27FC236}">
                      <a16:creationId xmlns:a16="http://schemas.microsoft.com/office/drawing/2014/main" id="{C2E3A768-B2DD-49B5-A909-9453EEB041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 flipH="1">
                  <a:off x="4384131" y="2605647"/>
                  <a:ext cx="479544" cy="366495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 w="12700" cap="flat" cmpd="sng" algn="ctr">
                  <a:noFill/>
                  <a:prstDash val="solid"/>
                  <a:miter lim="800000"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9" name="Rounded Rectangle 5">
            <a:extLst>
              <a:ext uri="{FF2B5EF4-FFF2-40B4-BE49-F238E27FC236}">
                <a16:creationId xmlns:a16="http://schemas.microsoft.com/office/drawing/2014/main" id="{8072F476-38C9-4116-8F74-D1E696A8FD46}"/>
              </a:ext>
            </a:extLst>
          </p:cNvPr>
          <p:cNvSpPr/>
          <p:nvPr/>
        </p:nvSpPr>
        <p:spPr>
          <a:xfrm>
            <a:off x="3490800" y="1574906"/>
            <a:ext cx="397782" cy="35811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0" name="Rounded Rectangle 25">
            <a:extLst>
              <a:ext uri="{FF2B5EF4-FFF2-40B4-BE49-F238E27FC236}">
                <a16:creationId xmlns:a16="http://schemas.microsoft.com/office/drawing/2014/main" id="{341BCC8D-A5C4-479C-9D95-1EAD7A8B80F2}"/>
              </a:ext>
            </a:extLst>
          </p:cNvPr>
          <p:cNvSpPr/>
          <p:nvPr/>
        </p:nvSpPr>
        <p:spPr>
          <a:xfrm>
            <a:off x="5510178" y="1574906"/>
            <a:ext cx="529448" cy="35811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1" name="Rounded Rectangle 26">
            <a:extLst>
              <a:ext uri="{FF2B5EF4-FFF2-40B4-BE49-F238E27FC236}">
                <a16:creationId xmlns:a16="http://schemas.microsoft.com/office/drawing/2014/main" id="{4E9E79B6-6789-42EA-9A97-1DFD235A3437}"/>
              </a:ext>
            </a:extLst>
          </p:cNvPr>
          <p:cNvSpPr/>
          <p:nvPr/>
        </p:nvSpPr>
        <p:spPr>
          <a:xfrm>
            <a:off x="8350992" y="1574906"/>
            <a:ext cx="529448" cy="35811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2" name="Rounded Rectangle 27">
            <a:extLst>
              <a:ext uri="{FF2B5EF4-FFF2-40B4-BE49-F238E27FC236}">
                <a16:creationId xmlns:a16="http://schemas.microsoft.com/office/drawing/2014/main" id="{A091BB3B-4B47-464D-AA17-8A70227D33AE}"/>
              </a:ext>
            </a:extLst>
          </p:cNvPr>
          <p:cNvSpPr/>
          <p:nvPr/>
        </p:nvSpPr>
        <p:spPr>
          <a:xfrm>
            <a:off x="2172858" y="2622183"/>
            <a:ext cx="1984274" cy="41965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2005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36" grpId="0"/>
      <p:bldP spid="37" grpId="0"/>
      <p:bldP spid="38" grpId="0"/>
      <p:bldP spid="39" grpId="0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A795C-3F85-D658-6DC6-FA9721BB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E6C0FEF-1015-B9FD-C763-66C9445745F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Method:3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E6C0FEF-1015-B9FD-C763-66C944574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EEC6D62-A8E1-3CCE-5180-C89445E9D872}"/>
              </a:ext>
            </a:extLst>
          </p:cNvPr>
          <p:cNvSpPr/>
          <p:nvPr/>
        </p:nvSpPr>
        <p:spPr>
          <a:xfrm>
            <a:off x="122278" y="2153039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4E739BDA-F9F6-4CF9-911F-7CB8AB0A6FC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04480" y="798602"/>
                <a:ext cx="10587520" cy="112569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Express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1,</m:t>
                        </m:r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−7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as a linear combination of the vectors</a:t>
                </a:r>
                <a:br>
                  <a:rPr lang="en-US" sz="2800" dirty="0">
                    <a:solidFill>
                      <a:srgbClr val="002060"/>
                    </a:solidFill>
                    <a:latin typeface="+mj-lt"/>
                  </a:rPr>
                </a:b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1, </m:t>
                        </m:r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&amp;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e>
                    </m:d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IN" sz="2800" dirty="0">
                    <a:solidFill>
                      <a:srgbClr val="002060"/>
                    </a:solidFill>
                    <a:latin typeface="+mj-lt"/>
                  </a:rPr>
                  <a:t> if possible.</a:t>
                </a: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4E739BDA-F9F6-4CF9-911F-7CB8AB0A6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480" y="798602"/>
                <a:ext cx="10587520" cy="1125690"/>
              </a:xfrm>
              <a:prstGeom prst="rect">
                <a:avLst/>
              </a:prstGeom>
              <a:blipFill>
                <a:blip r:embed="rId3"/>
                <a:stretch>
                  <a:fillRect l="-1151" t="-541" r="-1209" b="-2324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2CB46D94-2570-D874-4F3A-18EA466D57FD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8FE7808-6070-3058-1843-37B57D298DA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4354" y="2120163"/>
                <a:ext cx="4591646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8FE7808-6070-3058-1843-37B57D298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4354" y="2120163"/>
                <a:ext cx="4591646" cy="544460"/>
              </a:xfrm>
              <a:prstGeom prst="rect">
                <a:avLst/>
              </a:prstGeom>
              <a:blipFill>
                <a:blip r:embed="rId4"/>
                <a:stretch>
                  <a:fillRect l="-266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BF4617CF-F891-0C68-131C-65E9FF00168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2808" y="2802354"/>
                <a:ext cx="8827692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IN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IN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IN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−7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BF4617CF-F891-0C68-131C-65E9FF001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08" y="2802354"/>
                <a:ext cx="8827692" cy="5436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89163715-BC29-E470-061B-F3C3EE71B45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2808" y="3459991"/>
                <a:ext cx="11664000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−7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IN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1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+0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,−2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+5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IN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+5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+8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IN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89163715-BC29-E470-061B-F3C3EE71B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08" y="3459991"/>
                <a:ext cx="11664000" cy="543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Content Placeholder 4">
            <a:extLst>
              <a:ext uri="{FF2B5EF4-FFF2-40B4-BE49-F238E27FC236}">
                <a16:creationId xmlns:a16="http://schemas.microsoft.com/office/drawing/2014/main" id="{1A2EE99E-860B-EE9D-4F59-C6C2CE57581D}"/>
              </a:ext>
            </a:extLst>
          </p:cNvPr>
          <p:cNvSpPr txBox="1">
            <a:spLocks/>
          </p:cNvSpPr>
          <p:nvPr/>
        </p:nvSpPr>
        <p:spPr>
          <a:xfrm>
            <a:off x="122278" y="4084644"/>
            <a:ext cx="6138822" cy="5436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118745" algn="just">
              <a:lnSpc>
                <a:spcPct val="115000"/>
              </a:lnSpc>
              <a:spcBef>
                <a:spcPts val="1000"/>
              </a:spcBef>
              <a:spcAft>
                <a:spcPts val="800"/>
              </a:spcAft>
              <a:buClr>
                <a:schemeClr val="accent6"/>
              </a:buClr>
              <a:buFont typeface="Wingdings 3" panose="05040102010807070707" pitchFamily="18" charset="2"/>
              <a:buNone/>
              <a:defRPr sz="2800">
                <a:solidFill>
                  <a:srgbClr val="3A4A6A"/>
                </a:solidFill>
              </a:defRPr>
            </a:lvl1pPr>
          </a:lstStyle>
          <a:p>
            <a:pPr>
              <a:lnSpc>
                <a:spcPct val="90000"/>
              </a:lnSpc>
            </a:pPr>
            <a:r>
              <a:rPr lang="en-US" i="0" dirty="0">
                <a:solidFill>
                  <a:srgbClr val="002060"/>
                </a:solidFill>
                <a:latin typeface="+mj-lt"/>
              </a:rPr>
              <a:t>Comparing both the sides, we have </a:t>
            </a:r>
            <a:endParaRPr lang="en-US" dirty="0">
              <a:solidFill>
                <a:srgbClr val="002060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DA3FB432-213C-F5B1-722C-0AC4D2E3EC7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2808" y="4721997"/>
                <a:ext cx="4027765" cy="181378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 algn="l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1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+0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en-US" b="0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algn="l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IN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5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b="0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algn="l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+5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8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−7</m:t>
                    </m:r>
                  </m:oMath>
                </a14:m>
                <a:r>
                  <a:rPr lang="en-US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DA3FB432-213C-F5B1-722C-0AC4D2E3EC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08" y="4721997"/>
                <a:ext cx="4027765" cy="18137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417247DC-46B7-A8CF-B0B6-506BF2075685}"/>
              </a:ext>
            </a:extLst>
          </p:cNvPr>
          <p:cNvSpPr/>
          <p:nvPr/>
        </p:nvSpPr>
        <p:spPr>
          <a:xfrm>
            <a:off x="4060825" y="4721997"/>
            <a:ext cx="571500" cy="1734456"/>
          </a:xfrm>
          <a:prstGeom prst="rightBrace">
            <a:avLst>
              <a:gd name="adj1" fmla="val 230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Content Placeholder 4">
            <a:extLst>
              <a:ext uri="{FF2B5EF4-FFF2-40B4-BE49-F238E27FC236}">
                <a16:creationId xmlns:a16="http://schemas.microsoft.com/office/drawing/2014/main" id="{0F2CC2B2-AD63-B121-6537-73610004E019}"/>
              </a:ext>
            </a:extLst>
          </p:cNvPr>
          <p:cNvSpPr txBox="1">
            <a:spLocks/>
          </p:cNvSpPr>
          <p:nvPr/>
        </p:nvSpPr>
        <p:spPr>
          <a:xfrm>
            <a:off x="4657725" y="5317425"/>
            <a:ext cx="6707147" cy="543600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ysDash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118745" algn="just">
              <a:lnSpc>
                <a:spcPct val="115000"/>
              </a:lnSpc>
              <a:spcBef>
                <a:spcPts val="1000"/>
              </a:spcBef>
              <a:spcAft>
                <a:spcPts val="800"/>
              </a:spcAft>
              <a:buClr>
                <a:schemeClr val="accent6"/>
              </a:buClr>
              <a:buFont typeface="Wingdings 3" panose="05040102010807070707" pitchFamily="18" charset="2"/>
              <a:buNone/>
              <a:defRPr sz="2800">
                <a:solidFill>
                  <a:srgbClr val="3A4A6A"/>
                </a:solidFill>
              </a:defRPr>
            </a:lvl1pPr>
          </a:lstStyle>
          <a:p>
            <a:pPr>
              <a:lnSpc>
                <a:spcPct val="90000"/>
              </a:lnSpc>
            </a:pPr>
            <a:r>
              <a:rPr lang="en-US" i="0" dirty="0">
                <a:solidFill>
                  <a:srgbClr val="002060"/>
                </a:solidFill>
                <a:latin typeface="+mj-lt"/>
              </a:rPr>
              <a:t>Let us solve using Gauss Elimination Method.</a:t>
            </a:r>
            <a:endParaRPr lang="en-US" dirty="0">
              <a:solidFill>
                <a:srgbClr val="002060"/>
              </a:solidFill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839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  <p:bldP spid="28" grpId="0"/>
      <p:bldP spid="29" grpId="0"/>
      <p:bldP spid="4" grpId="0" animBg="1"/>
      <p:bldP spid="3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A4B4A-CF9F-DEE4-ACCA-1DC3494F9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BA9B6D6-1692-DD7D-9035-0BC63300A29B}"/>
              </a:ext>
            </a:extLst>
          </p:cNvPr>
          <p:cNvGrpSpPr/>
          <p:nvPr/>
        </p:nvGrpSpPr>
        <p:grpSpPr>
          <a:xfrm>
            <a:off x="1910158" y="3474836"/>
            <a:ext cx="3341292" cy="1376564"/>
            <a:chOff x="1910158" y="3474836"/>
            <a:chExt cx="3341292" cy="137656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F417118A-890D-78AC-7969-6E5C305166EB}"/>
                    </a:ext>
                  </a:extLst>
                </p:cNvPr>
                <p:cNvSpPr/>
                <p:nvPr/>
              </p:nvSpPr>
              <p:spPr>
                <a:xfrm>
                  <a:off x="4158321" y="3474836"/>
                  <a:ext cx="786201" cy="12664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−7</m:t>
                              </m:r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F417118A-890D-78AC-7969-6E5C305166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8321" y="3474836"/>
                  <a:ext cx="786201" cy="126647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7838E14-6DA2-7161-1D38-3708A3561FC2}"/>
                </a:ext>
              </a:extLst>
            </p:cNvPr>
            <p:cNvGrpSpPr/>
            <p:nvPr/>
          </p:nvGrpSpPr>
          <p:grpSpPr>
            <a:xfrm>
              <a:off x="1910158" y="3480476"/>
              <a:ext cx="3341292" cy="1370924"/>
              <a:chOff x="1833958" y="3480476"/>
              <a:chExt cx="2858692" cy="148522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8A52081F-953E-59EE-F76D-87B48440A334}"/>
                      </a:ext>
                    </a:extLst>
                  </p:cNvPr>
                  <p:cNvSpPr/>
                  <p:nvPr/>
                </p:nvSpPr>
                <p:spPr>
                  <a:xfrm>
                    <a:off x="1833958" y="3480476"/>
                    <a:ext cx="2858692" cy="14852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e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 2</m:t>
                                    </m:r>
                                  </m:e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e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e>
                                </m:mr>
                              </m:m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        </m:t>
                              </m:r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oMath>
                      </m:oMathPara>
                    </a14:m>
                    <a:endParaRPr lang="en-IN" sz="2800" dirty="0">
                      <a:solidFill>
                        <a:srgbClr val="00206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8A52081F-953E-59EE-F76D-87B48440A33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3958" y="3480476"/>
                    <a:ext cx="2858692" cy="148522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E8C9F747-7AD3-F1ED-91D7-CB0859012F13}"/>
                  </a:ext>
                </a:extLst>
              </p:cNvPr>
              <p:cNvCxnSpPr/>
              <p:nvPr/>
            </p:nvCxnSpPr>
            <p:spPr>
              <a:xfrm>
                <a:off x="3757406" y="3514747"/>
                <a:ext cx="0" cy="132605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131C871-AEE2-66C5-22F0-F2A8AFB673B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Method:3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131C871-AEE2-66C5-22F0-F2A8AFB673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16E27A61-A74A-EBC5-7216-484AC2382B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2808" y="848497"/>
                <a:ext cx="4027765" cy="181378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 algn="l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1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IN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+0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IN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IN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en-US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algn="l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IN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5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IN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algn="l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IN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IN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+5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8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IN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−7</m:t>
                    </m:r>
                  </m:oMath>
                </a14:m>
                <a:r>
                  <a:rPr lang="en-US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16E27A61-A74A-EBC5-7216-484AC2382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08" y="848497"/>
                <a:ext cx="4027765" cy="18137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748FD3A7-A988-C981-98B7-F6B868FDE8FF}"/>
              </a:ext>
            </a:extLst>
          </p:cNvPr>
          <p:cNvSpPr/>
          <p:nvPr/>
        </p:nvSpPr>
        <p:spPr>
          <a:xfrm>
            <a:off x="252808" y="2799580"/>
            <a:ext cx="6020992" cy="54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rgbClr val="002060"/>
                </a:solidFill>
              </a:rPr>
              <a:t>The Augmented matrix of the </a:t>
            </a:r>
            <a:r>
              <a:rPr lang="en-US" sz="2800" dirty="0">
                <a:solidFill>
                  <a:srgbClr val="002060"/>
                </a:solidFill>
              </a:rPr>
              <a:t>system is</a:t>
            </a:r>
            <a:endParaRPr lang="en-IN" sz="28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0BAA46A-5E60-01EF-8454-2F99B9504D74}"/>
                  </a:ext>
                </a:extLst>
              </p:cNvPr>
              <p:cNvSpPr/>
              <p:nvPr/>
            </p:nvSpPr>
            <p:spPr>
              <a:xfrm>
                <a:off x="252808" y="3848776"/>
                <a:ext cx="1728392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"/>
                              <m:endChr m:val="|"/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IN" sz="2800" b="0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IN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  <a:p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21C6629-897D-4685-8AB6-97C2187F44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08" y="3848776"/>
                <a:ext cx="1728392" cy="543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6670677B-64B7-01CB-0D8B-CB0DEA41E798}"/>
                  </a:ext>
                </a:extLst>
              </p:cNvPr>
              <p:cNvSpPr/>
              <p:nvPr/>
            </p:nvSpPr>
            <p:spPr>
              <a:xfrm>
                <a:off x="2055552" y="4851400"/>
                <a:ext cx="1623409" cy="564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GB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𝟏𝟐</m:t>
                          </m:r>
                        </m:sub>
                      </m:sSub>
                      <m:d>
                        <m:dPr>
                          <m:ctrlPr>
                            <a:rPr lang="en-GB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  <m:r>
                        <a:rPr lang="en-IN" sz="28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6670677B-64B7-01CB-0D8B-CB0DEA41E7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5552" y="4851400"/>
                <a:ext cx="1623409" cy="5648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: Rounded Corners 37">
            <a:extLst>
              <a:ext uri="{FF2B5EF4-FFF2-40B4-BE49-F238E27FC236}">
                <a16:creationId xmlns:a16="http://schemas.microsoft.com/office/drawing/2014/main" id="{C23C8852-12D4-0359-F932-9FDF57F1804C}"/>
              </a:ext>
            </a:extLst>
          </p:cNvPr>
          <p:cNvSpPr/>
          <p:nvPr/>
        </p:nvSpPr>
        <p:spPr>
          <a:xfrm>
            <a:off x="6078000" y="861732"/>
            <a:ext cx="36000" cy="56628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28AA582-ECCB-5069-619E-FB788BF11506}"/>
                  </a:ext>
                </a:extLst>
              </p:cNvPr>
              <p:cNvSpPr/>
              <p:nvPr/>
            </p:nvSpPr>
            <p:spPr>
              <a:xfrm>
                <a:off x="3440795" y="4851400"/>
                <a:ext cx="1623409" cy="564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GB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IN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d>
                        <m:dPr>
                          <m:ctrlPr>
                            <a:rPr lang="en-GB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IN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28AA582-ECCB-5069-619E-FB788BF115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0795" y="4851400"/>
                <a:ext cx="1623409" cy="56488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3C616AC6-D580-2BB2-DB44-93592F0366D0}"/>
              </a:ext>
            </a:extLst>
          </p:cNvPr>
          <p:cNvGrpSpPr/>
          <p:nvPr/>
        </p:nvGrpSpPr>
        <p:grpSpPr>
          <a:xfrm>
            <a:off x="6598049" y="904194"/>
            <a:ext cx="3571656" cy="1370924"/>
            <a:chOff x="6686773" y="3163314"/>
            <a:chExt cx="3571656" cy="1370924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914140BC-B28E-6515-1539-88ADF94FDE60}"/>
                </a:ext>
              </a:extLst>
            </p:cNvPr>
            <p:cNvGrpSpPr/>
            <p:nvPr/>
          </p:nvGrpSpPr>
          <p:grpSpPr>
            <a:xfrm>
              <a:off x="6686773" y="3163314"/>
              <a:ext cx="3571656" cy="1370924"/>
              <a:chOff x="1833958" y="3480476"/>
              <a:chExt cx="3055783" cy="148522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2C7F1FA6-E0AC-E346-C00C-B748C2AA963C}"/>
                      </a:ext>
                    </a:extLst>
                  </p:cNvPr>
                  <p:cNvSpPr/>
                  <p:nvPr/>
                </p:nvSpPr>
                <p:spPr>
                  <a:xfrm>
                    <a:off x="1833958" y="3480476"/>
                    <a:ext cx="3055783" cy="14852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r>
                      <a:rPr lang="en-IN" sz="2800" b="0" dirty="0">
                        <a:solidFill>
                          <a:srgbClr val="002060"/>
                        </a:solidFill>
                      </a:rPr>
                      <a:t>~ </a:t>
                    </a:r>
                    <a14:m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e>
                              </m:mr>
                            </m:m>
                            <m: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</m:t>
                            </m:r>
                            <m:r>
                              <a:rPr lang="en-GB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oMath>
                    </a14:m>
                    <a:endParaRPr lang="en-IN" sz="2800" dirty="0">
                      <a:solidFill>
                        <a:srgbClr val="00206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2C7F1FA6-E0AC-E346-C00C-B748C2AA963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3958" y="3480476"/>
                    <a:ext cx="3055783" cy="148522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413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844986CB-A718-5FFC-59F1-52ABA39E0CB3}"/>
                  </a:ext>
                </a:extLst>
              </p:cNvPr>
              <p:cNvCxnSpPr/>
              <p:nvPr/>
            </p:nvCxnSpPr>
            <p:spPr>
              <a:xfrm>
                <a:off x="3618044" y="3514747"/>
                <a:ext cx="0" cy="132605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7E5369E6-82B2-0478-5469-7F290CDD07D5}"/>
                    </a:ext>
                  </a:extLst>
                </p:cNvPr>
                <p:cNvSpPr/>
                <p:nvPr/>
              </p:nvSpPr>
              <p:spPr>
                <a:xfrm>
                  <a:off x="8713512" y="3163314"/>
                  <a:ext cx="786201" cy="12664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 1</m:t>
                              </m:r>
                            </m:e>
                          </m:mr>
                          <m:mr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−7</m:t>
                              </m:r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7E5369E6-82B2-0478-5469-7F290CDD07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3512" y="3163314"/>
                  <a:ext cx="786201" cy="126647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7EB9FF8-9E91-2070-67CA-9BE16297A1D4}"/>
              </a:ext>
            </a:extLst>
          </p:cNvPr>
          <p:cNvGrpSpPr/>
          <p:nvPr/>
        </p:nvGrpSpPr>
        <p:grpSpPr>
          <a:xfrm>
            <a:off x="6600256" y="904287"/>
            <a:ext cx="3571656" cy="1370924"/>
            <a:chOff x="6686773" y="3163314"/>
            <a:chExt cx="3571656" cy="1370924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E8A1BA3-2AE7-33AA-DC94-BA1B187D0CFA}"/>
                </a:ext>
              </a:extLst>
            </p:cNvPr>
            <p:cNvGrpSpPr/>
            <p:nvPr/>
          </p:nvGrpSpPr>
          <p:grpSpPr>
            <a:xfrm>
              <a:off x="6686773" y="3163314"/>
              <a:ext cx="3571656" cy="1370924"/>
              <a:chOff x="1833958" y="3480476"/>
              <a:chExt cx="3055783" cy="148522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F503F055-070B-967D-2A46-3218E21D9EC0}"/>
                      </a:ext>
                    </a:extLst>
                  </p:cNvPr>
                  <p:cNvSpPr/>
                  <p:nvPr/>
                </p:nvSpPr>
                <p:spPr>
                  <a:xfrm>
                    <a:off x="1833958" y="3480476"/>
                    <a:ext cx="3055783" cy="14852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r>
                      <a:rPr lang="en-IN" sz="2800" b="0" dirty="0">
                        <a:solidFill>
                          <a:srgbClr val="002060"/>
                        </a:solidFill>
                      </a:rPr>
                      <a:t>~ </a:t>
                    </a:r>
                    <a14:m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mr>
                            </m:m>
                            <m: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</m:t>
                            </m:r>
                            <m:r>
                              <a:rPr lang="en-GB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oMath>
                    </a14:m>
                    <a:endParaRPr lang="en-IN" sz="2800" dirty="0">
                      <a:solidFill>
                        <a:srgbClr val="00206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F503F055-070B-967D-2A46-3218E21D9EC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3958" y="3480476"/>
                    <a:ext cx="3055783" cy="148522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3584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9DAE9F9F-D414-12AE-F50A-CB9F17B4D243}"/>
                  </a:ext>
                </a:extLst>
              </p:cNvPr>
              <p:cNvCxnSpPr/>
              <p:nvPr/>
            </p:nvCxnSpPr>
            <p:spPr>
              <a:xfrm>
                <a:off x="3616209" y="3514747"/>
                <a:ext cx="0" cy="132605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600F943A-92A3-F303-9DD6-4842E6C1CE61}"/>
                    </a:ext>
                  </a:extLst>
                </p:cNvPr>
                <p:cNvSpPr/>
                <p:nvPr/>
              </p:nvSpPr>
              <p:spPr>
                <a:xfrm>
                  <a:off x="8713435" y="3163314"/>
                  <a:ext cx="786201" cy="12664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3</m:t>
                              </m:r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600F943A-92A3-F303-9DD6-4842E6C1CE6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3435" y="3163314"/>
                  <a:ext cx="786201" cy="126647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8E3FAF2-A1F9-7786-6429-81AB1F1F51A1}"/>
              </a:ext>
            </a:extLst>
          </p:cNvPr>
          <p:cNvGrpSpPr/>
          <p:nvPr/>
        </p:nvGrpSpPr>
        <p:grpSpPr>
          <a:xfrm>
            <a:off x="6598049" y="2914993"/>
            <a:ext cx="3571656" cy="1370924"/>
            <a:chOff x="6686773" y="3163314"/>
            <a:chExt cx="3571656" cy="1370924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7BD007D5-9CE0-8D56-3CD7-D07FA7F6A0BB}"/>
                </a:ext>
              </a:extLst>
            </p:cNvPr>
            <p:cNvGrpSpPr/>
            <p:nvPr/>
          </p:nvGrpSpPr>
          <p:grpSpPr>
            <a:xfrm>
              <a:off x="6686773" y="3163314"/>
              <a:ext cx="3571656" cy="1370924"/>
              <a:chOff x="1833958" y="3480476"/>
              <a:chExt cx="3055783" cy="148522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9AFD2E0B-0516-EE39-12F2-F77E6106D34E}"/>
                      </a:ext>
                    </a:extLst>
                  </p:cNvPr>
                  <p:cNvSpPr/>
                  <p:nvPr/>
                </p:nvSpPr>
                <p:spPr>
                  <a:xfrm>
                    <a:off x="1833958" y="3480476"/>
                    <a:ext cx="3055783" cy="14852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r>
                      <a:rPr lang="en-IN" sz="2800" b="0" dirty="0">
                        <a:solidFill>
                          <a:srgbClr val="002060"/>
                        </a:solidFill>
                      </a:rPr>
                      <a:t>~ </a:t>
                    </a:r>
                    <a14:m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  <m: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</m:t>
                            </m:r>
                            <m:r>
                              <a:rPr lang="en-GB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oMath>
                    </a14:m>
                    <a:endParaRPr lang="en-IN" sz="2800" dirty="0">
                      <a:solidFill>
                        <a:srgbClr val="00206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9AFD2E0B-0516-EE39-12F2-F77E6106D34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3958" y="3480476"/>
                    <a:ext cx="3055783" cy="148522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3413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9C8BA5DC-BFD8-0F02-4E3C-D840BCEC52F2}"/>
                  </a:ext>
                </a:extLst>
              </p:cNvPr>
              <p:cNvCxnSpPr/>
              <p:nvPr/>
            </p:nvCxnSpPr>
            <p:spPr>
              <a:xfrm>
                <a:off x="3616209" y="3514747"/>
                <a:ext cx="0" cy="132605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653B21A5-5F7D-6C0B-9A24-D4935D0329A1}"/>
                    </a:ext>
                  </a:extLst>
                </p:cNvPr>
                <p:cNvSpPr/>
                <p:nvPr/>
              </p:nvSpPr>
              <p:spPr>
                <a:xfrm>
                  <a:off x="8713435" y="3163314"/>
                  <a:ext cx="786201" cy="12664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2</m:t>
                              </m:r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653B21A5-5F7D-6C0B-9A24-D4935D0329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3435" y="3163314"/>
                  <a:ext cx="786201" cy="1266470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B0EB81B-E554-BE73-F1BC-F0F4EE0E6935}"/>
                  </a:ext>
                </a:extLst>
              </p:cNvPr>
              <p:cNvSpPr/>
              <p:nvPr/>
            </p:nvSpPr>
            <p:spPr>
              <a:xfrm>
                <a:off x="6862072" y="2293968"/>
                <a:ext cx="1623409" cy="564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IN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𝟐𝟑</m:t>
                          </m:r>
                        </m:sub>
                      </m:sSub>
                      <m:d>
                        <m:dPr>
                          <m:ctrlPr>
                            <a:rPr lang="en-GB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IN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B0EB81B-E554-BE73-F1BC-F0F4EE0E69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2072" y="2293968"/>
                <a:ext cx="1623409" cy="56488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0960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8" grpId="0"/>
      <p:bldP spid="16" grpId="0" animBg="1"/>
      <p:bldP spid="17" grpId="0"/>
      <p:bldP spid="49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FDAE0-297D-3782-FB9E-6D74F3364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64E8149-ACF8-C169-C2A2-516A48F60B2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Method:3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64E8149-ACF8-C169-C2A2-516A48F60B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Rectangle 64">
            <a:extLst>
              <a:ext uri="{FF2B5EF4-FFF2-40B4-BE49-F238E27FC236}">
                <a16:creationId xmlns:a16="http://schemas.microsoft.com/office/drawing/2014/main" id="{54F026A2-E57F-2FB9-2477-9B7246E2BD68}"/>
              </a:ext>
            </a:extLst>
          </p:cNvPr>
          <p:cNvSpPr/>
          <p:nvPr/>
        </p:nvSpPr>
        <p:spPr>
          <a:xfrm>
            <a:off x="266656" y="2426925"/>
            <a:ext cx="4251412" cy="54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rgbClr val="002060"/>
                </a:solidFill>
              </a:rPr>
              <a:t>Apply the Back Substitution,</a:t>
            </a:r>
            <a:endParaRPr lang="en-IN" sz="2800" b="1" dirty="0">
              <a:solidFill>
                <a:srgbClr val="002060"/>
              </a:solidFill>
            </a:endParaRPr>
          </a:p>
        </p:txBody>
      </p:sp>
      <p:sp>
        <p:nvSpPr>
          <p:cNvPr id="66" name="Right Arrow 3">
            <a:extLst>
              <a:ext uri="{FF2B5EF4-FFF2-40B4-BE49-F238E27FC236}">
                <a16:creationId xmlns:a16="http://schemas.microsoft.com/office/drawing/2014/main" id="{BF7D2830-73CD-0BB2-045D-78E345AF77A8}"/>
              </a:ext>
            </a:extLst>
          </p:cNvPr>
          <p:cNvSpPr/>
          <p:nvPr/>
        </p:nvSpPr>
        <p:spPr>
          <a:xfrm flipV="1">
            <a:off x="389603" y="3135675"/>
            <a:ext cx="576777" cy="394349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7F3F869-DD8E-8FC2-1890-C32B2CB3CB5B}"/>
                  </a:ext>
                </a:extLst>
              </p:cNvPr>
              <p:cNvSpPr/>
              <p:nvPr/>
            </p:nvSpPr>
            <p:spPr>
              <a:xfrm>
                <a:off x="1015129" y="3061049"/>
                <a:ext cx="1597922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sSub>
                        <m:sSub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7F3F869-DD8E-8FC2-1890-C32B2CB3CB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5129" y="3061049"/>
                <a:ext cx="1597922" cy="5436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5D6FDDFA-0E8C-9F7D-8460-8CB19C88708F}"/>
                  </a:ext>
                </a:extLst>
              </p:cNvPr>
              <p:cNvSpPr/>
              <p:nvPr/>
            </p:nvSpPr>
            <p:spPr>
              <a:xfrm>
                <a:off x="966380" y="3690805"/>
                <a:ext cx="1597922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IN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5D6FDDFA-0E8C-9F7D-8460-8CB19C8870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380" y="3690805"/>
                <a:ext cx="1597922" cy="5436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Rectangle 69">
            <a:extLst>
              <a:ext uri="{FF2B5EF4-FFF2-40B4-BE49-F238E27FC236}">
                <a16:creationId xmlns:a16="http://schemas.microsoft.com/office/drawing/2014/main" id="{880980DE-66D5-FA90-8F94-04AF9A73EED3}"/>
              </a:ext>
            </a:extLst>
          </p:cNvPr>
          <p:cNvSpPr/>
          <p:nvPr/>
        </p:nvSpPr>
        <p:spPr>
          <a:xfrm>
            <a:off x="2505032" y="3701204"/>
            <a:ext cx="3777231" cy="54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rgbClr val="002060"/>
                </a:solidFill>
              </a:rPr>
              <a:t>;   Which is not possible.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0FEC9EF-4C97-96B3-7D72-C47E26FB5CA4}"/>
              </a:ext>
            </a:extLst>
          </p:cNvPr>
          <p:cNvGrpSpPr/>
          <p:nvPr/>
        </p:nvGrpSpPr>
        <p:grpSpPr>
          <a:xfrm>
            <a:off x="266656" y="935828"/>
            <a:ext cx="3571656" cy="1370924"/>
            <a:chOff x="6686773" y="3163314"/>
            <a:chExt cx="3571656" cy="1370924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F1400A96-E918-246F-C3C7-A5F1C52810AB}"/>
                </a:ext>
              </a:extLst>
            </p:cNvPr>
            <p:cNvGrpSpPr/>
            <p:nvPr/>
          </p:nvGrpSpPr>
          <p:grpSpPr>
            <a:xfrm>
              <a:off x="6686773" y="3163314"/>
              <a:ext cx="3571656" cy="1370924"/>
              <a:chOff x="1833958" y="3480476"/>
              <a:chExt cx="3055783" cy="148522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FC9EC052-D5E3-884B-08ED-0E1AAB87C0CB}"/>
                      </a:ext>
                    </a:extLst>
                  </p:cNvPr>
                  <p:cNvSpPr/>
                  <p:nvPr/>
                </p:nvSpPr>
                <p:spPr>
                  <a:xfrm>
                    <a:off x="1833958" y="3480476"/>
                    <a:ext cx="3055783" cy="14852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r>
                      <a:rPr lang="en-IN" sz="2800" b="0" dirty="0">
                        <a:solidFill>
                          <a:srgbClr val="002060"/>
                        </a:solidFill>
                      </a:rPr>
                      <a:t>~ </a:t>
                    </a:r>
                    <a14:m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  <m: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</m:t>
                            </m:r>
                            <m:r>
                              <a:rPr lang="en-GB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oMath>
                    </a14:m>
                    <a:endParaRPr lang="en-IN" sz="2800" dirty="0">
                      <a:solidFill>
                        <a:srgbClr val="00206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FC9EC052-D5E3-884B-08ED-0E1AAB87C0C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3958" y="3480476"/>
                    <a:ext cx="3055783" cy="148522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3584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D370B57D-5AAF-CADF-C9C5-5A5AF40F4D42}"/>
                  </a:ext>
                </a:extLst>
              </p:cNvPr>
              <p:cNvCxnSpPr/>
              <p:nvPr/>
            </p:nvCxnSpPr>
            <p:spPr>
              <a:xfrm>
                <a:off x="3616209" y="3514747"/>
                <a:ext cx="0" cy="132605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DEF736B0-7527-05F8-1080-9F96B76768B1}"/>
                    </a:ext>
                  </a:extLst>
                </p:cNvPr>
                <p:cNvSpPr/>
                <p:nvPr/>
              </p:nvSpPr>
              <p:spPr>
                <a:xfrm>
                  <a:off x="8713435" y="3163314"/>
                  <a:ext cx="786201" cy="12664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2</m:t>
                              </m:r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DEF736B0-7527-05F8-1080-9F96B76768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3435" y="3163314"/>
                  <a:ext cx="786201" cy="1266470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835E85EF-2A5A-FCD1-B95A-A8D0242F02EC}"/>
              </a:ext>
            </a:extLst>
          </p:cNvPr>
          <p:cNvSpPr/>
          <p:nvPr/>
        </p:nvSpPr>
        <p:spPr>
          <a:xfrm>
            <a:off x="266656" y="4395186"/>
            <a:ext cx="4251412" cy="54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rgbClr val="002060"/>
                </a:solidFill>
              </a:rPr>
              <a:t>So, System is not consistent.</a:t>
            </a:r>
            <a:endParaRPr lang="en-IN" sz="28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DC03375-C45F-C340-016B-B89623D903B2}"/>
                  </a:ext>
                </a:extLst>
              </p:cNvPr>
              <p:cNvSpPr/>
              <p:nvPr/>
            </p:nvSpPr>
            <p:spPr>
              <a:xfrm>
                <a:off x="266656" y="5089168"/>
                <a:ext cx="9302646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IN" sz="2800" dirty="0">
                    <a:solidFill>
                      <a:srgbClr val="002060"/>
                    </a:solidFill>
                  </a:rPr>
                  <a:t>Hence,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r>
                  <a:rPr lang="en-IN" sz="2800" b="1" dirty="0">
                    <a:solidFill>
                      <a:srgbClr val="002060"/>
                    </a:solidFill>
                  </a:rPr>
                  <a:t> </a:t>
                </a:r>
                <a:r>
                  <a:rPr lang="en-IN" sz="2800" dirty="0">
                    <a:solidFill>
                      <a:srgbClr val="002060"/>
                    </a:solidFill>
                  </a:rPr>
                  <a:t>can </a:t>
                </a:r>
                <a:r>
                  <a:rPr lang="en-IN" sz="2800" b="1" dirty="0">
                    <a:solidFill>
                      <a:srgbClr val="FF0000"/>
                    </a:solidFill>
                  </a:rPr>
                  <a:t>not</a:t>
                </a:r>
                <a:r>
                  <a:rPr lang="en-IN" sz="2800" b="1" dirty="0">
                    <a:solidFill>
                      <a:srgbClr val="002060"/>
                    </a:solidFill>
                  </a:rPr>
                  <a:t> </a:t>
                </a:r>
                <a:r>
                  <a:rPr lang="en-IN" sz="2800" dirty="0">
                    <a:solidFill>
                      <a:srgbClr val="002060"/>
                    </a:solidFill>
                  </a:rPr>
                  <a:t>express as a linear combination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IN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IN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IN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IN" sz="2800" dirty="0">
                    <a:solidFill>
                      <a:srgbClr val="002060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en-IN" sz="2800" dirty="0">
                    <a:solidFill>
                      <a:srgbClr val="002060"/>
                    </a:solidFill>
                  </a:rPr>
                  <a:t>.</a:t>
                </a:r>
                <a:endParaRPr lang="en-IN" sz="28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DC03375-C45F-C340-016B-B89623D903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656" y="5089168"/>
                <a:ext cx="9302646" cy="543600"/>
              </a:xfrm>
              <a:prstGeom prst="rect">
                <a:avLst/>
              </a:prstGeom>
              <a:blipFill>
                <a:blip r:embed="rId15"/>
                <a:stretch>
                  <a:fillRect l="-1376" t="-12360" b="-269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1692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  <p:bldP spid="66" grpId="0" animBg="1"/>
      <p:bldP spid="67" grpId="0"/>
      <p:bldP spid="68" grpId="0"/>
      <p:bldP spid="70" grpId="0"/>
      <p:bldP spid="10" grpId="0"/>
      <p:bldP spid="11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7658B-B208-07C7-5599-42AD7D352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E133FDB-A72E-EA03-291C-29FB4D2482D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Method:3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Example:3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E133FDB-A72E-EA03-291C-29FB4D2482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5972A2E-25D7-C897-9D78-CA14AF0D56C8}"/>
              </a:ext>
            </a:extLst>
          </p:cNvPr>
          <p:cNvSpPr/>
          <p:nvPr/>
        </p:nvSpPr>
        <p:spPr>
          <a:xfrm>
            <a:off x="122278" y="246011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02B74671-0FAF-5DCE-135B-C123CD3885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04480" y="773202"/>
                <a:ext cx="10587520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Check matrix A is a linear combination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or not, where</a:t>
                </a: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02B74671-0FAF-5DCE-135B-C123CD3885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480" y="773202"/>
                <a:ext cx="10587520" cy="543600"/>
              </a:xfrm>
              <a:prstGeom prst="rect">
                <a:avLst/>
              </a:prstGeom>
              <a:blipFill>
                <a:blip r:embed="rId3"/>
                <a:stretch>
                  <a:fillRect l="-1151" b="-42697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36E9383-FA9F-C1A0-280F-51F545C54229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4354" y="2427238"/>
                <a:ext cx="4665440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4354" y="2427238"/>
                <a:ext cx="4665440" cy="544460"/>
              </a:xfrm>
              <a:prstGeom prst="rect">
                <a:avLst/>
              </a:prstGeom>
              <a:blipFill>
                <a:blip r:embed="rId4"/>
                <a:stretch>
                  <a:fillRect l="-261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AAF33A39-FB3D-ACAF-24D6-F40E64BD9B7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278" y="3145824"/>
                <a:ext cx="9322992" cy="942942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begChr m:val="["/>
                          <m:endChr m:val="]"/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</m:t>
                                </m:r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</m:t>
                                </m:r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−8</m:t>
                                </m:r>
                              </m:e>
                            </m:mr>
                          </m:m>
                          <m: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</m:t>
                                </m:r>
                                <m:r>
                                  <a:rPr lang="en-IN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</m:t>
                                </m:r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</m:t>
                                </m:r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−2</m:t>
                                </m:r>
                              </m:e>
                            </m:mr>
                          </m:m>
                          <m: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</m:t>
                                </m:r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3</m:t>
                                </m:r>
                              </m:e>
                            </m:mr>
                          </m:m>
                          <m: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4</m:t>
                                </m:r>
                              </m:e>
                            </m:mr>
                          </m:m>
                          <m: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AAF33A39-FB3D-ACAF-24D6-F40E64BD9B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8" y="3145824"/>
                <a:ext cx="9322992" cy="94294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274467C8-985C-FB4E-B719-7464CC95F2D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278" y="4127861"/>
                <a:ext cx="9322992" cy="112569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begChr m:val="["/>
                          <m:endChr m:val="]"/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</m:t>
                                </m:r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</m:t>
                                </m:r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−8</m:t>
                                </m:r>
                              </m:e>
                            </m:mr>
                          </m:m>
                          <m: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IN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IN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</m:t>
                                </m:r>
                                <m:r>
                                  <a:rPr lang="en-IN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</m:t>
                                </m:r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4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IN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IN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IN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   </m:t>
                                </m:r>
                                <m:r>
                                  <a:rPr lang="en-IN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0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</m:t>
                                </m:r>
                                <m:r>
                                  <a:rPr lang="en-IN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−2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IN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−2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3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4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IN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274467C8-985C-FB4E-B719-7464CC95F2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8" y="4127861"/>
                <a:ext cx="9322992" cy="11256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1FF8CE5-5B6E-E03A-C8F9-E5975464829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36024" y="1095740"/>
                <a:ext cx="10587520" cy="112569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A</m:t>
                    </m:r>
                    <m:r>
                      <a:rPr lang="en-US" sz="280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</m:t>
                              </m:r>
                              <m: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</m:t>
                              </m:r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6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−8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−8</m:t>
                              </m:r>
                            </m:e>
                          </m:mr>
                        </m:m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</m:t>
                              </m:r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</m:t>
                              </m:r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4</m:t>
                              </m:r>
                            </m:e>
                            <m:e>
                              <m: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</m:t>
                              </m:r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−2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−2</m:t>
                              </m:r>
                            </m:e>
                          </m:mr>
                        </m:m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</m:t>
                              </m:r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3</m:t>
                              </m:r>
                            </m:e>
                          </m:mr>
                        </m:m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IN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and</a:t>
                </a: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4</m:t>
                              </m:r>
                            </m:e>
                          </m:mr>
                        </m:m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endParaRPr lang="en-IN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1FF8CE5-5B6E-E03A-C8F9-E59754648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6024" y="1095740"/>
                <a:ext cx="10587520" cy="1125690"/>
              </a:xfrm>
              <a:prstGeom prst="rect">
                <a:avLst/>
              </a:prstGeom>
              <a:blipFill>
                <a:blip r:embed="rId7"/>
                <a:stretch>
                  <a:fillRect b="-163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0890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FAB76-0142-F0F0-5A6C-FF972BC36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2D49EEEF-01DC-AD74-2735-370BE06C19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9171" y="869889"/>
                <a:ext cx="9322992" cy="112569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begChr m:val="["/>
                          <m:endChr m:val="]"/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</m:t>
                                </m:r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</m:t>
                                </m:r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−8</m:t>
                                </m:r>
                              </m:e>
                            </m:mr>
                          </m:m>
                          <m: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IN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IN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</m:t>
                                </m:r>
                                <m:r>
                                  <a:rPr lang="en-IN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</m:t>
                                </m:r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4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IN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IN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IN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   </m:t>
                                </m:r>
                                <m:r>
                                  <a:rPr lang="en-IN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0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</m:t>
                                </m:r>
                                <m:r>
                                  <a:rPr lang="en-IN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−2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IN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−2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3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4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IN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2D49EEEF-01DC-AD74-2735-370BE06C1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171" y="869889"/>
                <a:ext cx="9322992" cy="11256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036571C-C8B5-49A0-F6F4-5A31921D35E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Method:3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Example:3(continue)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036571C-C8B5-49A0-F6F4-5A31921D35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5171464C-7EC6-1CDA-D623-23E37E249DFF}"/>
              </a:ext>
            </a:extLst>
          </p:cNvPr>
          <p:cNvSpPr txBox="1">
            <a:spLocks/>
          </p:cNvSpPr>
          <p:nvPr/>
        </p:nvSpPr>
        <p:spPr>
          <a:xfrm>
            <a:off x="122278" y="2154267"/>
            <a:ext cx="5465722" cy="5436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118745" algn="just">
              <a:lnSpc>
                <a:spcPct val="115000"/>
              </a:lnSpc>
              <a:spcBef>
                <a:spcPts val="1000"/>
              </a:spcBef>
              <a:spcAft>
                <a:spcPts val="800"/>
              </a:spcAft>
              <a:buClr>
                <a:schemeClr val="accent6"/>
              </a:buClr>
              <a:buFont typeface="Wingdings 3" panose="05040102010807070707" pitchFamily="18" charset="2"/>
              <a:buNone/>
              <a:defRPr sz="2800">
                <a:solidFill>
                  <a:srgbClr val="3A4A6A"/>
                </a:solidFill>
              </a:defRPr>
            </a:lvl1pPr>
          </a:lstStyle>
          <a:p>
            <a:pPr>
              <a:lnSpc>
                <a:spcPct val="90000"/>
              </a:lnSpc>
            </a:pPr>
            <a:r>
              <a:rPr lang="en-US" i="0" dirty="0">
                <a:solidFill>
                  <a:srgbClr val="002060"/>
                </a:solidFill>
                <a:latin typeface="+mj-lt"/>
              </a:rPr>
              <a:t>Comparing both the sides, we have </a:t>
            </a:r>
            <a:endParaRPr lang="en-US" dirty="0">
              <a:solidFill>
                <a:srgbClr val="002060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4">
                <a:extLst>
                  <a:ext uri="{FF2B5EF4-FFF2-40B4-BE49-F238E27FC236}">
                    <a16:creationId xmlns:a16="http://schemas.microsoft.com/office/drawing/2014/main" id="{E88DB26E-1351-4295-B85C-0531AED5F32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3077" y="2794635"/>
                <a:ext cx="4027765" cy="2412365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 algn="l">
                  <a:lnSpc>
                    <a:spcPct val="90000"/>
                  </a:lnSpc>
                </a:pPr>
                <a:r>
                  <a:rPr lang="en-US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  </a:t>
                </a:r>
                <a14:m>
                  <m:oMath xmlns:m="http://schemas.openxmlformats.org/officeDocument/2006/math">
                    <m:r>
                      <a:rPr lang="en-US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4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1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IN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lang="en-US" b="0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algn="l">
                  <a:lnSpc>
                    <a:spcPct val="90000"/>
                  </a:lnSpc>
                </a:pPr>
                <a:r>
                  <a:rPr lang="en-IN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  </a:t>
                </a:r>
                <a14:m>
                  <m:oMath xmlns:m="http://schemas.openxmlformats.org/officeDocument/2006/math">
                    <m:r>
                      <a:rPr lang="en-IN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0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−</m:t>
                    </m:r>
                    <m:r>
                      <a:rPr lang="en-IN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1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IN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=−8</m:t>
                    </m:r>
                  </m:oMath>
                </a14:m>
                <a:r>
                  <a:rPr lang="en-IN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algn="l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−2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1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IN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en-IN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algn="l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−2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3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4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IN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=−8</m:t>
                    </m:r>
                  </m:oMath>
                </a14:m>
                <a:r>
                  <a:rPr lang="en-US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" name="Content Placeholder 4">
                <a:extLst>
                  <a:ext uri="{FF2B5EF4-FFF2-40B4-BE49-F238E27FC236}">
                    <a16:creationId xmlns:a16="http://schemas.microsoft.com/office/drawing/2014/main" id="{E88DB26E-1351-4295-B85C-0531AED5F3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077" y="2794635"/>
                <a:ext cx="4027765" cy="24123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: Rounded Corners 37">
            <a:extLst>
              <a:ext uri="{FF2B5EF4-FFF2-40B4-BE49-F238E27FC236}">
                <a16:creationId xmlns:a16="http://schemas.microsoft.com/office/drawing/2014/main" id="{3725AFC4-3C6C-BE33-E78A-F38B59D453C2}"/>
              </a:ext>
            </a:extLst>
          </p:cNvPr>
          <p:cNvSpPr/>
          <p:nvPr/>
        </p:nvSpPr>
        <p:spPr>
          <a:xfrm>
            <a:off x="6078000" y="2207932"/>
            <a:ext cx="36000" cy="3960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3505F7-BFC4-3532-66A0-5C13FD97E521}"/>
              </a:ext>
            </a:extLst>
          </p:cNvPr>
          <p:cNvSpPr/>
          <p:nvPr/>
        </p:nvSpPr>
        <p:spPr>
          <a:xfrm>
            <a:off x="6283325" y="2154267"/>
            <a:ext cx="6020992" cy="54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rgbClr val="002060"/>
                </a:solidFill>
              </a:rPr>
              <a:t>The Augmented matrix of the </a:t>
            </a:r>
            <a:r>
              <a:rPr lang="en-US" sz="2800" dirty="0">
                <a:solidFill>
                  <a:srgbClr val="002060"/>
                </a:solidFill>
              </a:rPr>
              <a:t>system is</a:t>
            </a:r>
            <a:endParaRPr lang="en-IN" sz="28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3771ADD-9AD4-B80D-F0C1-ECC90AB9202B}"/>
                  </a:ext>
                </a:extLst>
              </p:cNvPr>
              <p:cNvSpPr/>
              <p:nvPr/>
            </p:nvSpPr>
            <p:spPr>
              <a:xfrm>
                <a:off x="6283325" y="3378835"/>
                <a:ext cx="1728392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"/>
                              <m:endChr m:val="|"/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IN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3771ADD-9AD4-B80D-F0C1-ECC90AB920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3325" y="3378835"/>
                <a:ext cx="1728392" cy="5436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EB67D230-6BE6-ED59-5257-03DF0213FFE5}"/>
              </a:ext>
            </a:extLst>
          </p:cNvPr>
          <p:cNvGrpSpPr/>
          <p:nvPr/>
        </p:nvGrpSpPr>
        <p:grpSpPr>
          <a:xfrm>
            <a:off x="7756525" y="2794635"/>
            <a:ext cx="3942274" cy="1864083"/>
            <a:chOff x="7756525" y="2794635"/>
            <a:chExt cx="3942274" cy="18640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30CB1535-AF66-DD69-7B7C-2FC517431563}"/>
                    </a:ext>
                  </a:extLst>
                </p:cNvPr>
                <p:cNvSpPr/>
                <p:nvPr/>
              </p:nvSpPr>
              <p:spPr>
                <a:xfrm>
                  <a:off x="7756525" y="2794635"/>
                  <a:ext cx="3942274" cy="18640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4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2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−2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2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3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1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4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   </m:t>
                            </m:r>
                          </m:e>
                        </m:d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30CB1535-AF66-DD69-7B7C-2FC5174315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56525" y="2794635"/>
                  <a:ext cx="3942274" cy="186408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DC56DCF7-7D9C-103F-3B4F-07C3EFEF7A46}"/>
                    </a:ext>
                  </a:extLst>
                </p:cNvPr>
                <p:cNvSpPr/>
                <p:nvPr/>
              </p:nvSpPr>
              <p:spPr>
                <a:xfrm>
                  <a:off x="10575927" y="2839621"/>
                  <a:ext cx="758799" cy="174861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6</m:t>
                              </m:r>
                            </m:e>
                          </m:mr>
                          <m:mr>
                            <m:e>
                              <m: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−8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DC56DCF7-7D9C-103F-3B4F-07C3EFEF7A4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75927" y="2839621"/>
                  <a:ext cx="758799" cy="1748618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739BA7A-E295-B8AB-55D2-C2FD7D9A8889}"/>
                </a:ext>
              </a:extLst>
            </p:cNvPr>
            <p:cNvCxnSpPr/>
            <p:nvPr/>
          </p:nvCxnSpPr>
          <p:spPr>
            <a:xfrm>
              <a:off x="10567459" y="2832873"/>
              <a:ext cx="0" cy="162914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2723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 animBg="1"/>
      <p:bldP spid="10" grpId="0"/>
      <p:bldP spid="11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08F55-3D9C-9307-197E-9C4520A07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23B9F2A-27F2-7049-B001-6DAAC82AC428}"/>
              </a:ext>
            </a:extLst>
          </p:cNvPr>
          <p:cNvGrpSpPr/>
          <p:nvPr/>
        </p:nvGrpSpPr>
        <p:grpSpPr>
          <a:xfrm>
            <a:off x="1725377" y="4327870"/>
            <a:ext cx="3942274" cy="1864083"/>
            <a:chOff x="7364047" y="2161182"/>
            <a:chExt cx="3942274" cy="18640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71AD3C99-EF13-23CD-43D0-49A96810F53D}"/>
                    </a:ext>
                  </a:extLst>
                </p:cNvPr>
                <p:cNvSpPr/>
                <p:nvPr/>
              </p:nvSpPr>
              <p:spPr>
                <a:xfrm>
                  <a:off x="7364047" y="2161182"/>
                  <a:ext cx="3942274" cy="18640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r>
                    <a:rPr lang="en-IN" sz="2800" dirty="0">
                      <a:solidFill>
                        <a:srgbClr val="002060"/>
                      </a:solidFill>
                    </a:rPr>
                    <a:t>~</a:t>
                  </a:r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   2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   1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   </m:t>
                                </m:r>
                                <m:r>
                                  <a:rPr lang="en-IN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   </m:t>
                                </m:r>
                                <m:r>
                                  <a:rPr lang="en-IN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 4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 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 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 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 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            </m:t>
                          </m:r>
                        </m:e>
                      </m:d>
                    </m:oMath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71AD3C99-EF13-23CD-43D0-49A96810F53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4047" y="2161182"/>
                  <a:ext cx="3942274" cy="1864083"/>
                </a:xfrm>
                <a:prstGeom prst="rect">
                  <a:avLst/>
                </a:prstGeom>
                <a:blipFill>
                  <a:blip r:embed="rId2"/>
                  <a:stretch>
                    <a:fillRect l="-309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D1334CB4-8B9C-9D4A-B189-64CD6D26A91E}"/>
                    </a:ext>
                  </a:extLst>
                </p:cNvPr>
                <p:cNvSpPr/>
                <p:nvPr/>
              </p:nvSpPr>
              <p:spPr>
                <a:xfrm>
                  <a:off x="10183449" y="2206168"/>
                  <a:ext cx="758799" cy="174861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IN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−8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6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D1334CB4-8B9C-9D4A-B189-64CD6D26A9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3449" y="2206168"/>
                  <a:ext cx="758799" cy="174861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F40ACA3-3D96-9B4B-2787-AF67C9C87B76}"/>
                </a:ext>
              </a:extLst>
            </p:cNvPr>
            <p:cNvCxnSpPr/>
            <p:nvPr/>
          </p:nvCxnSpPr>
          <p:spPr>
            <a:xfrm>
              <a:off x="10155931" y="2199420"/>
              <a:ext cx="0" cy="162914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C4D1395-22CE-891A-6B86-F09180EB344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Method:3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Example:3(continue)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C4D1395-22CE-891A-6B86-F09180EB34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37">
            <a:extLst>
              <a:ext uri="{FF2B5EF4-FFF2-40B4-BE49-F238E27FC236}">
                <a16:creationId xmlns:a16="http://schemas.microsoft.com/office/drawing/2014/main" id="{86582569-8D0F-FA8A-02E2-B8B63541A288}"/>
              </a:ext>
            </a:extLst>
          </p:cNvPr>
          <p:cNvSpPr/>
          <p:nvPr/>
        </p:nvSpPr>
        <p:spPr>
          <a:xfrm>
            <a:off x="6369831" y="944256"/>
            <a:ext cx="36000" cy="5544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8B2101-97CA-9F1A-67A2-A2FB8D32F16A}"/>
              </a:ext>
            </a:extLst>
          </p:cNvPr>
          <p:cNvSpPr/>
          <p:nvPr/>
        </p:nvSpPr>
        <p:spPr>
          <a:xfrm>
            <a:off x="252177" y="1080250"/>
            <a:ext cx="6020992" cy="54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rgbClr val="002060"/>
                </a:solidFill>
              </a:rPr>
              <a:t>The Augmented matrix of the </a:t>
            </a:r>
            <a:r>
              <a:rPr lang="en-US" sz="2800" dirty="0">
                <a:solidFill>
                  <a:srgbClr val="002060"/>
                </a:solidFill>
              </a:rPr>
              <a:t>system is</a:t>
            </a:r>
            <a:endParaRPr lang="en-IN" sz="28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B6BDBFB-CA01-FA4C-766C-826C9022B4D4}"/>
                  </a:ext>
                </a:extLst>
              </p:cNvPr>
              <p:cNvSpPr/>
              <p:nvPr/>
            </p:nvSpPr>
            <p:spPr>
              <a:xfrm>
                <a:off x="252177" y="2304818"/>
                <a:ext cx="1728392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"/>
                              <m:endChr m:val="|"/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IN" sz="2800" b="0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IN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B6BDBFB-CA01-FA4C-766C-826C9022B4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177" y="2304818"/>
                <a:ext cx="1728392" cy="5436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58418A51-7F60-A912-52CE-E61AFC87E2D4}"/>
              </a:ext>
            </a:extLst>
          </p:cNvPr>
          <p:cNvGrpSpPr/>
          <p:nvPr/>
        </p:nvGrpSpPr>
        <p:grpSpPr>
          <a:xfrm>
            <a:off x="1725377" y="1720618"/>
            <a:ext cx="3942274" cy="1864083"/>
            <a:chOff x="7756525" y="2794635"/>
            <a:chExt cx="3942274" cy="18640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24B59F1D-ED54-ADB9-30DD-DB06880510AD}"/>
                    </a:ext>
                  </a:extLst>
                </p:cNvPr>
                <p:cNvSpPr/>
                <p:nvPr/>
              </p:nvSpPr>
              <p:spPr>
                <a:xfrm>
                  <a:off x="7756525" y="2794635"/>
                  <a:ext cx="3942274" cy="18640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4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2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−2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2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3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1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4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   </m:t>
                            </m:r>
                          </m:e>
                        </m:d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24B59F1D-ED54-ADB9-30DD-DB06880510A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56525" y="2794635"/>
                  <a:ext cx="3942274" cy="186408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753B438E-C03D-E17E-FB52-97FDD63FCA9E}"/>
                    </a:ext>
                  </a:extLst>
                </p:cNvPr>
                <p:cNvSpPr/>
                <p:nvPr/>
              </p:nvSpPr>
              <p:spPr>
                <a:xfrm>
                  <a:off x="10575927" y="2839621"/>
                  <a:ext cx="758799" cy="174861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6</m:t>
                              </m:r>
                            </m:e>
                          </m:mr>
                          <m:mr>
                            <m:e>
                              <m: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−8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753B438E-C03D-E17E-FB52-97FDD63FCA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75927" y="2839621"/>
                  <a:ext cx="758799" cy="1748618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61C4AA2-5535-545C-6AFA-F0AC42520A51}"/>
                </a:ext>
              </a:extLst>
            </p:cNvPr>
            <p:cNvCxnSpPr/>
            <p:nvPr/>
          </p:nvCxnSpPr>
          <p:spPr>
            <a:xfrm>
              <a:off x="10567459" y="2832873"/>
              <a:ext cx="0" cy="162914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2B1A3233-C444-4A5B-E272-60B26D827803}"/>
                  </a:ext>
                </a:extLst>
              </p:cNvPr>
              <p:cNvSpPr/>
              <p:nvPr/>
            </p:nvSpPr>
            <p:spPr>
              <a:xfrm>
                <a:off x="1980569" y="3584701"/>
                <a:ext cx="895981" cy="564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GB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IN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en-IN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2B1A3233-C444-4A5B-E272-60B26D827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0569" y="3584701"/>
                <a:ext cx="895981" cy="56488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023B9F2A-27F2-7049-B001-6DAAC82AC428}"/>
              </a:ext>
            </a:extLst>
          </p:cNvPr>
          <p:cNvGrpSpPr/>
          <p:nvPr/>
        </p:nvGrpSpPr>
        <p:grpSpPr>
          <a:xfrm>
            <a:off x="1725377" y="4320984"/>
            <a:ext cx="3942274" cy="1864083"/>
            <a:chOff x="7364047" y="2161182"/>
            <a:chExt cx="3942274" cy="18640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71AD3C99-EF13-23CD-43D0-49A96810F53D}"/>
                    </a:ext>
                  </a:extLst>
                </p:cNvPr>
                <p:cNvSpPr/>
                <p:nvPr/>
              </p:nvSpPr>
              <p:spPr>
                <a:xfrm>
                  <a:off x="7364047" y="2161182"/>
                  <a:ext cx="3942274" cy="18640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r>
                    <a:rPr lang="en-IN" sz="2800" dirty="0">
                      <a:solidFill>
                        <a:srgbClr val="002060"/>
                      </a:solidFill>
                    </a:rPr>
                    <a:t>~</a:t>
                  </a:r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   2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   1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   3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   4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 4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 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 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  2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            </m:t>
                          </m:r>
                        </m:e>
                      </m:d>
                    </m:oMath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71AD3C99-EF13-23CD-43D0-49A96810F53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4047" y="2161182"/>
                  <a:ext cx="3942274" cy="1864083"/>
                </a:xfrm>
                <a:prstGeom prst="rect">
                  <a:avLst/>
                </a:prstGeom>
                <a:blipFill>
                  <a:blip r:embed="rId13"/>
                  <a:stretch>
                    <a:fillRect l="-309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D1334CB4-8B9C-9D4A-B189-64CD6D26A91E}"/>
                    </a:ext>
                  </a:extLst>
                </p:cNvPr>
                <p:cNvSpPr/>
                <p:nvPr/>
              </p:nvSpPr>
              <p:spPr>
                <a:xfrm>
                  <a:off x="10183449" y="2206168"/>
                  <a:ext cx="758799" cy="174861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−8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6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D1334CB4-8B9C-9D4A-B189-64CD6D26A9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3449" y="2206168"/>
                  <a:ext cx="758799" cy="1748618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F40ACA3-3D96-9B4B-2787-AF67C9C87B76}"/>
                </a:ext>
              </a:extLst>
            </p:cNvPr>
            <p:cNvCxnSpPr/>
            <p:nvPr/>
          </p:nvCxnSpPr>
          <p:spPr>
            <a:xfrm>
              <a:off x="10155931" y="2199420"/>
              <a:ext cx="0" cy="162914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B1A3233-C444-4A5B-E272-60B26D827803}"/>
                  </a:ext>
                </a:extLst>
              </p:cNvPr>
              <p:cNvSpPr/>
              <p:nvPr/>
            </p:nvSpPr>
            <p:spPr>
              <a:xfrm>
                <a:off x="1980568" y="6074030"/>
                <a:ext cx="2108858" cy="564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GB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lang="en-IN" sz="2800" b="1" dirty="0">
                    <a:solidFill>
                      <a:srgbClr val="FF0000"/>
                    </a:solidFill>
                  </a:rPr>
                  <a:t>,</a:t>
                </a: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B1A3233-C444-4A5B-E272-60B26D827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0568" y="6074030"/>
                <a:ext cx="2108858" cy="564880"/>
              </a:xfrm>
              <a:prstGeom prst="rect">
                <a:avLst/>
              </a:prstGeom>
              <a:blipFill>
                <a:blip r:embed="rId15"/>
                <a:stretch>
                  <a:fillRect t="-10753" b="-215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/>
          <p:cNvGrpSpPr/>
          <p:nvPr/>
        </p:nvGrpSpPr>
        <p:grpSpPr>
          <a:xfrm>
            <a:off x="6756183" y="1080250"/>
            <a:ext cx="3942274" cy="1864083"/>
            <a:chOff x="13048598" y="201362"/>
            <a:chExt cx="3942274" cy="18640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647E4FE-E60D-A0FD-93F0-F198786D111B}"/>
                    </a:ext>
                  </a:extLst>
                </p:cNvPr>
                <p:cNvSpPr/>
                <p:nvPr/>
              </p:nvSpPr>
              <p:spPr>
                <a:xfrm>
                  <a:off x="13048598" y="201362"/>
                  <a:ext cx="3942274" cy="18640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IN" sz="280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2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0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2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   </m:t>
                            </m:r>
                          </m:e>
                        </m:d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647E4FE-E60D-A0FD-93F0-F198786D11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48598" y="201362"/>
                  <a:ext cx="3942274" cy="1864083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FA016DFA-F621-0BC6-03C4-EEC8161DE955}"/>
                    </a:ext>
                  </a:extLst>
                </p:cNvPr>
                <p:cNvSpPr/>
                <p:nvPr/>
              </p:nvSpPr>
              <p:spPr>
                <a:xfrm>
                  <a:off x="15868000" y="246348"/>
                  <a:ext cx="758799" cy="174861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−7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en-IN" sz="28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FA016DFA-F621-0BC6-03C4-EEC8161DE95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68000" y="246348"/>
                  <a:ext cx="758799" cy="1748618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B9F638F-2F5F-55A8-6C80-50B12B434D1C}"/>
                </a:ext>
              </a:extLst>
            </p:cNvPr>
            <p:cNvCxnSpPr/>
            <p:nvPr/>
          </p:nvCxnSpPr>
          <p:spPr>
            <a:xfrm>
              <a:off x="15897632" y="239600"/>
              <a:ext cx="0" cy="162914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2B1A3233-C444-4A5B-E272-60B26D827803}"/>
                  </a:ext>
                </a:extLst>
              </p:cNvPr>
              <p:cNvSpPr/>
              <p:nvPr/>
            </p:nvSpPr>
            <p:spPr>
              <a:xfrm>
                <a:off x="2693467" y="3585671"/>
                <a:ext cx="824823" cy="564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IN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𝟐𝟒</m:t>
                          </m:r>
                        </m:sub>
                      </m:sSub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2B1A3233-C444-4A5B-E272-60B26D827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3467" y="3585671"/>
                <a:ext cx="824823" cy="56488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B1A3233-C444-4A5B-E272-60B26D827803}"/>
                  </a:ext>
                </a:extLst>
              </p:cNvPr>
              <p:cNvSpPr/>
              <p:nvPr/>
            </p:nvSpPr>
            <p:spPr>
              <a:xfrm>
                <a:off x="3536482" y="6073060"/>
                <a:ext cx="1311743" cy="564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GB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IN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d>
                        <m:dPr>
                          <m:ctrlPr>
                            <a:rPr lang="en-IN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B1A3233-C444-4A5B-E272-60B26D827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6482" y="6073060"/>
                <a:ext cx="1311743" cy="56488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49"/>
          <p:cNvGrpSpPr/>
          <p:nvPr/>
        </p:nvGrpSpPr>
        <p:grpSpPr>
          <a:xfrm>
            <a:off x="6752272" y="1074579"/>
            <a:ext cx="3942274" cy="1864083"/>
            <a:chOff x="13048598" y="201362"/>
            <a:chExt cx="3942274" cy="18640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E647E4FE-E60D-A0FD-93F0-F198786D111B}"/>
                    </a:ext>
                  </a:extLst>
                </p:cNvPr>
                <p:cNvSpPr/>
                <p:nvPr/>
              </p:nvSpPr>
              <p:spPr>
                <a:xfrm>
                  <a:off x="13048598" y="201362"/>
                  <a:ext cx="3942274" cy="18640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IN" sz="280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2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</m:t>
                                        </m:r>
                                        <m:r>
                                          <a:rPr lang="en-US" sz="2800" i="1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0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</m:t>
                                        </m:r>
                                        <m:r>
                                          <a:rPr lang="en-IN" sz="2800" i="1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</m:t>
                                        </m:r>
                                        <m:r>
                                          <a:rPr lang="en-IN" sz="2800" i="1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2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   </m:t>
                            </m:r>
                          </m:e>
                        </m:d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E647E4FE-E60D-A0FD-93F0-F198786D11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48598" y="201362"/>
                  <a:ext cx="3942274" cy="1864083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FA016DFA-F621-0BC6-03C4-EEC8161DE955}"/>
                    </a:ext>
                  </a:extLst>
                </p:cNvPr>
                <p:cNvSpPr/>
                <p:nvPr/>
              </p:nvSpPr>
              <p:spPr>
                <a:xfrm>
                  <a:off x="15868000" y="246348"/>
                  <a:ext cx="758799" cy="174861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−7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FA016DFA-F621-0BC6-03C4-EEC8161DE95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68000" y="246348"/>
                  <a:ext cx="758799" cy="1748618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2B9F638F-2F5F-55A8-6C80-50B12B434D1C}"/>
                </a:ext>
              </a:extLst>
            </p:cNvPr>
            <p:cNvCxnSpPr/>
            <p:nvPr/>
          </p:nvCxnSpPr>
          <p:spPr>
            <a:xfrm>
              <a:off x="15897632" y="239600"/>
              <a:ext cx="0" cy="162914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2B1A3233-C444-4A5B-E272-60B26D827803}"/>
                  </a:ext>
                </a:extLst>
              </p:cNvPr>
              <p:cNvSpPr/>
              <p:nvPr/>
            </p:nvSpPr>
            <p:spPr>
              <a:xfrm>
                <a:off x="7400047" y="2974835"/>
                <a:ext cx="1857325" cy="564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IN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𝟐𝟑</m:t>
                          </m:r>
                        </m:sub>
                      </m:sSub>
                      <m:d>
                        <m:d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IN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2B1A3233-C444-4A5B-E272-60B26D827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0047" y="2974835"/>
                <a:ext cx="1857325" cy="56488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9" name="Group 58"/>
          <p:cNvGrpSpPr/>
          <p:nvPr/>
        </p:nvGrpSpPr>
        <p:grpSpPr>
          <a:xfrm>
            <a:off x="6752272" y="3692131"/>
            <a:ext cx="3942274" cy="1864083"/>
            <a:chOff x="13048598" y="201362"/>
            <a:chExt cx="3942274" cy="18640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E647E4FE-E60D-A0FD-93F0-F198786D111B}"/>
                    </a:ext>
                  </a:extLst>
                </p:cNvPr>
                <p:cNvSpPr/>
                <p:nvPr/>
              </p:nvSpPr>
              <p:spPr>
                <a:xfrm>
                  <a:off x="13048598" y="201362"/>
                  <a:ext cx="3942274" cy="18640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IN" sz="280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2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   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   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</m:t>
                                        </m:r>
                                        <m:r>
                                          <a:rPr lang="en-US" sz="2800" i="1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13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  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   </m:t>
                            </m:r>
                          </m:e>
                        </m:d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E647E4FE-E60D-A0FD-93F0-F198786D11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48598" y="201362"/>
                  <a:ext cx="3942274" cy="1864083"/>
                </a:xfrm>
                <a:prstGeom prst="rect">
                  <a:avLst/>
                </a:prstGeom>
                <a:blipFill>
                  <a:blip r:embed="rId29"/>
                  <a:stretch>
                    <a:fillRect r="-309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FA016DFA-F621-0BC6-03C4-EEC8161DE955}"/>
                    </a:ext>
                  </a:extLst>
                </p:cNvPr>
                <p:cNvSpPr/>
                <p:nvPr/>
              </p:nvSpPr>
              <p:spPr>
                <a:xfrm>
                  <a:off x="16229950" y="246348"/>
                  <a:ext cx="758799" cy="174861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−7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39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FA016DFA-F621-0BC6-03C4-EEC8161DE95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229950" y="246348"/>
                  <a:ext cx="758799" cy="1748618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2B9F638F-2F5F-55A8-6C80-50B12B434D1C}"/>
                </a:ext>
              </a:extLst>
            </p:cNvPr>
            <p:cNvCxnSpPr/>
            <p:nvPr/>
          </p:nvCxnSpPr>
          <p:spPr>
            <a:xfrm>
              <a:off x="16211957" y="239600"/>
              <a:ext cx="0" cy="162914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/>
          <p:cNvGrpSpPr/>
          <p:nvPr/>
        </p:nvGrpSpPr>
        <p:grpSpPr>
          <a:xfrm>
            <a:off x="6763639" y="3693678"/>
            <a:ext cx="3990951" cy="1864083"/>
            <a:chOff x="13048598" y="201362"/>
            <a:chExt cx="3990951" cy="18640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E647E4FE-E60D-A0FD-93F0-F198786D111B}"/>
                    </a:ext>
                  </a:extLst>
                </p:cNvPr>
                <p:cNvSpPr/>
                <p:nvPr/>
              </p:nvSpPr>
              <p:spPr>
                <a:xfrm>
                  <a:off x="13048598" y="201362"/>
                  <a:ext cx="3942274" cy="18640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IN" sz="280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2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   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   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</m:t>
                                        </m:r>
                                        <m:r>
                                          <a:rPr lang="en-US" sz="2800" i="1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0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0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13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   5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e>
                        </m:d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E647E4FE-E60D-A0FD-93F0-F198786D11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48598" y="201362"/>
                  <a:ext cx="3942274" cy="1864083"/>
                </a:xfrm>
                <a:prstGeom prst="rect">
                  <a:avLst/>
                </a:prstGeom>
                <a:blipFill>
                  <a:blip r:embed="rId31"/>
                  <a:stretch>
                    <a:fillRect r="-820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FA016DFA-F621-0BC6-03C4-EEC8161DE955}"/>
                    </a:ext>
                  </a:extLst>
                </p:cNvPr>
                <p:cNvSpPr/>
                <p:nvPr/>
              </p:nvSpPr>
              <p:spPr>
                <a:xfrm>
                  <a:off x="16280750" y="246348"/>
                  <a:ext cx="758799" cy="174861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14:m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N" sz="280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−1</m:t>
                            </m:r>
                          </m:e>
                        </m:mr>
                        <m:mr>
                          <m:e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−7</m:t>
                            </m:r>
                          </m:e>
                        </m:mr>
                        <m:m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39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15</m:t>
                                  </m:r>
                                </m:e>
                              </m:mr>
                            </m:m>
                          </m:e>
                        </m:mr>
                      </m:m>
                    </m:oMath>
                  </a14:m>
                  <a:r>
                    <a:rPr lang="en-IN" sz="2800" dirty="0">
                      <a:solidFill>
                        <a:srgbClr val="002060"/>
                      </a:solidFill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FA016DFA-F621-0BC6-03C4-EEC8161DE95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280750" y="246348"/>
                  <a:ext cx="758799" cy="1748618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B9F638F-2F5F-55A8-6C80-50B12B434D1C}"/>
                </a:ext>
              </a:extLst>
            </p:cNvPr>
            <p:cNvCxnSpPr/>
            <p:nvPr/>
          </p:nvCxnSpPr>
          <p:spPr>
            <a:xfrm>
              <a:off x="16211957" y="239600"/>
              <a:ext cx="0" cy="162914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2B1A3233-C444-4A5B-E272-60B26D827803}"/>
                  </a:ext>
                </a:extLst>
              </p:cNvPr>
              <p:cNvSpPr/>
              <p:nvPr/>
            </p:nvSpPr>
            <p:spPr>
              <a:xfrm>
                <a:off x="8953643" y="2973337"/>
                <a:ext cx="1561527" cy="564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IN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𝟐𝟒</m:t>
                          </m:r>
                        </m:sub>
                      </m:sSub>
                      <m:d>
                        <m:dPr>
                          <m:ctrlPr>
                            <a:rPr lang="en-IN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2B1A3233-C444-4A5B-E272-60B26D827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3643" y="2973337"/>
                <a:ext cx="1561527" cy="56488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0089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2" grpId="0"/>
      <p:bldP spid="27" grpId="0"/>
      <p:bldP spid="41" grpId="0"/>
      <p:bldP spid="42" grpId="0"/>
      <p:bldP spid="58" grpId="0"/>
      <p:bldP spid="67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08F55-3D9C-9307-197E-9C4520A07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C4D1395-22CE-891A-6B86-F09180EB344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Method:3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Example:3(continue)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C4D1395-22CE-891A-6B86-F09180EB34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37">
            <a:extLst>
              <a:ext uri="{FF2B5EF4-FFF2-40B4-BE49-F238E27FC236}">
                <a16:creationId xmlns:a16="http://schemas.microsoft.com/office/drawing/2014/main" id="{86582569-8D0F-FA8A-02E2-B8B63541A288}"/>
              </a:ext>
            </a:extLst>
          </p:cNvPr>
          <p:cNvSpPr/>
          <p:nvPr/>
        </p:nvSpPr>
        <p:spPr>
          <a:xfrm>
            <a:off x="6369831" y="944256"/>
            <a:ext cx="36000" cy="5544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p:grpSp>
        <p:nvGrpSpPr>
          <p:cNvPr id="72" name="Group 71"/>
          <p:cNvGrpSpPr/>
          <p:nvPr/>
        </p:nvGrpSpPr>
        <p:grpSpPr>
          <a:xfrm>
            <a:off x="181601" y="1112489"/>
            <a:ext cx="3990951" cy="1864083"/>
            <a:chOff x="13048598" y="201362"/>
            <a:chExt cx="3990951" cy="18640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E647E4FE-E60D-A0FD-93F0-F198786D111B}"/>
                    </a:ext>
                  </a:extLst>
                </p:cNvPr>
                <p:cNvSpPr/>
                <p:nvPr/>
              </p:nvSpPr>
              <p:spPr>
                <a:xfrm>
                  <a:off x="13048598" y="201362"/>
                  <a:ext cx="3942274" cy="18640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IN" sz="280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2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   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   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</m:t>
                                        </m:r>
                                        <m:r>
                                          <a:rPr lang="en-US" sz="2800" i="1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0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0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13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   5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e>
                        </m:d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E647E4FE-E60D-A0FD-93F0-F198786D11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48598" y="201362"/>
                  <a:ext cx="3942274" cy="1864083"/>
                </a:xfrm>
                <a:prstGeom prst="rect">
                  <a:avLst/>
                </a:prstGeom>
                <a:blipFill>
                  <a:blip r:embed="rId19"/>
                  <a:stretch>
                    <a:fillRect r="-820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FA016DFA-F621-0BC6-03C4-EEC8161DE955}"/>
                    </a:ext>
                  </a:extLst>
                </p:cNvPr>
                <p:cNvSpPr/>
                <p:nvPr/>
              </p:nvSpPr>
              <p:spPr>
                <a:xfrm>
                  <a:off x="16280750" y="246348"/>
                  <a:ext cx="758799" cy="174861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14:m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N" sz="280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−1</m:t>
                            </m:r>
                          </m:e>
                        </m:mr>
                        <m:mr>
                          <m:e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−7</m:t>
                            </m:r>
                          </m:e>
                        </m:mr>
                        <m:m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39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15</m:t>
                                  </m:r>
                                </m:e>
                              </m:mr>
                            </m:m>
                          </m:e>
                        </m:mr>
                      </m:m>
                    </m:oMath>
                  </a14:m>
                  <a:r>
                    <a:rPr lang="en-IN" sz="2800" dirty="0">
                      <a:solidFill>
                        <a:srgbClr val="002060"/>
                      </a:solidFill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FA016DFA-F621-0BC6-03C4-EEC8161DE95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280750" y="246348"/>
                  <a:ext cx="758799" cy="1748618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2B9F638F-2F5F-55A8-6C80-50B12B434D1C}"/>
                </a:ext>
              </a:extLst>
            </p:cNvPr>
            <p:cNvCxnSpPr/>
            <p:nvPr/>
          </p:nvCxnSpPr>
          <p:spPr>
            <a:xfrm>
              <a:off x="16211957" y="239600"/>
              <a:ext cx="0" cy="162914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2B1A3233-C444-4A5B-E272-60B26D827803}"/>
                  </a:ext>
                </a:extLst>
              </p:cNvPr>
              <p:cNvSpPr/>
              <p:nvPr/>
            </p:nvSpPr>
            <p:spPr>
              <a:xfrm>
                <a:off x="708961" y="3151375"/>
                <a:ext cx="1845553" cy="10722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IN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𝟑𝟒</m:t>
                          </m:r>
                        </m:sub>
                      </m:sSub>
                      <m:d>
                        <m:dPr>
                          <m:ctrlPr>
                            <a:rPr lang="en-IN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IN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IN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𝟓</m:t>
                              </m:r>
                            </m:num>
                            <m:den>
                              <m:r>
                                <a:rPr lang="en-IN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𝟏𝟑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2B1A3233-C444-4A5B-E272-60B26D827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961" y="3151375"/>
                <a:ext cx="1845553" cy="1072281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7" name="Group 76"/>
          <p:cNvGrpSpPr/>
          <p:nvPr/>
        </p:nvGrpSpPr>
        <p:grpSpPr>
          <a:xfrm>
            <a:off x="181601" y="4398459"/>
            <a:ext cx="3990951" cy="1864083"/>
            <a:chOff x="13048598" y="201362"/>
            <a:chExt cx="3990951" cy="18640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E647E4FE-E60D-A0FD-93F0-F198786D111B}"/>
                    </a:ext>
                  </a:extLst>
                </p:cNvPr>
                <p:cNvSpPr/>
                <p:nvPr/>
              </p:nvSpPr>
              <p:spPr>
                <a:xfrm>
                  <a:off x="13048598" y="201362"/>
                  <a:ext cx="3942274" cy="18640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IN" sz="280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2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   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0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   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</m:t>
                                        </m:r>
                                        <m:r>
                                          <a:rPr lang="en-US" sz="2800" i="1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0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0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13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   0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e>
                        </m:d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E647E4FE-E60D-A0FD-93F0-F198786D11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48598" y="201362"/>
                  <a:ext cx="3942274" cy="1864083"/>
                </a:xfrm>
                <a:prstGeom prst="rect">
                  <a:avLst/>
                </a:prstGeom>
                <a:blipFill>
                  <a:blip r:embed="rId22"/>
                  <a:stretch>
                    <a:fillRect r="-820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FA016DFA-F621-0BC6-03C4-EEC8161DE955}"/>
                    </a:ext>
                  </a:extLst>
                </p:cNvPr>
                <p:cNvSpPr/>
                <p:nvPr/>
              </p:nvSpPr>
              <p:spPr>
                <a:xfrm>
                  <a:off x="16280750" y="246348"/>
                  <a:ext cx="758799" cy="174861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14:m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N" sz="280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−1</m:t>
                            </m:r>
                          </m:e>
                        </m:mr>
                        <m:mr>
                          <m:e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−7</m:t>
                            </m:r>
                          </m:e>
                        </m:mr>
                        <m:m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39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  <m:r>
                                    <a:rPr lang="en-IN" sz="280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mr>
                      </m:m>
                    </m:oMath>
                  </a14:m>
                  <a:r>
                    <a:rPr lang="en-IN" sz="2800" dirty="0">
                      <a:solidFill>
                        <a:srgbClr val="002060"/>
                      </a:solidFill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FA016DFA-F621-0BC6-03C4-EEC8161DE95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280750" y="246348"/>
                  <a:ext cx="758799" cy="1748618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2B9F638F-2F5F-55A8-6C80-50B12B434D1C}"/>
                </a:ext>
              </a:extLst>
            </p:cNvPr>
            <p:cNvCxnSpPr/>
            <p:nvPr/>
          </p:nvCxnSpPr>
          <p:spPr>
            <a:xfrm>
              <a:off x="16211957" y="239600"/>
              <a:ext cx="0" cy="162914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ounded Rectangle 6"/>
          <p:cNvSpPr/>
          <p:nvPr/>
        </p:nvSpPr>
        <p:spPr>
          <a:xfrm>
            <a:off x="790222" y="5601200"/>
            <a:ext cx="3488267" cy="46464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073AFBA-D271-1643-1F5B-01DCFDB307CE}"/>
                  </a:ext>
                </a:extLst>
              </p:cNvPr>
              <p:cNvSpPr/>
              <p:nvPr/>
            </p:nvSpPr>
            <p:spPr>
              <a:xfrm>
                <a:off x="6827564" y="1164658"/>
                <a:ext cx="5218713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IN" sz="2800" dirty="0">
                    <a:solidFill>
                      <a:srgbClr val="002060"/>
                    </a:solidFill>
                  </a:rPr>
                  <a:t>Here,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ρ</m:t>
                    </m:r>
                    <m:d>
                      <m:d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d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ρ</m:t>
                    </m:r>
                    <m:d>
                      <m:d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3=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IN" sz="2800" b="1" dirty="0">
                    <a:solidFill>
                      <a:srgbClr val="00206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073AFBA-D271-1643-1F5B-01DCFDB307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7564" y="1164658"/>
                <a:ext cx="5218713" cy="543600"/>
              </a:xfrm>
              <a:prstGeom prst="rect">
                <a:avLst/>
              </a:prstGeom>
              <a:blipFill>
                <a:blip r:embed="rId24"/>
                <a:stretch>
                  <a:fillRect l="-2336" t="-11236" b="-269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Content Placeholder 4">
            <a:extLst>
              <a:ext uri="{FF2B5EF4-FFF2-40B4-BE49-F238E27FC236}">
                <a16:creationId xmlns:a16="http://schemas.microsoft.com/office/drawing/2014/main" id="{B615FA3C-4A8C-87BF-65FC-DD7E7382A64B}"/>
              </a:ext>
            </a:extLst>
          </p:cNvPr>
          <p:cNvSpPr txBox="1">
            <a:spLocks/>
          </p:cNvSpPr>
          <p:nvPr/>
        </p:nvSpPr>
        <p:spPr>
          <a:xfrm>
            <a:off x="6700979" y="1803164"/>
            <a:ext cx="5345297" cy="9896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IN" sz="2800" dirty="0">
                <a:solidFill>
                  <a:srgbClr val="002060"/>
                </a:solidFill>
              </a:rPr>
              <a:t>So, System has unique solutions. </a:t>
            </a:r>
            <a:r>
              <a:rPr lang="en-IN" sz="2800" b="1" dirty="0">
                <a:solidFill>
                  <a:srgbClr val="FF0000"/>
                </a:solidFill>
              </a:rPr>
              <a:t>i.e. consistent system</a:t>
            </a:r>
            <a:r>
              <a:rPr lang="en-IN" sz="2800" b="1" dirty="0">
                <a:solidFill>
                  <a:srgbClr val="002060"/>
                </a:solidFill>
              </a:rPr>
              <a:t>.</a:t>
            </a:r>
            <a:endParaRPr lang="en-US" sz="2800" b="1" dirty="0">
              <a:solidFill>
                <a:srgbClr val="002060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Content Placeholder 4">
                <a:extLst>
                  <a:ext uri="{FF2B5EF4-FFF2-40B4-BE49-F238E27FC236}">
                    <a16:creationId xmlns:a16="http://schemas.microsoft.com/office/drawing/2014/main" id="{CE265650-D4E2-E41A-1812-4ABB21319C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00979" y="2887730"/>
                <a:ext cx="5273419" cy="1103118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Hence, </a:t>
                </a: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matrix A is a linear combination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</a:t>
                </a:r>
              </a:p>
            </p:txBody>
          </p:sp>
        </mc:Choice>
        <mc:Fallback xmlns="">
          <p:sp>
            <p:nvSpPr>
              <p:cNvPr id="92" name="Content Placeholder 4">
                <a:extLst>
                  <a:ext uri="{FF2B5EF4-FFF2-40B4-BE49-F238E27FC236}">
                    <a16:creationId xmlns:a16="http://schemas.microsoft.com/office/drawing/2014/main" id="{CE265650-D4E2-E41A-1812-4ABB21319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0979" y="2887730"/>
                <a:ext cx="5273419" cy="1103118"/>
              </a:xfrm>
              <a:prstGeom prst="rect">
                <a:avLst/>
              </a:prstGeom>
              <a:blipFill>
                <a:blip r:embed="rId25"/>
                <a:stretch>
                  <a:fillRect l="-116" t="-552" r="-2428" b="-12707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4832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6" grpId="0"/>
      <p:bldP spid="7" grpId="0" animBg="1"/>
      <p:bldP spid="81" grpId="0"/>
      <p:bldP spid="91" grpId="0"/>
      <p:bldP spid="92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Span of a Set of Vectors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be a vector space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dirty="0"/>
                  <a:t> be a finite subset of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. The span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, denoted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is defined as the set of all possible linear combinations of the vectors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𝐢</m:t>
                      </m:r>
                      <m:r>
                        <a:rPr lang="en-US" b="1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𝐞</m:t>
                      </m:r>
                      <m:r>
                        <a:rPr lang="en-US" b="1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., 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𝐒𝐩𝐚𝐧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𝐒</m:t>
                          </m:r>
                        </m:e>
                      </m:d>
                      <m:r>
                        <a:rPr lang="en-US" b="1" i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𝐜</m:t>
                              </m:r>
                            </m:e>
                            <m:sub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𝐜</m:t>
                              </m:r>
                            </m:e>
                            <m:sub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r>
                            <a:rPr lang="en-US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𝐜</m:t>
                              </m:r>
                            </m:e>
                            <m:sub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  <m:r>
                            <a:rPr lang="en-US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𝐜</m:t>
                              </m:r>
                            </m:e>
                            <m:sub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𝐧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/ </m:t>
                          </m:r>
                          <m:sSub>
                            <m:sSub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𝐜</m:t>
                              </m:r>
                            </m:e>
                            <m:sub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𝐜</m:t>
                              </m:r>
                            </m:e>
                            <m:sub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r>
                            <a:rPr lang="en-US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𝐜</m:t>
                              </m:r>
                            </m:e>
                            <m:sub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  <m:r>
                            <a:rPr lang="en-US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𝐜</m:t>
                              </m:r>
                            </m:e>
                            <m:sub>
                              <m:r>
                                <a:rPr lang="en-US" b="1" i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𝐧</m:t>
                              </m:r>
                            </m:sub>
                          </m:sSub>
                          <m:r>
                            <a:rPr lang="en-US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</m:d>
                    </m:oMath>
                  </m:oMathPara>
                </a14:m>
                <a:endParaRPr lang="en-IN" b="1" dirty="0"/>
              </a:p>
              <a:p>
                <a:r>
                  <a:rPr lang="en-US" dirty="0"/>
                  <a:t>The span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 consists of all vectors that can be generated using the vectors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.</a:t>
                </a:r>
                <a:endParaRPr lang="en-IN" b="1" dirty="0">
                  <a:solidFill>
                    <a:srgbClr val="FF000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71" r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6488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Spanning Set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31180" y="863445"/>
                <a:ext cx="11929641" cy="2565556"/>
              </a:xfrm>
            </p:spPr>
            <p:txBody>
              <a:bodyPr/>
              <a:lstStyle/>
              <a:p>
                <a:pPr lvl="0"/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be a vector space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dirty="0"/>
                  <a:t> be a finite subset of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. The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 is called a spanning set of V if every vector in V can be expressed as a linear combination of the vectors in S.</a:t>
                </a:r>
              </a:p>
              <a:p>
                <a:pPr marL="0" indent="0">
                  <a:buNone/>
                </a:pPr>
                <a:r>
                  <a:rPr lang="en-US" dirty="0"/>
                  <a:t>i.e.,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𝐬𝐩𝐚𝐧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</m:d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𝐜</m:t>
                            </m:r>
                          </m:e>
                          <m:sub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𝐜</m:t>
                            </m:r>
                          </m:e>
                          <m:sub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𝐜</m:t>
                            </m:r>
                          </m:e>
                          <m:sub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𝐜</m:t>
                            </m:r>
                          </m:e>
                          <m:sub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𝐧</m:t>
                            </m:r>
                          </m:sub>
                        </m:sSub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𝐧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/ 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𝐜</m:t>
                            </m:r>
                          </m:e>
                          <m:sub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𝐜</m:t>
                            </m:r>
                          </m:e>
                          <m:sub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𝐜</m:t>
                            </m:r>
                          </m:e>
                          <m:sub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𝐜</m:t>
                            </m:r>
                          </m:e>
                          <m:sub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𝐧</m:t>
                            </m:r>
                          </m:sub>
                        </m:s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</m:d>
                  </m:oMath>
                </a14:m>
                <a:endParaRPr lang="en-IN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1180" y="863445"/>
                <a:ext cx="11929641" cy="2565556"/>
              </a:xfrm>
              <a:blipFill>
                <a:blip r:embed="rId2"/>
                <a:stretch>
                  <a:fillRect l="-1074" r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756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Procedure to check whether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 spans the vector 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IN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31180" y="863444"/>
                <a:ext cx="11929641" cy="5579886"/>
              </a:xfrm>
            </p:spPr>
            <p:txBody>
              <a:bodyPr/>
              <a:lstStyle/>
              <a:p>
                <a:pPr lvl="0"/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IN" b="1" dirty="0"/>
              </a:p>
              <a:p>
                <a:pPr marL="1058862" lvl="1" indent="-514350">
                  <a:buFont typeface="+mj-lt"/>
                  <a:buAutoNum type="arabicPeriod"/>
                </a:pPr>
                <a:r>
                  <a:rPr lang="en-US" dirty="0"/>
                  <a:t>Choose an arbitrary vector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.</a:t>
                </a:r>
                <a:endParaRPr lang="en-IN" dirty="0"/>
              </a:p>
              <a:p>
                <a:pPr marL="1058862" lvl="1" indent="-514350">
                  <a:buFont typeface="+mj-lt"/>
                  <a:buAutoNum type="arabicPeriod"/>
                </a:pPr>
                <a:r>
                  <a:rPr lang="en-US" dirty="0"/>
                  <a:t>Express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dirty="0"/>
                  <a:t> as a linear combination of the vectors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:</a:t>
                </a:r>
                <a:endParaRPr lang="en-IN" dirty="0"/>
              </a:p>
              <a:p>
                <a:pPr marL="544512" lvl="1" indent="0" algn="ctr">
                  <a:buNone/>
                </a:pPr>
                <a:r>
                  <a:rPr lang="en-US" dirty="0"/>
                  <a:t>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r>
                  <a:rPr lang="en-US" dirty="0"/>
                  <a:t>………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IN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1180" y="863444"/>
                <a:ext cx="11929641" cy="5579886"/>
              </a:xfrm>
              <a:blipFill>
                <a:blip r:embed="rId3"/>
                <a:stretch>
                  <a:fillRect l="-9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5274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Procedure to check whether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 spans the vector 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IN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31180" y="863444"/>
                <a:ext cx="11929641" cy="4761179"/>
              </a:xfrm>
            </p:spPr>
            <p:txBody>
              <a:bodyPr/>
              <a:lstStyle/>
              <a:p>
                <a:pPr marL="1058862" lvl="1" indent="-514350">
                  <a:buFont typeface="+mj-lt"/>
                  <a:buAutoNum type="arabicPeriod" startAt="3"/>
                </a:pPr>
                <a:r>
                  <a:rPr lang="en-US" dirty="0"/>
                  <a:t>Form the corresponding system of linear equations and check its consistency.</a:t>
                </a:r>
              </a:p>
              <a:p>
                <a:pPr marL="1762125" lvl="3" indent="-514350"/>
                <a:r>
                  <a:rPr lang="en-US" dirty="0"/>
                  <a:t>If the system of equations in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is consistent for all choices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spans the vector space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1247775" lvl="3" indent="0" algn="ctr">
                  <a:buNone/>
                </a:pPr>
                <a:r>
                  <a:rPr lang="en-US" dirty="0"/>
                  <a:t>i.e.,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𝐒𝐩𝐚𝐧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</m:d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r>
                  <a:rPr lang="en-US" dirty="0"/>
                  <a:t>.</a:t>
                </a:r>
                <a:endParaRPr lang="en-IN" dirty="0"/>
              </a:p>
              <a:p>
                <a:pPr marL="1762125" lvl="3" indent="-514350"/>
                <a:r>
                  <a:rPr lang="en-US" dirty="0"/>
                  <a:t>If the system of equations in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is inconsistent for some choice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does not span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dirty="0"/>
              </a:p>
              <a:p>
                <a:pPr marL="1247775" lvl="3" indent="0">
                  <a:buNone/>
                </a:pPr>
                <a:endParaRPr lang="en-IN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1180" y="863444"/>
                <a:ext cx="11929641" cy="4761179"/>
              </a:xfrm>
              <a:blipFill>
                <a:blip r:embed="rId3"/>
                <a:stretch>
                  <a:fillRect r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1980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Remarks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31180" y="863444"/>
                <a:ext cx="11929641" cy="4051456"/>
              </a:xfrm>
            </p:spPr>
            <p:txBody>
              <a:bodyPr/>
              <a:lstStyle/>
              <a:p>
                <a:pPr lvl="0"/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FF0000"/>
                    </a:solidFill>
                  </a:rPr>
                  <a:t>span </a:t>
                </a:r>
                <a:r>
                  <a:rPr lang="en-US" dirty="0"/>
                  <a:t>of a set of vectors is always a </a:t>
                </a:r>
                <a:r>
                  <a:rPr lang="en-US" b="1" dirty="0">
                    <a:solidFill>
                      <a:srgbClr val="FF0000"/>
                    </a:solidFill>
                  </a:rPr>
                  <a:t>subspace</a:t>
                </a:r>
                <a:r>
                  <a:rPr lang="en-US" dirty="0"/>
                  <a:t> of the vector 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.</a:t>
                </a:r>
                <a:endParaRPr lang="en-IN" dirty="0"/>
              </a:p>
              <a:p>
                <a:pPr lvl="0"/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FF0000"/>
                    </a:solidFill>
                  </a:rPr>
                  <a:t>span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 is the </a:t>
                </a:r>
                <a:r>
                  <a:rPr lang="en-US" b="1" dirty="0">
                    <a:solidFill>
                      <a:srgbClr val="FF0000"/>
                    </a:solidFill>
                  </a:rPr>
                  <a:t>smallest subspace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containing all the vectors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.</a:t>
                </a:r>
                <a:endParaRPr lang="en-IN" dirty="0"/>
              </a:p>
              <a:p>
                <a:pPr lvl="0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then the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 is called a </a:t>
                </a:r>
                <a:r>
                  <a:rPr lang="en-US" b="1" dirty="0">
                    <a:solidFill>
                      <a:srgbClr val="FF0000"/>
                    </a:solidFill>
                  </a:rPr>
                  <a:t>spanning set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.</a:t>
                </a:r>
                <a:endParaRPr lang="en-IN" dirty="0"/>
              </a:p>
              <a:p>
                <a:pPr lvl="0"/>
                <a:r>
                  <a:rPr lang="en-US" dirty="0">
                    <a:solidFill>
                      <a:srgbClr val="002060"/>
                    </a:solidFill>
                  </a:rPr>
                  <a:t>Different sets of vectors may have the same span</a:t>
                </a:r>
                <a:r>
                  <a:rPr lang="en-US" dirty="0"/>
                  <a:t>ning set.</a:t>
                </a:r>
                <a:endParaRPr lang="en-IN" dirty="0">
                  <a:solidFill>
                    <a:srgbClr val="002060"/>
                  </a:solidFill>
                </a:endParaRPr>
              </a:p>
              <a:p>
                <a:r>
                  <a:rPr lang="en-US" dirty="0">
                    <a:solidFill>
                      <a:srgbClr val="002060"/>
                    </a:solidFill>
                  </a:rPr>
                  <a:t>If a vector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</a:rPr>
                  <a:t> can be written as a linear combination of the remaining vectors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</a:rPr>
                  <a:t>, then removing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</a:rPr>
                  <a:t>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</a:rPr>
                  <a:t> does not change the span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1180" y="863444"/>
                <a:ext cx="11929641" cy="4051456"/>
              </a:xfrm>
              <a:blipFill>
                <a:blip r:embed="rId2"/>
                <a:stretch>
                  <a:fillRect l="-971" r="-1074" b="-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9969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A795C-3F85-D658-6DC6-FA9721BB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E6C0FEF-1015-B9FD-C763-66C9445745F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Method:3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E6C0FEF-1015-B9FD-C763-66C944574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EEC6D62-A8E1-3CCE-5180-C89445E9D872}"/>
              </a:ext>
            </a:extLst>
          </p:cNvPr>
          <p:cNvSpPr/>
          <p:nvPr/>
        </p:nvSpPr>
        <p:spPr>
          <a:xfrm>
            <a:off x="122279" y="1616590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4E739BDA-F9F6-4CF9-911F-7CB8AB0A6FC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04480" y="465172"/>
                <a:ext cx="11324711" cy="112569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Does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1, </m:t>
                            </m:r>
                            <m: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d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span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? Justify with reason.</a:t>
                </a: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4E739BDA-F9F6-4CF9-911F-7CB8AB0A6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480" y="465172"/>
                <a:ext cx="11324711" cy="1125690"/>
              </a:xfrm>
              <a:prstGeom prst="rect">
                <a:avLst/>
              </a:prstGeom>
              <a:blipFill>
                <a:blip r:embed="rId3"/>
                <a:stretch>
                  <a:fillRect l="-107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2CB46D94-2570-D874-4F3A-18EA466D57FD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8FE7808-6070-3058-1843-37B57D298DA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4355" y="1583714"/>
                <a:ext cx="4591646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b</m:t>
                        </m:r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c</m:t>
                        </m:r>
                      </m:e>
                    </m:d>
                    <m:r>
                      <a:rPr lang="en-IN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∈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ℝ</m:t>
                        </m:r>
                      </m:e>
                      <m:sup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8FE7808-6070-3058-1843-37B57D298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4355" y="1583714"/>
                <a:ext cx="4591646" cy="544460"/>
              </a:xfrm>
              <a:prstGeom prst="rect">
                <a:avLst/>
              </a:prstGeom>
              <a:blipFill>
                <a:blip r:embed="rId4"/>
                <a:stretch>
                  <a:fillRect l="-266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BF4617CF-F891-0C68-131C-65E9FF00168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191" y="2898449"/>
                <a:ext cx="8827692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a</m:t>
                          </m:r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b</m:t>
                          </m:r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c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BF4617CF-F891-0C68-131C-65E9FF001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91" y="2898449"/>
                <a:ext cx="8827692" cy="5436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89163715-BC29-E470-061B-F3C3EE71B45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191" y="3556086"/>
                <a:ext cx="11664000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a</m:t>
                          </m:r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b</m:t>
                          </m:r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c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IN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1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+0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,−2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+5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IN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+5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+8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IN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89163715-BC29-E470-061B-F3C3EE71B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91" y="3556086"/>
                <a:ext cx="11664000" cy="543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Content Placeholder 4">
            <a:extLst>
              <a:ext uri="{FF2B5EF4-FFF2-40B4-BE49-F238E27FC236}">
                <a16:creationId xmlns:a16="http://schemas.microsoft.com/office/drawing/2014/main" id="{1A2EE99E-860B-EE9D-4F59-C6C2CE57581D}"/>
              </a:ext>
            </a:extLst>
          </p:cNvPr>
          <p:cNvSpPr txBox="1">
            <a:spLocks/>
          </p:cNvSpPr>
          <p:nvPr/>
        </p:nvSpPr>
        <p:spPr>
          <a:xfrm>
            <a:off x="122279" y="4187089"/>
            <a:ext cx="6138822" cy="5436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118745" algn="just">
              <a:lnSpc>
                <a:spcPct val="115000"/>
              </a:lnSpc>
              <a:spcBef>
                <a:spcPts val="1000"/>
              </a:spcBef>
              <a:spcAft>
                <a:spcPts val="800"/>
              </a:spcAft>
              <a:buClr>
                <a:schemeClr val="accent6"/>
              </a:buClr>
              <a:buFont typeface="Wingdings 3" panose="05040102010807070707" pitchFamily="18" charset="2"/>
              <a:buNone/>
              <a:defRPr sz="2800">
                <a:solidFill>
                  <a:srgbClr val="3A4A6A"/>
                </a:solidFill>
              </a:defRPr>
            </a:lvl1pPr>
          </a:lstStyle>
          <a:p>
            <a:pPr>
              <a:lnSpc>
                <a:spcPct val="90000"/>
              </a:lnSpc>
            </a:pPr>
            <a:r>
              <a:rPr lang="en-US" i="0" dirty="0">
                <a:solidFill>
                  <a:srgbClr val="002060"/>
                </a:solidFill>
                <a:latin typeface="+mj-lt"/>
              </a:rPr>
              <a:t>Comparing both the sides, we have </a:t>
            </a:r>
            <a:endParaRPr lang="en-US" dirty="0">
              <a:solidFill>
                <a:srgbClr val="002060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DA3FB432-213C-F5B1-722C-0AC4D2E3EC7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2808" y="4818092"/>
                <a:ext cx="11850291" cy="595428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 algn="l">
                  <a:lnSpc>
                    <a:spcPct val="125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1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+0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b="0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    </a:t>
                </a:r>
                <a14:m>
                  <m:oMath xmlns:m="http://schemas.openxmlformats.org/officeDocument/2006/math">
                    <m:r>
                      <a:rPr lang="en-IN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5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b="0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 </a:t>
                </a:r>
                <a:r>
                  <a:rPr lang="en-US" b="0" i="0" dirty="0">
                    <a:solidFill>
                      <a:srgbClr val="002060"/>
                    </a:solidFill>
                    <a:latin typeface="+mj-lt"/>
                  </a:rPr>
                  <a:t>and</a:t>
                </a:r>
                <a:r>
                  <a:rPr lang="en-US" b="0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+5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8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DA3FB432-213C-F5B1-722C-0AC4D2E3EC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08" y="4818092"/>
                <a:ext cx="11850291" cy="595428"/>
              </a:xfrm>
              <a:prstGeom prst="rect">
                <a:avLst/>
              </a:prstGeom>
              <a:blipFill>
                <a:blip r:embed="rId7"/>
                <a:stretch>
                  <a:fillRect b="-2857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Content Placeholder 4">
                <a:extLst>
                  <a:ext uri="{FF2B5EF4-FFF2-40B4-BE49-F238E27FC236}">
                    <a16:creationId xmlns:a16="http://schemas.microsoft.com/office/drawing/2014/main" id="{F8FE7808-6070-3058-1843-37B57D298DA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279" y="2242211"/>
                <a:ext cx="9544337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1, 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e>
                    </m:d>
                  </m:oMath>
                </a14:m>
                <a:endParaRPr lang="en-US" sz="280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0" name="Content Placeholder 4">
                <a:extLst>
                  <a:ext uri="{FF2B5EF4-FFF2-40B4-BE49-F238E27FC236}">
                    <a16:creationId xmlns:a16="http://schemas.microsoft.com/office/drawing/2014/main" id="{F8FE7808-6070-3058-1843-37B57D298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9" y="2242211"/>
                <a:ext cx="9544337" cy="544460"/>
              </a:xfrm>
              <a:prstGeom prst="rect">
                <a:avLst/>
              </a:prstGeom>
              <a:blipFill>
                <a:blip r:embed="rId8"/>
                <a:stretch>
                  <a:fillRect l="-1277" t="-12360" b="-2584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3813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  <p:bldP spid="28" grpId="0"/>
      <p:bldP spid="29" grpId="0"/>
      <p:bldP spid="40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A4B4A-CF9F-DEE4-ACCA-1DC3494F9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BA9B6D6-1692-DD7D-9035-0BC63300A29B}"/>
              </a:ext>
            </a:extLst>
          </p:cNvPr>
          <p:cNvGrpSpPr/>
          <p:nvPr/>
        </p:nvGrpSpPr>
        <p:grpSpPr>
          <a:xfrm>
            <a:off x="1837995" y="3453274"/>
            <a:ext cx="3341292" cy="1370924"/>
            <a:chOff x="1837995" y="3453274"/>
            <a:chExt cx="3341292" cy="13709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F417118A-890D-78AC-7969-6E5C305166EB}"/>
                    </a:ext>
                  </a:extLst>
                </p:cNvPr>
                <p:cNvSpPr/>
                <p:nvPr/>
              </p:nvSpPr>
              <p:spPr>
                <a:xfrm>
                  <a:off x="4158321" y="3474836"/>
                  <a:ext cx="786201" cy="12664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sz="280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F417118A-890D-78AC-7969-6E5C305166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8321" y="3474836"/>
                  <a:ext cx="786201" cy="126647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7838E14-6DA2-7161-1D38-3708A3561FC2}"/>
                </a:ext>
              </a:extLst>
            </p:cNvPr>
            <p:cNvGrpSpPr/>
            <p:nvPr/>
          </p:nvGrpSpPr>
          <p:grpSpPr>
            <a:xfrm>
              <a:off x="1837995" y="3453274"/>
              <a:ext cx="3341292" cy="1370924"/>
              <a:chOff x="1772218" y="3451006"/>
              <a:chExt cx="2858691" cy="148522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8A52081F-953E-59EE-F76D-87B48440A334}"/>
                      </a:ext>
                    </a:extLst>
                  </p:cNvPr>
                  <p:cNvSpPr/>
                  <p:nvPr/>
                </p:nvSpPr>
                <p:spPr>
                  <a:xfrm>
                    <a:off x="1772218" y="3451006"/>
                    <a:ext cx="2858691" cy="14852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e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 2</m:t>
                                    </m:r>
                                  </m:e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e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e>
                                </m:mr>
                              </m:m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        </m:t>
                              </m:r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oMath>
                      </m:oMathPara>
                    </a14:m>
                    <a:endParaRPr lang="en-IN" sz="2800" dirty="0">
                      <a:solidFill>
                        <a:srgbClr val="00206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8A52081F-953E-59EE-F76D-87B48440A33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72218" y="3451006"/>
                    <a:ext cx="2858691" cy="148522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E8C9F747-7AD3-F1ED-91D7-CB0859012F13}"/>
                  </a:ext>
                </a:extLst>
              </p:cNvPr>
              <p:cNvCxnSpPr/>
              <p:nvPr/>
            </p:nvCxnSpPr>
            <p:spPr>
              <a:xfrm>
                <a:off x="3757406" y="3514747"/>
                <a:ext cx="0" cy="132605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131C871-AEE2-66C5-22F0-F2A8AFB673B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Method:3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131C871-AEE2-66C5-22F0-F2A8AFB673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16E27A61-A74A-EBC5-7216-484AC2382B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2808" y="848497"/>
                <a:ext cx="4027765" cy="181378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 algn="l"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a:rPr lang="en-US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N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+0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N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  <a:p>
                <a:pPr algn="l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IN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5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algn="l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IN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IN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+5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8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en-US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16E27A61-A74A-EBC5-7216-484AC2382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08" y="848497"/>
                <a:ext cx="4027765" cy="18137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748FD3A7-A988-C981-98B7-F6B868FDE8FF}"/>
              </a:ext>
            </a:extLst>
          </p:cNvPr>
          <p:cNvSpPr/>
          <p:nvPr/>
        </p:nvSpPr>
        <p:spPr>
          <a:xfrm>
            <a:off x="252808" y="2799580"/>
            <a:ext cx="6020992" cy="54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rgbClr val="002060"/>
                </a:solidFill>
              </a:rPr>
              <a:t>The Augmented matrix of the </a:t>
            </a:r>
            <a:r>
              <a:rPr lang="en-US" sz="2800" dirty="0">
                <a:solidFill>
                  <a:srgbClr val="002060"/>
                </a:solidFill>
              </a:rPr>
              <a:t>system is</a:t>
            </a:r>
            <a:endParaRPr lang="en-IN" sz="28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0BAA46A-5E60-01EF-8454-2F99B9504D74}"/>
                  </a:ext>
                </a:extLst>
              </p:cNvPr>
              <p:cNvSpPr/>
              <p:nvPr/>
            </p:nvSpPr>
            <p:spPr>
              <a:xfrm>
                <a:off x="252808" y="3848776"/>
                <a:ext cx="1728392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"/>
                              <m:endChr m:val="|"/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IN" sz="2800" b="0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IN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  <a:p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21C6629-897D-4685-8AB6-97C2187F44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08" y="3848776"/>
                <a:ext cx="1728392" cy="543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6670677B-64B7-01CB-0D8B-CB0DEA41E798}"/>
                  </a:ext>
                </a:extLst>
              </p:cNvPr>
              <p:cNvSpPr/>
              <p:nvPr/>
            </p:nvSpPr>
            <p:spPr>
              <a:xfrm>
                <a:off x="2055552" y="4851400"/>
                <a:ext cx="1623409" cy="564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GB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𝟏𝟐</m:t>
                          </m:r>
                        </m:sub>
                      </m:sSub>
                      <m:d>
                        <m:dPr>
                          <m:ctrlPr>
                            <a:rPr lang="en-GB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  <m:r>
                        <a:rPr lang="en-IN" sz="28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6670677B-64B7-01CB-0D8B-CB0DEA41E7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5552" y="4851400"/>
                <a:ext cx="1623409" cy="5648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: Rounded Corners 37">
            <a:extLst>
              <a:ext uri="{FF2B5EF4-FFF2-40B4-BE49-F238E27FC236}">
                <a16:creationId xmlns:a16="http://schemas.microsoft.com/office/drawing/2014/main" id="{C23C8852-12D4-0359-F932-9FDF57F1804C}"/>
              </a:ext>
            </a:extLst>
          </p:cNvPr>
          <p:cNvSpPr/>
          <p:nvPr/>
        </p:nvSpPr>
        <p:spPr>
          <a:xfrm>
            <a:off x="6078000" y="861732"/>
            <a:ext cx="36000" cy="56628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28AA582-ECCB-5069-619E-FB788BF11506}"/>
                  </a:ext>
                </a:extLst>
              </p:cNvPr>
              <p:cNvSpPr/>
              <p:nvPr/>
            </p:nvSpPr>
            <p:spPr>
              <a:xfrm>
                <a:off x="3440795" y="4851400"/>
                <a:ext cx="1623409" cy="564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GB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IN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d>
                        <m:dPr>
                          <m:ctrlPr>
                            <a:rPr lang="en-GB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IN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28AA582-ECCB-5069-619E-FB788BF115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0795" y="4851400"/>
                <a:ext cx="1623409" cy="56488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E5369E6-82B2-0478-5469-7F290CDD07D5}"/>
                  </a:ext>
                </a:extLst>
              </p:cNvPr>
              <p:cNvSpPr/>
              <p:nvPr/>
            </p:nvSpPr>
            <p:spPr>
              <a:xfrm>
                <a:off x="8832399" y="1068428"/>
                <a:ext cx="1466092" cy="12664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N" sz="280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US" sz="280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mr>
                        <m:mr>
                          <m:e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</m:mr>
                        <m:mr>
                          <m:e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</m:mr>
                      </m:m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E5369E6-82B2-0478-5469-7F290CDD07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2399" y="1068428"/>
                <a:ext cx="1466092" cy="126647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BE8A1BA3-2AE7-33AA-DC94-BA1B187D0CFA}"/>
              </a:ext>
            </a:extLst>
          </p:cNvPr>
          <p:cNvGrpSpPr/>
          <p:nvPr/>
        </p:nvGrpSpPr>
        <p:grpSpPr>
          <a:xfrm>
            <a:off x="6582701" y="1069928"/>
            <a:ext cx="4196951" cy="1370924"/>
            <a:chOff x="-1424139" y="3211395"/>
            <a:chExt cx="3590763" cy="14852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F503F055-070B-967D-2A46-3218E21D9EC0}"/>
                    </a:ext>
                  </a:extLst>
                </p:cNvPr>
                <p:cNvSpPr/>
                <p:nvPr/>
              </p:nvSpPr>
              <p:spPr>
                <a:xfrm>
                  <a:off x="-1424139" y="3211395"/>
                  <a:ext cx="3590763" cy="148522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r>
                    <a:rPr lang="en-IN" sz="2800" b="0" dirty="0">
                      <a:solidFill>
                        <a:srgbClr val="002060"/>
                      </a:solidFill>
                    </a:rPr>
                    <a:t>~ </a:t>
                  </a:r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                     </m:t>
                          </m:r>
                          <m:r>
                            <a:rPr lang="en-GB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F503F055-070B-967D-2A46-3218E21D9EC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424139" y="3211395"/>
                  <a:ext cx="3590763" cy="1485224"/>
                </a:xfrm>
                <a:prstGeom prst="rect">
                  <a:avLst/>
                </a:prstGeom>
                <a:blipFill>
                  <a:blip r:embed="rId16"/>
                  <a:stretch>
                    <a:fillRect l="-3052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9DAE9F9F-D414-12AE-F50A-CB9F17B4D243}"/>
                </a:ext>
              </a:extLst>
            </p:cNvPr>
            <p:cNvCxnSpPr/>
            <p:nvPr/>
          </p:nvCxnSpPr>
          <p:spPr>
            <a:xfrm>
              <a:off x="362562" y="3242593"/>
              <a:ext cx="0" cy="132605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BD007D5-9CE0-8D56-3CD7-D07FA7F6A0BB}"/>
              </a:ext>
            </a:extLst>
          </p:cNvPr>
          <p:cNvGrpSpPr/>
          <p:nvPr/>
        </p:nvGrpSpPr>
        <p:grpSpPr>
          <a:xfrm>
            <a:off x="6598049" y="3562693"/>
            <a:ext cx="4560950" cy="1370924"/>
            <a:chOff x="1833958" y="3480476"/>
            <a:chExt cx="3692619" cy="14852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9AFD2E0B-0516-EE39-12F2-F77E6106D34E}"/>
                    </a:ext>
                  </a:extLst>
                </p:cNvPr>
                <p:cNvSpPr/>
                <p:nvPr/>
              </p:nvSpPr>
              <p:spPr>
                <a:xfrm>
                  <a:off x="1833958" y="3480476"/>
                  <a:ext cx="3692619" cy="148522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r>
                    <a:rPr lang="en-IN" sz="2800" b="0" dirty="0">
                      <a:solidFill>
                        <a:srgbClr val="002060"/>
                      </a:solidFill>
                    </a:rPr>
                    <a:t>~ </a:t>
                  </a:r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                            </m:t>
                          </m:r>
                          <m:r>
                            <a:rPr lang="en-GB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9AFD2E0B-0516-EE39-12F2-F77E6106D34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3958" y="3480476"/>
                  <a:ext cx="3692619" cy="1485224"/>
                </a:xfrm>
                <a:prstGeom prst="rect">
                  <a:avLst/>
                </a:prstGeom>
                <a:blipFill>
                  <a:blip r:embed="rId17"/>
                  <a:stretch>
                    <a:fillRect l="-267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9C8BA5DC-BFD8-0F02-4E3C-D840BCEC52F2}"/>
                </a:ext>
              </a:extLst>
            </p:cNvPr>
            <p:cNvCxnSpPr/>
            <p:nvPr/>
          </p:nvCxnSpPr>
          <p:spPr>
            <a:xfrm>
              <a:off x="3616209" y="3514747"/>
              <a:ext cx="0" cy="132605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B0EB81B-E554-BE73-F1BC-F0F4EE0E6935}"/>
                  </a:ext>
                </a:extLst>
              </p:cNvPr>
              <p:cNvSpPr/>
              <p:nvPr/>
            </p:nvSpPr>
            <p:spPr>
              <a:xfrm>
                <a:off x="6862072" y="2763868"/>
                <a:ext cx="1623409" cy="564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IN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𝟐𝟑</m:t>
                          </m:r>
                        </m:sub>
                      </m:sSub>
                      <m:d>
                        <m:dPr>
                          <m:ctrlPr>
                            <a:rPr lang="en-GB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IN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B0EB81B-E554-BE73-F1BC-F0F4EE0E69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2072" y="2763868"/>
                <a:ext cx="1623409" cy="56488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0DE5B05-8E3A-472C-AB0B-CBDE3A3CD91D}"/>
                  </a:ext>
                </a:extLst>
              </p:cNvPr>
              <p:cNvSpPr/>
              <p:nvPr/>
            </p:nvSpPr>
            <p:spPr>
              <a:xfrm>
                <a:off x="8806572" y="3534254"/>
                <a:ext cx="2274103" cy="12664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N" sz="280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US" sz="280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mr>
                        <m:mr>
                          <m:e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</m:mr>
                        <m:mr>
                          <m:e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</m:mr>
                      </m:m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0DE5B05-8E3A-472C-AB0B-CBDE3A3CD9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6572" y="3534254"/>
                <a:ext cx="2274103" cy="126647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9684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8" grpId="0"/>
      <p:bldP spid="16" grpId="0" animBg="1"/>
      <p:bldP spid="17" grpId="0"/>
      <p:bldP spid="32" grpId="0"/>
      <p:bldP spid="49" grpId="0"/>
      <p:bldP spid="50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FDAE0-297D-3782-FB9E-6D74F3364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64E8149-ACF8-C169-C2A2-516A48F60B2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Method:3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64E8149-ACF8-C169-C2A2-516A48F60B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54F026A2-E57F-2FB9-2477-9B7246E2BD68}"/>
                  </a:ext>
                </a:extLst>
              </p:cNvPr>
              <p:cNvSpPr/>
              <p:nvPr/>
            </p:nvSpPr>
            <p:spPr>
              <a:xfrm>
                <a:off x="266657" y="2535737"/>
                <a:ext cx="6197644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IN" sz="2800" dirty="0">
                    <a:solidFill>
                      <a:srgbClr val="00206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≠0,</m:t>
                    </m:r>
                  </m:oMath>
                </a14:m>
                <a:r>
                  <a:rPr lang="en-IN" sz="2800" dirty="0">
                    <a:solidFill>
                      <a:srgbClr val="002060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ρ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</m:e>
                    </m:d>
                    <m: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m:rPr>
                        <m:sty m:val="p"/>
                      </m:rPr>
                      <a:rPr lang="en-IN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ρ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  <a:endParaRPr lang="en-IN" sz="28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54F026A2-E57F-2FB9-2477-9B7246E2BD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657" y="2535737"/>
                <a:ext cx="6197644" cy="543600"/>
              </a:xfrm>
              <a:prstGeom prst="rect">
                <a:avLst/>
              </a:prstGeom>
              <a:blipFill>
                <a:blip r:embed="rId9"/>
                <a:stretch>
                  <a:fillRect l="-2067" t="-12360" b="-269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35E85EF-2A5A-FCD1-B95A-A8D0242F02EC}"/>
                  </a:ext>
                </a:extLst>
              </p:cNvPr>
              <p:cNvSpPr/>
              <p:nvPr/>
            </p:nvSpPr>
            <p:spPr>
              <a:xfrm>
                <a:off x="224558" y="3208249"/>
                <a:ext cx="8763044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IN" sz="2800" dirty="0">
                    <a:solidFill>
                      <a:srgbClr val="002060"/>
                    </a:solidFill>
                  </a:rPr>
                  <a:t>So, System is inconsistent for some choices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and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en-IN" sz="2800" dirty="0">
                    <a:solidFill>
                      <a:srgbClr val="002060"/>
                    </a:solidFill>
                  </a:rPr>
                  <a:t>.</a:t>
                </a:r>
                <a:endParaRPr lang="en-IN" sz="28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35E85EF-2A5A-FCD1-B95A-A8D0242F02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558" y="3208249"/>
                <a:ext cx="8763044" cy="543600"/>
              </a:xfrm>
              <a:prstGeom prst="rect">
                <a:avLst/>
              </a:prstGeom>
              <a:blipFill>
                <a:blip r:embed="rId13"/>
                <a:stretch>
                  <a:fillRect l="-1461" t="-11236" b="-269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DC03375-C45F-C340-016B-B89623D903B2}"/>
                  </a:ext>
                </a:extLst>
              </p:cNvPr>
              <p:cNvSpPr/>
              <p:nvPr/>
            </p:nvSpPr>
            <p:spPr>
              <a:xfrm>
                <a:off x="224557" y="3851844"/>
                <a:ext cx="8763044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IN" sz="2800" dirty="0">
                    <a:solidFill>
                      <a:srgbClr val="002060"/>
                    </a:solidFill>
                  </a:rPr>
                  <a:t>Hence,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−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8</m:t>
                        </m:r>
                      </m:e>
                    </m:d>
                  </m:oMath>
                </a14:m>
                <a:r>
                  <a:rPr lang="en-IN" sz="2800" dirty="0">
                    <a:solidFill>
                      <a:srgbClr val="002060"/>
                    </a:solidFill>
                  </a:rPr>
                  <a:t> </a:t>
                </a:r>
                <a:r>
                  <a:rPr lang="en-IN" sz="2800" b="1" dirty="0">
                    <a:solidFill>
                      <a:srgbClr val="FF0000"/>
                    </a:solidFill>
                  </a:rPr>
                  <a:t>does</a:t>
                </a:r>
                <a:r>
                  <a:rPr lang="en-IN" sz="2800" dirty="0">
                    <a:solidFill>
                      <a:srgbClr val="002060"/>
                    </a:solidFill>
                  </a:rPr>
                  <a:t> </a:t>
                </a:r>
                <a:r>
                  <a:rPr lang="en-IN" sz="2800" b="1" dirty="0">
                    <a:solidFill>
                      <a:srgbClr val="FF0000"/>
                    </a:solidFill>
                  </a:rPr>
                  <a:t>not</a:t>
                </a:r>
                <a:r>
                  <a:rPr lang="en-IN" sz="2800" dirty="0">
                    <a:solidFill>
                      <a:srgbClr val="002060"/>
                    </a:solidFill>
                  </a:rPr>
                  <a:t> </a:t>
                </a:r>
                <a:r>
                  <a:rPr lang="en-US" sz="2800" dirty="0">
                    <a:solidFill>
                      <a:srgbClr val="002060"/>
                    </a:solidFill>
                  </a:rPr>
                  <a:t>span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.</a:t>
                </a:r>
                <a:endParaRPr lang="en-IN" sz="28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DC03375-C45F-C340-016B-B89623D903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557" y="3851844"/>
                <a:ext cx="8763044" cy="543600"/>
              </a:xfrm>
              <a:prstGeom prst="rect">
                <a:avLst/>
              </a:prstGeom>
              <a:blipFill>
                <a:blip r:embed="rId14"/>
                <a:stretch>
                  <a:fillRect l="-1461" t="-11236" b="-2809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4A7C8035-2146-4287-A5EE-C898332FEADC}"/>
              </a:ext>
            </a:extLst>
          </p:cNvPr>
          <p:cNvGrpSpPr/>
          <p:nvPr/>
        </p:nvGrpSpPr>
        <p:grpSpPr>
          <a:xfrm>
            <a:off x="224557" y="940992"/>
            <a:ext cx="4560950" cy="1370924"/>
            <a:chOff x="1833958" y="3480476"/>
            <a:chExt cx="3692619" cy="14852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80CC0302-69C4-42D0-BC6B-CB1F73248B65}"/>
                    </a:ext>
                  </a:extLst>
                </p:cNvPr>
                <p:cNvSpPr/>
                <p:nvPr/>
              </p:nvSpPr>
              <p:spPr>
                <a:xfrm>
                  <a:off x="1833958" y="3480476"/>
                  <a:ext cx="3692619" cy="148522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r>
                    <a:rPr lang="en-IN" sz="2800" b="0" dirty="0">
                      <a:solidFill>
                        <a:srgbClr val="002060"/>
                      </a:solidFill>
                    </a:rPr>
                    <a:t>~ </a:t>
                  </a:r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                            </m:t>
                          </m:r>
                          <m:r>
                            <a:rPr lang="en-GB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80CC0302-69C4-42D0-BC6B-CB1F73248B6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3958" y="3480476"/>
                  <a:ext cx="3692619" cy="1485224"/>
                </a:xfrm>
                <a:prstGeom prst="rect">
                  <a:avLst/>
                </a:prstGeom>
                <a:blipFill>
                  <a:blip r:embed="rId15"/>
                  <a:stretch>
                    <a:fillRect l="-280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D3C203B-BFDC-4876-9E3D-197D457E41FF}"/>
                </a:ext>
              </a:extLst>
            </p:cNvPr>
            <p:cNvCxnSpPr/>
            <p:nvPr/>
          </p:nvCxnSpPr>
          <p:spPr>
            <a:xfrm>
              <a:off x="3616209" y="3514747"/>
              <a:ext cx="0" cy="132605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8638D155-2D7A-44C9-81E8-7D07221D42EC}"/>
                  </a:ext>
                </a:extLst>
              </p:cNvPr>
              <p:cNvSpPr/>
              <p:nvPr/>
            </p:nvSpPr>
            <p:spPr>
              <a:xfrm>
                <a:off x="2433080" y="912553"/>
                <a:ext cx="2274103" cy="12664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N" sz="280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US" sz="280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mr>
                        <m:mr>
                          <m:e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</m:mr>
                        <m:mr>
                          <m:e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</m:mr>
                      </m:m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8638D155-2D7A-44C9-81E8-7D07221D42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080" y="912553"/>
                <a:ext cx="2274103" cy="126647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8238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  <p:bldP spid="10" grpId="0"/>
      <p:bldP spid="11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7658B-B208-07C7-5599-42AD7D352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E133FDB-A72E-EA03-291C-29FB4D2482D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Method:3 </a:t>
                </a:r>
                <a14:m>
                  <m:oMath xmlns:m="http://schemas.openxmlformats.org/officeDocument/2006/math">
                    <m:r>
                      <a:rPr lang="en-IN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Example:4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E133FDB-A72E-EA03-291C-29FB4D2482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5972A2E-25D7-C897-9D78-CA14AF0D56C8}"/>
              </a:ext>
            </a:extLst>
          </p:cNvPr>
          <p:cNvSpPr/>
          <p:nvPr/>
        </p:nvSpPr>
        <p:spPr>
          <a:xfrm>
            <a:off x="122278" y="2082741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02B74671-0FAF-5DCE-135B-C123CD3885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04480" y="773202"/>
                <a:ext cx="10587520" cy="1171712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b="1" dirty="0">
                    <a:solidFill>
                      <a:srgbClr val="FF000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Determine</a:t>
                </a: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whether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v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2, 2, 2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,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v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0, 0, 3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&amp;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v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0, 1, 1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span the vector space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ℝ</m:t>
                        </m:r>
                      </m:e>
                      <m:sup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02B74671-0FAF-5DCE-135B-C123CD3885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480" y="773202"/>
                <a:ext cx="10587520" cy="1171712"/>
              </a:xfrm>
              <a:prstGeom prst="rect">
                <a:avLst/>
              </a:prstGeom>
              <a:blipFill>
                <a:blip r:embed="rId3"/>
                <a:stretch>
                  <a:fillRect l="-1151" b="-203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36E9383-FA9F-C1A0-280F-51F545C54229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278" y="3083214"/>
                <a:ext cx="5102865" cy="137550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|</m:t>
                    </m:r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</m:t>
                    </m:r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A</m:t>
                    </m:r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| =</m:t>
                    </m:r>
                    <m:d>
                      <m:dPr>
                        <m:begChr m:val="|"/>
                        <m:endChr m:val="|"/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</m:m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8" y="3083214"/>
                <a:ext cx="5102865" cy="1375506"/>
              </a:xfrm>
              <a:prstGeom prst="rect">
                <a:avLst/>
              </a:prstGeom>
              <a:blipFill>
                <a:blip r:embed="rId4"/>
                <a:stretch>
                  <a:fillRect l="-119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4062224" y="1491360"/>
            <a:ext cx="452484" cy="48386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ounded Rectangle 10"/>
          <p:cNvSpPr/>
          <p:nvPr/>
        </p:nvSpPr>
        <p:spPr>
          <a:xfrm>
            <a:off x="4391206" y="844680"/>
            <a:ext cx="6482989" cy="52920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9293" y="2107128"/>
                <a:ext cx="10479505" cy="940872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We can check </a:t>
                </a: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whether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v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,</a:t>
                </a: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v</m:t>
                        </m:r>
                      </m:e>
                      <m:sub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v</m:t>
                        </m:r>
                      </m:e>
                      <m:sub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spans the </a:t>
                </a: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vector space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ℝ</m:t>
                        </m:r>
                      </m:e>
                      <m:sup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using determinant. </a:t>
                </a:r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2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9293" y="2107128"/>
                <a:ext cx="10479505" cy="940872"/>
              </a:xfrm>
              <a:prstGeom prst="rect">
                <a:avLst/>
              </a:prstGeom>
              <a:blipFill>
                <a:blip r:embed="rId5"/>
                <a:stretch>
                  <a:fillRect l="-116" t="-9091" r="-1163" b="-2402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53084" y="3756684"/>
                <a:ext cx="1658716" cy="5089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2</m:t>
                      </m:r>
                      <m:d>
                        <m:d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−3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3084" y="3756684"/>
                <a:ext cx="1658716" cy="50892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26646" y="3758267"/>
                <a:ext cx="1816099" cy="5089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r>
                        <a:rPr lang="en-IN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−6≠0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5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6646" y="3758267"/>
                <a:ext cx="1816099" cy="50892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B615FA3C-4A8C-87BF-65FC-DD7E7382A64B}"/>
              </a:ext>
            </a:extLst>
          </p:cNvPr>
          <p:cNvSpPr txBox="1">
            <a:spLocks/>
          </p:cNvSpPr>
          <p:nvPr/>
        </p:nvSpPr>
        <p:spPr>
          <a:xfrm>
            <a:off x="122278" y="4600894"/>
            <a:ext cx="7015122" cy="5436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IN" sz="2800" dirty="0">
                <a:solidFill>
                  <a:srgbClr val="002060"/>
                </a:solidFill>
              </a:rPr>
              <a:t>So, the generating system is consistent.</a:t>
            </a:r>
            <a:endParaRPr lang="en-US" sz="2800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CE265650-D4E2-E41A-1812-4ABB21319C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278" y="5286668"/>
                <a:ext cx="7015122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Hence,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v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,</a:t>
                </a: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v</m:t>
                        </m:r>
                      </m:e>
                      <m:sub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v</m:t>
                        </m:r>
                      </m:e>
                      <m:sub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spans </a:t>
                </a: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vector space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ℝ</m:t>
                        </m:r>
                      </m:e>
                      <m:sup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</a:t>
                </a: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CE265650-D4E2-E41A-1812-4ABB21319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8" y="5286668"/>
                <a:ext cx="7015122" cy="543600"/>
              </a:xfrm>
              <a:prstGeom prst="rect">
                <a:avLst/>
              </a:prstGeom>
              <a:blipFill>
                <a:blip r:embed="rId8"/>
                <a:stretch>
                  <a:fillRect l="-87" t="-8989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0100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10" grpId="0" animBg="1"/>
      <p:bldP spid="11" grpId="0" animBg="1"/>
      <p:bldP spid="12" grpId="0"/>
      <p:bldP spid="14" grpId="0"/>
      <p:bldP spid="15" grpId="0"/>
      <p:bldP spid="16" grpId="0"/>
      <p:bldP spid="17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A795C-3F85-D658-6DC6-FA9721BB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E6C0FEF-1015-B9FD-C763-66C9445745F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Method:3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E6C0FEF-1015-B9FD-C763-66C944574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EEC6D62-A8E1-3CCE-5180-C89445E9D872}"/>
              </a:ext>
            </a:extLst>
          </p:cNvPr>
          <p:cNvSpPr/>
          <p:nvPr/>
        </p:nvSpPr>
        <p:spPr>
          <a:xfrm>
            <a:off x="122278" y="2153039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4E739BDA-F9F6-4CF9-911F-7CB8AB0A6FC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04480" y="798602"/>
                <a:ext cx="10587520" cy="112569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Check whether the following polynomials span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or not.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)=2+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)=1−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)=2+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)=4+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4E739BDA-F9F6-4CF9-911F-7CB8AB0A6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480" y="798602"/>
                <a:ext cx="10587520" cy="1125690"/>
              </a:xfrm>
              <a:prstGeom prst="rect">
                <a:avLst/>
              </a:prstGeom>
              <a:blipFill>
                <a:blip r:embed="rId3"/>
                <a:stretch>
                  <a:fillRect l="-1151" t="-541" r="-1842" b="-2324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2CB46D94-2570-D874-4F3A-18EA466D57FD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8FE7808-6070-3058-1843-37B57D298DA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4354" y="2120163"/>
                <a:ext cx="4756746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p</m:t>
                    </m:r>
                    <m:d>
                      <m:d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b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8FE7808-6070-3058-1843-37B57D298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4354" y="2120163"/>
                <a:ext cx="4756746" cy="544460"/>
              </a:xfrm>
              <a:prstGeom prst="rect">
                <a:avLst/>
              </a:prstGeom>
              <a:blipFill>
                <a:blip r:embed="rId4"/>
                <a:stretch>
                  <a:fillRect l="-256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BF4617CF-F891-0C68-131C-65E9FF00168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206" y="3663498"/>
                <a:ext cx="12148744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IN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IN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IN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2+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2+</m:t>
                          </m:r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4+</m:t>
                          </m:r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BF4617CF-F891-0C68-131C-65E9FF001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06" y="3663498"/>
                <a:ext cx="12148744" cy="5436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89163715-BC29-E470-061B-F3C3EE71B45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206" y="4479879"/>
                <a:ext cx="9824645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IN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IN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IN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+4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89163715-BC29-E470-061B-F3C3EE71B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06" y="4479879"/>
                <a:ext cx="9824645" cy="543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Content Placeholder 4">
                <a:extLst>
                  <a:ext uri="{FF2B5EF4-FFF2-40B4-BE49-F238E27FC236}">
                    <a16:creationId xmlns:a16="http://schemas.microsoft.com/office/drawing/2014/main" id="{F8FE7808-6070-3058-1843-37B57D298DA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277" y="2892960"/>
                <a:ext cx="11631572" cy="54446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p</m:t>
                    </m:r>
                    <m:d>
                      <m:d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40" name="Content Placeholder 4">
                <a:extLst>
                  <a:ext uri="{FF2B5EF4-FFF2-40B4-BE49-F238E27FC236}">
                    <a16:creationId xmlns:a16="http://schemas.microsoft.com/office/drawing/2014/main" id="{F8FE7808-6070-3058-1843-37B57D298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7" y="2892960"/>
                <a:ext cx="11631572" cy="544460"/>
              </a:xfrm>
              <a:prstGeom prst="rect">
                <a:avLst/>
              </a:prstGeom>
              <a:blipFill>
                <a:blip r:embed="rId7"/>
                <a:stretch>
                  <a:fillRect l="-1048" t="-13483" b="-24719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89163715-BC29-E470-061B-F3C3EE71B45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79441" y="5131214"/>
                <a:ext cx="3554373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IN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89163715-BC29-E470-061B-F3C3EE71B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9441" y="5131214"/>
                <a:ext cx="3554373" cy="5436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7932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  <p:bldP spid="40" grpId="0"/>
      <p:bldP spid="18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A4B4A-CF9F-DEE4-ACCA-1DC3494F9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131C871-AEE2-66C5-22F0-F2A8AFB673B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Method:3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131C871-AEE2-66C5-22F0-F2A8AFB673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16E27A61-A74A-EBC5-7216-484AC2382B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8636" y="3296671"/>
                <a:ext cx="4408092" cy="1822132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 algn="l">
                  <a:lnSpc>
                    <a:spcPct val="125000"/>
                  </a:lnSpc>
                </a:pPr>
                <a14:m>
                  <m:oMath xmlns:m="http://schemas.openxmlformats.org/officeDocument/2006/math">
                    <m:r>
                      <a:rPr lang="en-US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+2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+4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IN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algn="l"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IN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  <a:p>
                <a:pPr algn="l"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IN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en-US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Content Placeholder 4">
                <a:extLst>
                  <a:ext uri="{FF2B5EF4-FFF2-40B4-BE49-F238E27FC236}">
                    <a16:creationId xmlns:a16="http://schemas.microsoft.com/office/drawing/2014/main" id="{16E27A61-A74A-EBC5-7216-484AC2382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636" y="3296671"/>
                <a:ext cx="4408092" cy="18221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748FD3A7-A988-C981-98B7-F6B868FDE8FF}"/>
              </a:ext>
            </a:extLst>
          </p:cNvPr>
          <p:cNvSpPr/>
          <p:nvPr/>
        </p:nvSpPr>
        <p:spPr>
          <a:xfrm>
            <a:off x="6240658" y="2569134"/>
            <a:ext cx="6020992" cy="54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rgbClr val="002060"/>
                </a:solidFill>
              </a:rPr>
              <a:t>The Augmented matrix of the </a:t>
            </a:r>
            <a:r>
              <a:rPr lang="en-US" sz="2800" dirty="0">
                <a:solidFill>
                  <a:srgbClr val="002060"/>
                </a:solidFill>
              </a:rPr>
              <a:t>system is</a:t>
            </a:r>
            <a:endParaRPr lang="en-IN" sz="28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0BAA46A-5E60-01EF-8454-2F99B9504D74}"/>
                  </a:ext>
                </a:extLst>
              </p:cNvPr>
              <p:cNvSpPr/>
              <p:nvPr/>
            </p:nvSpPr>
            <p:spPr>
              <a:xfrm>
                <a:off x="6240658" y="3618330"/>
                <a:ext cx="1728392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"/>
                              <m:endChr m:val="|"/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IN" sz="2800" b="0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IN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  <a:p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0BAA46A-5E60-01EF-8454-2F99B9504D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0658" y="3618330"/>
                <a:ext cx="1728392" cy="5436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6670677B-64B7-01CB-0D8B-CB0DEA41E798}"/>
                  </a:ext>
                </a:extLst>
              </p:cNvPr>
              <p:cNvSpPr/>
              <p:nvPr/>
            </p:nvSpPr>
            <p:spPr>
              <a:xfrm>
                <a:off x="6240657" y="4654332"/>
                <a:ext cx="4244520" cy="13692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IN" sz="2800" dirty="0">
                    <a:solidFill>
                      <a:srgbClr val="002060"/>
                    </a:solidFill>
                  </a:rPr>
                  <a:t>First apply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800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GB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IN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d>
                      <m:dPr>
                        <m:ctrlPr>
                          <a:rPr lang="en-IN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IN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IN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IN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IN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num>
                          <m:den>
                            <m:r>
                              <a:rPr lang="en-GB" sz="2800" b="1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den>
                        </m:f>
                      </m:e>
                    </m:d>
                  </m:oMath>
                </a14:m>
                <a:r>
                  <a:rPr lang="en-IN" sz="2800" b="1" dirty="0">
                    <a:solidFill>
                      <a:srgbClr val="FF0000"/>
                    </a:solidFill>
                  </a:rPr>
                  <a:t> </a:t>
                </a:r>
                <a:r>
                  <a:rPr lang="en-IN" sz="2800" dirty="0">
                    <a:solidFill>
                      <a:srgbClr val="002060"/>
                    </a:solidFill>
                  </a:rPr>
                  <a:t>and </a:t>
                </a:r>
              </a:p>
              <a:p>
                <a:r>
                  <a:rPr lang="en-IN" sz="2800" dirty="0">
                    <a:solidFill>
                      <a:srgbClr val="002060"/>
                    </a:solidFill>
                  </a:rPr>
                  <a:t>than apply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IN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IN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d>
                      <m:dPr>
                        <m:ctrlPr>
                          <a:rPr lang="en-IN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IN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IN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IN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  <m:r>
                              <a:rPr lang="en-IN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num>
                          <m:den>
                            <m:r>
                              <a:rPr lang="en-GB" sz="2800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den>
                        </m:f>
                      </m:e>
                    </m:d>
                  </m:oMath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6670677B-64B7-01CB-0D8B-CB0DEA41E7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0657" y="4654332"/>
                <a:ext cx="4244520" cy="1369266"/>
              </a:xfrm>
              <a:prstGeom prst="rect">
                <a:avLst/>
              </a:prstGeom>
              <a:blipFill>
                <a:blip r:embed="rId5"/>
                <a:stretch>
                  <a:fillRect l="-3017" b="-53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/>
          <p:cNvGrpSpPr/>
          <p:nvPr/>
        </p:nvGrpSpPr>
        <p:grpSpPr>
          <a:xfrm>
            <a:off x="7643637" y="3239940"/>
            <a:ext cx="3970147" cy="1300380"/>
            <a:chOff x="14781608" y="1317570"/>
            <a:chExt cx="3970147" cy="130038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0E1A892E-8340-92A5-1657-2903DD709EB7}"/>
                </a:ext>
              </a:extLst>
            </p:cNvPr>
            <p:cNvGrpSpPr/>
            <p:nvPr/>
          </p:nvGrpSpPr>
          <p:grpSpPr>
            <a:xfrm>
              <a:off x="14781608" y="1317570"/>
              <a:ext cx="3970147" cy="1300380"/>
              <a:chOff x="1833958" y="3480476"/>
              <a:chExt cx="2309590" cy="148522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862B086A-69F1-75EE-7550-2EC9B4CB3F79}"/>
                      </a:ext>
                    </a:extLst>
                  </p:cNvPr>
                  <p:cNvSpPr/>
                  <p:nvPr/>
                </p:nvSpPr>
                <p:spPr>
                  <a:xfrm>
                    <a:off x="1833958" y="3480476"/>
                    <a:ext cx="2309590" cy="14852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 1</m:t>
                                    </m:r>
                                  </m:e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IN" sz="2800" b="0" i="1" smtClean="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  <m:e>
                                          <m:r>
                                            <a:rPr lang="en-IN" sz="2800" b="0" i="1" smtClean="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  <m:mr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IN" sz="2800" b="0" i="1" smtClean="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  <m:e>
                                          <m:r>
                                            <a:rPr lang="en-IN" sz="2800" b="0" i="1" smtClean="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  <m:mr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 2</m:t>
                                    </m:r>
                                  </m:e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IN" sz="2800" b="0" i="1" smtClean="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  <m:e>
                                          <m:r>
                                            <a:rPr lang="en-IN" sz="2800" b="0" i="1" smtClean="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          </m:t>
                              </m:r>
                            </m:e>
                          </m:d>
                        </m:oMath>
                      </m:oMathPara>
                    </a14:m>
                    <a:endParaRPr lang="en-IN" sz="2800" dirty="0">
                      <a:solidFill>
                        <a:srgbClr val="00206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862B086A-69F1-75EE-7550-2EC9B4CB3F7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3958" y="3480476"/>
                    <a:ext cx="2309590" cy="148522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2C04DEC-D65E-B458-C847-DA82B55DEDE8}"/>
                  </a:ext>
                </a:extLst>
              </p:cNvPr>
              <p:cNvCxnSpPr/>
              <p:nvPr/>
            </p:nvCxnSpPr>
            <p:spPr>
              <a:xfrm>
                <a:off x="3495859" y="3545271"/>
                <a:ext cx="0" cy="1323713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F2F3C166-9145-A6A1-CC92-5500B425BACF}"/>
                    </a:ext>
                  </a:extLst>
                </p:cNvPr>
                <p:cNvSpPr/>
                <p:nvPr/>
              </p:nvSpPr>
              <p:spPr>
                <a:xfrm>
                  <a:off x="17623148" y="1351480"/>
                  <a:ext cx="786201" cy="12664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F2F3C166-9145-A6A1-CC92-5500B425BAC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623148" y="1351480"/>
                  <a:ext cx="786201" cy="126647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89163715-BC29-E470-061B-F3C3EE71B45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8636" y="964251"/>
                <a:ext cx="9824645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IN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IN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m:rPr>
                          <m:sty m:val="p"/>
                        </m:rP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IN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+4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3" name="Content Placeholder 4">
                <a:extLst>
                  <a:ext uri="{FF2B5EF4-FFF2-40B4-BE49-F238E27FC236}">
                    <a16:creationId xmlns:a16="http://schemas.microsoft.com/office/drawing/2014/main" id="{89163715-BC29-E470-061B-F3C3EE71B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636" y="964251"/>
                <a:ext cx="9824645" cy="5436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1A2EE99E-860B-EE9D-4F59-C6C2CE57581D}"/>
              </a:ext>
            </a:extLst>
          </p:cNvPr>
          <p:cNvSpPr txBox="1">
            <a:spLocks/>
          </p:cNvSpPr>
          <p:nvPr/>
        </p:nvSpPr>
        <p:spPr>
          <a:xfrm>
            <a:off x="130962" y="2569134"/>
            <a:ext cx="5313761" cy="5436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118745" algn="just">
              <a:lnSpc>
                <a:spcPct val="115000"/>
              </a:lnSpc>
              <a:spcBef>
                <a:spcPts val="1000"/>
              </a:spcBef>
              <a:spcAft>
                <a:spcPts val="800"/>
              </a:spcAft>
              <a:buClr>
                <a:schemeClr val="accent6"/>
              </a:buClr>
              <a:buFont typeface="Wingdings 3" panose="05040102010807070707" pitchFamily="18" charset="2"/>
              <a:buNone/>
              <a:defRPr sz="2800">
                <a:solidFill>
                  <a:srgbClr val="3A4A6A"/>
                </a:solidFill>
              </a:defRPr>
            </a:lvl1pPr>
          </a:lstStyle>
          <a:p>
            <a:pPr>
              <a:lnSpc>
                <a:spcPct val="90000"/>
              </a:lnSpc>
            </a:pPr>
            <a:r>
              <a:rPr lang="en-US" i="0" dirty="0">
                <a:solidFill>
                  <a:srgbClr val="002060"/>
                </a:solidFill>
                <a:latin typeface="+mj-lt"/>
              </a:rPr>
              <a:t>Comparing both the sides, we have </a:t>
            </a:r>
            <a:endParaRPr lang="en-US" dirty="0">
              <a:solidFill>
                <a:srgbClr val="002060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89163715-BC29-E470-061B-F3C3EE71B45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83822" y="1527219"/>
                <a:ext cx="3554373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IN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89163715-BC29-E470-061B-F3C3EE71B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3822" y="1527219"/>
                <a:ext cx="3554373" cy="54360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ectangle: Rounded Corners 37">
            <a:extLst>
              <a:ext uri="{FF2B5EF4-FFF2-40B4-BE49-F238E27FC236}">
                <a16:creationId xmlns:a16="http://schemas.microsoft.com/office/drawing/2014/main" id="{C23C8852-12D4-0359-F932-9FDF57F1804C}"/>
              </a:ext>
            </a:extLst>
          </p:cNvPr>
          <p:cNvSpPr/>
          <p:nvPr/>
        </p:nvSpPr>
        <p:spPr>
          <a:xfrm>
            <a:off x="6078000" y="2559904"/>
            <a:ext cx="36000" cy="3600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32375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14" grpId="0"/>
      <p:bldP spid="15" grpId="0"/>
      <p:bldP spid="8" grpId="0"/>
      <p:bldP spid="25" grpId="0"/>
      <p:bldP spid="28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A4B4A-CF9F-DEE4-ACCA-1DC3494F9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131C871-AEE2-66C5-22F0-F2A8AFB673B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Method:3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Example:6(continue)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131C871-AEE2-66C5-22F0-F2A8AFB673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748FD3A7-A988-C981-98B7-F6B868FDE8FF}"/>
                  </a:ext>
                </a:extLst>
              </p:cNvPr>
              <p:cNvSpPr/>
              <p:nvPr/>
            </p:nvSpPr>
            <p:spPr>
              <a:xfrm>
                <a:off x="127000" y="848078"/>
                <a:ext cx="6711943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IN" sz="2800" dirty="0">
                    <a:solidFill>
                      <a:srgbClr val="002060"/>
                    </a:solidFill>
                  </a:rPr>
                  <a:t>The Row Echelon form of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"/>
                            <m:endChr m:val="|"/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IN" sz="2800" dirty="0">
                    <a:solidFill>
                      <a:srgbClr val="002060"/>
                    </a:solidFill>
                  </a:rPr>
                  <a:t> is </a:t>
                </a:r>
                <a:endParaRPr lang="en-IN" sz="28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748FD3A7-A988-C981-98B7-F6B868FDE8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00" y="848078"/>
                <a:ext cx="6711943" cy="543600"/>
              </a:xfrm>
              <a:prstGeom prst="rect">
                <a:avLst/>
              </a:prstGeom>
              <a:blipFill>
                <a:blip r:embed="rId3"/>
                <a:stretch>
                  <a:fillRect l="-1907" t="-11236" b="-269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/>
          <p:cNvGrpSpPr/>
          <p:nvPr/>
        </p:nvGrpSpPr>
        <p:grpSpPr>
          <a:xfrm>
            <a:off x="127000" y="1528555"/>
            <a:ext cx="6497023" cy="2490240"/>
            <a:chOff x="12345827" y="3057570"/>
            <a:chExt cx="6497023" cy="249024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0E1A892E-8340-92A5-1657-2903DD709EB7}"/>
                </a:ext>
              </a:extLst>
            </p:cNvPr>
            <p:cNvGrpSpPr/>
            <p:nvPr/>
          </p:nvGrpSpPr>
          <p:grpSpPr>
            <a:xfrm>
              <a:off x="12345827" y="3057570"/>
              <a:ext cx="6497023" cy="2490240"/>
              <a:chOff x="1833958" y="3462392"/>
              <a:chExt cx="2309590" cy="150330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862B086A-69F1-75EE-7550-2EC9B4CB3F79}"/>
                      </a:ext>
                    </a:extLst>
                  </p:cNvPr>
                  <p:cNvSpPr/>
                  <p:nvPr/>
                </p:nvSpPr>
                <p:spPr>
                  <a:xfrm>
                    <a:off x="1833958" y="3480476"/>
                    <a:ext cx="2309590" cy="14852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~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1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eqArr>
                                            <m:eqArrPr>
                                              <m:ctrlPr>
                                                <a:rPr lang="en-IN" sz="2800" b="0" i="1" smtClean="0">
                                                  <a:solidFill>
                                                    <a:srgbClr val="00206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eqArrP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en-IN" sz="2800" b="0" i="1" smtClean="0">
                                                  <a:solidFill>
                                                    <a:srgbClr val="00206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e>
                                            <m:e/>
                                          </m:eqArr>
                                        </m:e>
                                        <m:e>
                                          <m:eqArr>
                                            <m:eqArrPr>
                                              <m:ctrlPr>
                                                <a:rPr lang="en-IN" sz="2800" b="0" i="1" smtClean="0">
                                                  <a:solidFill>
                                                    <a:srgbClr val="00206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eqArrPr>
                                            <m:e>
                                              <m:r>
                                                <a:rPr lang="en-IN" sz="2800" b="0" i="1" smtClean="0">
                                                  <a:solidFill>
                                                    <a:srgbClr val="00206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 4</m:t>
                                              </m:r>
                                            </m:e>
                                            <m:e/>
                                          </m:eqArr>
                                        </m:e>
                                      </m:mr>
                                    </m:m>
                                  </m:e>
                                </m:m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2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en-IN" sz="2800" b="0" i="1" smtClean="0">
                                                <a:solidFill>
                                                  <a:srgbClr val="00206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en-IN" sz="2800" b="0" i="1" smtClean="0">
                                                  <a:solidFill>
                                                    <a:srgbClr val="00206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en-IN" sz="2800" b="0" i="1" smtClean="0">
                                                  <a:solidFill>
                                                    <a:srgbClr val="00206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 1</m:t>
                                              </m:r>
                                            </m:e>
                                          </m:mr>
                                        </m:m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 0</m:t>
                                    </m:r>
                                  </m:e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f>
                                            <m:fPr>
                                              <m:ctrlPr>
                                                <a:rPr lang="en-IN" sz="2800" b="0" i="1" smtClean="0">
                                                  <a:solidFill>
                                                    <a:srgbClr val="00206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en-IN" sz="2800" b="0" i="1" smtClean="0">
                                                  <a:solidFill>
                                                    <a:srgbClr val="00206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num>
                                            <m:den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en-IN" sz="2800" b="0" i="1" smtClean="0">
                                                  <a:solidFill>
                                                    <a:srgbClr val="00206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den>
                                          </m:f>
                                        </m:e>
                                        <m:e>
                                          <m:r>
                                            <a:rPr lang="en-IN" sz="2800" b="0" i="1" smtClean="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 </m:t>
                                          </m:r>
                                          <m:f>
                                            <m:fPr>
                                              <m:ctrlPr>
                                                <a:rPr lang="en-IN" sz="2800" b="0" i="1" smtClean="0">
                                                  <a:solidFill>
                                                    <a:srgbClr val="00206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IN" sz="2800" b="0" i="1" smtClean="0">
                                                  <a:solidFill>
                                                    <a:srgbClr val="00206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 1 </m:t>
                                              </m:r>
                                            </m:num>
                                            <m:den>
                                              <m:r>
                                                <a:rPr lang="en-IN" sz="2800" b="0" i="1" smtClean="0">
                                                  <a:solidFill>
                                                    <a:srgbClr val="00206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den>
                                          </m:f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                                 </m:t>
                              </m:r>
                            </m:e>
                          </m:d>
                        </m:oMath>
                      </m:oMathPara>
                    </a14:m>
                    <a:endParaRPr lang="en-IN" sz="2800" dirty="0">
                      <a:solidFill>
                        <a:srgbClr val="00206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862B086A-69F1-75EE-7550-2EC9B4CB3F7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3958" y="3480476"/>
                    <a:ext cx="2309590" cy="1485224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F2C04DEC-D65E-B458-C847-DA82B55DEDE8}"/>
                  </a:ext>
                </a:extLst>
              </p:cNvPr>
              <p:cNvCxnSpPr/>
              <p:nvPr/>
            </p:nvCxnSpPr>
            <p:spPr>
              <a:xfrm>
                <a:off x="3113212" y="3462392"/>
                <a:ext cx="0" cy="1456086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F2F3C166-9145-A6A1-CC92-5500B425BACF}"/>
                    </a:ext>
                  </a:extLst>
                </p:cNvPr>
                <p:cNvSpPr/>
                <p:nvPr/>
              </p:nvSpPr>
              <p:spPr>
                <a:xfrm>
                  <a:off x="15978038" y="3122433"/>
                  <a:ext cx="2510444" cy="24253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eqArr>
                                <m:eqArrPr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e/>
                              </m:eqArr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e/>
                              </m:eqAr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IN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1 </m:t>
                                  </m:r>
                                </m:num>
                                <m:den>
                                  <m:r>
                                    <a:rPr lang="en-IN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IN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3 </m:t>
                                  </m:r>
                                </m:num>
                                <m:den>
                                  <m:r>
                                    <a:rPr lang="en-IN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F2F3C166-9145-A6A1-CC92-5500B425BAC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978038" y="3122433"/>
                  <a:ext cx="2510444" cy="2425377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1073AFBA-D271-1643-1F5B-01DCFDB307CE}"/>
                  </a:ext>
                </a:extLst>
              </p:cNvPr>
              <p:cNvSpPr/>
              <p:nvPr/>
            </p:nvSpPr>
            <p:spPr>
              <a:xfrm>
                <a:off x="127000" y="4156694"/>
                <a:ext cx="5218713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IN" sz="2800" dirty="0">
                    <a:solidFill>
                      <a:srgbClr val="002060"/>
                    </a:solidFill>
                  </a:rPr>
                  <a:t>Here,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ρ</m:t>
                    </m:r>
                    <m:d>
                      <m:d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d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ρ</m:t>
                    </m:r>
                    <m:d>
                      <m:d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  <a:endParaRPr lang="en-IN" sz="28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1073AFBA-D271-1643-1F5B-01DCFDB307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00" y="4156694"/>
                <a:ext cx="5218713" cy="543600"/>
              </a:xfrm>
              <a:prstGeom prst="rect">
                <a:avLst/>
              </a:prstGeom>
              <a:blipFill>
                <a:blip r:embed="rId22"/>
                <a:stretch>
                  <a:fillRect l="-2453" t="-12360" b="-269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Content Placeholder 4">
            <a:extLst>
              <a:ext uri="{FF2B5EF4-FFF2-40B4-BE49-F238E27FC236}">
                <a16:creationId xmlns:a16="http://schemas.microsoft.com/office/drawing/2014/main" id="{B615FA3C-4A8C-87BF-65FC-DD7E7382A64B}"/>
              </a:ext>
            </a:extLst>
          </p:cNvPr>
          <p:cNvSpPr txBox="1">
            <a:spLocks/>
          </p:cNvSpPr>
          <p:nvPr/>
        </p:nvSpPr>
        <p:spPr>
          <a:xfrm>
            <a:off x="4283" y="4838193"/>
            <a:ext cx="10020300" cy="5436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IN" sz="2800" dirty="0">
                <a:solidFill>
                  <a:srgbClr val="002060"/>
                </a:solidFill>
              </a:rPr>
              <a:t>So, System has infinitely many solutions. </a:t>
            </a:r>
            <a:r>
              <a:rPr lang="en-IN" sz="2800" b="1" dirty="0">
                <a:solidFill>
                  <a:srgbClr val="FF0000"/>
                </a:solidFill>
              </a:rPr>
              <a:t>i.e. consistent system</a:t>
            </a:r>
            <a:endParaRPr lang="en-US" sz="2800" b="1" dirty="0">
              <a:solidFill>
                <a:srgbClr val="FF0000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Content Placeholder 4">
                <a:extLst>
                  <a:ext uri="{FF2B5EF4-FFF2-40B4-BE49-F238E27FC236}">
                    <a16:creationId xmlns:a16="http://schemas.microsoft.com/office/drawing/2014/main" id="{CE265650-D4E2-E41A-1812-4ABB21319C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5518670"/>
                <a:ext cx="10591800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Hence,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p</m:t>
                        </m:r>
                      </m:e>
                      <m:sub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spans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</a:t>
                </a:r>
              </a:p>
            </p:txBody>
          </p:sp>
        </mc:Choice>
        <mc:Fallback xmlns="">
          <p:sp>
            <p:nvSpPr>
              <p:cNvPr id="65" name="Content Placeholder 4">
                <a:extLst>
                  <a:ext uri="{FF2B5EF4-FFF2-40B4-BE49-F238E27FC236}">
                    <a16:creationId xmlns:a16="http://schemas.microsoft.com/office/drawing/2014/main" id="{CE265650-D4E2-E41A-1812-4ABB21319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518670"/>
                <a:ext cx="10591800" cy="543600"/>
              </a:xfrm>
              <a:prstGeom prst="rect">
                <a:avLst/>
              </a:prstGeom>
              <a:blipFill>
                <a:blip r:embed="rId23"/>
                <a:stretch>
                  <a:fillRect l="-58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073AFBA-D271-1643-1F5B-01DCFDB307CE}"/>
                  </a:ext>
                </a:extLst>
              </p:cNvPr>
              <p:cNvSpPr/>
              <p:nvPr/>
            </p:nvSpPr>
            <p:spPr>
              <a:xfrm>
                <a:off x="1638967" y="4160435"/>
                <a:ext cx="663591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IN" sz="28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073AFBA-D271-1643-1F5B-01DCFDB307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967" y="4160435"/>
                <a:ext cx="663591" cy="54360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073AFBA-D271-1643-1F5B-01DCFDB307CE}"/>
                  </a:ext>
                </a:extLst>
              </p:cNvPr>
              <p:cNvSpPr/>
              <p:nvPr/>
            </p:nvSpPr>
            <p:spPr>
              <a:xfrm>
                <a:off x="3241020" y="4159303"/>
                <a:ext cx="793951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IN" sz="28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073AFBA-D271-1643-1F5B-01DCFDB307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020" y="4159303"/>
                <a:ext cx="793951" cy="54360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ounded Rectangle 2"/>
          <p:cNvSpPr/>
          <p:nvPr/>
        </p:nvSpPr>
        <p:spPr>
          <a:xfrm>
            <a:off x="884560" y="1397006"/>
            <a:ext cx="2754394" cy="2628139"/>
          </a:xfrm>
          <a:prstGeom prst="roundRect">
            <a:avLst/>
          </a:prstGeom>
          <a:noFill/>
          <a:ln w="381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Rounded Rectangle 24"/>
          <p:cNvSpPr/>
          <p:nvPr/>
        </p:nvSpPr>
        <p:spPr>
          <a:xfrm>
            <a:off x="883007" y="1390215"/>
            <a:ext cx="5363459" cy="2654420"/>
          </a:xfrm>
          <a:prstGeom prst="roundRect">
            <a:avLst/>
          </a:pr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073AFBA-D271-1643-1F5B-01DCFDB307CE}"/>
                  </a:ext>
                </a:extLst>
              </p:cNvPr>
              <p:cNvSpPr/>
              <p:nvPr/>
            </p:nvSpPr>
            <p:spPr>
              <a:xfrm>
                <a:off x="3869518" y="4156694"/>
                <a:ext cx="1998515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&lt;4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oMath>
                  </m:oMathPara>
                </a14:m>
                <a:endParaRPr lang="en-IN" sz="28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073AFBA-D271-1643-1F5B-01DCFDB307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9518" y="4156694"/>
                <a:ext cx="1998515" cy="54360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6227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  <p:bldP spid="63" grpId="0"/>
      <p:bldP spid="64" grpId="0"/>
      <p:bldP spid="65" grpId="0"/>
      <p:bldP spid="22" grpId="0"/>
      <p:bldP spid="23" grpId="0"/>
      <p:bldP spid="3" grpId="0" animBg="1"/>
      <p:bldP spid="3" grpId="1" animBg="1"/>
      <p:bldP spid="25" grpId="0" animBg="1"/>
      <p:bldP spid="25" grpId="1" animBg="1"/>
      <p:bldP spid="26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Method-4</a:t>
            </a:r>
            <a:br>
              <a:rPr lang="en-US" dirty="0"/>
            </a:br>
            <a:r>
              <a:rPr lang="en-US" dirty="0"/>
              <a:t>Linear Dependence and Independence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1B15B0-DB21-4AD4-8A0D-08E74D04D8C7}"/>
              </a:ext>
            </a:extLst>
          </p:cNvPr>
          <p:cNvSpPr txBox="1">
            <a:spLocks/>
          </p:cNvSpPr>
          <p:nvPr/>
        </p:nvSpPr>
        <p:spPr>
          <a:xfrm>
            <a:off x="838200" y="2002632"/>
            <a:ext cx="10515600" cy="28527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kern="1200" dirty="0">
                <a:gradFill flip="none" rotWithShape="1">
                  <a:gsLst>
                    <a:gs pos="0">
                      <a:srgbClr val="1D3064"/>
                    </a:gs>
                    <a:gs pos="100000">
                      <a:schemeClr val="tx2"/>
                    </a:gs>
                  </a:gsLst>
                  <a:lin ang="0" scaled="1"/>
                  <a:tileRect/>
                </a:gradFill>
                <a:effectLst/>
                <a:latin typeface="+mn-lt"/>
                <a:ea typeface="+mn-ea"/>
                <a:cs typeface="+mn-cs"/>
              </a:defRPr>
            </a:lvl1pPr>
          </a:lstStyle>
          <a:p>
            <a:endParaRPr lang="en-IN" dirty="0">
              <a:gradFill flip="none" rotWithShape="1">
                <a:gsLst>
                  <a:gs pos="10000">
                    <a:schemeClr val="accent6">
                      <a:lumMod val="50000"/>
                    </a:schemeClr>
                  </a:gs>
                  <a:gs pos="100000">
                    <a:schemeClr val="accent6"/>
                  </a:gs>
                </a:gsLst>
                <a:lin ang="0" scaled="1"/>
                <a:tileRect/>
              </a:gradFill>
            </a:endParaRPr>
          </a:p>
          <a:p>
            <a:endParaRPr lang="en-IN" dirty="0">
              <a:gradFill flip="none" rotWithShape="1">
                <a:gsLst>
                  <a:gs pos="10000">
                    <a:schemeClr val="accent6">
                      <a:lumMod val="50000"/>
                    </a:schemeClr>
                  </a:gs>
                  <a:gs pos="100000">
                    <a:schemeClr val="accent6"/>
                  </a:gs>
                </a:gsLst>
                <a:lin ang="0" scaled="1"/>
                <a:tileRect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99258939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Linearly Dependent Set and Linearly Independent Set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be a set of vectors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.</a:t>
                </a:r>
                <a:endParaRPr lang="en-IN" dirty="0"/>
              </a:p>
              <a:p>
                <a:pPr algn="l"/>
                <a:r>
                  <a:rPr lang="en-US" dirty="0"/>
                  <a:t>Consider the system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, </a:t>
                </a:r>
              </a:p>
              <a:p>
                <a:pPr marL="0" indent="0" algn="l">
                  <a:buNone/>
                </a:pPr>
                <a:r>
                  <a:rPr lang="en-US" dirty="0"/>
                  <a:t>   									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ℝ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dirty="0"/>
              </a:p>
              <a:p>
                <a:pPr lvl="1"/>
                <a:r>
                  <a:rPr lang="en-US" dirty="0"/>
                  <a:t>If above system has only the </a:t>
                </a:r>
                <a:r>
                  <a:rPr lang="en-US" b="1" dirty="0">
                    <a:solidFill>
                      <a:srgbClr val="FF0000"/>
                    </a:solidFill>
                  </a:rPr>
                  <a:t>trivial (unique) solution</a:t>
                </a:r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 is said to be a </a:t>
                </a:r>
                <a:r>
                  <a:rPr lang="en-US" b="1" dirty="0">
                    <a:solidFill>
                      <a:srgbClr val="FF0000"/>
                    </a:solidFill>
                  </a:rPr>
                  <a:t>linearly independent (L.I.) set</a:t>
                </a:r>
                <a:r>
                  <a:rPr lang="en-US" dirty="0"/>
                  <a:t>.</a:t>
                </a:r>
                <a:endParaRPr lang="en-IN" dirty="0"/>
              </a:p>
              <a:p>
                <a:pPr lvl="1"/>
                <a:r>
                  <a:rPr lang="en-US" dirty="0"/>
                  <a:t>If above system has </a:t>
                </a:r>
                <a:r>
                  <a:rPr lang="en-US" b="1" dirty="0">
                    <a:solidFill>
                      <a:srgbClr val="FF0000"/>
                    </a:solidFill>
                  </a:rPr>
                  <a:t>nontrivial solution (infinite solution)</a:t>
                </a:r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 is said to be </a:t>
                </a:r>
                <a:r>
                  <a:rPr lang="en-US" b="1" dirty="0">
                    <a:solidFill>
                      <a:srgbClr val="FF0000"/>
                    </a:solidFill>
                  </a:rPr>
                  <a:t>linearly dependent (L.D.) set</a:t>
                </a:r>
                <a:r>
                  <a:rPr lang="en-US" dirty="0"/>
                  <a:t>.</a:t>
                </a:r>
                <a:endParaRPr lang="en-IN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71" r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6796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Remarks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en-US" dirty="0"/>
                  <a:t>If a set of vectors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contains the </a:t>
                </a:r>
                <a:r>
                  <a:rPr lang="en-US" b="1" dirty="0">
                    <a:solidFill>
                      <a:srgbClr val="FF0000"/>
                    </a:solidFill>
                  </a:rPr>
                  <a:t>zero vector</a:t>
                </a:r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>
                    <a:solidFill>
                      <a:srgbClr val="FF0000"/>
                    </a:solidFill>
                  </a:rPr>
                  <a:t>linearly dependent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Example: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1, 2, 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1, 2, 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</m:d>
                  </m:oMath>
                </a14:m>
                <a:r>
                  <a:rPr lang="en-IN" dirty="0"/>
                  <a:t> is linearly dependent.</a:t>
                </a:r>
              </a:p>
              <a:p>
                <a:pPr lvl="0"/>
                <a:r>
                  <a:rPr lang="en-US" dirty="0"/>
                  <a:t>A </a:t>
                </a:r>
                <a:r>
                  <a:rPr lang="en-US" b="1" dirty="0">
                    <a:solidFill>
                      <a:srgbClr val="FF0000"/>
                    </a:solidFill>
                  </a:rPr>
                  <a:t>singleton set</a:t>
                </a:r>
                <a:r>
                  <a:rPr lang="en-US" dirty="0"/>
                  <a:t> containing a </a:t>
                </a:r>
                <a:r>
                  <a:rPr lang="en-US" b="1" dirty="0">
                    <a:solidFill>
                      <a:srgbClr val="FF0000"/>
                    </a:solidFill>
                  </a:rPr>
                  <a:t>nonzero vector</a:t>
                </a:r>
                <a:r>
                  <a:rPr lang="en-US" dirty="0"/>
                  <a:t> is linearly independent.</a:t>
                </a:r>
              </a:p>
              <a:p>
                <a:pPr lvl="1"/>
                <a:r>
                  <a:rPr lang="en-US" b="1" dirty="0"/>
                  <a:t>Example: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  <m:r>
                              <a:rPr lang="en-US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IN" dirty="0"/>
                  <a:t> is linearly independent.</a:t>
                </a:r>
              </a:p>
              <a:p>
                <a:pPr lvl="0"/>
                <a:r>
                  <a:rPr lang="en-US" dirty="0"/>
                  <a:t>A set of nonzero vectors is </a:t>
                </a:r>
                <a:r>
                  <a:rPr lang="en-US" b="1" dirty="0">
                    <a:solidFill>
                      <a:srgbClr val="FF0000"/>
                    </a:solidFill>
                  </a:rPr>
                  <a:t>linearly dependent</a:t>
                </a:r>
                <a:r>
                  <a:rPr lang="en-US" dirty="0"/>
                  <a:t> if and only if </a:t>
                </a:r>
                <a:r>
                  <a:rPr lang="en-US" b="1" dirty="0">
                    <a:solidFill>
                      <a:srgbClr val="FF0000"/>
                    </a:solidFill>
                  </a:rPr>
                  <a:t>at least one</a:t>
                </a:r>
                <a:r>
                  <a:rPr lang="en-US" dirty="0"/>
                  <a:t> of the vectors can be expressed as a </a:t>
                </a:r>
                <a:r>
                  <a:rPr lang="en-US" b="1" dirty="0">
                    <a:solidFill>
                      <a:srgbClr val="FF0000"/>
                    </a:solidFill>
                  </a:rPr>
                  <a:t>linear combination of other vector/s</a:t>
                </a:r>
                <a:r>
                  <a:rPr lang="en-US" dirty="0"/>
                  <a:t> in the set.</a:t>
                </a:r>
                <a:endParaRPr lang="en-IN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71" r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9901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Remarks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be a set of vectors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</m:t>
                        </m:r>
                      </m:sup>
                    </m:sSup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dirty="0"/>
                  <a:t> elements. If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𝐧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then the set S is </a:t>
                </a:r>
                <a:r>
                  <a:rPr lang="en-US" b="1" dirty="0">
                    <a:solidFill>
                      <a:srgbClr val="FF0000"/>
                    </a:solidFill>
                  </a:rPr>
                  <a:t>linearly dependent</a:t>
                </a:r>
                <a:r>
                  <a:rPr lang="en-US" dirty="0"/>
                  <a:t>.</a:t>
                </a:r>
                <a:endParaRPr lang="en-IN" dirty="0"/>
              </a:p>
              <a:p>
                <a:pPr lvl="1"/>
                <a:r>
                  <a:rPr lang="en-US" dirty="0"/>
                  <a:t>For Ex: 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= </m:t>
                    </m:r>
                    <m:d>
                      <m:dPr>
                        <m:begChr m:val="{"/>
                        <m:endChr m:val="}"/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1, 2, 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1, 2, 1</m:t>
                            </m:r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1, 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2, 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1, 2, 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dirty="0"/>
              </a:p>
              <a:p>
                <a:pPr marL="1257300" lvl="2" indent="-444500"/>
                <a:r>
                  <a:rPr lang="en-US" i="0" dirty="0">
                    <a:latin typeface="+mj-lt"/>
                  </a:rPr>
                  <a:t>Here,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dirty="0"/>
                  <a:t>.</a:t>
                </a:r>
                <a:endParaRPr lang="en-IN" dirty="0"/>
              </a:p>
              <a:p>
                <a:pPr marL="1257300" lvl="2" indent="-444500"/>
                <a:r>
                  <a:rPr lang="en-US" dirty="0"/>
                  <a:t>Here,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1257300" lvl="2" indent="-444500"/>
                <a:r>
                  <a:rPr lang="en-US" dirty="0"/>
                  <a:t>Hence,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 is linearly dependent.</a:t>
                </a:r>
                <a:endParaRPr lang="en-IN" dirty="0"/>
              </a:p>
              <a:p>
                <a:pPr lvl="0"/>
                <a:r>
                  <a:rPr lang="en-US" dirty="0"/>
                  <a:t>Every </a:t>
                </a:r>
                <a:r>
                  <a:rPr lang="en-US" b="1" dirty="0">
                    <a:solidFill>
                      <a:srgbClr val="FF0000"/>
                    </a:solidFill>
                  </a:rPr>
                  <a:t>subset</a:t>
                </a:r>
                <a:r>
                  <a:rPr lang="en-US" dirty="0"/>
                  <a:t> of a linearly independent set is linearly independent.</a:t>
                </a:r>
                <a:endParaRPr lang="en-IN" dirty="0"/>
              </a:p>
              <a:p>
                <a:r>
                  <a:rPr lang="en-US" dirty="0"/>
                  <a:t>Every </a:t>
                </a:r>
                <a:r>
                  <a:rPr lang="en-US" b="1" dirty="0">
                    <a:solidFill>
                      <a:srgbClr val="FF0000"/>
                    </a:solidFill>
                  </a:rPr>
                  <a:t>superset</a:t>
                </a:r>
                <a:r>
                  <a:rPr lang="en-US" dirty="0"/>
                  <a:t> of a linearly dependent set is linearly dependent.</a:t>
                </a:r>
                <a:endParaRPr lang="en-IN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3191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Method:4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CAE77E5B-BF33-5497-20B0-3BFB83C99976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b="1" dirty="0">
              <a:solidFill>
                <a:schemeClr val="tx2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7272109-8DE2-50AC-004B-6C788F2ADE24}"/>
              </a:ext>
            </a:extLst>
          </p:cNvPr>
          <p:cNvSpPr/>
          <p:nvPr/>
        </p:nvSpPr>
        <p:spPr>
          <a:xfrm>
            <a:off x="122278" y="1531827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72936" y="731979"/>
                <a:ext cx="10041132" cy="71120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={(0,0,</m:t>
                    </m:r>
                    <m:r>
                      <a:rPr lang="en-US" sz="280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0),(1,2,3)}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is linearly dependent or independent. Why? </a:t>
                </a:r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936" y="731979"/>
                <a:ext cx="10041132" cy="711201"/>
              </a:xfrm>
              <a:prstGeom prst="rect">
                <a:avLst/>
              </a:prstGeom>
              <a:blipFill>
                <a:blip r:embed="rId4"/>
                <a:stretch>
                  <a:fillRect l="-1214" b="-1538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63305C07-F1B9-4158-AB35-36DE134F7E08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278" y="3440602"/>
                <a:ext cx="3598822" cy="6058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Here,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0, 0, 0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8" y="3440602"/>
                <a:ext cx="3598822" cy="605827"/>
              </a:xfrm>
              <a:prstGeom prst="rect">
                <a:avLst/>
              </a:prstGeom>
              <a:blipFill>
                <a:blip r:embed="rId5"/>
                <a:stretch>
                  <a:fillRect l="-3390" b="-2700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9FCA6DEB-1220-4888-9706-602C43CC86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278" y="4167365"/>
                <a:ext cx="480950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linearly dependent.</a:t>
                </a:r>
                <a:endParaRPr lang="en-IN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9FCA6DEB-1220-4888-9706-602C43CC86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8" y="4167365"/>
                <a:ext cx="4809506" cy="540000"/>
              </a:xfrm>
              <a:prstGeom prst="rect">
                <a:avLst/>
              </a:prstGeom>
              <a:blipFill>
                <a:blip r:embed="rId6"/>
                <a:stretch>
                  <a:fillRect l="-2535" t="-14773" b="-2613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FB3579D2-D86F-4B93-931B-6FEA16028A3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278" y="2102049"/>
                <a:ext cx="11867664" cy="1217617"/>
              </a:xfrm>
              <a:prstGeom prst="rect">
                <a:avLst/>
              </a:prstGeom>
              <a:noFill/>
              <a:ln w="12700" cap="flat" cmpd="sng" algn="ctr">
                <a:solidFill>
                  <a:srgbClr val="FF0000"/>
                </a:solidFill>
                <a:prstDash val="lgDash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lvl="0" indent="0" algn="l">
                  <a:lnSpc>
                    <a:spcPct val="150000"/>
                  </a:lnSpc>
                  <a:buNone/>
                </a:pP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We</a:t>
                </a:r>
                <a:r>
                  <a:rPr lang="en-US" sz="2800" b="0" i="0" dirty="0">
                    <a:solidFill>
                      <a:srgbClr val="002060"/>
                    </a:solidFill>
                    <a:latin typeface="+mj-lt"/>
                  </a:rPr>
                  <a:t> know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…,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contains the </a:t>
                </a:r>
                <a:r>
                  <a:rPr lang="en-US" sz="2800" b="1" dirty="0">
                    <a:solidFill>
                      <a:srgbClr val="FF0000"/>
                    </a:solidFill>
                    <a:latin typeface="+mj-lt"/>
                  </a:rPr>
                  <a:t>zero vector</a:t>
                </a: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</a:t>
                </a:r>
                <a:r>
                  <a:rPr lang="en-US" sz="2800" b="1" dirty="0">
                    <a:solidFill>
                      <a:srgbClr val="FF0000"/>
                    </a:solidFill>
                    <a:latin typeface="+mj-lt"/>
                  </a:rPr>
                  <a:t>linearly dependent</a:t>
                </a:r>
                <a:r>
                  <a:rPr lang="en-US" sz="2800" dirty="0">
                    <a:solidFill>
                      <a:srgbClr val="002060"/>
                    </a:solidFill>
                  </a:rPr>
                  <a:t>.</a:t>
                </a:r>
                <a:endParaRPr lang="en-IN" sz="2800" b="1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FB3579D2-D86F-4B93-931B-6FEA16028A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8" y="2102049"/>
                <a:ext cx="11867664" cy="1217617"/>
              </a:xfrm>
              <a:prstGeom prst="rect">
                <a:avLst/>
              </a:prstGeom>
              <a:blipFill>
                <a:blip r:embed="rId7"/>
                <a:stretch>
                  <a:fillRect l="-975" b="-16832"/>
                </a:stretch>
              </a:blipFill>
              <a:ln w="12700" cap="flat" cmpd="sng" algn="ctr">
                <a:solidFill>
                  <a:srgbClr val="FF0000"/>
                </a:solidFill>
                <a:prstDash val="lgDash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8067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17" grpId="0"/>
      <p:bldP spid="18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Method:4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CAE77E5B-BF33-5497-20B0-3BFB83C99976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b="1" dirty="0">
              <a:solidFill>
                <a:schemeClr val="tx2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7272109-8DE2-50AC-004B-6C788F2ADE24}"/>
              </a:ext>
            </a:extLst>
          </p:cNvPr>
          <p:cNvSpPr/>
          <p:nvPr/>
        </p:nvSpPr>
        <p:spPr>
          <a:xfrm>
            <a:off x="122278" y="1531827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72936" y="731979"/>
                <a:ext cx="10041132" cy="71120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2, 4, 6</m:t>
                            </m:r>
                          </m:e>
                        </m:d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1, 2, 3</m:t>
                            </m:r>
                          </m:e>
                        </m:d>
                      </m:e>
                    </m:d>
                    <m:r>
                      <a:rPr lang="en-US" sz="2800" b="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is linearly dependent or independent. Why? </a:t>
                </a:r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936" y="731979"/>
                <a:ext cx="10041132" cy="711201"/>
              </a:xfrm>
              <a:prstGeom prst="rect">
                <a:avLst/>
              </a:prstGeom>
              <a:blipFill>
                <a:blip r:embed="rId4"/>
                <a:stretch>
                  <a:fillRect l="-1214" r="-1761" b="-1538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63305C07-F1B9-4158-AB35-36DE134F7E08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278" y="3440602"/>
                <a:ext cx="4983122" cy="6058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Clearly,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2, 4, 6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1, 2, 3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2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8" y="3440602"/>
                <a:ext cx="4983122" cy="605827"/>
              </a:xfrm>
              <a:prstGeom prst="rect">
                <a:avLst/>
              </a:prstGeom>
              <a:blipFill>
                <a:blip r:embed="rId5"/>
                <a:stretch>
                  <a:fillRect l="-2445" b="-2700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9FCA6DEB-1220-4888-9706-602C43CC86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278" y="4167365"/>
                <a:ext cx="480950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is linearly dependent.</a:t>
                </a:r>
                <a:endParaRPr lang="en-IN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9FCA6DEB-1220-4888-9706-602C43CC86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8" y="4167365"/>
                <a:ext cx="4809506" cy="540000"/>
              </a:xfrm>
              <a:prstGeom prst="rect">
                <a:avLst/>
              </a:prstGeom>
              <a:blipFill>
                <a:blip r:embed="rId6"/>
                <a:stretch>
                  <a:fillRect l="-2535" t="-14773" b="-2613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FB3579D2-D86F-4B93-931B-6FEA16028A3F}"/>
              </a:ext>
            </a:extLst>
          </p:cNvPr>
          <p:cNvSpPr txBox="1">
            <a:spLocks/>
          </p:cNvSpPr>
          <p:nvPr/>
        </p:nvSpPr>
        <p:spPr>
          <a:xfrm>
            <a:off x="122278" y="2102049"/>
            <a:ext cx="11754648" cy="1217617"/>
          </a:xfrm>
          <a:prstGeom prst="rect">
            <a:avLst/>
          </a:prstGeom>
          <a:noFill/>
          <a:ln w="12700" cap="flat" cmpd="sng" algn="ctr">
            <a:solidFill>
              <a:srgbClr val="FF0000"/>
            </a:solidFill>
            <a:prstDash val="lgDash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ct val="150000"/>
              </a:lnSpc>
              <a:buNone/>
            </a:pPr>
            <a:r>
              <a:rPr lang="en-US" sz="2800" dirty="0">
                <a:solidFill>
                  <a:srgbClr val="002060"/>
                </a:solidFill>
                <a:latin typeface="+mj-lt"/>
              </a:rPr>
              <a:t>A set of nonzero vectors is </a:t>
            </a:r>
            <a:r>
              <a:rPr lang="en-US" sz="2800" b="1" dirty="0">
                <a:solidFill>
                  <a:srgbClr val="FF0000"/>
                </a:solidFill>
                <a:latin typeface="+mj-lt"/>
              </a:rPr>
              <a:t>linearly dependent</a:t>
            </a:r>
            <a:r>
              <a:rPr lang="en-US" sz="2800" dirty="0">
                <a:solidFill>
                  <a:srgbClr val="002060"/>
                </a:solidFill>
                <a:latin typeface="+mj-lt"/>
              </a:rPr>
              <a:t> if and only if </a:t>
            </a:r>
            <a:r>
              <a:rPr lang="en-US" sz="2800" b="1" dirty="0">
                <a:solidFill>
                  <a:srgbClr val="FF0000"/>
                </a:solidFill>
                <a:latin typeface="+mj-lt"/>
              </a:rPr>
              <a:t>at least one</a:t>
            </a:r>
            <a:r>
              <a:rPr lang="en-US" sz="2800" dirty="0">
                <a:solidFill>
                  <a:srgbClr val="002060"/>
                </a:solidFill>
                <a:latin typeface="+mj-lt"/>
              </a:rPr>
              <a:t> of the vectors can be expressed as a </a:t>
            </a:r>
            <a:r>
              <a:rPr lang="en-US" sz="2800" b="1" dirty="0">
                <a:solidFill>
                  <a:srgbClr val="FF0000"/>
                </a:solidFill>
                <a:latin typeface="+mj-lt"/>
              </a:rPr>
              <a:t>linear combination of other vector/s</a:t>
            </a:r>
            <a:r>
              <a:rPr lang="en-US" sz="2800" dirty="0">
                <a:solidFill>
                  <a:srgbClr val="002060"/>
                </a:solidFill>
                <a:latin typeface="+mj-lt"/>
              </a:rPr>
              <a:t> in the set.</a:t>
            </a:r>
            <a:endParaRPr lang="en-IN" sz="2800" dirty="0">
              <a:solidFill>
                <a:srgbClr val="00206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920793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Method:4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Example:3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CAE77E5B-BF33-5497-20B0-3BFB83C99976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b="1" dirty="0">
              <a:solidFill>
                <a:schemeClr val="tx2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7272109-8DE2-50AC-004B-6C788F2ADE24}"/>
              </a:ext>
            </a:extLst>
          </p:cNvPr>
          <p:cNvSpPr/>
          <p:nvPr/>
        </p:nvSpPr>
        <p:spPr>
          <a:xfrm>
            <a:off x="122278" y="1531827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72936" y="731979"/>
                <a:ext cx="10041132" cy="71120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1, 1</m:t>
                            </m:r>
                          </m:e>
                        </m:d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3, 5</m:t>
                            </m:r>
                          </m:e>
                        </m:d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−1, 6</m:t>
                            </m:r>
                          </m:e>
                        </m:d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7, 2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is linearly dependent? </a:t>
                </a:r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936" y="731979"/>
                <a:ext cx="10041132" cy="711201"/>
              </a:xfrm>
              <a:prstGeom prst="rect">
                <a:avLst/>
              </a:prstGeom>
              <a:blipFill>
                <a:blip r:embed="rId4"/>
                <a:stretch>
                  <a:fillRect l="-1214" b="-1538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63305C07-F1B9-4158-AB35-36DE134F7E08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277" y="4368467"/>
                <a:ext cx="3154322" cy="6058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Since,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.  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7" y="4368467"/>
                <a:ext cx="3154322" cy="605827"/>
              </a:xfrm>
              <a:prstGeom prst="rect">
                <a:avLst/>
              </a:prstGeom>
              <a:blipFill>
                <a:blip r:embed="rId5"/>
                <a:stretch>
                  <a:fillRect l="-3868" r="-1547" b="-2727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9FCA6DEB-1220-4888-9706-602C43CC86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278" y="5090516"/>
                <a:ext cx="3459122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IN" sz="2800" dirty="0">
                    <a:solidFill>
                      <a:srgbClr val="002060"/>
                    </a:solidFill>
                    <a:latin typeface="+mj-lt"/>
                  </a:rPr>
                  <a:t>.</a:t>
                </a: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9FCA6DEB-1220-4888-9706-602C43CC86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8" y="5090516"/>
                <a:ext cx="3459122" cy="540000"/>
              </a:xfrm>
              <a:prstGeom prst="rect">
                <a:avLst/>
              </a:prstGeom>
              <a:blipFill>
                <a:blip r:embed="rId6"/>
                <a:stretch>
                  <a:fillRect l="-3521" t="-13483" b="-24719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277" y="3704884"/>
                <a:ext cx="5930180" cy="6058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Here,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1, 1</m:t>
                        </m:r>
                      </m:e>
                    </m:d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3, 5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−1, 6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7, 2</m:t>
                        </m:r>
                      </m:e>
                    </m:d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7" y="3704884"/>
                <a:ext cx="5930180" cy="605827"/>
              </a:xfrm>
              <a:prstGeom prst="rect">
                <a:avLst/>
              </a:prstGeom>
              <a:blipFill>
                <a:blip r:embed="rId7"/>
                <a:stretch>
                  <a:fillRect l="-2055" b="-2727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9FCA6DEB-1220-4888-9706-602C43CC86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278" y="5746738"/>
                <a:ext cx="4809506" cy="5400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Hence,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is linearly dependent</a:t>
                </a:r>
                <a:endParaRPr lang="en-IN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9FCA6DEB-1220-4888-9706-602C43CC86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8" y="5746738"/>
                <a:ext cx="4809506" cy="540000"/>
              </a:xfrm>
              <a:prstGeom prst="rect">
                <a:avLst/>
              </a:prstGeom>
              <a:blipFill>
                <a:blip r:embed="rId8"/>
                <a:stretch>
                  <a:fillRect l="-2535" t="-14773" b="-2613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FB3579D2-D86F-4B93-931B-6FEA16028A3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278" y="2102049"/>
                <a:ext cx="11614068" cy="1500613"/>
              </a:xfrm>
              <a:prstGeom prst="rect">
                <a:avLst/>
              </a:prstGeom>
              <a:noFill/>
              <a:ln w="12700" cap="flat" cmpd="sng" algn="ctr">
                <a:solidFill>
                  <a:srgbClr val="FF0000"/>
                </a:solidFill>
                <a:prstDash val="lgDash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lv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…,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80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be a set of vectors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elements. </a:t>
                </a:r>
              </a:p>
              <a:p>
                <a:pPr marL="0" lv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80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sz="280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then the set S is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linearly dependent</a:t>
                </a:r>
                <a:r>
                  <a:rPr lang="en-US" sz="2800" dirty="0">
                    <a:solidFill>
                      <a:srgbClr val="002060"/>
                    </a:solidFill>
                  </a:rPr>
                  <a:t>.</a:t>
                </a:r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FB3579D2-D86F-4B93-931B-6FEA16028A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8" y="2102049"/>
                <a:ext cx="11614068" cy="1500613"/>
              </a:xfrm>
              <a:prstGeom prst="rect">
                <a:avLst/>
              </a:prstGeom>
              <a:blipFill>
                <a:blip r:embed="rId9"/>
                <a:stretch>
                  <a:fillRect l="-996" b="-8871"/>
                </a:stretch>
              </a:blipFill>
              <a:ln w="12700" cap="flat" cmpd="sng" algn="ctr">
                <a:solidFill>
                  <a:srgbClr val="FF0000"/>
                </a:solidFill>
                <a:prstDash val="lgDash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72898" y="3704883"/>
                <a:ext cx="1641208" cy="6058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  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2898" y="3704883"/>
                <a:ext cx="1641208" cy="605827"/>
              </a:xfrm>
              <a:prstGeom prst="rect">
                <a:avLst/>
              </a:prstGeom>
              <a:blipFill>
                <a:blip r:embed="rId10"/>
                <a:stretch>
                  <a:fillRect r="-7063" b="-2727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4263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17" grpId="0"/>
      <p:bldP spid="11" grpId="0"/>
      <p:bldP spid="14" grpId="0"/>
      <p:bldP spid="18" grpId="0" animBg="1"/>
      <p:bldP spid="19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Procedure to check whether a set is LD or LI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31180" y="863444"/>
                <a:ext cx="12340220" cy="5590565"/>
              </a:xfrm>
            </p:spPr>
            <p:txBody>
              <a:bodyPr/>
              <a:lstStyle/>
              <a:p>
                <a:pPr lvl="0"/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be a set of vectors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dirty="0"/>
              </a:p>
              <a:p>
                <a:pPr marL="1058862" lvl="1" indent="-514350">
                  <a:buFont typeface="+mj-lt"/>
                  <a:buAutoNum type="arabicPeriod"/>
                </a:pPr>
                <a:r>
                  <a:rPr lang="en-US" dirty="0"/>
                  <a:t>Form the system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sub>
                    </m:sSub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.</a:t>
                </a:r>
                <a:endParaRPr lang="en-IN" dirty="0"/>
              </a:p>
              <a:p>
                <a:pPr marL="1058862" lvl="1" indent="-514350">
                  <a:buFont typeface="+mj-lt"/>
                  <a:buAutoNum type="arabicPeriod"/>
                </a:pPr>
                <a:r>
                  <a:rPr lang="en-US" dirty="0"/>
                  <a:t>write the corresponding system of linear equations in matrix form as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𝐀𝐗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𝐁</m:t>
                    </m:r>
                  </m:oMath>
                </a14:m>
                <a:r>
                  <a:rPr lang="en-US" dirty="0"/>
                  <a:t>.</a:t>
                </a:r>
                <a:endParaRPr lang="en-IN" dirty="0"/>
              </a:p>
              <a:p>
                <a:pPr marL="1058862" lvl="1" indent="-514350">
                  <a:buFont typeface="+mj-lt"/>
                  <a:buAutoNum type="arabicPeriod"/>
                </a:pPr>
                <a:r>
                  <a:rPr lang="en-US" dirty="0"/>
                  <a:t>Solve the system and analyze the consistency of the system:</a:t>
                </a:r>
                <a:endParaRPr lang="en-IN" dirty="0"/>
              </a:p>
              <a:p>
                <a:pPr marL="1704975" lvl="3" indent="-457200"/>
                <a:r>
                  <a:rPr lang="en-US" dirty="0"/>
                  <a:t>If the system has </a:t>
                </a:r>
                <a:r>
                  <a:rPr lang="en-US" b="1" dirty="0">
                    <a:solidFill>
                      <a:srgbClr val="FF0000"/>
                    </a:solidFill>
                  </a:rPr>
                  <a:t>trivial solution</a:t>
                </a:r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>
                    <a:solidFill>
                      <a:srgbClr val="FF0000"/>
                    </a:solidFill>
                  </a:rPr>
                  <a:t>LI</a:t>
                </a:r>
                <a:r>
                  <a:rPr lang="en-US" dirty="0"/>
                  <a:t>.</a:t>
                </a:r>
              </a:p>
              <a:p>
                <a:pPr marL="1704975" lvl="3" indent="-457200"/>
                <a:r>
                  <a:rPr lang="en-US" dirty="0"/>
                  <a:t>If the system has </a:t>
                </a:r>
                <a:r>
                  <a:rPr lang="en-US" b="1" dirty="0">
                    <a:solidFill>
                      <a:srgbClr val="FF0000"/>
                    </a:solidFill>
                  </a:rPr>
                  <a:t>nontrivial solution</a:t>
                </a:r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>
                    <a:solidFill>
                      <a:srgbClr val="FF0000"/>
                    </a:solidFill>
                  </a:rPr>
                  <a:t>LD</a:t>
                </a:r>
                <a:r>
                  <a:rPr lang="en-US" dirty="0"/>
                  <a:t>.</a:t>
                </a:r>
                <a:endParaRPr lang="en-IN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1180" y="863444"/>
                <a:ext cx="12340220" cy="5590565"/>
              </a:xfrm>
              <a:blipFill>
                <a:blip r:embed="rId2"/>
                <a:stretch>
                  <a:fillRect l="-9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/>
              <p:cNvSpPr txBox="1">
                <a:spLocks/>
              </p:cNvSpPr>
              <p:nvPr/>
            </p:nvSpPr>
            <p:spPr>
              <a:xfrm>
                <a:off x="11287" y="4597440"/>
                <a:ext cx="12169426" cy="1942866"/>
              </a:xfrm>
              <a:prstGeom prst="rect">
                <a:avLst/>
              </a:prstGeom>
              <a:noFill/>
              <a:ln w="12700" cap="flat" cmpd="sng" algn="ctr">
                <a:solidFill>
                  <a:srgbClr val="FF0000"/>
                </a:solidFill>
                <a:prstDash val="lgDash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lvl="0" indent="0">
                  <a:lnSpc>
                    <a:spcPct val="15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 i="0">
                    <a:solidFill>
                      <a:srgbClr val="002060"/>
                    </a:solidFill>
                    <a:latin typeface="+mj-lt"/>
                  </a:defRPr>
                </a:lvl1pPr>
                <a:lvl2pPr marL="809625" indent="-352425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/>
                </a:lvl2pPr>
                <a:lvl3pPr marL="1143000" indent="-228600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</a:lvl3pPr>
                <a:lvl4pPr marL="1600200" indent="-228600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/>
                </a:lvl4pPr>
                <a:lvl5pPr marL="2057400" indent="-228600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/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dk1"/>
                    </a:solidFill>
                  </a:defRPr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dk1"/>
                    </a:solidFill>
                  </a:defRPr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dk1"/>
                    </a:solidFill>
                  </a:defRPr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dk1"/>
                    </a:solidFill>
                  </a:defRPr>
                </a:lvl9pPr>
              </a:lstStyle>
              <a:p>
                <a:r>
                  <a:rPr lang="en-US" b="1" dirty="0"/>
                  <a:t>Remarks: </a:t>
                </a:r>
                <a:r>
                  <a:rPr lang="en-US" dirty="0"/>
                  <a:t>To analyze the consistency of the system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AX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dirty="0"/>
                  <a:t> (For Square Matrix)</a:t>
                </a:r>
                <a:endParaRPr lang="en-IN" dirty="0"/>
              </a:p>
              <a:p>
                <a:pPr lvl="4"/>
                <a:r>
                  <a:rPr lang="en-US" sz="2800" dirty="0">
                    <a:solidFill>
                      <a:srgbClr val="00206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sz="28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𝐝𝐞𝐭</m:t>
                    </m:r>
                    <m:r>
                      <a:rPr lang="en-US" sz="28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sz="28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)≠</m:t>
                    </m:r>
                    <m:r>
                      <a:rPr lang="en-US" sz="28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is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LI</a:t>
                </a:r>
                <a:r>
                  <a:rPr lang="en-US" sz="2800" dirty="0">
                    <a:solidFill>
                      <a:srgbClr val="002060"/>
                    </a:solidFill>
                  </a:rPr>
                  <a:t>.</a:t>
                </a:r>
                <a:endParaRPr lang="en-IN" sz="2800" dirty="0">
                  <a:solidFill>
                    <a:srgbClr val="002060"/>
                  </a:solidFill>
                </a:endParaRPr>
              </a:p>
              <a:p>
                <a:pPr lvl="4"/>
                <a:r>
                  <a:rPr lang="en-US" sz="2800" dirty="0">
                    <a:solidFill>
                      <a:srgbClr val="002060"/>
                    </a:solidFill>
                  </a:rPr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sz="28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𝐝𝐞𝐭</m:t>
                        </m:r>
                      </m:fName>
                      <m:e>
                        <m:d>
                          <m:dPr>
                            <m:ctrlPr>
                              <a:rPr lang="en-US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</m:e>
                    </m:func>
                    <m:r>
                      <a:rPr lang="en-US" sz="28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is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LD</a:t>
                </a:r>
                <a:r>
                  <a:rPr lang="en-US" sz="2800" dirty="0">
                    <a:solidFill>
                      <a:srgbClr val="002060"/>
                    </a:solidFill>
                  </a:rPr>
                  <a:t>.</a:t>
                </a:r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7" y="4597440"/>
                <a:ext cx="12169426" cy="1942866"/>
              </a:xfrm>
              <a:prstGeom prst="rect">
                <a:avLst/>
              </a:prstGeom>
              <a:blipFill>
                <a:blip r:embed="rId3"/>
                <a:stretch>
                  <a:fillRect l="-1001" b="-312"/>
                </a:stretch>
              </a:blipFill>
              <a:ln w="12700" cap="flat" cmpd="sng" algn="ctr">
                <a:solidFill>
                  <a:srgbClr val="FF0000"/>
                </a:solidFill>
                <a:prstDash val="lgDash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5550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Method:4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Example:4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CAE77E5B-BF33-5497-20B0-3BFB83C99976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b="1" dirty="0">
              <a:solidFill>
                <a:schemeClr val="tx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72936" y="731979"/>
                <a:ext cx="10041132" cy="1272293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C</a:t>
                </a:r>
                <a:r>
                  <a:rPr lang="en-US" sz="2800" i="0" dirty="0">
                    <a:solidFill>
                      <a:srgbClr val="002060"/>
                    </a:solidFill>
                    <a:latin typeface="+mj-lt"/>
                  </a:rPr>
                  <a:t>h</a:t>
                </a:r>
                <a:r>
                  <a:rPr lang="en-US" sz="2800" dirty="0">
                    <a:solidFill>
                      <a:srgbClr val="002060"/>
                    </a:solidFill>
                  </a:rPr>
                  <a:t>eck whether</a:t>
                </a:r>
                <a14:m>
                  <m:oMath xmlns:m="http://schemas.openxmlformats.org/officeDocument/2006/math"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={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2,1,1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1,2,2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1,1,1</m:t>
                        </m:r>
                      </m:e>
                    </m:d>
                    <m:r>
                      <a:rPr lang="en-US" sz="2800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is subset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are LD or LI.</a:t>
                </a:r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936" y="731979"/>
                <a:ext cx="10041132" cy="1272293"/>
              </a:xfrm>
              <a:prstGeom prst="rect">
                <a:avLst/>
              </a:prstGeom>
              <a:blipFill>
                <a:blip r:embed="rId4"/>
                <a:stretch>
                  <a:fillRect l="-1214" r="-243" b="-1483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63305C07-F1B9-4158-AB35-36DE134F7E08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p:sp>
        <p:nvSpPr>
          <p:cNvPr id="47" name="Rectangle: Rounded Corners 12">
            <a:extLst>
              <a:ext uri="{FF2B5EF4-FFF2-40B4-BE49-F238E27FC236}">
                <a16:creationId xmlns:a16="http://schemas.microsoft.com/office/drawing/2014/main" id="{35972A2E-25D7-C897-9D78-CA14AF0D56C8}"/>
              </a:ext>
            </a:extLst>
          </p:cNvPr>
          <p:cNvSpPr/>
          <p:nvPr/>
        </p:nvSpPr>
        <p:spPr>
          <a:xfrm>
            <a:off x="122278" y="2082741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4049497"/>
                <a:ext cx="2960914" cy="137550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</m:m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48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049497"/>
                <a:ext cx="2960914" cy="1375506"/>
              </a:xfrm>
              <a:prstGeom prst="rect">
                <a:avLst/>
              </a:prstGeom>
              <a:blipFill>
                <a:blip r:embed="rId5"/>
                <a:stretch>
                  <a:fillRect l="-20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9293" y="2063584"/>
                <a:ext cx="6702008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Since,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0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2,1,1</m:t>
                            </m:r>
                          </m:e>
                        </m:d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1,2,2</m:t>
                            </m:r>
                          </m:e>
                        </m:d>
                        <m:r>
                          <a:rPr lang="en-US" sz="2800" dirty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ctrlPr>
                              <a:rPr lang="en-US" sz="2800" i="1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dirty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1,1,1</m:t>
                            </m:r>
                          </m:e>
                        </m:d>
                        <m:r>
                          <a:rPr lang="en-US" sz="2800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49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9293" y="2063584"/>
                <a:ext cx="6702008" cy="543600"/>
              </a:xfrm>
              <a:prstGeom prst="rect">
                <a:avLst/>
              </a:prstGeom>
              <a:blipFill>
                <a:blip r:embed="rId6"/>
                <a:stretch>
                  <a:fillRect l="-182" t="-6742" b="-3146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28650" y="4631197"/>
                <a:ext cx="5472060" cy="5089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=2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2−2</m:t>
                          </m:r>
                        </m:e>
                      </m:d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−1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1−1</m:t>
                          </m:r>
                        </m:e>
                      </m:d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+1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2−2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50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8650" y="4631197"/>
                <a:ext cx="5472060" cy="50892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49373" y="4631196"/>
                <a:ext cx="1010662" cy="5089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0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51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9373" y="4631196"/>
                <a:ext cx="1010662" cy="50892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5617237"/>
                <a:ext cx="2651760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IN" sz="2800" dirty="0">
                    <a:solidFill>
                      <a:srgbClr val="002060"/>
                    </a:solidFill>
                  </a:rPr>
                  <a:t>So,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IN" sz="2800" dirty="0">
                    <a:solidFill>
                      <a:srgbClr val="002060"/>
                    </a:solidFill>
                  </a:rPr>
                  <a:t> is LD.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2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617237"/>
                <a:ext cx="2651760" cy="543600"/>
              </a:xfrm>
              <a:prstGeom prst="rect">
                <a:avLst/>
              </a:prstGeom>
              <a:blipFill>
                <a:blip r:embed="rId9"/>
                <a:stretch>
                  <a:fillRect l="-230" t="-5556" b="-3111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78" y="2808860"/>
                <a:ext cx="2646181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</m:t>
                      </m:r>
                      <m: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3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8" y="2808860"/>
                <a:ext cx="2646181" cy="5436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9764" y="3544694"/>
                <a:ext cx="10479505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We can check </a:t>
                </a: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whether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A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is L.D./L.I.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using determinant. </a:t>
                </a:r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54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764" y="3544694"/>
                <a:ext cx="10479505" cy="543600"/>
              </a:xfrm>
              <a:prstGeom prst="rect">
                <a:avLst/>
              </a:prstGeom>
              <a:blipFill>
                <a:blip r:embed="rId11"/>
                <a:stretch>
                  <a:fillRect l="-58" t="-5556" b="-3111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25142" y="2722736"/>
                <a:ext cx="2240558" cy="6058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800" b="0" dirty="0">
                    <a:solidFill>
                      <a:srgbClr val="002060"/>
                    </a:solidFill>
                    <a:ea typeface="Cambria Math" panose="02040503050406030204" pitchFamily="18" charset="0"/>
                  </a:rPr>
                  <a:t>and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5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142" y="2722736"/>
                <a:ext cx="2240558" cy="605827"/>
              </a:xfrm>
              <a:prstGeom prst="rect">
                <a:avLst/>
              </a:prstGeom>
              <a:blipFill>
                <a:blip r:embed="rId12"/>
                <a:stretch>
                  <a:fillRect l="-5435" b="-3333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ounded Rectangle 56"/>
          <p:cNvSpPr/>
          <p:nvPr/>
        </p:nvSpPr>
        <p:spPr>
          <a:xfrm>
            <a:off x="3219079" y="2096423"/>
            <a:ext cx="3981821" cy="5217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8" name="Rounded Rectangle 57"/>
          <p:cNvSpPr/>
          <p:nvPr/>
        </p:nvSpPr>
        <p:spPr>
          <a:xfrm>
            <a:off x="7502527" y="2091660"/>
            <a:ext cx="571500" cy="5217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0876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7" grpId="0" animBg="1"/>
      <p:bldP spid="57" grpId="1" animBg="1"/>
      <p:bldP spid="58" grpId="0" animBg="1"/>
      <p:bldP spid="58" grpId="1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Method:4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CAE77E5B-BF33-5497-20B0-3BFB83C99976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b="1" dirty="0">
              <a:solidFill>
                <a:schemeClr val="tx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72936" y="731979"/>
                <a:ext cx="10041132" cy="1272293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={2−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,3+6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,2+10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linearly dependent or independent?</a:t>
                </a:r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936" y="731979"/>
                <a:ext cx="10041132" cy="1272293"/>
              </a:xfrm>
              <a:prstGeom prst="rect">
                <a:avLst/>
              </a:prstGeom>
              <a:blipFill>
                <a:blip r:embed="rId4"/>
                <a:stretch>
                  <a:fillRect l="-1214" r="-1882" b="-11962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63305C07-F1B9-4158-AB35-36DE134F7E08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p:sp>
        <p:nvSpPr>
          <p:cNvPr id="47" name="Rectangle: Rounded Corners 12">
            <a:extLst>
              <a:ext uri="{FF2B5EF4-FFF2-40B4-BE49-F238E27FC236}">
                <a16:creationId xmlns:a16="http://schemas.microsoft.com/office/drawing/2014/main" id="{35972A2E-25D7-C897-9D78-CA14AF0D56C8}"/>
              </a:ext>
            </a:extLst>
          </p:cNvPr>
          <p:cNvSpPr/>
          <p:nvPr/>
        </p:nvSpPr>
        <p:spPr>
          <a:xfrm>
            <a:off x="122278" y="2082741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9292" y="2063584"/>
                <a:ext cx="10021447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Since,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={2−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,3+6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,2+10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49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9292" y="2063584"/>
                <a:ext cx="10021447" cy="543600"/>
              </a:xfrm>
              <a:prstGeom prst="rect">
                <a:avLst/>
              </a:prstGeom>
              <a:blipFill>
                <a:blip r:embed="rId5"/>
                <a:stretch>
                  <a:fillRect l="-122" t="-10112" b="-2809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78" y="2808860"/>
                <a:ext cx="2646181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</m:t>
                      </m:r>
                      <m: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3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8" y="2808860"/>
                <a:ext cx="2646181" cy="543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9764" y="3544694"/>
                <a:ext cx="10479505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We can check </a:t>
                </a: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whether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S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is LD/LI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using determinant. </a:t>
                </a:r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54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764" y="3544694"/>
                <a:ext cx="10479505" cy="543600"/>
              </a:xfrm>
              <a:prstGeom prst="rect">
                <a:avLst/>
              </a:prstGeom>
              <a:blipFill>
                <a:blip r:embed="rId7"/>
                <a:stretch>
                  <a:fillRect l="-58" t="-5556" b="-3111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25141" y="2722736"/>
                <a:ext cx="4233797" cy="6058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800" b="0" dirty="0">
                    <a:solidFill>
                      <a:srgbClr val="002060"/>
                    </a:solidFill>
                    <a:ea typeface="Cambria Math" panose="02040503050406030204" pitchFamily="18" charset="0"/>
                  </a:rPr>
                  <a:t>and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=3=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dim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ℙ</m:t>
                            </m:r>
                          </m:e>
                          <m:sub>
                            <m: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5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141" y="2722736"/>
                <a:ext cx="4233797" cy="605827"/>
              </a:xfrm>
              <a:prstGeom prst="rect">
                <a:avLst/>
              </a:prstGeom>
              <a:blipFill>
                <a:blip r:embed="rId8"/>
                <a:stretch>
                  <a:fillRect l="-2878" b="-3333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ounded Rectangle 56"/>
          <p:cNvSpPr/>
          <p:nvPr/>
        </p:nvSpPr>
        <p:spPr>
          <a:xfrm>
            <a:off x="3219079" y="2096423"/>
            <a:ext cx="6356721" cy="5217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8" name="Rounded Rectangle 57"/>
          <p:cNvSpPr/>
          <p:nvPr/>
        </p:nvSpPr>
        <p:spPr>
          <a:xfrm>
            <a:off x="9877427" y="2091660"/>
            <a:ext cx="571500" cy="5217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4049497"/>
                <a:ext cx="3468914" cy="137550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</m:t>
                              </m:r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</m:t>
                              </m:r>
                              <m:r>
                                <m:rPr>
                                  <m:brk m:alnAt="7"/>
                                </m:rP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</m:t>
                              </m:r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 2</m:t>
                              </m:r>
                            </m:e>
                          </m:mr>
                          <m:mr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6</m:t>
                              </m:r>
                            </m:e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10</m:t>
                              </m:r>
                            </m:e>
                          </m:mr>
                          <m:mr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1</m:t>
                              </m:r>
                            </m:e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−4</m:t>
                              </m:r>
                            </m:e>
                          </m:mr>
                        </m:m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049497"/>
                <a:ext cx="3468914" cy="1375506"/>
              </a:xfrm>
              <a:prstGeom prst="rect">
                <a:avLst/>
              </a:prstGeom>
              <a:blipFill>
                <a:blip r:embed="rId9"/>
                <a:stretch>
                  <a:fillRect l="-17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11031" y="4645711"/>
                <a:ext cx="6892169" cy="5089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2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−24−20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−3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4−10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+2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−2−6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1031" y="4645711"/>
                <a:ext cx="6892169" cy="50892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83966" y="5337704"/>
                <a:ext cx="2400307" cy="5089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−62≠0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3966" y="5337704"/>
                <a:ext cx="2400307" cy="50892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5889037"/>
                <a:ext cx="2481222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IN" sz="2800" dirty="0">
                    <a:solidFill>
                      <a:srgbClr val="002060"/>
                    </a:solidFill>
                  </a:rPr>
                  <a:t>So,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IN" sz="2800" dirty="0">
                    <a:solidFill>
                      <a:srgbClr val="002060"/>
                    </a:solidFill>
                  </a:rPr>
                  <a:t> is LI.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889037"/>
                <a:ext cx="2481222" cy="543600"/>
              </a:xfrm>
              <a:prstGeom prst="rect">
                <a:avLst/>
              </a:prstGeom>
              <a:blipFill>
                <a:blip r:embed="rId12"/>
                <a:stretch>
                  <a:fillRect l="-246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9709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3" grpId="0"/>
      <p:bldP spid="54" grpId="0"/>
      <p:bldP spid="55" grpId="0"/>
      <p:bldP spid="57" grpId="0" animBg="1"/>
      <p:bldP spid="57" grpId="1" animBg="1"/>
      <p:bldP spid="58" grpId="0" animBg="1"/>
      <p:bldP spid="58" grpId="1" animBg="1"/>
      <p:bldP spid="22" grpId="0"/>
      <p:bldP spid="24" grpId="0"/>
      <p:bldP spid="25" grpId="0"/>
      <p:bldP spid="26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Method:4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72936" y="719261"/>
                <a:ext cx="10415862" cy="1630938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</a:rPr>
                  <a:t>Check</a:t>
                </a:r>
                <a14:m>
                  <m:oMath xmlns:m="http://schemas.openxmlformats.org/officeDocument/2006/math"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</a:rPr>
                  <a:t>are linearly dependent or independent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𝕄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</a:t>
                </a:r>
                <a:endParaRPr lang="en-IN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936" y="719261"/>
                <a:ext cx="10415862" cy="1630938"/>
              </a:xfrm>
              <a:prstGeom prst="rect">
                <a:avLst/>
              </a:prstGeom>
              <a:blipFill>
                <a:blip r:embed="rId4"/>
                <a:stretch>
                  <a:fillRect l="-1170" r="-1170" b="-15672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9" y="1057440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63305C07-F1B9-4158-AB35-36DE134F7E08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p:sp>
        <p:nvSpPr>
          <p:cNvPr id="15" name="Rectangle: Rounded Corners 12">
            <a:extLst>
              <a:ext uri="{FF2B5EF4-FFF2-40B4-BE49-F238E27FC236}">
                <a16:creationId xmlns:a16="http://schemas.microsoft.com/office/drawing/2014/main" id="{35972A2E-25D7-C897-9D78-CA14AF0D56C8}"/>
              </a:ext>
            </a:extLst>
          </p:cNvPr>
          <p:cNvSpPr/>
          <p:nvPr/>
        </p:nvSpPr>
        <p:spPr>
          <a:xfrm>
            <a:off x="122278" y="2696438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/>
              <p:cNvSpPr/>
              <p:nvPr/>
            </p:nvSpPr>
            <p:spPr>
              <a:xfrm>
                <a:off x="122278" y="3576117"/>
                <a:ext cx="462863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IN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Now,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c</m:t>
                        </m:r>
                      </m:e>
                      <m:sub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+</m:t>
                    </m:r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c</m:t>
                        </m:r>
                      </m:e>
                      <m:sub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+</m:t>
                    </m:r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c</m:t>
                        </m:r>
                      </m:e>
                      <m:sub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b>
                    </m:sSub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=0</m:t>
                    </m:r>
                  </m:oMath>
                </a14:m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8" y="3576117"/>
                <a:ext cx="4628639" cy="523220"/>
              </a:xfrm>
              <a:prstGeom prst="rect">
                <a:avLst/>
              </a:prstGeom>
              <a:blipFill>
                <a:blip r:embed="rId5"/>
                <a:stretch>
                  <a:fillRect l="-2635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/>
              <p:cNvSpPr/>
              <p:nvPr/>
            </p:nvSpPr>
            <p:spPr>
              <a:xfrm>
                <a:off x="1572935" y="2529219"/>
                <a:ext cx="8715271" cy="8592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IN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Let,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  ,  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  </m:t>
                    </m:r>
                  </m:oMath>
                </a14:m>
                <a:r>
                  <a:rPr lang="en-US" sz="2800" b="0" i="0" dirty="0">
                    <a:solidFill>
                      <a:srgbClr val="002060"/>
                    </a:solidFill>
                    <a:latin typeface="+mj-lt"/>
                  </a:rPr>
                  <a:t> and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24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935" y="2529219"/>
                <a:ext cx="8715271" cy="859210"/>
              </a:xfrm>
              <a:prstGeom prst="rect">
                <a:avLst/>
              </a:prstGeom>
              <a:blipFill>
                <a:blip r:embed="rId6"/>
                <a:stretch>
                  <a:fillRect l="-13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/>
              <p:cNvSpPr/>
              <p:nvPr/>
            </p:nvSpPr>
            <p:spPr>
              <a:xfrm>
                <a:off x="122278" y="4213951"/>
                <a:ext cx="10037722" cy="8592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sz="280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hruti" panose="020B0502040204020203" pitchFamily="34" charset="0"/>
                        </a:rPr>
                        <m:t>⇒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c</m:t>
                          </m:r>
                        </m:e>
                        <m:sub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c</m:t>
                          </m:r>
                        </m:e>
                        <m:sub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IN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c</m:t>
                          </m:r>
                        </m:e>
                        <m:sub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25" name="Rectangle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8" y="4213951"/>
                <a:ext cx="10037722" cy="8592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/>
              <p:cNvSpPr/>
              <p:nvPr/>
            </p:nvSpPr>
            <p:spPr>
              <a:xfrm>
                <a:off x="122278" y="5187775"/>
                <a:ext cx="6289409" cy="86773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hruti" panose="020B0502040204020203" pitchFamily="34" charset="0"/>
                        </a:rPr>
                        <m:t>⇒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+2</m:t>
                                </m:r>
                                <m:sSub>
                                  <m:sSubPr>
                                    <m:ctrlP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+2</m:t>
                                </m:r>
                                <m:sSub>
                                  <m:sSubPr>
                                    <m:ctrlP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27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8" y="5187775"/>
                <a:ext cx="6289409" cy="86773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4283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4" grpId="0"/>
      <p:bldP spid="25" grpId="0"/>
      <p:bldP spid="27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Method:4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63305C07-F1B9-4158-AB35-36DE134F7E08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178786" y="869738"/>
                <a:ext cx="6289409" cy="86773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hruti" panose="020B0502040204020203" pitchFamily="34" charset="0"/>
                        </a:rPr>
                        <m:t>⇒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+2</m:t>
                                </m:r>
                                <m:sSub>
                                  <m:sSubPr>
                                    <m:ctrlP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+2</m:t>
                                </m:r>
                                <m:sSub>
                                  <m:sSubPr>
                                    <m:ctrlPr>
                                      <a:rPr lang="en-IN" sz="2800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en-US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86" y="869738"/>
                <a:ext cx="6289409" cy="86773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16E27A61-A74A-EBC5-7216-484AC2382B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8636" y="2760550"/>
                <a:ext cx="4408092" cy="234938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 algn="l">
                  <a:lnSpc>
                    <a:spcPct val="12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i="1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algn="l"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  <a:p>
                <a:pPr algn="l"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b="0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  <a:p>
                <a:pPr algn="l"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c</m:t>
                          </m:r>
                        </m:e>
                        <m:sub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+2</m:t>
                      </m:r>
                      <m:sSub>
                        <m:sSub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c</m:t>
                          </m:r>
                        </m:e>
                        <m: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+2</m:t>
                      </m:r>
                      <m:sSub>
                        <m:sSub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c</m:t>
                          </m:r>
                        </m:e>
                        <m: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=0</m:t>
                      </m:r>
                    </m:oMath>
                  </m:oMathPara>
                </a14:m>
                <a:endParaRPr lang="en-US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16E27A61-A74A-EBC5-7216-484AC2382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636" y="2760550"/>
                <a:ext cx="4408092" cy="23493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1A2EE99E-860B-EE9D-4F59-C6C2CE57581D}"/>
              </a:ext>
            </a:extLst>
          </p:cNvPr>
          <p:cNvSpPr txBox="1">
            <a:spLocks/>
          </p:cNvSpPr>
          <p:nvPr/>
        </p:nvSpPr>
        <p:spPr>
          <a:xfrm>
            <a:off x="130962" y="2033013"/>
            <a:ext cx="5313761" cy="5436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118745" algn="just">
              <a:lnSpc>
                <a:spcPct val="115000"/>
              </a:lnSpc>
              <a:spcBef>
                <a:spcPts val="1000"/>
              </a:spcBef>
              <a:spcAft>
                <a:spcPts val="800"/>
              </a:spcAft>
              <a:buClr>
                <a:schemeClr val="accent6"/>
              </a:buClr>
              <a:buFont typeface="Wingdings 3" panose="05040102010807070707" pitchFamily="18" charset="2"/>
              <a:buNone/>
              <a:defRPr sz="2800">
                <a:solidFill>
                  <a:srgbClr val="3A4A6A"/>
                </a:solidFill>
              </a:defRPr>
            </a:lvl1pPr>
          </a:lstStyle>
          <a:p>
            <a:pPr>
              <a:lnSpc>
                <a:spcPct val="90000"/>
              </a:lnSpc>
            </a:pPr>
            <a:r>
              <a:rPr lang="en-US" i="0" dirty="0">
                <a:solidFill>
                  <a:srgbClr val="002060"/>
                </a:solidFill>
                <a:latin typeface="+mj-lt"/>
              </a:rPr>
              <a:t>Comparing both the sides, we have </a:t>
            </a:r>
            <a:endParaRPr lang="en-US" dirty="0">
              <a:solidFill>
                <a:srgbClr val="002060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1A2EE99E-860B-EE9D-4F59-C6C2CE5758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408499" y="2602690"/>
                <a:ext cx="1248229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…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i="0" dirty="0">
                    <a:solidFill>
                      <a:srgbClr val="002060"/>
                    </a:solidFill>
                    <a:latin typeface="+mj-lt"/>
                  </a:rPr>
                  <a:t> </a:t>
                </a:r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1A2EE99E-860B-EE9D-4F59-C6C2CE575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8499" y="2602690"/>
                <a:ext cx="1248229" cy="543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1A2EE99E-860B-EE9D-4F59-C6C2CE5758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408498" y="3241720"/>
                <a:ext cx="1248229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…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i="0" dirty="0">
                    <a:solidFill>
                      <a:srgbClr val="002060"/>
                    </a:solidFill>
                    <a:latin typeface="+mj-lt"/>
                  </a:rPr>
                  <a:t> </a:t>
                </a:r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1A2EE99E-860B-EE9D-4F59-C6C2CE575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8498" y="3241720"/>
                <a:ext cx="1248229" cy="5436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1A2EE99E-860B-EE9D-4F59-C6C2CE5758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408498" y="3873130"/>
                <a:ext cx="1248229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…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lang="en-US" i="0" dirty="0">
                    <a:solidFill>
                      <a:srgbClr val="002060"/>
                    </a:solidFill>
                    <a:latin typeface="+mj-lt"/>
                  </a:rPr>
                  <a:t> </a:t>
                </a:r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1A2EE99E-860B-EE9D-4F59-C6C2CE575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8498" y="3873130"/>
                <a:ext cx="1248229" cy="5436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1A2EE99E-860B-EE9D-4F59-C6C2CE5758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408498" y="4518085"/>
                <a:ext cx="1248229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…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  <a:r>
                  <a:rPr lang="en-US" i="0" dirty="0">
                    <a:solidFill>
                      <a:srgbClr val="002060"/>
                    </a:solidFill>
                    <a:latin typeface="+mj-lt"/>
                  </a:rPr>
                  <a:t> </a:t>
                </a:r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" name="Content Placeholder 4">
                <a:extLst>
                  <a:ext uri="{FF2B5EF4-FFF2-40B4-BE49-F238E27FC236}">
                    <a16:creationId xmlns:a16="http://schemas.microsoft.com/office/drawing/2014/main" id="{1A2EE99E-860B-EE9D-4F59-C6C2CE575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8498" y="4518085"/>
                <a:ext cx="1248229" cy="5436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: Rounded Corners 37">
            <a:extLst>
              <a:ext uri="{FF2B5EF4-FFF2-40B4-BE49-F238E27FC236}">
                <a16:creationId xmlns:a16="http://schemas.microsoft.com/office/drawing/2014/main" id="{C23C8852-12D4-0359-F932-9FDF57F1804C}"/>
              </a:ext>
            </a:extLst>
          </p:cNvPr>
          <p:cNvSpPr/>
          <p:nvPr/>
        </p:nvSpPr>
        <p:spPr>
          <a:xfrm>
            <a:off x="6078000" y="2122106"/>
            <a:ext cx="36000" cy="3272727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1A2EE99E-860B-EE9D-4F59-C6C2CE5758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68476" y="2033013"/>
                <a:ext cx="5654191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By using </a:t>
                </a:r>
                <a:r>
                  <a:rPr lang="en-US" b="1" dirty="0">
                    <a:solidFill>
                      <a:srgbClr val="FF0000"/>
                    </a:solidFill>
                    <a:latin typeface="+mj-lt"/>
                  </a:rPr>
                  <a:t>Eq.</a:t>
                </a:r>
                <a14:m>
                  <m:oMath xmlns:m="http://schemas.openxmlformats.org/officeDocument/2006/math"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  <a:latin typeface="+mj-lt"/>
                  </a:rPr>
                  <a:t> </a:t>
                </a:r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in Eq.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 and Eq.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(2)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,</a:t>
                </a: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1A2EE99E-860B-EE9D-4F59-C6C2CE575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476" y="2033013"/>
                <a:ext cx="5654191" cy="543600"/>
              </a:xfrm>
              <a:prstGeom prst="rect">
                <a:avLst/>
              </a:prstGeom>
              <a:blipFill>
                <a:blip r:embed="rId10"/>
                <a:stretch>
                  <a:fillRect l="-216" t="-12222" r="-647" b="-2444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1A2EE99E-860B-EE9D-4F59-C6C2CE5758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68476" y="2747470"/>
                <a:ext cx="4517238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US" dirty="0">
                    <a:solidFill>
                      <a:srgbClr val="002060"/>
                    </a:solidFill>
                  </a:rPr>
                  <a:t>We have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  <a:latin typeface="+mj-lt"/>
                  </a:rPr>
                  <a:t>   &amp;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40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1A2EE99E-860B-EE9D-4F59-C6C2CE575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476" y="2747470"/>
                <a:ext cx="4517238" cy="543600"/>
              </a:xfrm>
              <a:prstGeom prst="rect">
                <a:avLst/>
              </a:prstGeom>
              <a:blipFill>
                <a:blip r:embed="rId11"/>
                <a:stretch>
                  <a:fillRect l="-270" t="-13483" b="-24719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1A2EE99E-860B-EE9D-4F59-C6C2CE5758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68476" y="3461927"/>
                <a:ext cx="5162264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US" dirty="0">
                    <a:solidFill>
                      <a:srgbClr val="002060"/>
                    </a:solidFill>
                  </a:rPr>
                  <a:t>So,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0" name="Content Placeholder 4">
                <a:extLst>
                  <a:ext uri="{FF2B5EF4-FFF2-40B4-BE49-F238E27FC236}">
                    <a16:creationId xmlns:a16="http://schemas.microsoft.com/office/drawing/2014/main" id="{1A2EE99E-860B-EE9D-4F59-C6C2CE575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476" y="3461927"/>
                <a:ext cx="5162264" cy="543600"/>
              </a:xfrm>
              <a:prstGeom prst="rect">
                <a:avLst/>
              </a:prstGeom>
              <a:blipFill>
                <a:blip r:embed="rId12"/>
                <a:stretch>
                  <a:fillRect l="-236" t="-13483" b="-24719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1A2EE99E-860B-EE9D-4F59-C6C2CE5758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68476" y="4176384"/>
                <a:ext cx="5162264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US" dirty="0">
                    <a:solidFill>
                      <a:srgbClr val="002060"/>
                    </a:solidFill>
                  </a:rPr>
                  <a:t>Hence,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,</m:t>
                    </m:r>
                  </m:oMath>
                </a14:m>
                <a:r>
                  <a:rPr lang="en-US" b="0" i="0" dirty="0">
                    <a:solidFill>
                      <a:srgbClr val="002060"/>
                    </a:solidFill>
                    <a:latin typeface="+mj-lt"/>
                    <a:ea typeface="Calibri" panose="020F0502020204030204" pitchFamily="34" charset="0"/>
                    <a:cs typeface="Shruti" panose="020B0502040204020203" pitchFamily="34" charset="0"/>
                  </a:rPr>
                  <a:t> and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</m:e>
                      <m:sub>
                        <m: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2060"/>
                    </a:solidFill>
                  </a:rPr>
                  <a:t> are LI. </a:t>
                </a:r>
              </a:p>
            </p:txBody>
          </p:sp>
        </mc:Choice>
        <mc:Fallback xmlns="">
          <p:sp>
            <p:nvSpPr>
              <p:cNvPr id="31" name="Content Placeholder 4">
                <a:extLst>
                  <a:ext uri="{FF2B5EF4-FFF2-40B4-BE49-F238E27FC236}">
                    <a16:creationId xmlns:a16="http://schemas.microsoft.com/office/drawing/2014/main" id="{1A2EE99E-860B-EE9D-4F59-C6C2CE575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476" y="4176384"/>
                <a:ext cx="5162264" cy="543600"/>
              </a:xfrm>
              <a:prstGeom prst="rect">
                <a:avLst/>
              </a:prstGeom>
              <a:blipFill>
                <a:blip r:embed="rId13"/>
                <a:stretch>
                  <a:fillRect l="-236" t="-13483" b="-2584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830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6" grpId="0"/>
      <p:bldP spid="17" grpId="0"/>
      <p:bldP spid="20" grpId="0"/>
      <p:bldP spid="22" grpId="0"/>
      <p:bldP spid="25" grpId="0" animBg="1"/>
      <p:bldP spid="26" grpId="0"/>
      <p:bldP spid="27" grpId="0"/>
      <p:bldP spid="30" grpId="0"/>
      <p:bldP spid="31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Method-5</a:t>
            </a:r>
            <a:br>
              <a:rPr lang="en-US" dirty="0"/>
            </a:br>
            <a:r>
              <a:rPr lang="en-US" dirty="0"/>
              <a:t>Basis and Dimension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1B15B0-DB21-4AD4-8A0D-08E74D04D8C7}"/>
              </a:ext>
            </a:extLst>
          </p:cNvPr>
          <p:cNvSpPr txBox="1">
            <a:spLocks/>
          </p:cNvSpPr>
          <p:nvPr/>
        </p:nvSpPr>
        <p:spPr>
          <a:xfrm>
            <a:off x="838200" y="2002632"/>
            <a:ext cx="10515600" cy="28527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kern="1200" dirty="0">
                <a:gradFill flip="none" rotWithShape="1">
                  <a:gsLst>
                    <a:gs pos="0">
                      <a:srgbClr val="1D3064"/>
                    </a:gs>
                    <a:gs pos="100000">
                      <a:schemeClr val="tx2"/>
                    </a:gs>
                  </a:gsLst>
                  <a:lin ang="0" scaled="1"/>
                  <a:tileRect/>
                </a:gradFill>
                <a:effectLst/>
                <a:latin typeface="+mn-lt"/>
                <a:ea typeface="+mn-ea"/>
                <a:cs typeface="+mn-cs"/>
              </a:defRPr>
            </a:lvl1pPr>
          </a:lstStyle>
          <a:p>
            <a:endParaRPr lang="en-IN" dirty="0">
              <a:gradFill flip="none" rotWithShape="1">
                <a:gsLst>
                  <a:gs pos="10000">
                    <a:schemeClr val="accent6">
                      <a:lumMod val="50000"/>
                    </a:schemeClr>
                  </a:gs>
                  <a:gs pos="100000">
                    <a:schemeClr val="accent6"/>
                  </a:gs>
                </a:gsLst>
                <a:lin ang="0" scaled="1"/>
                <a:tileRect/>
              </a:gradFill>
            </a:endParaRPr>
          </a:p>
          <a:p>
            <a:endParaRPr lang="en-IN" dirty="0">
              <a:gradFill flip="none" rotWithShape="1">
                <a:gsLst>
                  <a:gs pos="10000">
                    <a:schemeClr val="accent6">
                      <a:lumMod val="50000"/>
                    </a:schemeClr>
                  </a:gs>
                  <a:gs pos="100000">
                    <a:schemeClr val="accent6"/>
                  </a:gs>
                </a:gsLst>
                <a:lin ang="0" scaled="1"/>
                <a:tileRect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151104371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Basis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en-US" dirty="0">
                    <a:solidFill>
                      <a:srgbClr val="002060"/>
                    </a:solidFill>
                  </a:rPr>
                  <a:t>A non-empty subset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b="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 b="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 b="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 b="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…</m:t>
                        </m:r>
                        <m:sSub>
                          <m:sSubPr>
                            <m:ctrlPr>
                              <a:rPr lang="en-US" b="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b="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  <m:r>
                          <a:rPr lang="en-US" b="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2060"/>
                    </a:solidFill>
                  </a:rPr>
                  <a:t> of a vector 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</a:rPr>
                  <a:t> is called a basis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</a:rPr>
                  <a:t> if:</a:t>
                </a:r>
                <a:endParaRPr lang="en-IN" dirty="0">
                  <a:solidFill>
                    <a:srgbClr val="00206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</a:rPr>
                  <a:t> is linearly independent.</a:t>
                </a:r>
                <a:endParaRPr lang="en-IN" dirty="0">
                  <a:solidFill>
                    <a:srgbClr val="00206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Span</m:t>
                    </m:r>
                    <m:d>
                      <m:dPr>
                        <m:ctrlPr>
                          <a:rPr lang="en-US" b="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</m:d>
                    <m:r>
                      <a:rPr lang="en-US" b="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</a:rPr>
                  <a:t>.</a:t>
                </a:r>
                <a:endParaRPr lang="en-IN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71" r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2006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Procedure to check whether set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𝐒</m:t>
                    </m:r>
                  </m:oMath>
                </a14:m>
                <a:r>
                  <a:rPr lang="en-US" dirty="0"/>
                  <a:t> is basis of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endParaRPr lang="en-IN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 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be a subset of a vector 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.</a:t>
                </a:r>
                <a:endParaRPr lang="en-IN" dirty="0"/>
              </a:p>
              <a:p>
                <a:pPr marL="1058862" lvl="1" indent="-514350" algn="l" fontAlgn="base">
                  <a:buFont typeface="+mj-lt"/>
                  <a:buAutoNum type="arabicPeriod"/>
                </a:pPr>
                <a:r>
                  <a:rPr lang="en-US" dirty="0"/>
                  <a:t>Write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r>
                  <a:rPr lang="en-US" dirty="0"/>
                  <a:t>………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i</m:t>
                        </m:r>
                      </m:e>
                    </m:d>
                  </m:oMath>
                </a14:m>
                <a:r>
                  <a:rPr lang="en-US" i="0" dirty="0">
                    <a:latin typeface="+mj-lt"/>
                  </a:rPr>
                  <a:t> (To check the span)</a:t>
                </a:r>
                <a:endParaRPr lang="en-IN" dirty="0"/>
              </a:p>
              <a:p>
                <a:pPr marL="544512" lvl="1" indent="0">
                  <a:buNone/>
                </a:pPr>
                <a:r>
                  <a:rPr lang="en-US" dirty="0"/>
                  <a:t>	  and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………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ii</m:t>
                        </m:r>
                      </m:e>
                    </m:d>
                  </m:oMath>
                </a14:m>
                <a:r>
                  <a:rPr lang="en-US" i="0" dirty="0">
                    <a:latin typeface="+mj-lt"/>
                  </a:rPr>
                  <a:t>   (To check LI)</a:t>
                </a:r>
                <a:endParaRPr lang="en-IN" dirty="0"/>
              </a:p>
              <a:p>
                <a:pPr marL="544512" lvl="1" indent="0">
                  <a:buNone/>
                </a:pPr>
                <a:r>
                  <a:rPr lang="en-US" dirty="0"/>
                  <a:t>	 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dirty="0"/>
                  <a:t> is an arbitrary vector of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.</a:t>
                </a:r>
                <a:endParaRPr lang="en-IN" dirty="0"/>
              </a:p>
              <a:p>
                <a:pPr marL="1058862" lvl="1" indent="-514350">
                  <a:buFont typeface="+mj-lt"/>
                  <a:buAutoNum type="arabicPeriod" startAt="2"/>
                </a:pPr>
                <a:r>
                  <a:rPr lang="en-US" dirty="0"/>
                  <a:t>If the linear </a:t>
                </a:r>
                <a:r>
                  <a:rPr lang="en-US" b="1" dirty="0">
                    <a:solidFill>
                      <a:srgbClr val="FF0000"/>
                    </a:solidFill>
                  </a:rPr>
                  <a:t>system (</a:t>
                </a:r>
                <a:r>
                  <a:rPr lang="en-US" b="1" dirty="0" err="1">
                    <a:solidFill>
                      <a:srgbClr val="FF0000"/>
                    </a:solidFill>
                  </a:rPr>
                  <a:t>i</a:t>
                </a:r>
                <a:r>
                  <a:rPr lang="en-US" b="1" dirty="0">
                    <a:solidFill>
                      <a:srgbClr val="FF0000"/>
                    </a:solidFill>
                  </a:rPr>
                  <a:t>) </a:t>
                </a:r>
                <a:r>
                  <a:rPr lang="en-US" dirty="0"/>
                  <a:t>is</a:t>
                </a:r>
                <a:r>
                  <a:rPr lang="en-US" b="1" dirty="0">
                    <a:solidFill>
                      <a:srgbClr val="FF0000"/>
                    </a:solidFill>
                  </a:rPr>
                  <a:t> consistent</a:t>
                </a:r>
                <a:r>
                  <a:rPr lang="en-US" dirty="0"/>
                  <a:t> for all choices of </a:t>
                </a:r>
                <a:r>
                  <a:rPr lang="en-US" b="1" dirty="0">
                    <a:solidFill>
                      <a:srgbClr val="FF0000"/>
                    </a:solidFill>
                  </a:rPr>
                  <a:t>b </a:t>
                </a:r>
                <a:r>
                  <a:rPr lang="en-US" dirty="0"/>
                  <a:t>and</a:t>
                </a:r>
              </a:p>
              <a:p>
                <a:pPr marL="544512" lvl="1" indent="0">
                  <a:buNone/>
                </a:pPr>
                <a:r>
                  <a:rPr lang="en-US" dirty="0"/>
                  <a:t>	  the linear </a:t>
                </a:r>
                <a:r>
                  <a:rPr lang="en-US" b="1" dirty="0">
                    <a:solidFill>
                      <a:srgbClr val="FF0000"/>
                    </a:solidFill>
                  </a:rPr>
                  <a:t>system (ii) </a:t>
                </a:r>
                <a:r>
                  <a:rPr lang="en-US" dirty="0"/>
                  <a:t>has</a:t>
                </a:r>
                <a:r>
                  <a:rPr lang="en-US" b="1" dirty="0">
                    <a:solidFill>
                      <a:srgbClr val="FF0000"/>
                    </a:solidFill>
                  </a:rPr>
                  <a:t> trivial solution</a:t>
                </a:r>
                <a:r>
                  <a:rPr lang="en-US" dirty="0"/>
                  <a:t>, </a:t>
                </a:r>
              </a:p>
              <a:p>
                <a:pPr marL="877887" lvl="2" indent="0">
                  <a:buNone/>
                </a:pPr>
                <a:r>
                  <a:rPr lang="en-US" dirty="0"/>
                  <a:t>	  then </a:t>
                </a:r>
                <a:r>
                  <a:rPr lang="en-US" b="1" dirty="0">
                    <a:solidFill>
                      <a:srgbClr val="FF0000"/>
                    </a:solidFill>
                  </a:rPr>
                  <a:t>S</a:t>
                </a:r>
                <a:r>
                  <a:rPr lang="en-US" dirty="0"/>
                  <a:t> is a </a:t>
                </a:r>
                <a:r>
                  <a:rPr lang="en-US" b="1" dirty="0">
                    <a:solidFill>
                      <a:srgbClr val="FF0000"/>
                    </a:solidFill>
                  </a:rPr>
                  <a:t>basis</a:t>
                </a:r>
                <a:r>
                  <a:rPr lang="en-US" dirty="0"/>
                  <a:t> for V.</a:t>
                </a:r>
                <a:endParaRPr lang="en-IN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4321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Remarks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fontAlgn="base"/>
                <a:r>
                  <a:rPr lang="en-US" dirty="0"/>
                  <a:t>To analyze the consistency of the system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AX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(For Square Matrix only)</a:t>
                </a:r>
                <a:endParaRPr lang="en-IN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𝐝𝐞𝐭</m:t>
                    </m:r>
                    <m:r>
                      <a:rPr lang="en-US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)≠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is a basis</a:t>
                </a:r>
                <a:r>
                  <a:rPr lang="en-US" dirty="0"/>
                  <a:t> of V.</a:t>
                </a:r>
                <a:endParaRPr lang="en-IN" dirty="0"/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𝐝𝐞𝐭</m:t>
                        </m:r>
                      </m:fName>
                      <m:e>
                        <m:d>
                          <m:d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</m:e>
                    </m:func>
                    <m:r>
                      <a:rPr lang="en-US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not is a basis</a:t>
                </a:r>
                <a:r>
                  <a:rPr lang="en-US" dirty="0"/>
                  <a:t> of V.</a:t>
                </a:r>
                <a:endParaRPr lang="en-IN" dirty="0"/>
              </a:p>
              <a:p>
                <a:pPr lvl="0" fontAlgn="base"/>
                <a:r>
                  <a:rPr lang="en-US" dirty="0"/>
                  <a:t>A basis is a </a:t>
                </a:r>
                <a:r>
                  <a:rPr lang="en-US" b="1" dirty="0">
                    <a:solidFill>
                      <a:srgbClr val="FF0000"/>
                    </a:solidFill>
                  </a:rPr>
                  <a:t>minimal spanning set</a:t>
                </a:r>
                <a:r>
                  <a:rPr lang="en-US" dirty="0"/>
                  <a:t>.</a:t>
                </a:r>
                <a:endParaRPr lang="en-IN" dirty="0"/>
              </a:p>
              <a:p>
                <a:pPr lvl="0" fontAlgn="base"/>
                <a:r>
                  <a:rPr lang="en-US" dirty="0"/>
                  <a:t>A basis is a </a:t>
                </a:r>
                <a:r>
                  <a:rPr lang="en-US" b="1" dirty="0">
                    <a:solidFill>
                      <a:srgbClr val="FF0000"/>
                    </a:solidFill>
                  </a:rPr>
                  <a:t>maximal linearly independent set</a:t>
                </a:r>
                <a:r>
                  <a:rPr lang="en-US" dirty="0"/>
                  <a:t>.</a:t>
                </a:r>
                <a:endParaRPr lang="en-IN" dirty="0"/>
              </a:p>
              <a:p>
                <a:r>
                  <a:rPr lang="en-US" dirty="0"/>
                  <a:t>Every vector in a vector space has a unique coordinate representation relative to a basis.</a:t>
                </a:r>
              </a:p>
              <a:p>
                <a:r>
                  <a:rPr lang="en-US" dirty="0"/>
                  <a:t>All bases of a vector space contain the same number of vectors.</a:t>
                </a:r>
                <a:endParaRPr lang="en-IN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71" r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0785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 of a Vector Space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fontAlgn="base"/>
                <a:r>
                  <a:rPr lang="en-US" dirty="0"/>
                  <a:t>The dimension of a vector 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is defined as the </a:t>
                </a:r>
                <a:r>
                  <a:rPr lang="en-US" b="1" dirty="0">
                    <a:solidFill>
                      <a:srgbClr val="FF0000"/>
                    </a:solidFill>
                  </a:rPr>
                  <a:t>number of vectors</a:t>
                </a:r>
                <a:r>
                  <a:rPr lang="en-US" dirty="0"/>
                  <a:t> in any </a:t>
                </a:r>
                <a:r>
                  <a:rPr lang="en-US" b="1" dirty="0">
                    <a:solidFill>
                      <a:srgbClr val="FF0000"/>
                    </a:solidFill>
                  </a:rPr>
                  <a:t>basis</a:t>
                </a:r>
                <a:r>
                  <a:rPr lang="en-US" dirty="0"/>
                  <a:t> of V. </a:t>
                </a:r>
              </a:p>
              <a:p>
                <a:pPr lvl="0" fontAlgn="base"/>
                <a:r>
                  <a:rPr lang="en-US" dirty="0"/>
                  <a:t>It is denoted by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𝐝𝐢𝐦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  <a:endParaRPr lang="en-IN" dirty="0">
                  <a:solidFill>
                    <a:srgbClr val="FF0000"/>
                  </a:solidFill>
                </a:endParaRPr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dirty="0"/>
                  <a:t>Vector Space		: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</m:sSup>
                  </m:oMath>
                </a14:m>
                <a:r>
                  <a:rPr lang="en-US" dirty="0"/>
                  <a:t> (Set of n-tuples)</a:t>
                </a:r>
              </a:p>
              <a:p>
                <a:pPr lvl="1"/>
                <a:r>
                  <a:rPr lang="en-US" dirty="0"/>
                  <a:t>Standard Basis	:   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1, 0, …,0</m:t>
                            </m:r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0, 1, …,0</m:t>
                            </m:r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, …,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0, 0, …,1</m:t>
                            </m:r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Dimension		: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    (There are n elements in basis)</a:t>
                </a:r>
              </a:p>
              <a:p>
                <a:pPr lvl="1"/>
                <a:endParaRPr lang="en-IN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71" r="-107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454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 of a Vector Space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fontAlgn="base"/>
                <a:r>
                  <a:rPr lang="en-US" dirty="0"/>
                  <a:t>The dimension of a vector 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is defined as the </a:t>
                </a:r>
                <a:r>
                  <a:rPr lang="en-US" b="1" dirty="0">
                    <a:solidFill>
                      <a:srgbClr val="FF0000"/>
                    </a:solidFill>
                  </a:rPr>
                  <a:t>number of vectors</a:t>
                </a:r>
                <a:r>
                  <a:rPr lang="en-US" dirty="0"/>
                  <a:t> in any </a:t>
                </a:r>
                <a:r>
                  <a:rPr lang="en-US" b="1" dirty="0">
                    <a:solidFill>
                      <a:srgbClr val="FF0000"/>
                    </a:solidFill>
                  </a:rPr>
                  <a:t>basis</a:t>
                </a:r>
                <a:r>
                  <a:rPr lang="en-US" dirty="0"/>
                  <a:t> of V. </a:t>
                </a:r>
              </a:p>
              <a:p>
                <a:pPr lvl="0" fontAlgn="base"/>
                <a:r>
                  <a:rPr lang="en-US" dirty="0"/>
                  <a:t>It is denoted by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𝐝𝐢𝐦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  <a:endParaRPr lang="en-IN" dirty="0">
                  <a:solidFill>
                    <a:srgbClr val="FF0000"/>
                  </a:solidFill>
                </a:endParaRPr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dirty="0"/>
                  <a:t>Vector Space		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lang="en-US" dirty="0"/>
                  <a:t> (Set of all polynomials of degree at most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Standard Basis	:   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1, 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,…, 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Dimension		: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i="0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    (There are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𝐧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elements in basis)</a:t>
                </a:r>
                <a:endParaRPr lang="en-US" dirty="0"/>
              </a:p>
              <a:p>
                <a:pPr lvl="1"/>
                <a:endParaRPr lang="en-IN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71" r="-107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3150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 of a Vector Space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fontAlgn="base"/>
                <a:r>
                  <a:rPr lang="en-US" dirty="0"/>
                  <a:t>The dimension of a vector 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is defined as the </a:t>
                </a:r>
                <a:r>
                  <a:rPr lang="en-US" b="1" dirty="0">
                    <a:solidFill>
                      <a:srgbClr val="FF0000"/>
                    </a:solidFill>
                  </a:rPr>
                  <a:t>number of vectors</a:t>
                </a:r>
                <a:r>
                  <a:rPr lang="en-US" dirty="0"/>
                  <a:t> in any </a:t>
                </a:r>
                <a:r>
                  <a:rPr lang="en-US" b="1" dirty="0">
                    <a:solidFill>
                      <a:srgbClr val="FF0000"/>
                    </a:solidFill>
                  </a:rPr>
                  <a:t>basis</a:t>
                </a:r>
                <a:r>
                  <a:rPr lang="en-US" dirty="0"/>
                  <a:t> of V. </a:t>
                </a:r>
              </a:p>
              <a:p>
                <a:pPr lvl="0" fontAlgn="base"/>
                <a:r>
                  <a:rPr lang="en-US" dirty="0"/>
                  <a:t>It is denoted by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𝐝𝐢𝐦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  <a:endParaRPr lang="en-IN" dirty="0">
                  <a:solidFill>
                    <a:srgbClr val="FF0000"/>
                  </a:solidFill>
                </a:endParaRPr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dirty="0"/>
                  <a:t>Vector Space		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lang="en-US" dirty="0"/>
                  <a:t> (Set of all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dirty="0"/>
                  <a:t> matrices )</a:t>
                </a:r>
              </a:p>
              <a:p>
                <a:pPr lvl="1"/>
                <a:r>
                  <a:rPr lang="en-US" dirty="0"/>
                  <a:t>Standard Basis	:     Basis consisting of matrices with exactly one entry </a:t>
                </a:r>
              </a:p>
              <a:p>
                <a:pPr marL="4122738" lvl="1" indent="0">
                  <a:buNone/>
                </a:pPr>
                <a:r>
                  <a:rPr lang="en-US" dirty="0"/>
                  <a:t> equal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and all other entries equal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Dimension		: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dirty="0"/>
                  <a:t>     </a:t>
                </a:r>
                <a:r>
                  <a:rPr lang="en-US" b="1" dirty="0">
                    <a:solidFill>
                      <a:srgbClr val="FF0000"/>
                    </a:solidFill>
                  </a:rPr>
                  <a:t>(There are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𝐦𝐧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elements in basis)</a:t>
                </a:r>
                <a:endParaRPr lang="en-US" dirty="0"/>
              </a:p>
              <a:p>
                <a:pPr lvl="1"/>
                <a:endParaRPr lang="en-IN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71" r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0280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Remarks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en-US" dirty="0"/>
                  <a:t>If number of elements in given set is less than the dimension of vector space, then given set is never a basis for given vector space.</a:t>
                </a:r>
                <a:endParaRPr lang="en-IN" dirty="0"/>
              </a:p>
              <a:p>
                <a:pPr lvl="1"/>
                <a:r>
                  <a:rPr lang="en-US" b="1" dirty="0"/>
                  <a:t>Example:</a:t>
                </a:r>
                <a:r>
                  <a:rPr lang="en-US" dirty="0"/>
                  <a:t>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1, 2, 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1, 1, 8</m:t>
                            </m:r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⊂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</a:p>
              <a:p>
                <a:pPr marL="457200" lvl="1" indent="0">
                  <a:buNone/>
                </a:pPr>
                <a:r>
                  <a:rPr lang="en-US" dirty="0"/>
                  <a:t>			 Since there are 2 vectors in S which is less than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dim</m:t>
                    </m:r>
                    <m:d>
                      <m:d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r>
                  <a:rPr lang="en-US" dirty="0"/>
                  <a:t>			 So, S is not a basis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  <a:endParaRPr lang="en-IN" dirty="0"/>
              </a:p>
              <a:p>
                <a:pPr lvl="0"/>
                <a:r>
                  <a:rPr lang="en-US" dirty="0"/>
                  <a:t>If number of vectors in any basis of a vector space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unc>
                          <m:func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𝐝𝐢𝐦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𝐕</m:t>
                                </m:r>
                              </m:e>
                            </m:d>
                          </m:e>
                        </m:func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dirty="0"/>
                  <a:t> is finite,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is called finite dimensional. Otherwise,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is called infinite dimensional.</a:t>
                </a:r>
                <a:endParaRPr lang="en-IN" dirty="0"/>
              </a:p>
              <a:p>
                <a:pPr marL="0" lvl="0" indent="0" fontAlgn="base">
                  <a:buNone/>
                </a:pPr>
                <a:endParaRPr lang="en-IN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71" r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431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Remarks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is finite-dimensional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  <a:r>
                  <a:rPr lang="en-US" dirty="0"/>
                  <a:t> is a subspace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𝐝𝐢𝐦</m:t>
                        </m:r>
                      </m:fName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</m:func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unc>
                      <m:func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𝐝𝐢𝐦</m:t>
                        </m:r>
                      </m:fName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</m:func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dirty="0"/>
              </a:p>
              <a:p>
                <a:pPr lvl="0"/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dim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</m:e>
                    </m:func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then every set containing </a:t>
                </a:r>
                <a:r>
                  <a:rPr lang="en-US" b="1" dirty="0">
                    <a:solidFill>
                      <a:srgbClr val="FF0000"/>
                    </a:solidFill>
                  </a:rPr>
                  <a:t>more than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𝐧</m:t>
                    </m:r>
                  </m:oMath>
                </a14:m>
                <a:r>
                  <a:rPr lang="en-US" dirty="0"/>
                  <a:t> vectors is </a:t>
                </a:r>
                <a:r>
                  <a:rPr lang="en-US" b="1" dirty="0">
                    <a:solidFill>
                      <a:srgbClr val="FF0000"/>
                    </a:solidFill>
                  </a:rPr>
                  <a:t>LD</a:t>
                </a:r>
                <a:r>
                  <a:rPr lang="en-US" dirty="0"/>
                  <a:t>.</a:t>
                </a:r>
                <a:endParaRPr lang="en-IN" dirty="0"/>
              </a:p>
              <a:p>
                <a:pPr lvl="0"/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dim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</m:e>
                    </m:func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then every </a:t>
                </a:r>
                <a:r>
                  <a:rPr lang="en-US" b="1" dirty="0">
                    <a:solidFill>
                      <a:srgbClr val="FF0000"/>
                    </a:solidFill>
                  </a:rPr>
                  <a:t>spanning set</a:t>
                </a:r>
                <a:r>
                  <a:rPr lang="en-US" dirty="0"/>
                  <a:t> with </a:t>
                </a:r>
                <a:r>
                  <a:rPr lang="en-US" b="1" dirty="0">
                    <a:solidFill>
                      <a:srgbClr val="FF0000"/>
                    </a:solidFill>
                  </a:rPr>
                  <a:t>exactly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𝐧</m:t>
                    </m:r>
                  </m:oMath>
                </a14:m>
                <a:r>
                  <a:rPr lang="en-US" dirty="0"/>
                  <a:t> vectors </a:t>
                </a:r>
                <a:r>
                  <a:rPr lang="en-US" b="1" dirty="0">
                    <a:solidFill>
                      <a:srgbClr val="FF0000"/>
                    </a:solidFill>
                  </a:rPr>
                  <a:t>form a basis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dirty="0"/>
              </a:p>
              <a:p>
                <a:r>
                  <a:rPr lang="en-US" dirty="0"/>
                  <a:t>Every finite-dimensional vector space has </a:t>
                </a:r>
                <a:r>
                  <a:rPr lang="en-US" b="1" dirty="0">
                    <a:solidFill>
                      <a:srgbClr val="FF0000"/>
                    </a:solidFill>
                  </a:rPr>
                  <a:t>infinitely many different bases</a:t>
                </a:r>
                <a:r>
                  <a:rPr lang="en-US" dirty="0"/>
                  <a:t>.</a:t>
                </a:r>
                <a:endParaRPr lang="en-IN" dirty="0"/>
              </a:p>
              <a:p>
                <a:pPr lvl="0" fontAlgn="base"/>
                <a:endParaRPr lang="en-IN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7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9632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Method:5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CAE77E5B-BF33-5497-20B0-3BFB83C99976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b="1" dirty="0">
              <a:solidFill>
                <a:schemeClr val="tx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72936" y="731979"/>
                <a:ext cx="10041132" cy="1272293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Determine whether the following set of vectors forms a basis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or not.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1, 1, 1</m:t>
                            </m:r>
                          </m:e>
                        </m:d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1, 2, 3</m:t>
                            </m:r>
                          </m:e>
                        </m:d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−2, −1, 1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.</a:t>
                </a:r>
                <a:endParaRPr lang="en-IN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936" y="731979"/>
                <a:ext cx="10041132" cy="1272293"/>
              </a:xfrm>
              <a:prstGeom prst="rect">
                <a:avLst/>
              </a:prstGeom>
              <a:blipFill>
                <a:blip r:embed="rId4"/>
                <a:stretch>
                  <a:fillRect l="-1214" b="-1244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63305C07-F1B9-4158-AB35-36DE134F7E08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p:sp>
        <p:nvSpPr>
          <p:cNvPr id="47" name="Rectangle: Rounded Corners 12">
            <a:extLst>
              <a:ext uri="{FF2B5EF4-FFF2-40B4-BE49-F238E27FC236}">
                <a16:creationId xmlns:a16="http://schemas.microsoft.com/office/drawing/2014/main" id="{35972A2E-25D7-C897-9D78-CA14AF0D56C8}"/>
              </a:ext>
            </a:extLst>
          </p:cNvPr>
          <p:cNvSpPr/>
          <p:nvPr/>
        </p:nvSpPr>
        <p:spPr>
          <a:xfrm>
            <a:off x="122278" y="2082741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4049497"/>
                <a:ext cx="3091543" cy="137550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−2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</m:t>
                              </m:r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</m:m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48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4049497"/>
                <a:ext cx="3091543" cy="1375506"/>
              </a:xfrm>
              <a:prstGeom prst="rect">
                <a:avLst/>
              </a:prstGeom>
              <a:blipFill>
                <a:blip r:embed="rId5"/>
                <a:stretch>
                  <a:fillRect l="-197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9293" y="2063584"/>
                <a:ext cx="7384336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Since,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1, 1, 1</m:t>
                            </m:r>
                          </m:e>
                        </m:d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1, 2, 3</m:t>
                            </m:r>
                          </m:e>
                        </m:d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−2, −1, 1</m:t>
                            </m:r>
                          </m:e>
                        </m:d>
                      </m:e>
                    </m:d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49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9293" y="2063584"/>
                <a:ext cx="7384336" cy="543600"/>
              </a:xfrm>
              <a:prstGeom prst="rect">
                <a:avLst/>
              </a:prstGeom>
              <a:blipFill>
                <a:blip r:embed="rId6"/>
                <a:stretch>
                  <a:fillRect l="-165" t="-10112" b="-2809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2643" y="4631197"/>
                <a:ext cx="5472060" cy="5089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1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+3</m:t>
                          </m:r>
                        </m:e>
                      </m:d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−1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1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+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1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−2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3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−2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50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2643" y="4631197"/>
                <a:ext cx="5472060" cy="50892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170708" y="4631196"/>
                <a:ext cx="1010662" cy="5089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1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51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0708" y="4631196"/>
                <a:ext cx="1010662" cy="50892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" y="5617237"/>
                <a:ext cx="7783287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IN" sz="2800" dirty="0">
                    <a:solidFill>
                      <a:srgbClr val="002060"/>
                    </a:solidFill>
                  </a:rPr>
                  <a:t>So,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1, 1, 1</m:t>
                            </m:r>
                          </m:e>
                        </m:d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1, 2, 3</m:t>
                            </m:r>
                          </m:e>
                        </m:d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−2, −1, 1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is basis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IN" sz="2800" dirty="0">
                    <a:solidFill>
                      <a:srgbClr val="002060"/>
                    </a:solidFill>
                  </a:rPr>
                  <a:t>.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2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" y="5617237"/>
                <a:ext cx="7783287" cy="543600"/>
              </a:xfrm>
              <a:prstGeom prst="rect">
                <a:avLst/>
              </a:prstGeom>
              <a:blipFill>
                <a:blip r:embed="rId9"/>
                <a:stretch>
                  <a:fillRect l="-78" t="-8889" b="-27778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78" y="2808860"/>
                <a:ext cx="2646181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</m:t>
                      </m:r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3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8" y="2808860"/>
                <a:ext cx="2646181" cy="5436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9764" y="3544694"/>
                <a:ext cx="10479505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We can check </a:t>
                </a: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whether given set is basis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using determinant. </a:t>
                </a:r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54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764" y="3544694"/>
                <a:ext cx="10479505" cy="543600"/>
              </a:xfrm>
              <a:prstGeom prst="rect">
                <a:avLst/>
              </a:prstGeom>
              <a:blipFill>
                <a:blip r:embed="rId11"/>
                <a:stretch>
                  <a:fillRect l="-58" t="-8889" b="-27778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25141" y="2722736"/>
                <a:ext cx="3784515" cy="6058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800" b="0" dirty="0">
                    <a:solidFill>
                      <a:srgbClr val="002060"/>
                    </a:solidFill>
                    <a:ea typeface="Cambria Math" panose="02040503050406030204" pitchFamily="18" charset="0"/>
                  </a:rPr>
                  <a:t>and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dim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5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141" y="2722736"/>
                <a:ext cx="3784515" cy="605827"/>
              </a:xfrm>
              <a:prstGeom prst="rect">
                <a:avLst/>
              </a:prstGeom>
              <a:blipFill>
                <a:blip r:embed="rId12"/>
                <a:stretch>
                  <a:fillRect l="-3221" b="-2727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ounded Rectangle 56"/>
          <p:cNvSpPr/>
          <p:nvPr/>
        </p:nvSpPr>
        <p:spPr>
          <a:xfrm>
            <a:off x="3265715" y="2096423"/>
            <a:ext cx="4653642" cy="5217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8" name="Rounded Rectangle 57"/>
          <p:cNvSpPr/>
          <p:nvPr/>
        </p:nvSpPr>
        <p:spPr>
          <a:xfrm>
            <a:off x="8220984" y="2090915"/>
            <a:ext cx="571500" cy="5217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/>
              <p:nvPr/>
            </p:nvSpPr>
            <p:spPr>
              <a:xfrm>
                <a:off x="8951418" y="4561641"/>
                <a:ext cx="900421" cy="52322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≠</m:t>
                      </m:r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0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1418" y="4561641"/>
                <a:ext cx="90042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6893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7" grpId="0" animBg="1"/>
      <p:bldP spid="57" grpId="1" animBg="1"/>
      <p:bldP spid="58" grpId="0" animBg="1"/>
      <p:bldP spid="58" grpId="1" animBg="1"/>
      <p:bldP spid="18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Method:5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CAE77E5B-BF33-5497-20B0-3BFB83C99976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b="1" dirty="0">
              <a:solidFill>
                <a:schemeClr val="tx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72935" y="731979"/>
                <a:ext cx="10273273" cy="1769928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Show that the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S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B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C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D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is a basis for the vector space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𝕄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. Where</a:t>
                </a:r>
                <a14:m>
                  <m:oMath xmlns:m="http://schemas.openxmlformats.org/officeDocument/2006/math"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A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= </m:t>
                    </m:r>
                    <m:d>
                      <m:dPr>
                        <m:begChr m:val="["/>
                        <m:endChr m:val="]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</m:m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B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= </m:t>
                    </m:r>
                    <m:d>
                      <m:dPr>
                        <m:begChr m:val="["/>
                        <m:endChr m:val="]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</m:m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C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= </m:t>
                    </m:r>
                    <m:d>
                      <m:dPr>
                        <m:begChr m:val="["/>
                        <m:endChr m:val="]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</m:m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D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= </m:t>
                    </m:r>
                    <m:d>
                      <m:dPr>
                        <m:begChr m:val="["/>
                        <m:endChr m:val="]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</m:m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.</a:t>
                </a:r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935" y="731979"/>
                <a:ext cx="10273273" cy="1769928"/>
              </a:xfrm>
              <a:prstGeom prst="rect">
                <a:avLst/>
              </a:prstGeom>
              <a:blipFill>
                <a:blip r:embed="rId4"/>
                <a:stretch>
                  <a:fillRect l="-1187" r="-1187" b="-103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63305C07-F1B9-4158-AB35-36DE134F7E08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p:sp>
        <p:nvSpPr>
          <p:cNvPr id="47" name="Rectangle: Rounded Corners 12">
            <a:extLst>
              <a:ext uri="{FF2B5EF4-FFF2-40B4-BE49-F238E27FC236}">
                <a16:creationId xmlns:a16="http://schemas.microsoft.com/office/drawing/2014/main" id="{35972A2E-25D7-C897-9D78-CA14AF0D56C8}"/>
              </a:ext>
            </a:extLst>
          </p:cNvPr>
          <p:cNvSpPr/>
          <p:nvPr/>
        </p:nvSpPr>
        <p:spPr>
          <a:xfrm>
            <a:off x="122278" y="2598009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5" y="4564765"/>
                <a:ext cx="3483433" cy="191589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IN" sz="280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sz="2800" b="0" i="1" smtClean="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</m:m>
                                  </m:e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IN" sz="280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sz="2800" b="0" i="1" smtClean="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mr>
                        </m:m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48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" y="4564765"/>
                <a:ext cx="3483433" cy="1915890"/>
              </a:xfrm>
              <a:prstGeom prst="rect">
                <a:avLst/>
              </a:prstGeom>
              <a:blipFill>
                <a:blip r:embed="rId5"/>
                <a:stretch>
                  <a:fillRect l="-17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9292" y="2578852"/>
                <a:ext cx="4670527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Since,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B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C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D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𝕄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49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9292" y="2578852"/>
                <a:ext cx="4670527" cy="543600"/>
              </a:xfrm>
              <a:prstGeom prst="rect">
                <a:avLst/>
              </a:prstGeom>
              <a:blipFill>
                <a:blip r:embed="rId6"/>
                <a:stretch>
                  <a:fillRect l="-261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04018" y="5387372"/>
                <a:ext cx="1010662" cy="5089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1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51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4018" y="5387372"/>
                <a:ext cx="1010662" cy="50892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42982" y="5316065"/>
                <a:ext cx="6899022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 algn="l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IN" sz="2800" dirty="0">
                    <a:solidFill>
                      <a:srgbClr val="002060"/>
                    </a:solidFill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S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A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B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C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D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is a basis for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𝕄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2800" dirty="0">
                    <a:solidFill>
                      <a:srgbClr val="002060"/>
                    </a:solidFill>
                  </a:rPr>
                  <a:t>.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2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2982" y="5316065"/>
                <a:ext cx="6899022" cy="543600"/>
              </a:xfrm>
              <a:prstGeom prst="rect">
                <a:avLst/>
              </a:prstGeom>
              <a:blipFill>
                <a:blip r:embed="rId8"/>
                <a:stretch>
                  <a:fillRect l="-88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78" y="3324128"/>
                <a:ext cx="2646181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</m:t>
                      </m:r>
                      <m: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3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8" y="3324128"/>
                <a:ext cx="2646181" cy="5436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9764" y="4059962"/>
                <a:ext cx="10479505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We can check </a:t>
                </a: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whether given set is basis for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𝕄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using determinant. </a:t>
                </a:r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54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764" y="4059962"/>
                <a:ext cx="10479505" cy="543600"/>
              </a:xfrm>
              <a:prstGeom prst="rect">
                <a:avLst/>
              </a:prstGeom>
              <a:blipFill>
                <a:blip r:embed="rId10"/>
                <a:stretch>
                  <a:fillRect l="-58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25139" y="3238004"/>
                <a:ext cx="4805817" cy="6058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800" b="0" dirty="0">
                    <a:solidFill>
                      <a:srgbClr val="002060"/>
                    </a:solidFill>
                    <a:ea typeface="Cambria Math" panose="02040503050406030204" pitchFamily="18" charset="0"/>
                  </a:rPr>
                  <a:t>and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dim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 </m:t>
                            </m:r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𝕄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2</m:t>
                            </m:r>
                            <m:r>
                              <a:rPr lang="en-US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×2</m:t>
                            </m:r>
                          </m:sub>
                        </m:sSub>
                      </m:e>
                    </m:d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5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139" y="3238004"/>
                <a:ext cx="4805817" cy="605827"/>
              </a:xfrm>
              <a:prstGeom prst="rect">
                <a:avLst/>
              </a:prstGeom>
              <a:blipFill>
                <a:blip r:embed="rId11"/>
                <a:stretch>
                  <a:fillRect l="-2538" b="-3300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ounded Rectangle 56"/>
          <p:cNvSpPr/>
          <p:nvPr/>
        </p:nvSpPr>
        <p:spPr>
          <a:xfrm>
            <a:off x="3219995" y="2604071"/>
            <a:ext cx="1832065" cy="5217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8" name="Rounded Rectangle 57"/>
          <p:cNvSpPr/>
          <p:nvPr/>
        </p:nvSpPr>
        <p:spPr>
          <a:xfrm>
            <a:off x="5353560" y="2606183"/>
            <a:ext cx="582672" cy="5217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/>
              <p:nvPr/>
            </p:nvSpPr>
            <p:spPr>
              <a:xfrm>
                <a:off x="3854886" y="5336445"/>
                <a:ext cx="900421" cy="52322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≠</m:t>
                      </m:r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0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  <a:latin typeface="Cambria Math" panose="02040503050406030204" pitchFamily="18" charset="0"/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4886" y="5336445"/>
                <a:ext cx="900421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0326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  <p:bldP spid="51" grpId="0"/>
      <p:bldP spid="52" grpId="0"/>
      <p:bldP spid="53" grpId="0"/>
      <p:bldP spid="54" grpId="0"/>
      <p:bldP spid="55" grpId="0"/>
      <p:bldP spid="57" grpId="0" animBg="1"/>
      <p:bldP spid="57" grpId="1" animBg="1"/>
      <p:bldP spid="58" grpId="0" animBg="1"/>
      <p:bldP spid="58" grpId="1" animBg="1"/>
      <p:bldP spid="18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Method:5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Example:3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CAE77E5B-BF33-5497-20B0-3BFB83C99976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b="1" dirty="0">
              <a:solidFill>
                <a:schemeClr val="tx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45770" y="355601"/>
                <a:ext cx="10273273" cy="132168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Show that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S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1−3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+2</m:t>
                        </m:r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,1+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+4</m:t>
                        </m:r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,1−7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is a basis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ℙ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.</a:t>
                </a:r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5770" y="355601"/>
                <a:ext cx="10273273" cy="1321680"/>
              </a:xfrm>
              <a:prstGeom prst="rect">
                <a:avLst/>
              </a:prstGeom>
              <a:blipFill>
                <a:blip r:embed="rId4"/>
                <a:stretch>
                  <a:fillRect l="-1246" r="-1009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63305C07-F1B9-4158-AB35-36DE134F7E08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p:sp>
        <p:nvSpPr>
          <p:cNvPr id="47" name="Rectangle: Rounded Corners 12">
            <a:extLst>
              <a:ext uri="{FF2B5EF4-FFF2-40B4-BE49-F238E27FC236}">
                <a16:creationId xmlns:a16="http://schemas.microsoft.com/office/drawing/2014/main" id="{35972A2E-25D7-C897-9D78-CA14AF0D56C8}"/>
              </a:ext>
            </a:extLst>
          </p:cNvPr>
          <p:cNvSpPr/>
          <p:nvPr/>
        </p:nvSpPr>
        <p:spPr>
          <a:xfrm>
            <a:off x="122278" y="1700308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9290" y="1681151"/>
                <a:ext cx="7761709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1−3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+2</m:t>
                        </m:r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,1+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+4</m:t>
                        </m:r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,1−7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</m:e>
                    </m:d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ℙ</m:t>
                        </m:r>
                      </m:e>
                      <m: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49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9290" y="1681151"/>
                <a:ext cx="7761709" cy="543600"/>
              </a:xfrm>
              <a:prstGeom prst="rect">
                <a:avLst/>
              </a:prstGeom>
              <a:blipFill>
                <a:blip r:embed="rId5"/>
                <a:stretch>
                  <a:fillRect l="-157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78" y="2324827"/>
                <a:ext cx="2646181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</m:t>
                      </m:r>
                      <m: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3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8" y="2324827"/>
                <a:ext cx="2646181" cy="543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9764" y="2971761"/>
                <a:ext cx="10479505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We can check </a:t>
                </a: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whether given set is basis for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ℙ</m:t>
                        </m:r>
                      </m:e>
                      <m: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using determinant. </a:t>
                </a:r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54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764" y="2971761"/>
                <a:ext cx="10479505" cy="543600"/>
              </a:xfrm>
              <a:prstGeom prst="rect">
                <a:avLst/>
              </a:prstGeom>
              <a:blipFill>
                <a:blip r:embed="rId7"/>
                <a:stretch>
                  <a:fillRect l="-58" t="-5556" b="-3111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25141" y="2238703"/>
                <a:ext cx="3784515" cy="6058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800" b="0" dirty="0">
                    <a:solidFill>
                      <a:srgbClr val="002060"/>
                    </a:solidFill>
                    <a:ea typeface="Cambria Math" panose="02040503050406030204" pitchFamily="18" charset="0"/>
                  </a:rPr>
                  <a:t>and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dim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 </m:t>
                            </m:r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ℙ</m:t>
                            </m:r>
                          </m:e>
                          <m:sub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5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141" y="2238703"/>
                <a:ext cx="3784515" cy="605827"/>
              </a:xfrm>
              <a:prstGeom prst="rect">
                <a:avLst/>
              </a:prstGeom>
              <a:blipFill>
                <a:blip r:embed="rId8"/>
                <a:stretch>
                  <a:fillRect l="-3221" b="-3300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ounded Rectangle 56"/>
          <p:cNvSpPr/>
          <p:nvPr/>
        </p:nvSpPr>
        <p:spPr>
          <a:xfrm>
            <a:off x="2877094" y="1706370"/>
            <a:ext cx="5377905" cy="5217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8" name="Rounded Rectangle 57"/>
          <p:cNvSpPr/>
          <p:nvPr/>
        </p:nvSpPr>
        <p:spPr>
          <a:xfrm>
            <a:off x="8574679" y="1708482"/>
            <a:ext cx="553446" cy="5217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" y="3494696"/>
                <a:ext cx="3576794" cy="137550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−3</m:t>
                              </m:r>
                            </m:e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−7</m:t>
                              </m:r>
                            </m:e>
                          </m:mr>
                          <m:mr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US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4</m:t>
                              </m:r>
                            </m:e>
                            <m:e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</m:m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24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3494696"/>
                <a:ext cx="3576794" cy="1375506"/>
              </a:xfrm>
              <a:prstGeom prst="rect">
                <a:avLst/>
              </a:prstGeom>
              <a:blipFill>
                <a:blip r:embed="rId9"/>
                <a:stretch>
                  <a:fillRect l="-17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49766" y="4076396"/>
                <a:ext cx="6527576" cy="5089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1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0+28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−1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0+14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+1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−12</m:t>
                          </m:r>
                          <m: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−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9766" y="4076396"/>
                <a:ext cx="6527576" cy="50892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69221" y="4076396"/>
                <a:ext cx="1010662" cy="5089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0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26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9221" y="4076396"/>
                <a:ext cx="1010662" cy="50892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3" y="5062436"/>
                <a:ext cx="9441954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IN" sz="2800" dirty="0">
                    <a:solidFill>
                      <a:srgbClr val="002060"/>
                    </a:solidFill>
                  </a:rPr>
                  <a:t>So,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1−3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+2</m:t>
                        </m:r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,1+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+4</m:t>
                        </m:r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,1−7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is not a basis for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ℙ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IN" sz="2800" dirty="0">
                    <a:solidFill>
                      <a:srgbClr val="002060"/>
                    </a:solidFill>
                  </a:rPr>
                  <a:t>.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7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" y="5062436"/>
                <a:ext cx="9441954" cy="543600"/>
              </a:xfrm>
              <a:prstGeom prst="rect">
                <a:avLst/>
              </a:prstGeom>
              <a:blipFill>
                <a:blip r:embed="rId12"/>
                <a:stretch>
                  <a:fillRect l="-65" t="-5556" b="-3111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8753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3" grpId="0"/>
      <p:bldP spid="54" grpId="0"/>
      <p:bldP spid="55" grpId="0"/>
      <p:bldP spid="57" grpId="0" animBg="1"/>
      <p:bldP spid="57" grpId="1" animBg="1"/>
      <p:bldP spid="58" grpId="0" animBg="1"/>
      <p:bldP spid="58" grpId="1" animBg="1"/>
      <p:bldP spid="24" grpId="0"/>
      <p:bldP spid="25" grpId="0"/>
      <p:bldP spid="26" grpId="0"/>
      <p:bldP spid="27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Method:5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Example:4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CAE77E5B-BF33-5497-20B0-3BFB83C99976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b="1" dirty="0">
              <a:solidFill>
                <a:schemeClr val="tx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72935" y="731979"/>
                <a:ext cx="10273273" cy="132168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Can vectors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u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=3+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p>
                    </m:sSup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,</m:t>
                    </m:r>
                    <m:sSub>
                      <m:sSub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u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=2−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−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p>
                    </m:sSup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, </m:t>
                    </m:r>
                    <m:sSub>
                      <m:sSub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u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p>
                    </m:sSup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−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u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4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x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+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x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forms a basis for a vector space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ℙ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?</a:t>
                </a:r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935" y="731979"/>
                <a:ext cx="10273273" cy="1321680"/>
              </a:xfrm>
              <a:prstGeom prst="rect">
                <a:avLst/>
              </a:prstGeom>
              <a:blipFill>
                <a:blip r:embed="rId4"/>
                <a:stretch>
                  <a:fillRect l="-1187" b="-10599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63305C07-F1B9-4158-AB35-36DE134F7E08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p:sp>
        <p:nvSpPr>
          <p:cNvPr id="47" name="Rectangle: Rounded Corners 12">
            <a:extLst>
              <a:ext uri="{FF2B5EF4-FFF2-40B4-BE49-F238E27FC236}">
                <a16:creationId xmlns:a16="http://schemas.microsoft.com/office/drawing/2014/main" id="{35972A2E-25D7-C897-9D78-CA14AF0D56C8}"/>
              </a:ext>
            </a:extLst>
          </p:cNvPr>
          <p:cNvSpPr/>
          <p:nvPr/>
        </p:nvSpPr>
        <p:spPr>
          <a:xfrm>
            <a:off x="122278" y="2255109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6" y="3904365"/>
                <a:ext cx="4582280" cy="191589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 0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 0</m:t>
                                    </m:r>
                                  </m:e>
                                  <m:e>
                                    <m: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  1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US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  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  1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IN" sz="280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sz="2800" b="0" i="1" smtClean="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sz="2800" b="0" i="1" smtClean="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  1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   </m:t>
                                          </m:r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sz="2800" b="0" i="1" smtClean="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</m:m>
                                  </m:e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IN" sz="280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00206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   0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mr>
                        </m:m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48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" y="3904365"/>
                <a:ext cx="4582280" cy="1915890"/>
              </a:xfrm>
              <a:prstGeom prst="rect">
                <a:avLst/>
              </a:prstGeom>
              <a:blipFill>
                <a:blip r:embed="rId5"/>
                <a:stretch>
                  <a:fillRect l="-26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9291" y="2235952"/>
                <a:ext cx="4920083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2800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4</m:t>
                            </m:r>
                          </m:sub>
                        </m:sSub>
                      </m:e>
                    </m:d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ℙ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49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9291" y="2235952"/>
                <a:ext cx="4920083" cy="543600"/>
              </a:xfrm>
              <a:prstGeom prst="rect">
                <a:avLst/>
              </a:prstGeom>
              <a:blipFill>
                <a:blip r:embed="rId6"/>
                <a:stretch>
                  <a:fillRect l="-248" t="-10112" b="-2921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085091" y="4817172"/>
                <a:ext cx="1267957" cy="5089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0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51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5091" y="4817172"/>
                <a:ext cx="1267957" cy="50892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277" y="5937098"/>
                <a:ext cx="6836662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IN" sz="2800" dirty="0">
                    <a:solidFill>
                      <a:srgbClr val="002060"/>
                    </a:solidFill>
                  </a:rPr>
                  <a:t>So,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S</m:t>
                    </m:r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u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4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is not a basis for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ℙ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IN" sz="2800" dirty="0">
                    <a:solidFill>
                      <a:srgbClr val="002060"/>
                    </a:solidFill>
                  </a:rPr>
                  <a:t>.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2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7" y="5937098"/>
                <a:ext cx="6836662" cy="543600"/>
              </a:xfrm>
              <a:prstGeom prst="rect">
                <a:avLst/>
              </a:prstGeom>
              <a:blipFill>
                <a:blip r:embed="rId8"/>
                <a:stretch>
                  <a:fillRect l="-1783" t="-6742" b="-3258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78" y="2879628"/>
                <a:ext cx="2646181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</m:t>
                      </m:r>
                      <m:r>
                        <a:rPr lang="en-US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3" name="Content Placeholder 4">
                <a:extLst>
                  <a:ext uri="{FF2B5EF4-FFF2-40B4-BE49-F238E27FC236}">
                    <a16:creationId xmlns:a16="http://schemas.microsoft.com/office/drawing/2014/main" id="{B615FA3C-4A8C-87BF-65FC-DD7E7382A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8" y="2879628"/>
                <a:ext cx="2646181" cy="5436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9764" y="3526562"/>
                <a:ext cx="10479505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So, We can check </a:t>
                </a: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whether given set is basis for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ℙ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using determinant. </a:t>
                </a:r>
                <a:endParaRPr lang="en-US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54" name="Content Placeholder 4">
                <a:extLst>
                  <a:ext uri="{FF2B5EF4-FFF2-40B4-BE49-F238E27FC236}">
                    <a16:creationId xmlns:a16="http://schemas.microsoft.com/office/drawing/2014/main" id="{943E8303-3F55-8D0E-0F03-4169E7B80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764" y="3526562"/>
                <a:ext cx="10479505" cy="543600"/>
              </a:xfrm>
              <a:prstGeom prst="rect">
                <a:avLst/>
              </a:prstGeom>
              <a:blipFill>
                <a:blip r:embed="rId10"/>
                <a:stretch>
                  <a:fillRect l="-58" t="-10112" b="-2809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25141" y="2793504"/>
                <a:ext cx="3784515" cy="60582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800" b="0" dirty="0">
                    <a:solidFill>
                      <a:srgbClr val="002060"/>
                    </a:solidFill>
                    <a:ea typeface="Cambria Math" panose="02040503050406030204" pitchFamily="18" charset="0"/>
                  </a:rPr>
                  <a:t>and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dim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 </m:t>
                            </m:r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ℙ</m:t>
                            </m:r>
                          </m:e>
                          <m:sub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55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141" y="2793504"/>
                <a:ext cx="3784515" cy="605827"/>
              </a:xfrm>
              <a:prstGeom prst="rect">
                <a:avLst/>
              </a:prstGeom>
              <a:blipFill>
                <a:blip r:embed="rId11"/>
                <a:stretch>
                  <a:fillRect l="-3221" b="-2700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ounded Rectangle 56"/>
          <p:cNvSpPr/>
          <p:nvPr/>
        </p:nvSpPr>
        <p:spPr>
          <a:xfrm>
            <a:off x="2877095" y="2261171"/>
            <a:ext cx="2256880" cy="5217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8" name="Rounded Rectangle 57"/>
          <p:cNvSpPr/>
          <p:nvPr/>
        </p:nvSpPr>
        <p:spPr>
          <a:xfrm>
            <a:off x="5437779" y="2263283"/>
            <a:ext cx="553446" cy="5217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62BB995-5856-4B57-8520-2D087C795E04}"/>
                  </a:ext>
                </a:extLst>
              </p:cNvPr>
              <p:cNvSpPr txBox="1"/>
              <p:nvPr/>
            </p:nvSpPr>
            <p:spPr>
              <a:xfrm>
                <a:off x="4127712" y="4387756"/>
                <a:ext cx="6670427" cy="12317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=3</m:t>
                      </m:r>
                      <m:d>
                        <m:dPr>
                          <m:begChr m:val="|"/>
                          <m:endChr m:val="|"/>
                          <m:ctrlPr>
                            <a:rPr kumimoji="0" lang="en-I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kumimoji="0" lang="en-IN" sz="2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kumimoji="0" lang="en-IN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206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kumimoji="0" lang="en-US" sz="2800" b="0" i="0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206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</m:t>
                                </m:r>
                                <m:r>
                                  <a:rPr kumimoji="0" lang="en-US" sz="2800" b="0" i="0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206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206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</m:t>
                                </m:r>
                                <m:r>
                                  <a:rPr kumimoji="0" lang="en-US" sz="2800" b="0" i="0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206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kumimoji="0" lang="en-US" sz="2800" b="0" i="0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206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0</m:t>
                                </m:r>
                              </m:e>
                            </m:mr>
                            <m:mr>
                              <m:e>
                                <m:r>
                                  <a:rPr kumimoji="0" lang="en-US" sz="2800" b="0" i="0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206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1</m:t>
                                </m:r>
                              </m:e>
                              <m:e>
                                <m:r>
                                  <a:rPr kumimoji="0" lang="en-US" sz="2800" b="0" i="0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206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1</m:t>
                                </m:r>
                              </m:e>
                              <m:e>
                                <m:r>
                                  <a:rPr kumimoji="0" lang="en-US" sz="2800" b="0" i="0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206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206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</m:t>
                                </m:r>
                                <m:r>
                                  <a:rPr kumimoji="0" lang="en-US" sz="2800" b="0" i="0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206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206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</m:t>
                                </m:r>
                                <m:r>
                                  <a:rPr kumimoji="0" lang="en-US" sz="2800" b="0" i="0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206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206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0</m:t>
                                </m:r>
                              </m:e>
                            </m:mr>
                          </m:m>
                          <m:r>
                            <a:rPr kumimoji="0" lang="en-IN" sz="2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206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−1</m:t>
                      </m:r>
                      <m:d>
                        <m:dPr>
                          <m:begChr m:val="|"/>
                          <m:endChr m:val="|"/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</m:t>
                                </m:r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1</m:t>
                                </m:r>
                              </m:e>
                              <m:e>
                                <m:r>
                                  <a:rPr lang="en-US" sz="2800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</m:t>
                                </m:r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</m:t>
                                </m:r>
                                <m:r>
                                  <a:rPr lang="en-US" sz="28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</m:t>
                                </m:r>
                                <m:r>
                                  <a:rPr lang="en-US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</m:m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62BB995-5856-4B57-8520-2D087C795E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712" y="4387756"/>
                <a:ext cx="6670427" cy="123174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6815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  <p:bldP spid="51" grpId="0"/>
      <p:bldP spid="52" grpId="0"/>
      <p:bldP spid="53" grpId="0"/>
      <p:bldP spid="54" grpId="0"/>
      <p:bldP spid="55" grpId="0"/>
      <p:bldP spid="57" grpId="0" animBg="1"/>
      <p:bldP spid="57" grpId="1" animBg="1"/>
      <p:bldP spid="58" grpId="0" animBg="1"/>
      <p:bldP spid="58" grpId="1" animBg="1"/>
      <p:bldP spid="20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Method:5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CAE77E5B-BF33-5497-20B0-3BFB83C99976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b="1" dirty="0">
              <a:solidFill>
                <a:schemeClr val="tx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72935" y="731979"/>
                <a:ext cx="10619065" cy="132168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Write a standard basis and find dimension of the following vector spaces.</a:t>
                </a:r>
                <a:r>
                  <a:rPr lang="en-IN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 </m:t>
                    </m:r>
                    <m:sSup>
                      <m:sSupPr>
                        <m:ctrlPr>
                          <a:rPr lang="en-US" sz="28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ℝ</m:t>
                        </m:r>
                      </m:e>
                      <m:sup>
                        <m:r>
                          <a:rPr lang="en-US" sz="28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4</m:t>
                        </m:r>
                      </m:sup>
                    </m:sSup>
                    <m:r>
                      <a:rPr lang="en-US" sz="28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     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 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ℙ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5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   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and 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  </m:t>
                    </m:r>
                    <m:sSub>
                      <m:sSubPr>
                        <m:ctrlPr>
                          <a:rPr lang="en-US" sz="280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𝕄</m:t>
                        </m:r>
                      </m:e>
                      <m: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×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b>
                    </m:sSub>
                  </m:oMath>
                </a14:m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935" y="731979"/>
                <a:ext cx="10619065" cy="1321680"/>
              </a:xfrm>
              <a:prstGeom prst="rect">
                <a:avLst/>
              </a:prstGeom>
              <a:blipFill>
                <a:blip r:embed="rId4"/>
                <a:stretch>
                  <a:fillRect l="-1148" b="-12442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63305C07-F1B9-4158-AB35-36DE134F7E08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p:sp>
        <p:nvSpPr>
          <p:cNvPr id="47" name="Rectangle: Rounded Corners 12">
            <a:extLst>
              <a:ext uri="{FF2B5EF4-FFF2-40B4-BE49-F238E27FC236}">
                <a16:creationId xmlns:a16="http://schemas.microsoft.com/office/drawing/2014/main" id="{35972A2E-25D7-C897-9D78-CA14AF0D56C8}"/>
              </a:ext>
            </a:extLst>
          </p:cNvPr>
          <p:cNvSpPr/>
          <p:nvPr/>
        </p:nvSpPr>
        <p:spPr>
          <a:xfrm>
            <a:off x="122278" y="2255109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2866152"/>
                <a:ext cx="3924300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sz="280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b="0" i="0" dirty="0">
                    <a:solidFill>
                      <a:srgbClr val="002060"/>
                    </a:solidFill>
                    <a:latin typeface="+mj-lt"/>
                  </a:rPr>
                  <a:t> Vector Space  :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866152"/>
                <a:ext cx="3924300" cy="543600"/>
              </a:xfrm>
              <a:prstGeom prst="rect">
                <a:avLst/>
              </a:prstGeom>
              <a:blipFill>
                <a:blip r:embed="rId5"/>
                <a:stretch>
                  <a:fillRect b="-4382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3900" y="3477195"/>
                <a:ext cx="12192000" cy="1628205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IN" sz="2800" b="1" dirty="0">
                    <a:solidFill>
                      <a:srgbClr val="002060"/>
                    </a:solidFill>
                  </a:rPr>
                  <a:t>Standard Basis	: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800" b="1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1,0,0,0</m:t>
                            </m:r>
                          </m:e>
                        </m:d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0,1,0,0</m:t>
                            </m:r>
                          </m:e>
                        </m:d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0,0,1,0</m:t>
                            </m:r>
                          </m:e>
                        </m:d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0,0,0,1</m:t>
                            </m:r>
                          </m:e>
                        </m:d>
                        <m: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  <a:p>
                <a:pPr marL="118745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800" b="1" dirty="0">
                    <a:solidFill>
                      <a:srgbClr val="002060"/>
                    </a:solidFill>
                  </a:rPr>
                  <a:t>Dimension		:</a:t>
                </a:r>
                <a:r>
                  <a:rPr lang="en-US" sz="2800" dirty="0">
                    <a:solidFill>
                      <a:srgbClr val="002060"/>
                    </a:solidFill>
                  </a:rPr>
                  <a:t>  </a:t>
                </a:r>
                <a14:m>
                  <m:oMath xmlns:m="http://schemas.openxmlformats.org/officeDocument/2006/math"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endParaRPr lang="en-US" sz="28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3477195"/>
                <a:ext cx="12192000" cy="1628205"/>
              </a:xfrm>
              <a:prstGeom prst="rect">
                <a:avLst/>
              </a:prstGeom>
              <a:blipFill>
                <a:blip r:embed="rId6"/>
                <a:stretch>
                  <a:fillRect l="-100" b="-746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B2ED5508-4152-4C4D-B631-5D19C5F6CD5F}"/>
              </a:ext>
            </a:extLst>
          </p:cNvPr>
          <p:cNvSpPr txBox="1">
            <a:spLocks/>
          </p:cNvSpPr>
          <p:nvPr/>
        </p:nvSpPr>
        <p:spPr>
          <a:xfrm>
            <a:off x="4231821" y="4448160"/>
            <a:ext cx="5199854" cy="5436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800" b="1" dirty="0">
                <a:solidFill>
                  <a:srgbClr val="FF0000"/>
                </a:solidFill>
              </a:rPr>
              <a:t>[ There are 4 vectors in basis 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38686" y="2956173"/>
                <a:ext cx="822678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>
                              <a:solidFill>
                                <a:srgbClr val="3A4A6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>
                              <a:solidFill>
                                <a:srgbClr val="3A4A6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3A4A6A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rgbClr val="3A4A6A"/>
                  </a:solidFill>
                </a:endParaRP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8686" y="2956173"/>
                <a:ext cx="822678" cy="5436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101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11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Method:5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CAE77E5B-BF33-5497-20B0-3BFB83C99976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b="1" dirty="0">
              <a:solidFill>
                <a:schemeClr val="tx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72935" y="731979"/>
                <a:ext cx="10619065" cy="132168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Write a standard basis and find dimension of the following vector spaces.</a:t>
                </a:r>
                <a:r>
                  <a:rPr lang="en-IN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 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ℝ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4</m:t>
                        </m:r>
                      </m:sup>
                    </m:sSup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     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  </m:t>
                    </m:r>
                    <m:sSub>
                      <m:sSubPr>
                        <m:ctrlPr>
                          <a:rPr lang="en-US" sz="28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ℙ</m:t>
                        </m:r>
                      </m:e>
                      <m:sub>
                        <m:r>
                          <a:rPr lang="en-US" sz="28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5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   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and 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  </m:t>
                    </m:r>
                    <m:sSub>
                      <m:sSubPr>
                        <m:ctrlPr>
                          <a:rPr lang="en-US" sz="280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𝕄</m:t>
                        </m:r>
                      </m:e>
                      <m:sub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×</m:t>
                        </m:r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b>
                    </m:sSub>
                  </m:oMath>
                </a14:m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935" y="731979"/>
                <a:ext cx="10619065" cy="1321680"/>
              </a:xfrm>
              <a:prstGeom prst="rect">
                <a:avLst/>
              </a:prstGeom>
              <a:blipFill>
                <a:blip r:embed="rId4"/>
                <a:stretch>
                  <a:fillRect l="-1148" b="-12442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63305C07-F1B9-4158-AB35-36DE134F7E08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p:sp>
        <p:nvSpPr>
          <p:cNvPr id="47" name="Rectangle: Rounded Corners 12">
            <a:extLst>
              <a:ext uri="{FF2B5EF4-FFF2-40B4-BE49-F238E27FC236}">
                <a16:creationId xmlns:a16="http://schemas.microsoft.com/office/drawing/2014/main" id="{35972A2E-25D7-C897-9D78-CA14AF0D56C8}"/>
              </a:ext>
            </a:extLst>
          </p:cNvPr>
          <p:cNvSpPr/>
          <p:nvPr/>
        </p:nvSpPr>
        <p:spPr>
          <a:xfrm>
            <a:off x="122278" y="2255109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2866152"/>
                <a:ext cx="3924300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b="0" i="0" dirty="0">
                    <a:solidFill>
                      <a:srgbClr val="002060"/>
                    </a:solidFill>
                    <a:latin typeface="+mj-lt"/>
                  </a:rPr>
                  <a:t> Vector Space  :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866152"/>
                <a:ext cx="3924300" cy="543600"/>
              </a:xfrm>
              <a:prstGeom prst="rect">
                <a:avLst/>
              </a:prstGeom>
              <a:blipFill>
                <a:blip r:embed="rId5"/>
                <a:stretch>
                  <a:fillRect b="-4382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3900" y="3477195"/>
                <a:ext cx="12192000" cy="1628205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IN" sz="2800" b="1" dirty="0">
                    <a:solidFill>
                      <a:srgbClr val="002060"/>
                    </a:solidFill>
                  </a:rPr>
                  <a:t>Standard Basis	: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1,</m:t>
                        </m:r>
                        <m:r>
                          <m:rPr>
                            <m:sty m:val="p"/>
                          </m:rP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p>
                        </m:sSup>
                        <m: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</a:endParaRPr>
              </a:p>
              <a:p>
                <a:pPr marL="118745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800" b="1" dirty="0">
                    <a:solidFill>
                      <a:srgbClr val="002060"/>
                    </a:solidFill>
                  </a:rPr>
                  <a:t>Dimension		:</a:t>
                </a:r>
                <a:r>
                  <a:rPr lang="en-US" sz="2800" dirty="0">
                    <a:solidFill>
                      <a:srgbClr val="002060"/>
                    </a:solidFill>
                  </a:rPr>
                  <a:t>  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en-US" sz="28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3477195"/>
                <a:ext cx="12192000" cy="1628205"/>
              </a:xfrm>
              <a:prstGeom prst="rect">
                <a:avLst/>
              </a:prstGeom>
              <a:blipFill>
                <a:blip r:embed="rId6"/>
                <a:stretch>
                  <a:fillRect l="-100" b="-746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B2ED5508-4152-4C4D-B631-5D19C5F6CD5F}"/>
              </a:ext>
            </a:extLst>
          </p:cNvPr>
          <p:cNvSpPr txBox="1">
            <a:spLocks/>
          </p:cNvSpPr>
          <p:nvPr/>
        </p:nvSpPr>
        <p:spPr>
          <a:xfrm>
            <a:off x="4231821" y="4448160"/>
            <a:ext cx="5549176" cy="5436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800" b="1" dirty="0">
                <a:solidFill>
                  <a:srgbClr val="FF0000"/>
                </a:solidFill>
              </a:rPr>
              <a:t>[ There are 6 vectors in basis 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38686" y="2956173"/>
                <a:ext cx="822678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ℙ</m:t>
                          </m:r>
                        </m:e>
                        <m:sub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rgbClr val="3A4A6A"/>
                  </a:solidFill>
                </a:endParaRP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8686" y="2956173"/>
                <a:ext cx="822678" cy="5436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8213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FC8A-BC0D-5D72-FE99-20313653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Method:5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Example:5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FDD70C-3AAE-183B-5AED-36C59E3E9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CAE77E5B-BF33-5497-20B0-3BFB83C99976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b="1" dirty="0">
              <a:solidFill>
                <a:schemeClr val="tx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72935" y="731979"/>
                <a:ext cx="10619065" cy="132168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Write a standard basis and find dimension of the following vector spaces.</a:t>
                </a:r>
                <a:r>
                  <a:rPr lang="en-IN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1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 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ℝ</m:t>
                        </m:r>
                      </m:e>
                      <m:sup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4</m:t>
                        </m:r>
                      </m:sup>
                    </m:sSup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     </m:t>
                    </m:r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 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ℙ</m:t>
                        </m:r>
                      </m:e>
                      <m:sub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5</m:t>
                        </m:r>
                      </m:sub>
                    </m:sSub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    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and 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US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 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𝕄</m:t>
                        </m:r>
                      </m:e>
                      <m:sub>
                        <m:r>
                          <a:rPr lang="en-US" sz="28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2</m:t>
                        </m:r>
                        <m:r>
                          <a:rPr lang="en-US" sz="2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×</m:t>
                        </m:r>
                        <m:r>
                          <a:rPr lang="en-US" sz="28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3</m:t>
                        </m:r>
                      </m:sub>
                    </m:sSub>
                  </m:oMath>
                </a14:m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ED23B262-736E-4535-FBA7-00FB33ACC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935" y="731979"/>
                <a:ext cx="10619065" cy="1321680"/>
              </a:xfrm>
              <a:prstGeom prst="rect">
                <a:avLst/>
              </a:prstGeom>
              <a:blipFill>
                <a:blip r:embed="rId4"/>
                <a:stretch>
                  <a:fillRect l="-1148" b="-12442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C45F7B-4A36-49BB-E330-CB7BC1EEC8DC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63305C07-F1B9-4158-AB35-36DE134F7E08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p:sp>
        <p:nvSpPr>
          <p:cNvPr id="47" name="Rectangle: Rounded Corners 12">
            <a:extLst>
              <a:ext uri="{FF2B5EF4-FFF2-40B4-BE49-F238E27FC236}">
                <a16:creationId xmlns:a16="http://schemas.microsoft.com/office/drawing/2014/main" id="{35972A2E-25D7-C897-9D78-CA14AF0D56C8}"/>
              </a:ext>
            </a:extLst>
          </p:cNvPr>
          <p:cNvSpPr/>
          <p:nvPr/>
        </p:nvSpPr>
        <p:spPr>
          <a:xfrm>
            <a:off x="122278" y="2255109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2866152"/>
                <a:ext cx="3924300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8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b="0" i="0" dirty="0">
                    <a:solidFill>
                      <a:srgbClr val="002060"/>
                    </a:solidFill>
                    <a:latin typeface="+mj-lt"/>
                  </a:rPr>
                  <a:t> Vector Space  :</a:t>
                </a:r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866152"/>
                <a:ext cx="3924300" cy="543600"/>
              </a:xfrm>
              <a:prstGeom prst="rect">
                <a:avLst/>
              </a:prstGeom>
              <a:blipFill>
                <a:blip r:embed="rId5"/>
                <a:stretch>
                  <a:fillRect b="-43820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3900" y="3477195"/>
                <a:ext cx="12192000" cy="1628205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IN" sz="2800" b="1" dirty="0">
                    <a:solidFill>
                      <a:srgbClr val="3A4A6A"/>
                    </a:solidFill>
                  </a:rPr>
                  <a:t>Standard Basis	: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800" i="1">
                            <a:solidFill>
                              <a:srgbClr val="3A4A6A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sz="2800" i="1">
                                <a:solidFill>
                                  <a:srgbClr val="3A4A6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sz="2800" i="1">
                                <a:solidFill>
                                  <a:srgbClr val="3A4A6A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800" i="1">
                                    <a:solidFill>
                                      <a:srgbClr val="3A4A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i="1">
                                    <a:solidFill>
                                      <a:srgbClr val="3A4A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rgbClr val="3A4A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sz="28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  <m:r>
                                  <a:rPr lang="en-US" sz="2800" i="1">
                                    <a:solidFill>
                                      <a:srgbClr val="3A4A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d>
                            <m:r>
                              <a:rPr lang="en-US" sz="2800" i="1">
                                <a:solidFill>
                                  <a:srgbClr val="3A4A6A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800" i="1">
                                    <a:solidFill>
                                      <a:srgbClr val="3A4A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i="1">
                                    <a:solidFill>
                                      <a:srgbClr val="3A4A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rgbClr val="3A4A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  <m:r>
                                  <a:rPr lang="en-US" sz="2800" i="1">
                                    <a:solidFill>
                                      <a:srgbClr val="3A4A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d>
                            <m:r>
                              <a:rPr lang="en-US" sz="2800" i="1">
                                <a:solidFill>
                                  <a:srgbClr val="3A4A6A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800" i="1">
                                    <a:solidFill>
                                      <a:srgbClr val="3A4A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i="1">
                                    <a:solidFill>
                                      <a:srgbClr val="3A4A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rgbClr val="3A4A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  <m:r>
                                  <a:rPr lang="en-US" sz="2800" i="1">
                                    <a:solidFill>
                                      <a:srgbClr val="3A4A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d>
                            <m:r>
                              <a:rPr lang="en-US" sz="2800" i="1">
                                <a:solidFill>
                                  <a:srgbClr val="3A4A6A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800" i="1">
                                    <a:solidFill>
                                      <a:srgbClr val="3A4A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i="1">
                                    <a:solidFill>
                                      <a:srgbClr val="3A4A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rgbClr val="3A4A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  <m:r>
                                  <a:rPr lang="en-US" sz="2800" i="1">
                                    <a:solidFill>
                                      <a:srgbClr val="3A4A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d>
                            <m:r>
                              <a:rPr lang="en-US" sz="2800" i="1">
                                <a:solidFill>
                                  <a:srgbClr val="3A4A6A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800" i="1">
                                    <a:solidFill>
                                      <a:srgbClr val="3A4A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i="1">
                                    <a:solidFill>
                                      <a:srgbClr val="3A4A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rgbClr val="3A4A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  <m:r>
                                  <a:rPr lang="en-US" sz="2800" i="1">
                                    <a:solidFill>
                                      <a:srgbClr val="3A4A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d>
                            <m:r>
                              <a:rPr lang="en-US" sz="2800" i="1">
                                <a:solidFill>
                                  <a:srgbClr val="3A4A6A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800" i="1">
                                    <a:solidFill>
                                      <a:srgbClr val="3A4A6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i="1">
                                    <a:solidFill>
                                      <a:srgbClr val="3A4A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rgbClr val="3A4A6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i="1">
                                          <a:solidFill>
                                            <a:srgbClr val="3A4A6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e>
                                  </m:mr>
                                </m:m>
                                <m:r>
                                  <a:rPr lang="en-US" sz="2800" i="1">
                                    <a:solidFill>
                                      <a:srgbClr val="3A4A6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d>
                            <m:r>
                              <a:rPr lang="en-US" sz="2800" i="1">
                                <a:solidFill>
                                  <a:srgbClr val="3A4A6A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eqArr>
                      </m:e>
                    </m:d>
                  </m:oMath>
                </a14:m>
                <a:endParaRPr lang="en-US" sz="2800" dirty="0">
                  <a:solidFill>
                    <a:srgbClr val="3A4A6A"/>
                  </a:solidFill>
                </a:endParaRPr>
              </a:p>
              <a:p>
                <a:pPr marL="118745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800" b="1" dirty="0">
                    <a:solidFill>
                      <a:srgbClr val="3A4A6A"/>
                    </a:solidFill>
                  </a:rPr>
                  <a:t>Dimension		:</a:t>
                </a:r>
                <a:r>
                  <a:rPr lang="en-US" sz="2800" dirty="0">
                    <a:solidFill>
                      <a:srgbClr val="3A4A6A"/>
                    </a:solidFill>
                  </a:rPr>
                  <a:t>  </a:t>
                </a:r>
                <a14:m>
                  <m:oMath xmlns:m="http://schemas.openxmlformats.org/officeDocument/2006/math">
                    <m:r>
                      <a:rPr lang="en-US" sz="2800">
                        <a:solidFill>
                          <a:srgbClr val="3A4A6A"/>
                        </a:solidFill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3477195"/>
                <a:ext cx="12192000" cy="1628205"/>
              </a:xfrm>
              <a:prstGeom prst="rect">
                <a:avLst/>
              </a:prstGeom>
              <a:blipFill>
                <a:blip r:embed="rId6"/>
                <a:stretch>
                  <a:fillRect l="-100" b="-58209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B2ED5508-4152-4C4D-B631-5D19C5F6CD5F}"/>
              </a:ext>
            </a:extLst>
          </p:cNvPr>
          <p:cNvSpPr txBox="1">
            <a:spLocks/>
          </p:cNvSpPr>
          <p:nvPr/>
        </p:nvSpPr>
        <p:spPr>
          <a:xfrm>
            <a:off x="4299553" y="5354622"/>
            <a:ext cx="5430073" cy="5436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2800" b="1" dirty="0">
                <a:solidFill>
                  <a:srgbClr val="FF0000"/>
                </a:solidFill>
              </a:rPr>
              <a:t>[ There are 6 vectors in basis 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38686" y="2956173"/>
                <a:ext cx="822678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50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𝕄</m:t>
                          </m:r>
                        </m:e>
                        <m:sub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2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×</m:t>
                          </m:r>
                          <m:r>
                            <a:rPr lang="en-US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B2ED5508-4152-4C4D-B631-5D19C5F6C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8686" y="2956173"/>
                <a:ext cx="822678" cy="543600"/>
              </a:xfrm>
              <a:prstGeom prst="rect">
                <a:avLst/>
              </a:prstGeom>
              <a:blipFill>
                <a:blip r:embed="rId7"/>
                <a:stretch>
                  <a:fillRect r="-2148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8773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87B41-5F37-FE8D-F821-0EE0A3F86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C2A7C96-FD4B-1EDB-6D1A-B9A8CE03D7B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Method:5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C2A7C96-FD4B-1EDB-6D1A-B9A8CE03D7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3DB8ED03-BDD5-D9AE-4913-B05E1296A7EF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b="1" dirty="0">
              <a:solidFill>
                <a:schemeClr val="tx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F1DE4F88-A513-2238-42C9-F0CA107AC41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72935" y="731979"/>
                <a:ext cx="10619065" cy="235773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𝕄</m:t>
                        </m:r>
                      </m:e>
                      <m:sub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be a vector space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be the subspace spanned by the set of vectors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e>
                              </m:mr>
                            </m:m>
                            <m: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2800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  <m:e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−6</m:t>
                                  </m:r>
                                </m:e>
                              </m:mr>
                            </m:m>
                            <m: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  <m:r>
                              <a:rPr lang="en-IN" sz="2800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Find a basis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 and evaluate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IN" sz="28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dim</m:t>
                        </m:r>
                      </m:fName>
                      <m:e>
                        <m:d>
                          <m:dPr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IN" sz="28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</m:d>
                      </m:e>
                    </m:func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F1DE4F88-A513-2238-42C9-F0CA107AC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935" y="731979"/>
                <a:ext cx="10619065" cy="2357730"/>
              </a:xfrm>
              <a:prstGeom prst="rect">
                <a:avLst/>
              </a:prstGeom>
              <a:blipFill>
                <a:blip r:embed="rId4"/>
                <a:stretch>
                  <a:fillRect l="-1148" r="-1206" b="-904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ABA6294-F7F3-6C3B-775B-3E69C1C2EC1E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98861FBF-EDE9-F29B-4869-11BE4AFA8762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B7DBE55-E99F-528C-58E4-5EEE88391296}"/>
              </a:ext>
            </a:extLst>
          </p:cNvPr>
          <p:cNvSpPr/>
          <p:nvPr/>
        </p:nvSpPr>
        <p:spPr>
          <a:xfrm>
            <a:off x="122278" y="3471379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5F72D8F-1B82-491A-A8CE-535975DB8C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53219" y="3089709"/>
                <a:ext cx="10838242" cy="112569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8745" indent="0">
                  <a:lnSpc>
                    <a:spcPct val="115000"/>
                  </a:lnSpc>
                  <a:spcAft>
                    <a:spcPts val="800"/>
                  </a:spcAft>
                  <a:buNone/>
                </a:pPr>
                <a:r>
                  <a:rPr lang="en-US" sz="2800" dirty="0">
                    <a:solidFill>
                      <a:srgbClr val="002060"/>
                    </a:solidFill>
                    <a:latin typeface="+mj-lt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IN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IN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 2</m:t>
                              </m:r>
                            </m:e>
                          </m:mr>
                          <m:mr>
                            <m:e>
                              <m:r>
                                <a:rPr lang="en-IN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IN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e>
                          </m:mr>
                        </m:m>
                        <m:r>
                          <a:rPr lang="en-IN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IN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IN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  8</m:t>
                              </m:r>
                            </m:e>
                          </m:mr>
                          <m:mr>
                            <m:e>
                              <m:r>
                                <a:rPr lang="en-IN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  <m:e>
                              <m:r>
                                <a:rPr lang="en-IN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−6</m:t>
                              </m:r>
                            </m:e>
                          </m:mr>
                        </m:m>
                        <m:r>
                          <a:rPr lang="en-IN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IN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IN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IN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IN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IN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  <m:r>
                          <a:rPr lang="en-IN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sz="2800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5F72D8F-1B82-491A-A8CE-535975DB8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3219" y="3089709"/>
                <a:ext cx="10838242" cy="1125690"/>
              </a:xfrm>
              <a:prstGeom prst="rect">
                <a:avLst/>
              </a:prstGeom>
              <a:blipFill>
                <a:blip r:embed="rId5"/>
                <a:stretch>
                  <a:fillRect l="-5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4">
                <a:extLst>
                  <a:ext uri="{FF2B5EF4-FFF2-40B4-BE49-F238E27FC236}">
                    <a16:creationId xmlns:a16="http://schemas.microsoft.com/office/drawing/2014/main" id="{A9AB5256-F10E-7D2B-11CE-9F958A9691B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4325269"/>
                <a:ext cx="5054600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GB" dirty="0">
                    <a:solidFill>
                      <a:srgbClr val="002060"/>
                    </a:solidFill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IN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IN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GB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IN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GB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Content Placeholder 4">
                <a:extLst>
                  <a:ext uri="{FF2B5EF4-FFF2-40B4-BE49-F238E27FC236}">
                    <a16:creationId xmlns:a16="http://schemas.microsoft.com/office/drawing/2014/main" id="{A9AB5256-F10E-7D2B-11CE-9F958A9691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325269"/>
                <a:ext cx="5054600" cy="543600"/>
              </a:xfrm>
              <a:prstGeom prst="rect">
                <a:avLst/>
              </a:prstGeom>
              <a:blipFill>
                <a:blip r:embed="rId6"/>
                <a:stretch>
                  <a:fillRect l="-121" t="-12360" b="-2584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4">
                <a:extLst>
                  <a:ext uri="{FF2B5EF4-FFF2-40B4-BE49-F238E27FC236}">
                    <a16:creationId xmlns:a16="http://schemas.microsoft.com/office/drawing/2014/main" id="{9923127A-1A79-F580-28EE-8FB1BC03786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220" y="4994723"/>
                <a:ext cx="8490094" cy="112569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 marL="85725"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   2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</m:m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   8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−6</m:t>
                                </m:r>
                              </m:e>
                            </m:mr>
                          </m:m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7" name="Content Placeholder 4">
                <a:extLst>
                  <a:ext uri="{FF2B5EF4-FFF2-40B4-BE49-F238E27FC236}">
                    <a16:creationId xmlns:a16="http://schemas.microsoft.com/office/drawing/2014/main" id="{9923127A-1A79-F580-28EE-8FB1BC0378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20" y="4994723"/>
                <a:ext cx="8490094" cy="112569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334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37482-B230-9D75-7FB8-13B1DEFF6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4">
                <a:extLst>
                  <a:ext uri="{FF2B5EF4-FFF2-40B4-BE49-F238E27FC236}">
                    <a16:creationId xmlns:a16="http://schemas.microsoft.com/office/drawing/2014/main" id="{F982930C-928A-EEFB-C598-8B2493C514D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220" y="858654"/>
                <a:ext cx="8490094" cy="112569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 marL="85725"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   2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</m:m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   8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−6</m:t>
                                </m:r>
                              </m:e>
                            </m:mr>
                          </m:m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7" name="Content Placeholder 4">
                <a:extLst>
                  <a:ext uri="{FF2B5EF4-FFF2-40B4-BE49-F238E27FC236}">
                    <a16:creationId xmlns:a16="http://schemas.microsoft.com/office/drawing/2014/main" id="{F982930C-928A-EEFB-C598-8B2493C51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20" y="858654"/>
                <a:ext cx="8490094" cy="11256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17A4C8F-3015-2CEF-9BFC-94C98A4E796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Method:5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17A4C8F-3015-2CEF-9BFC-94C98A4E79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54D716A8-362E-38DF-B467-E1ABB9BD8C8A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b="1" dirty="0">
              <a:solidFill>
                <a:schemeClr val="tx2"/>
              </a:solidFill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11F2C0F2-4AB2-08C7-CC93-3FC303AA1B32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BE74F495-C051-A5EB-FFF5-2E4017D7F3D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2042835"/>
                <a:ext cx="8633637" cy="112569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 marL="85725"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begChr m:val="["/>
                          <m:endChr m:val="]"/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GB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IN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GB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+0</m:t>
                                </m:r>
                                <m:sSub>
                                  <m:sSubPr>
                                    <m:ctrlPr>
                                      <a:rPr lang="en-GB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GB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IN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   2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GB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IN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GB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GB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GB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GB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GB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IN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GB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GB" b="0" i="0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GB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IN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IN" i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−6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US" i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GB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GB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GB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  <m:r>
                            <a:rPr lang="en-IN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IN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BE74F495-C051-A5EB-FFF5-2E4017D7F3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042835"/>
                <a:ext cx="8633637" cy="11256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4">
                <a:extLst>
                  <a:ext uri="{FF2B5EF4-FFF2-40B4-BE49-F238E27FC236}">
                    <a16:creationId xmlns:a16="http://schemas.microsoft.com/office/drawing/2014/main" id="{5C7B9920-6DD0-2891-C1DE-DA890ED67F7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8636" y="3930132"/>
                <a:ext cx="4408092" cy="234938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 algn="l">
                  <a:lnSpc>
                    <a:spcPct val="125000"/>
                  </a:lnSpc>
                </a:pPr>
                <a14:m>
                  <m:oMath xmlns:m="http://schemas.openxmlformats.org/officeDocument/2006/math">
                    <m:r>
                      <m:rPr>
                        <m:brk m:alnAt="7"/>
                      </m:rPr>
                      <a:rPr lang="en-GB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1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3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+0</m:t>
                    </m:r>
                    <m:sSub>
                      <m:sSubPr>
                        <m:ctrlPr>
                          <a:rPr lang="en-GB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GB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IN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pPr algn="l"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IN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en-GB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GB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  <a:p>
                <a:pPr algn="l"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IN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  <m:sSub>
                        <m:sSubPr>
                          <m:ctrlPr>
                            <a:rPr lang="en-GB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GB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b="0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  <a:p>
                <a:pPr algn="l"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IN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N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−6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+0</m:t>
                      </m:r>
                      <m:sSub>
                        <m:sSubPr>
                          <m:ctrlPr>
                            <a:rPr lang="en-GB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GB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r>
                        <a:rPr lang="en-IN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Content Placeholder 4">
                <a:extLst>
                  <a:ext uri="{FF2B5EF4-FFF2-40B4-BE49-F238E27FC236}">
                    <a16:creationId xmlns:a16="http://schemas.microsoft.com/office/drawing/2014/main" id="{5C7B9920-6DD0-2891-C1DE-DA890ED67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636" y="3930132"/>
                <a:ext cx="4408092" cy="234938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AC98E5B5-3EE8-47FD-9564-BE23D6E10067}"/>
              </a:ext>
            </a:extLst>
          </p:cNvPr>
          <p:cNvSpPr txBox="1">
            <a:spLocks/>
          </p:cNvSpPr>
          <p:nvPr/>
        </p:nvSpPr>
        <p:spPr>
          <a:xfrm>
            <a:off x="130962" y="3202595"/>
            <a:ext cx="5313761" cy="5436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118745" algn="just">
              <a:lnSpc>
                <a:spcPct val="115000"/>
              </a:lnSpc>
              <a:spcBef>
                <a:spcPts val="1000"/>
              </a:spcBef>
              <a:spcAft>
                <a:spcPts val="800"/>
              </a:spcAft>
              <a:buClr>
                <a:schemeClr val="accent6"/>
              </a:buClr>
              <a:buFont typeface="Wingdings 3" panose="05040102010807070707" pitchFamily="18" charset="2"/>
              <a:buNone/>
              <a:defRPr sz="2800">
                <a:solidFill>
                  <a:srgbClr val="3A4A6A"/>
                </a:solidFill>
              </a:defRPr>
            </a:lvl1pPr>
          </a:lstStyle>
          <a:p>
            <a:pPr>
              <a:lnSpc>
                <a:spcPct val="90000"/>
              </a:lnSpc>
            </a:pPr>
            <a:r>
              <a:rPr lang="en-US" i="0" dirty="0">
                <a:solidFill>
                  <a:srgbClr val="002060"/>
                </a:solidFill>
                <a:latin typeface="+mj-lt"/>
              </a:rPr>
              <a:t>Comparing both the sides, we have </a:t>
            </a:r>
            <a:endParaRPr lang="en-US" dirty="0">
              <a:solidFill>
                <a:srgbClr val="002060"/>
              </a:solidFill>
              <a:latin typeface="Cambria Math" panose="02040503050406030204" pitchFamily="18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01656-FED5-28C5-CA81-3301B27799C4}"/>
              </a:ext>
            </a:extLst>
          </p:cNvPr>
          <p:cNvSpPr/>
          <p:nvPr/>
        </p:nvSpPr>
        <p:spPr>
          <a:xfrm>
            <a:off x="6240658" y="3196457"/>
            <a:ext cx="6020992" cy="54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rgbClr val="002060"/>
                </a:solidFill>
              </a:rPr>
              <a:t>The Augmented matrix of the </a:t>
            </a:r>
            <a:r>
              <a:rPr lang="en-US" sz="2800" dirty="0">
                <a:solidFill>
                  <a:srgbClr val="002060"/>
                </a:solidFill>
              </a:rPr>
              <a:t>system is</a:t>
            </a:r>
            <a:endParaRPr lang="en-IN" sz="28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43F85D4-2084-42A1-21AB-993D1224ED21}"/>
                  </a:ext>
                </a:extLst>
              </p:cNvPr>
              <p:cNvSpPr/>
              <p:nvPr/>
            </p:nvSpPr>
            <p:spPr>
              <a:xfrm>
                <a:off x="6240658" y="4245653"/>
                <a:ext cx="1728392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"/>
                              <m:endChr m:val="|"/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IN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43F85D4-2084-42A1-21AB-993D1224ED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0658" y="4245653"/>
                <a:ext cx="1728392" cy="5436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ectangle: Rounded Corners 37">
            <a:extLst>
              <a:ext uri="{FF2B5EF4-FFF2-40B4-BE49-F238E27FC236}">
                <a16:creationId xmlns:a16="http://schemas.microsoft.com/office/drawing/2014/main" id="{12A8A233-F5EB-B604-8115-853ED294F2CC}"/>
              </a:ext>
            </a:extLst>
          </p:cNvPr>
          <p:cNvSpPr/>
          <p:nvPr/>
        </p:nvSpPr>
        <p:spPr>
          <a:xfrm>
            <a:off x="6078000" y="3196626"/>
            <a:ext cx="36000" cy="3272727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391980E-88AC-41C9-5B98-CF1CC3878766}"/>
              </a:ext>
            </a:extLst>
          </p:cNvPr>
          <p:cNvGrpSpPr/>
          <p:nvPr/>
        </p:nvGrpSpPr>
        <p:grpSpPr>
          <a:xfrm>
            <a:off x="7720197" y="3767989"/>
            <a:ext cx="3942274" cy="1864083"/>
            <a:chOff x="15276119" y="2760074"/>
            <a:chExt cx="3942274" cy="18640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9375ADAE-B76E-F7F6-CBE2-C7C095835103}"/>
                    </a:ext>
                  </a:extLst>
                </p:cNvPr>
                <p:cNvSpPr/>
                <p:nvPr/>
              </p:nvSpPr>
              <p:spPr>
                <a:xfrm>
                  <a:off x="15276119" y="2760074"/>
                  <a:ext cx="3942274" cy="18640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8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GB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1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−2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</m:t>
                                        </m:r>
                                        <m:r>
                                          <a:rPr lang="en-GB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GB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−6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1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</m:t>
                                        </m:r>
                                        <m:r>
                                          <a:rPr lang="en-GB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   </m:t>
                            </m:r>
                          </m:e>
                        </m:d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9375ADAE-B76E-F7F6-CBE2-C7C09583510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6119" y="2760074"/>
                  <a:ext cx="3942274" cy="186408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FB837AE1-11E9-ECA8-4952-EE0354F4158B}"/>
                    </a:ext>
                  </a:extLst>
                </p:cNvPr>
                <p:cNvSpPr/>
                <p:nvPr/>
              </p:nvSpPr>
              <p:spPr>
                <a:xfrm>
                  <a:off x="18131921" y="2807722"/>
                  <a:ext cx="758799" cy="14931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IN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FB837AE1-11E9-ECA8-4952-EE0354F4158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31921" y="2807722"/>
                  <a:ext cx="758799" cy="1493163"/>
                </a:xfrm>
                <a:prstGeom prst="rect">
                  <a:avLst/>
                </a:prstGeom>
                <a:blipFill>
                  <a:blip r:embed="rId11"/>
                  <a:stretch>
                    <a:fillRect b="-244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0BD1847-F05F-7063-931B-9D7704B45154}"/>
                </a:ext>
              </a:extLst>
            </p:cNvPr>
            <p:cNvCxnSpPr/>
            <p:nvPr/>
          </p:nvCxnSpPr>
          <p:spPr>
            <a:xfrm>
              <a:off x="18087053" y="2798312"/>
              <a:ext cx="0" cy="162914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8408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5" grpId="0"/>
      <p:bldP spid="16" grpId="0"/>
      <p:bldP spid="24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EC499-6A03-6C9F-714F-F5C2BCC29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23B7ECA-C32B-A67A-779F-F3677926E0E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Method:5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23B7ECA-C32B-A67A-779F-F3677926E0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BF95DD47-A13C-FEA1-5FB7-B4FE343BCD1F}"/>
              </a:ext>
            </a:extLst>
          </p:cNvPr>
          <p:cNvSpPr/>
          <p:nvPr/>
        </p:nvSpPr>
        <p:spPr>
          <a:xfrm>
            <a:off x="328347" y="1104100"/>
            <a:ext cx="6020992" cy="54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rgbClr val="002060"/>
                </a:solidFill>
              </a:rPr>
              <a:t>The Augmented matrix of the </a:t>
            </a:r>
            <a:r>
              <a:rPr lang="en-US" sz="2800" dirty="0">
                <a:solidFill>
                  <a:srgbClr val="002060"/>
                </a:solidFill>
              </a:rPr>
              <a:t>system is</a:t>
            </a:r>
            <a:endParaRPr lang="en-IN" sz="28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A450368C-1B59-7429-3DD4-DEAC3F7D9D06}"/>
                  </a:ext>
                </a:extLst>
              </p:cNvPr>
              <p:cNvSpPr/>
              <p:nvPr/>
            </p:nvSpPr>
            <p:spPr>
              <a:xfrm>
                <a:off x="328347" y="2153296"/>
                <a:ext cx="1728392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"/>
                              <m:endChr m:val="|"/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IN" sz="2800" b="0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IN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  <a:p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A450368C-1B59-7429-3DD4-DEAC3F7D9D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347" y="2153296"/>
                <a:ext cx="1728392" cy="543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D3D32158-A328-2978-E4C1-780BBB6729A7}"/>
              </a:ext>
            </a:extLst>
          </p:cNvPr>
          <p:cNvGrpSpPr/>
          <p:nvPr/>
        </p:nvGrpSpPr>
        <p:grpSpPr>
          <a:xfrm>
            <a:off x="1807886" y="1675632"/>
            <a:ext cx="3942274" cy="1864083"/>
            <a:chOff x="15276119" y="2760074"/>
            <a:chExt cx="3942274" cy="18640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EF3B284C-B673-6C10-051D-399EA3E2AC68}"/>
                    </a:ext>
                  </a:extLst>
                </p:cNvPr>
                <p:cNvSpPr/>
                <p:nvPr/>
              </p:nvSpPr>
              <p:spPr>
                <a:xfrm>
                  <a:off x="15276119" y="2760074"/>
                  <a:ext cx="3942274" cy="18640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8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GB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1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−2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</m:t>
                                        </m:r>
                                        <m:r>
                                          <a:rPr lang="en-GB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GB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−6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1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</m:t>
                                        </m:r>
                                        <m:r>
                                          <a:rPr lang="en-GB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   </m:t>
                            </m:r>
                          </m:e>
                        </m:d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EF3B284C-B673-6C10-051D-399EA3E2AC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6119" y="2760074"/>
                  <a:ext cx="3942274" cy="186408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BE0168B0-78FB-C0C5-364F-19D2F655D165}"/>
                    </a:ext>
                  </a:extLst>
                </p:cNvPr>
                <p:cNvSpPr/>
                <p:nvPr/>
              </p:nvSpPr>
              <p:spPr>
                <a:xfrm>
                  <a:off x="18154181" y="2798832"/>
                  <a:ext cx="758799" cy="15693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BE0168B0-78FB-C0C5-364F-19D2F655D16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54181" y="2798832"/>
                  <a:ext cx="758799" cy="156936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E46ADB90-52F0-3D80-DA46-9191632E762E}"/>
                </a:ext>
              </a:extLst>
            </p:cNvPr>
            <p:cNvCxnSpPr/>
            <p:nvPr/>
          </p:nvCxnSpPr>
          <p:spPr>
            <a:xfrm>
              <a:off x="18087053" y="2798312"/>
              <a:ext cx="0" cy="162914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F244206-D055-5B06-821C-3B8F6AA5B3A7}"/>
                  </a:ext>
                </a:extLst>
              </p:cNvPr>
              <p:cNvSpPr/>
              <p:nvPr/>
            </p:nvSpPr>
            <p:spPr>
              <a:xfrm>
                <a:off x="1528957" y="3539715"/>
                <a:ext cx="1701076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GB" sz="28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GB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d>
                        <m:d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F244206-D055-5B06-821C-3B8F6AA5B3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8957" y="3539715"/>
                <a:ext cx="1701076" cy="5436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34EBD3C-9084-7FBD-6E7F-CF5A9C5C8880}"/>
                  </a:ext>
                </a:extLst>
              </p:cNvPr>
              <p:cNvSpPr/>
              <p:nvPr/>
            </p:nvSpPr>
            <p:spPr>
              <a:xfrm>
                <a:off x="3008506" y="3539715"/>
                <a:ext cx="1849244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IN" sz="2800" b="1" dirty="0">
                    <a:solidFill>
                      <a:srgbClr val="FF0000"/>
                    </a:solidFill>
                  </a:rPr>
                  <a:t>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GB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IN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d>
                      <m:dPr>
                        <m:ctrlP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IN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34EBD3C-9084-7FBD-6E7F-CF5A9C5C88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8506" y="3539715"/>
                <a:ext cx="1849244" cy="543600"/>
              </a:xfrm>
              <a:prstGeom prst="rect">
                <a:avLst/>
              </a:prstGeom>
              <a:blipFill>
                <a:blip r:embed="rId16"/>
                <a:stretch>
                  <a:fillRect l="-6931" t="-12360" b="-269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CBB6E8B-0C97-3D65-D689-C526C3DE4828}"/>
                  </a:ext>
                </a:extLst>
              </p:cNvPr>
              <p:cNvSpPr/>
              <p:nvPr/>
            </p:nvSpPr>
            <p:spPr>
              <a:xfrm>
                <a:off x="4621910" y="3537403"/>
                <a:ext cx="1849244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IN" sz="2800" b="1" dirty="0">
                    <a:solidFill>
                      <a:srgbClr val="FF0000"/>
                    </a:solidFill>
                  </a:rPr>
                  <a:t>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GB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IN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</m:sub>
                    </m:sSub>
                    <m:d>
                      <m:dPr>
                        <m:ctrlPr>
                          <a:rPr lang="en-IN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</m:d>
                  </m:oMath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CBB6E8B-0C97-3D65-D689-C526C3DE48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1910" y="3537403"/>
                <a:ext cx="1849244" cy="543600"/>
              </a:xfrm>
              <a:prstGeom prst="rect">
                <a:avLst/>
              </a:prstGeom>
              <a:blipFill>
                <a:blip r:embed="rId17"/>
                <a:stretch>
                  <a:fillRect l="-6579" t="-11236" b="-269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92D92BC3-69BF-6458-88DE-16FFB48E9142}"/>
              </a:ext>
            </a:extLst>
          </p:cNvPr>
          <p:cNvGrpSpPr/>
          <p:nvPr/>
        </p:nvGrpSpPr>
        <p:grpSpPr>
          <a:xfrm>
            <a:off x="1537709" y="4412943"/>
            <a:ext cx="3942274" cy="1864083"/>
            <a:chOff x="14780806" y="-2815243"/>
            <a:chExt cx="3942274" cy="18640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D1B64512-48BF-3C12-0D36-3AE03DD117F0}"/>
                    </a:ext>
                  </a:extLst>
                </p:cNvPr>
                <p:cNvSpPr/>
                <p:nvPr/>
              </p:nvSpPr>
              <p:spPr>
                <a:xfrm>
                  <a:off x="14780806" y="-2815243"/>
                  <a:ext cx="3942274" cy="18640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2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GB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1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−2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</m:t>
                                        </m:r>
                                        <m:r>
                                          <a:rPr lang="en-GB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GB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−6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1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</m:t>
                                        </m:r>
                                        <m:r>
                                          <a:rPr lang="en-GB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   </m:t>
                            </m:r>
                          </m:e>
                        </m:d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D1B64512-48BF-3C12-0D36-3AE03DD117F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80806" y="-2815243"/>
                  <a:ext cx="3942274" cy="1864083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F76ACD86-8A47-B7C4-2596-B69BAE1EE419}"/>
                    </a:ext>
                  </a:extLst>
                </p:cNvPr>
                <p:cNvSpPr/>
                <p:nvPr/>
              </p:nvSpPr>
              <p:spPr>
                <a:xfrm>
                  <a:off x="17748368" y="-2765000"/>
                  <a:ext cx="758799" cy="14931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IN" sz="280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F76ACD86-8A47-B7C4-2596-B69BAE1EE4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48368" y="-2765000"/>
                  <a:ext cx="758799" cy="1493163"/>
                </a:xfrm>
                <a:prstGeom prst="rect">
                  <a:avLst/>
                </a:prstGeom>
                <a:blipFill>
                  <a:blip r:embed="rId19"/>
                  <a:stretch>
                    <a:fillRect b="-28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89AC223-1FC0-39EB-6E74-F4B82EA9F582}"/>
                </a:ext>
              </a:extLst>
            </p:cNvPr>
            <p:cNvCxnSpPr/>
            <p:nvPr/>
          </p:nvCxnSpPr>
          <p:spPr>
            <a:xfrm>
              <a:off x="17752920" y="-2777005"/>
              <a:ext cx="0" cy="162914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650E5B-ECEF-B184-6323-88831DC79267}"/>
              </a:ext>
            </a:extLst>
          </p:cNvPr>
          <p:cNvGrpSpPr/>
          <p:nvPr/>
        </p:nvGrpSpPr>
        <p:grpSpPr>
          <a:xfrm>
            <a:off x="1535306" y="4412942"/>
            <a:ext cx="3942274" cy="1864083"/>
            <a:chOff x="14780806" y="-2815243"/>
            <a:chExt cx="3942274" cy="18640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5C53F0BC-B6D9-37C2-2AC2-E9FBB4598E95}"/>
                    </a:ext>
                  </a:extLst>
                </p:cNvPr>
                <p:cNvSpPr/>
                <p:nvPr/>
              </p:nvSpPr>
              <p:spPr>
                <a:xfrm>
                  <a:off x="14780806" y="-2815243"/>
                  <a:ext cx="3942274" cy="18640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2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GB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−2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GB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−6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</m:t>
                                        </m:r>
                                        <m:r>
                                          <a:rPr lang="en-GB" sz="2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   </m:t>
                            </m:r>
                          </m:e>
                        </m:d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5C53F0BC-B6D9-37C2-2AC2-E9FBB4598E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80806" y="-2815243"/>
                  <a:ext cx="3942274" cy="1864083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EBD365E8-3BA6-E326-9073-0EFDEB0DCDFE}"/>
                    </a:ext>
                  </a:extLst>
                </p:cNvPr>
                <p:cNvSpPr/>
                <p:nvPr/>
              </p:nvSpPr>
              <p:spPr>
                <a:xfrm>
                  <a:off x="17748368" y="-2765000"/>
                  <a:ext cx="758799" cy="14931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IN" sz="28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EBD365E8-3BA6-E326-9073-0EFDEB0DCDF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48368" y="-2765000"/>
                  <a:ext cx="758799" cy="1493163"/>
                </a:xfrm>
                <a:prstGeom prst="rect">
                  <a:avLst/>
                </a:prstGeom>
                <a:blipFill>
                  <a:blip r:embed="rId22"/>
                  <a:stretch>
                    <a:fillRect b="-28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FE3DBCA-8114-D350-FCF2-307041046EFD}"/>
                </a:ext>
              </a:extLst>
            </p:cNvPr>
            <p:cNvCxnSpPr/>
            <p:nvPr/>
          </p:nvCxnSpPr>
          <p:spPr>
            <a:xfrm>
              <a:off x="17752920" y="-2777005"/>
              <a:ext cx="0" cy="162914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22B727E-0281-2D78-0534-B9E3A2D679DE}"/>
              </a:ext>
            </a:extLst>
          </p:cNvPr>
          <p:cNvGrpSpPr/>
          <p:nvPr/>
        </p:nvGrpSpPr>
        <p:grpSpPr>
          <a:xfrm>
            <a:off x="1544197" y="4415660"/>
            <a:ext cx="3942274" cy="1864083"/>
            <a:chOff x="14780806" y="-2815243"/>
            <a:chExt cx="3942274" cy="18640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C5EF7E95-65BA-3C21-4CFE-0C22EF29799A}"/>
                    </a:ext>
                  </a:extLst>
                </p:cNvPr>
                <p:cNvSpPr/>
                <p:nvPr/>
              </p:nvSpPr>
              <p:spPr>
                <a:xfrm>
                  <a:off x="14780806" y="-2815243"/>
                  <a:ext cx="3942274" cy="18640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2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GB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0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2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0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1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</m:t>
                                        </m:r>
                                        <m:r>
                                          <a:rPr lang="en-GB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   </m:t>
                            </m:r>
                          </m:e>
                        </m:d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C5EF7E95-65BA-3C21-4CFE-0C22EF2979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80806" y="-2815243"/>
                  <a:ext cx="3942274" cy="1864083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DCDC743E-AC49-61ED-14A3-594279182630}"/>
                    </a:ext>
                  </a:extLst>
                </p:cNvPr>
                <p:cNvSpPr/>
                <p:nvPr/>
              </p:nvSpPr>
              <p:spPr>
                <a:xfrm>
                  <a:off x="17748368" y="-2765000"/>
                  <a:ext cx="758799" cy="14931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IN" sz="28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DCDC743E-AC49-61ED-14A3-5942791826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48368" y="-2765000"/>
                  <a:ext cx="758799" cy="1493163"/>
                </a:xfrm>
                <a:prstGeom prst="rect">
                  <a:avLst/>
                </a:prstGeom>
                <a:blipFill>
                  <a:blip r:embed="rId24"/>
                  <a:stretch>
                    <a:fillRect b="-244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31448BE4-3CC3-143C-6F62-0E44C0604199}"/>
                </a:ext>
              </a:extLst>
            </p:cNvPr>
            <p:cNvCxnSpPr/>
            <p:nvPr/>
          </p:nvCxnSpPr>
          <p:spPr>
            <a:xfrm>
              <a:off x="17752920" y="-2777005"/>
              <a:ext cx="0" cy="162914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1" name="Rectangle: Rounded Corners 37">
            <a:extLst>
              <a:ext uri="{FF2B5EF4-FFF2-40B4-BE49-F238E27FC236}">
                <a16:creationId xmlns:a16="http://schemas.microsoft.com/office/drawing/2014/main" id="{F66C9B53-0486-0BF2-B319-88C56E92000B}"/>
              </a:ext>
            </a:extLst>
          </p:cNvPr>
          <p:cNvSpPr/>
          <p:nvPr/>
        </p:nvSpPr>
        <p:spPr>
          <a:xfrm>
            <a:off x="6524570" y="1017394"/>
            <a:ext cx="36000" cy="527076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BA47743F-EAB1-CB7E-DBF7-60761F867FD8}"/>
                  </a:ext>
                </a:extLst>
              </p:cNvPr>
              <p:cNvSpPr/>
              <p:nvPr/>
            </p:nvSpPr>
            <p:spPr>
              <a:xfrm>
                <a:off x="8698845" y="1104100"/>
                <a:ext cx="1701076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IN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𝟐𝟑</m:t>
                          </m:r>
                        </m:sub>
                      </m:sSub>
                      <m:d>
                        <m:d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IN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BA47743F-EAB1-CB7E-DBF7-60761F867F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8845" y="1104100"/>
                <a:ext cx="1701076" cy="54360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E105E44B-84D7-E4F1-C678-9921D92B3FE3}"/>
              </a:ext>
            </a:extLst>
          </p:cNvPr>
          <p:cNvGrpSpPr/>
          <p:nvPr/>
        </p:nvGrpSpPr>
        <p:grpSpPr>
          <a:xfrm>
            <a:off x="7578246" y="1713870"/>
            <a:ext cx="3942274" cy="1864083"/>
            <a:chOff x="14780806" y="-2815243"/>
            <a:chExt cx="3942274" cy="18640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6656CE8F-9FE1-303B-09F8-052410795E8B}"/>
                    </a:ext>
                  </a:extLst>
                </p:cNvPr>
                <p:cNvSpPr/>
                <p:nvPr/>
              </p:nvSpPr>
              <p:spPr>
                <a:xfrm>
                  <a:off x="14780806" y="-2815243"/>
                  <a:ext cx="3942274" cy="18640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2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GB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0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0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</m:t>
                                        </m:r>
                                        <m:r>
                                          <a:rPr lang="en-GB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   </m:t>
                            </m:r>
                          </m:e>
                        </m:d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6656CE8F-9FE1-303B-09F8-052410795E8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80806" y="-2815243"/>
                  <a:ext cx="3942274" cy="1864083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F058002A-2FF1-6800-C9F1-D20970DFC20E}"/>
                    </a:ext>
                  </a:extLst>
                </p:cNvPr>
                <p:cNvSpPr/>
                <p:nvPr/>
              </p:nvSpPr>
              <p:spPr>
                <a:xfrm>
                  <a:off x="17748368" y="-2765000"/>
                  <a:ext cx="758799" cy="14931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IN" sz="28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F058002A-2FF1-6800-C9F1-D20970DFC20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48368" y="-2765000"/>
                  <a:ext cx="758799" cy="1493163"/>
                </a:xfrm>
                <a:prstGeom prst="rect">
                  <a:avLst/>
                </a:prstGeom>
                <a:blipFill>
                  <a:blip r:embed="rId27"/>
                  <a:stretch>
                    <a:fillRect b="-28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0F0E9E0-24DC-722E-28F9-80328E6AEBDC}"/>
                </a:ext>
              </a:extLst>
            </p:cNvPr>
            <p:cNvCxnSpPr/>
            <p:nvPr/>
          </p:nvCxnSpPr>
          <p:spPr>
            <a:xfrm>
              <a:off x="17752920" y="-2777005"/>
              <a:ext cx="0" cy="162914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A083B66A-D718-9F78-7497-C73B97334980}"/>
                  </a:ext>
                </a:extLst>
              </p:cNvPr>
              <p:cNvSpPr/>
              <p:nvPr/>
            </p:nvSpPr>
            <p:spPr>
              <a:xfrm>
                <a:off x="7020268" y="3537403"/>
                <a:ext cx="3372040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IN" sz="2800" dirty="0">
                    <a:solidFill>
                      <a:srgbClr val="002060"/>
                    </a:solidFill>
                  </a:rPr>
                  <a:t>Let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  ;   </m:t>
                    </m:r>
                    <m:r>
                      <m:rPr>
                        <m:sty m:val="p"/>
                      </m:rP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IN" sz="28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A083B66A-D718-9F78-7497-C73B973349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268" y="3537403"/>
                <a:ext cx="3372040" cy="543600"/>
              </a:xfrm>
              <a:prstGeom prst="rect">
                <a:avLst/>
              </a:prstGeom>
              <a:blipFill>
                <a:blip r:embed="rId28"/>
                <a:stretch>
                  <a:fillRect l="-3797" t="-11236" b="-269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Right Arrow 3">
            <a:extLst>
              <a:ext uri="{FF2B5EF4-FFF2-40B4-BE49-F238E27FC236}">
                <a16:creationId xmlns:a16="http://schemas.microsoft.com/office/drawing/2014/main" id="{14DD7E7D-B9E9-0A9C-9A3B-6EB1AB149A1B}"/>
              </a:ext>
            </a:extLst>
          </p:cNvPr>
          <p:cNvSpPr/>
          <p:nvPr/>
        </p:nvSpPr>
        <p:spPr>
          <a:xfrm flipV="1">
            <a:off x="7143357" y="4284071"/>
            <a:ext cx="576777" cy="394349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36AA3B3D-BF92-3E55-BFE0-7FD8777B8711}"/>
                  </a:ext>
                </a:extLst>
              </p:cNvPr>
              <p:cNvSpPr/>
              <p:nvPr/>
            </p:nvSpPr>
            <p:spPr>
              <a:xfrm>
                <a:off x="7768883" y="4209445"/>
                <a:ext cx="2254270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N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36AA3B3D-BF92-3E55-BFE0-7FD8777B87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83" y="4209445"/>
                <a:ext cx="2254270" cy="54360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F21E5489-755B-7E81-2FD1-E1B01EBC3DBC}"/>
                  </a:ext>
                </a:extLst>
              </p:cNvPr>
              <p:cNvSpPr/>
              <p:nvPr/>
            </p:nvSpPr>
            <p:spPr>
              <a:xfrm>
                <a:off x="9995702" y="4009880"/>
                <a:ext cx="1996466" cy="9333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F21E5489-755B-7E81-2FD1-E1B01EBC3D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5702" y="4009880"/>
                <a:ext cx="1996466" cy="933399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ight Arrow 3">
            <a:extLst>
              <a:ext uri="{FF2B5EF4-FFF2-40B4-BE49-F238E27FC236}">
                <a16:creationId xmlns:a16="http://schemas.microsoft.com/office/drawing/2014/main" id="{A6605B22-1CA8-C10C-DFF0-67A9489BA05F}"/>
              </a:ext>
            </a:extLst>
          </p:cNvPr>
          <p:cNvSpPr/>
          <p:nvPr/>
        </p:nvSpPr>
        <p:spPr>
          <a:xfrm flipV="1">
            <a:off x="7143357" y="5319879"/>
            <a:ext cx="576777" cy="394349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A56B9A0E-6964-A84E-C285-BC7DB1DF1A50}"/>
                  </a:ext>
                </a:extLst>
              </p:cNvPr>
              <p:cNvSpPr/>
              <p:nvPr/>
            </p:nvSpPr>
            <p:spPr>
              <a:xfrm>
                <a:off x="7768883" y="5245253"/>
                <a:ext cx="2254270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N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A56B9A0E-6964-A84E-C285-BC7DB1DF1A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83" y="5245253"/>
                <a:ext cx="2254270" cy="54360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C40A0E71-9407-0C7D-E375-E62909CB47BC}"/>
                  </a:ext>
                </a:extLst>
              </p:cNvPr>
              <p:cNvSpPr/>
              <p:nvPr/>
            </p:nvSpPr>
            <p:spPr>
              <a:xfrm>
                <a:off x="9995702" y="5045688"/>
                <a:ext cx="1996466" cy="9333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3</m:t>
                          </m:r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C40A0E71-9407-0C7D-E375-E62909CB47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5702" y="5045688"/>
                <a:ext cx="1996466" cy="933399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2410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53" grpId="0"/>
      <p:bldP spid="62" grpId="0"/>
      <p:bldP spid="81" grpId="0" animBg="1"/>
      <p:bldP spid="82" grpId="0"/>
      <p:bldP spid="87" grpId="0"/>
      <p:bldP spid="88" grpId="0" animBg="1"/>
      <p:bldP spid="89" grpId="0"/>
      <p:bldP spid="90" grpId="0"/>
      <p:bldP spid="91" grpId="0" animBg="1"/>
      <p:bldP spid="92" grpId="0"/>
      <p:bldP spid="93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F8EDD-A8CA-9A68-CD0E-C7957CB79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9884F2D-876E-1EB2-F48E-072DF45EFE4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Method:5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Example:6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9884F2D-876E-1EB2-F48E-072DF45EFE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Rectangle: Rounded Corners 37">
            <a:extLst>
              <a:ext uri="{FF2B5EF4-FFF2-40B4-BE49-F238E27FC236}">
                <a16:creationId xmlns:a16="http://schemas.microsoft.com/office/drawing/2014/main" id="{6BCCEC4F-2A01-FC5B-A322-9C1ABFB6D5B9}"/>
              </a:ext>
            </a:extLst>
          </p:cNvPr>
          <p:cNvSpPr/>
          <p:nvPr/>
        </p:nvSpPr>
        <p:spPr>
          <a:xfrm>
            <a:off x="6110683" y="1017394"/>
            <a:ext cx="36000" cy="527076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C5126C34-25A3-1C23-51E1-638618B3CA4D}"/>
                  </a:ext>
                </a:extLst>
              </p:cNvPr>
              <p:cNvSpPr/>
              <p:nvPr/>
            </p:nvSpPr>
            <p:spPr>
              <a:xfrm>
                <a:off x="1967845" y="1104100"/>
                <a:ext cx="1701076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IN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𝟐𝟑</m:t>
                          </m:r>
                        </m:sub>
                      </m:sSub>
                      <m:d>
                        <m:d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IN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C5126C34-25A3-1C23-51E1-638618B3CA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7845" y="1104100"/>
                <a:ext cx="1701076" cy="5436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7CED2B34-D8DB-45C5-359E-2C1F13A96D0F}"/>
              </a:ext>
            </a:extLst>
          </p:cNvPr>
          <p:cNvGrpSpPr/>
          <p:nvPr/>
        </p:nvGrpSpPr>
        <p:grpSpPr>
          <a:xfrm>
            <a:off x="847246" y="1713870"/>
            <a:ext cx="3942274" cy="1864083"/>
            <a:chOff x="14780806" y="-2815243"/>
            <a:chExt cx="3942274" cy="18640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4754D7B7-7C67-69DA-A7A6-3F3C13BC0469}"/>
                    </a:ext>
                  </a:extLst>
                </p:cNvPr>
                <p:cNvSpPr/>
                <p:nvPr/>
              </p:nvSpPr>
              <p:spPr>
                <a:xfrm>
                  <a:off x="14780806" y="-2815243"/>
                  <a:ext cx="3942274" cy="186408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2</m:t>
                                  </m:r>
                                </m:e>
                                <m:e>
                                  <m: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GB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0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0</m:t>
                                        </m:r>
                                      </m:e>
                                    </m:mr>
                                  </m:m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IN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  </m:t>
                                        </m:r>
                                        <m:r>
                                          <a:rPr lang="en-GB" sz="2800" b="0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</m:m>
                                </m:e>
                              </m:mr>
                            </m:m>
                            <m: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            </m:t>
                            </m:r>
                          </m:e>
                        </m:d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4754D7B7-7C67-69DA-A7A6-3F3C13BC046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80806" y="-2815243"/>
                  <a:ext cx="3942274" cy="186408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9C9BD8BD-9B1D-D0D2-8343-5F8FCFABCC3C}"/>
                    </a:ext>
                  </a:extLst>
                </p:cNvPr>
                <p:cNvSpPr/>
                <p:nvPr/>
              </p:nvSpPr>
              <p:spPr>
                <a:xfrm>
                  <a:off x="17748368" y="-2765000"/>
                  <a:ext cx="758799" cy="14931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IN" sz="28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9C9BD8BD-9B1D-D0D2-8343-5F8FCFABCC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48368" y="-2765000"/>
                  <a:ext cx="758799" cy="1493163"/>
                </a:xfrm>
                <a:prstGeom prst="rect">
                  <a:avLst/>
                </a:prstGeom>
                <a:blipFill>
                  <a:blip r:embed="rId7"/>
                  <a:stretch>
                    <a:fillRect b="-28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A959FD3-6C12-56B8-73F2-CD6F9F177A99}"/>
                </a:ext>
              </a:extLst>
            </p:cNvPr>
            <p:cNvCxnSpPr/>
            <p:nvPr/>
          </p:nvCxnSpPr>
          <p:spPr>
            <a:xfrm>
              <a:off x="17752920" y="-2777005"/>
              <a:ext cx="0" cy="162914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35E7175C-FA31-FD53-4DED-0D7999253B55}"/>
                  </a:ext>
                </a:extLst>
              </p:cNvPr>
              <p:cNvSpPr/>
              <p:nvPr/>
            </p:nvSpPr>
            <p:spPr>
              <a:xfrm>
                <a:off x="289268" y="3537403"/>
                <a:ext cx="3372040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IN" sz="2800" dirty="0">
                    <a:solidFill>
                      <a:srgbClr val="002060"/>
                    </a:solidFill>
                  </a:rPr>
                  <a:t>Let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  ;   </m:t>
                    </m:r>
                    <m:r>
                      <m:rPr>
                        <m:sty m:val="p"/>
                      </m:rP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IN" sz="28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35E7175C-FA31-FD53-4DED-0D7999253B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268" y="3537403"/>
                <a:ext cx="3372040" cy="543600"/>
              </a:xfrm>
              <a:prstGeom prst="rect">
                <a:avLst/>
              </a:prstGeom>
              <a:blipFill>
                <a:blip r:embed="rId8"/>
                <a:stretch>
                  <a:fillRect l="-3610" t="-11236" b="-269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Right Arrow 3">
            <a:extLst>
              <a:ext uri="{FF2B5EF4-FFF2-40B4-BE49-F238E27FC236}">
                <a16:creationId xmlns:a16="http://schemas.microsoft.com/office/drawing/2014/main" id="{A49ED0FC-9786-B920-C719-62E91128854A}"/>
              </a:ext>
            </a:extLst>
          </p:cNvPr>
          <p:cNvSpPr/>
          <p:nvPr/>
        </p:nvSpPr>
        <p:spPr>
          <a:xfrm flipV="1">
            <a:off x="412357" y="4284071"/>
            <a:ext cx="576777" cy="394349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C0DB6F8-6007-66CC-1647-18CDA3C2C803}"/>
                  </a:ext>
                </a:extLst>
              </p:cNvPr>
              <p:cNvSpPr/>
              <p:nvPr/>
            </p:nvSpPr>
            <p:spPr>
              <a:xfrm>
                <a:off x="1037883" y="4209445"/>
                <a:ext cx="2254270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N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C0DB6F8-6007-66CC-1647-18CDA3C2C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883" y="4209445"/>
                <a:ext cx="2254270" cy="5436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2C4EF960-BE21-18E1-CD10-4645EB7DE0B2}"/>
                  </a:ext>
                </a:extLst>
              </p:cNvPr>
              <p:cNvSpPr/>
              <p:nvPr/>
            </p:nvSpPr>
            <p:spPr>
              <a:xfrm>
                <a:off x="3264702" y="4009880"/>
                <a:ext cx="2218270" cy="9333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2C4EF960-BE21-18E1-CD10-4645EB7DE0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4702" y="4009880"/>
                <a:ext cx="2218270" cy="9333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ight Arrow 3">
            <a:extLst>
              <a:ext uri="{FF2B5EF4-FFF2-40B4-BE49-F238E27FC236}">
                <a16:creationId xmlns:a16="http://schemas.microsoft.com/office/drawing/2014/main" id="{FBDBC2BB-4AFA-CEF7-E5EE-93DE2760565A}"/>
              </a:ext>
            </a:extLst>
          </p:cNvPr>
          <p:cNvSpPr/>
          <p:nvPr/>
        </p:nvSpPr>
        <p:spPr>
          <a:xfrm flipV="1">
            <a:off x="412357" y="5319879"/>
            <a:ext cx="576777" cy="394349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371C068E-83DC-9677-46E1-667D6F61BD0E}"/>
                  </a:ext>
                </a:extLst>
              </p:cNvPr>
              <p:cNvSpPr/>
              <p:nvPr/>
            </p:nvSpPr>
            <p:spPr>
              <a:xfrm>
                <a:off x="1037883" y="5245253"/>
                <a:ext cx="2254270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N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371C068E-83DC-9677-46E1-667D6F61BD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883" y="5245253"/>
                <a:ext cx="2254270" cy="5436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4862CD38-E819-8379-CA19-C09370D8C946}"/>
                  </a:ext>
                </a:extLst>
              </p:cNvPr>
              <p:cNvSpPr/>
              <p:nvPr/>
            </p:nvSpPr>
            <p:spPr>
              <a:xfrm>
                <a:off x="3264702" y="5045688"/>
                <a:ext cx="1996466" cy="9333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3</m:t>
                          </m:r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4862CD38-E819-8379-CA19-C09370D8C9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4702" y="5045688"/>
                <a:ext cx="1996466" cy="9333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4">
                <a:extLst>
                  <a:ext uri="{FF2B5EF4-FFF2-40B4-BE49-F238E27FC236}">
                    <a16:creationId xmlns:a16="http://schemas.microsoft.com/office/drawing/2014/main" id="{70534B55-9A39-A706-CFAB-E398BA9E4A3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18732" y="1104100"/>
                <a:ext cx="5054600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GB" dirty="0">
                    <a:solidFill>
                      <a:srgbClr val="002060"/>
                    </a:solidFill>
                  </a:rPr>
                  <a:t>Since,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IN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IN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GB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IN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GB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IN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4">
                <a:extLst>
                  <a:ext uri="{FF2B5EF4-FFF2-40B4-BE49-F238E27FC236}">
                    <a16:creationId xmlns:a16="http://schemas.microsoft.com/office/drawing/2014/main" id="{70534B55-9A39-A706-CFAB-E398BA9E4A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8732" y="1104100"/>
                <a:ext cx="5054600" cy="543600"/>
              </a:xfrm>
              <a:prstGeom prst="rect">
                <a:avLst/>
              </a:prstGeom>
              <a:blipFill>
                <a:blip r:embed="rId13"/>
                <a:stretch>
                  <a:fillRect l="-121" t="-12360" b="-2696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4">
                <a:extLst>
                  <a:ext uri="{FF2B5EF4-FFF2-40B4-BE49-F238E27FC236}">
                    <a16:creationId xmlns:a16="http://schemas.microsoft.com/office/drawing/2014/main" id="{2358A71A-8009-1BBC-230D-C3680EF2F3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98621" y="1756849"/>
                <a:ext cx="4715578" cy="978782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f>
                        <m:f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N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3</m:t>
                          </m:r>
                          <m:r>
                            <m:rPr>
                              <m:sty m:val="p"/>
                            </m:rPr>
                            <a:rPr lang="en-IN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IN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IN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N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N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IN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IN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IN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GB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IN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IN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GB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IN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Content Placeholder 4">
                <a:extLst>
                  <a:ext uri="{FF2B5EF4-FFF2-40B4-BE49-F238E27FC236}">
                    <a16:creationId xmlns:a16="http://schemas.microsoft.com/office/drawing/2014/main" id="{2358A71A-8009-1BBC-230D-C3680EF2F3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8621" y="1756849"/>
                <a:ext cx="4715578" cy="97878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8A21393-CE6D-2595-B98E-5153680A7F3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04143" y="2735631"/>
                <a:ext cx="4193962" cy="978782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IN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IN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GB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IN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3</m:t>
                          </m:r>
                          <m:r>
                            <m:rPr>
                              <m:sty m:val="p"/>
                            </m:rP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N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GB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8A21393-CE6D-2595-B98E-5153680A7F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4143" y="2735631"/>
                <a:ext cx="4193962" cy="97878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4">
                <a:extLst>
                  <a:ext uri="{FF2B5EF4-FFF2-40B4-BE49-F238E27FC236}">
                    <a16:creationId xmlns:a16="http://schemas.microsoft.com/office/drawing/2014/main" id="{041DADBA-2B12-556A-3A46-22481EBF42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98620" y="3720054"/>
                <a:ext cx="3938357" cy="978782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GB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IN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3 </m:t>
                          </m:r>
                        </m:num>
                        <m:den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US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N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IN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IN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r>
                            <a:rPr lang="en-GB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Content Placeholder 4">
                <a:extLst>
                  <a:ext uri="{FF2B5EF4-FFF2-40B4-BE49-F238E27FC236}">
                    <a16:creationId xmlns:a16="http://schemas.microsoft.com/office/drawing/2014/main" id="{041DADBA-2B12-556A-3A46-22481EBF42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8620" y="3720054"/>
                <a:ext cx="3938357" cy="97878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4">
                <a:extLst>
                  <a:ext uri="{FF2B5EF4-FFF2-40B4-BE49-F238E27FC236}">
                    <a16:creationId xmlns:a16="http://schemas.microsoft.com/office/drawing/2014/main" id="{19A59013-68D4-9214-7D4D-3523338DDF8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18732" y="4767056"/>
                <a:ext cx="5054600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GB" dirty="0">
                    <a:solidFill>
                      <a:srgbClr val="002060"/>
                    </a:solidFill>
                  </a:rPr>
                  <a:t>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IN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IN" b="0" dirty="0">
                    <a:solidFill>
                      <a:srgbClr val="002060"/>
                    </a:solidFill>
                    <a:latin typeface="+mj-lt"/>
                  </a:rPr>
                  <a:t> depends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IN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IN" b="0" dirty="0">
                    <a:solidFill>
                      <a:srgbClr val="002060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IN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2060"/>
                    </a:solidFill>
                    <a:latin typeface="Cambria Math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2" name="Content Placeholder 4">
                <a:extLst>
                  <a:ext uri="{FF2B5EF4-FFF2-40B4-BE49-F238E27FC236}">
                    <a16:creationId xmlns:a16="http://schemas.microsoft.com/office/drawing/2014/main" id="{19A59013-68D4-9214-7D4D-3523338DDF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8732" y="4767056"/>
                <a:ext cx="5054600" cy="543600"/>
              </a:xfrm>
              <a:prstGeom prst="rect">
                <a:avLst/>
              </a:prstGeom>
              <a:blipFill>
                <a:blip r:embed="rId17"/>
                <a:stretch>
                  <a:fillRect l="-121" t="-14607" b="-2696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EF12C872-F8CC-69C8-C8CC-029F94BEC7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18730" y="5378876"/>
                <a:ext cx="4649582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IN" b="1" dirty="0">
                    <a:solidFill>
                      <a:srgbClr val="002060"/>
                    </a:solidFill>
                  </a:rPr>
                  <a:t>Basis		:  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IN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IN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b>
                            <m:r>
                              <a:rPr lang="en-IN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IN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IN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b>
                            <m:r>
                              <a:rPr lang="en-IN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d>
                  </m:oMath>
                </a14:m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EF12C872-F8CC-69C8-C8CC-029F94BEC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8730" y="5378876"/>
                <a:ext cx="4649582" cy="543600"/>
              </a:xfrm>
              <a:prstGeom prst="rect">
                <a:avLst/>
              </a:prstGeom>
              <a:blipFill>
                <a:blip r:embed="rId18"/>
                <a:stretch>
                  <a:fillRect l="-131" t="-12222" b="-2555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F69BB1C9-4BB1-C03D-093B-46EED72B773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18731" y="5990696"/>
                <a:ext cx="4138565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IN" b="1" dirty="0">
                    <a:solidFill>
                      <a:srgbClr val="002060"/>
                    </a:solidFill>
                  </a:rPr>
                  <a:t>Dimension	:    </a:t>
                </a:r>
                <a14:m>
                  <m:oMath xmlns:m="http://schemas.openxmlformats.org/officeDocument/2006/math">
                    <m:r>
                      <a:rPr lang="en-IN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F69BB1C9-4BB1-C03D-093B-46EED72B77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8731" y="5990696"/>
                <a:ext cx="4138565" cy="543600"/>
              </a:xfrm>
              <a:prstGeom prst="rect">
                <a:avLst/>
              </a:prstGeom>
              <a:blipFill>
                <a:blip r:embed="rId19"/>
                <a:stretch>
                  <a:fillRect l="-147" t="-12360" b="-2584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546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12" grpId="0"/>
      <p:bldP spid="13" grpId="0"/>
      <p:bldP spid="14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28101-805C-E0AD-1FB5-5085FE7B0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F6ED-1DD3-1460-867A-B2EA24550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Method-6</a:t>
            </a:r>
            <a:br>
              <a:rPr lang="en-US" dirty="0"/>
            </a:br>
            <a:r>
              <a:rPr lang="en-US" dirty="0"/>
              <a:t>Row Space, Column Space, and Null Space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4B7208F-9E8E-A2C7-E929-CF16BB06A4EB}"/>
              </a:ext>
            </a:extLst>
          </p:cNvPr>
          <p:cNvSpPr txBox="1">
            <a:spLocks/>
          </p:cNvSpPr>
          <p:nvPr/>
        </p:nvSpPr>
        <p:spPr>
          <a:xfrm>
            <a:off x="838200" y="2002632"/>
            <a:ext cx="10515600" cy="28527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kern="1200" dirty="0">
                <a:gradFill flip="none" rotWithShape="1">
                  <a:gsLst>
                    <a:gs pos="0">
                      <a:srgbClr val="1D3064"/>
                    </a:gs>
                    <a:gs pos="100000">
                      <a:schemeClr val="tx2"/>
                    </a:gs>
                  </a:gsLst>
                  <a:lin ang="0" scaled="1"/>
                  <a:tileRect/>
                </a:gradFill>
                <a:effectLst/>
                <a:latin typeface="+mn-lt"/>
                <a:ea typeface="+mn-ea"/>
                <a:cs typeface="+mn-cs"/>
              </a:defRPr>
            </a:lvl1pPr>
          </a:lstStyle>
          <a:p>
            <a:endParaRPr lang="en-IN" dirty="0">
              <a:gradFill flip="none" rotWithShape="1">
                <a:gsLst>
                  <a:gs pos="10000">
                    <a:schemeClr val="accent6">
                      <a:lumMod val="50000"/>
                    </a:schemeClr>
                  </a:gs>
                  <a:gs pos="100000">
                    <a:schemeClr val="accent6"/>
                  </a:gs>
                </a:gsLst>
                <a:lin ang="0" scaled="1"/>
                <a:tileRect/>
              </a:gradFill>
            </a:endParaRPr>
          </a:p>
          <a:p>
            <a:endParaRPr lang="en-IN" dirty="0">
              <a:gradFill flip="none" rotWithShape="1">
                <a:gsLst>
                  <a:gs pos="10000">
                    <a:schemeClr val="accent6">
                      <a:lumMod val="50000"/>
                    </a:schemeClr>
                  </a:gs>
                  <a:gs pos="100000">
                    <a:schemeClr val="accent6"/>
                  </a:gs>
                </a:gsLst>
                <a:lin ang="0" scaled="1"/>
                <a:tileRect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2249224832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31180" y="210303"/>
                <a:ext cx="11929641" cy="6393697"/>
              </a:xfrm>
            </p:spPr>
            <p:txBody>
              <a:bodyPr/>
              <a:lstStyle/>
              <a:p>
                <a:pPr lvl="0"/>
                <a:r>
                  <a:rPr lang="en-US" i="0" dirty="0">
                    <a:solidFill>
                      <a:srgbClr val="002060"/>
                    </a:solidFill>
                    <a:latin typeface="+mj-lt"/>
                  </a:rPr>
                  <a:t>Let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IN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m>
                              <m:mPr>
                                <m:mcs>
                                  <m:mc>
                                    <m:mcPr>
                                      <m:count m:val="5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13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…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23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…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33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…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m</m:t>
                                      </m:r>
                                      <m: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m</m:t>
                                      </m:r>
                                      <m: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m</m:t>
                                      </m:r>
                                      <m: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…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mn</m:t>
                                      </m:r>
                                    </m:sub>
                                  </m:sSub>
                                </m:e>
                              </m:mr>
                            </m:m>
                            <m:r>
                              <a:rPr lang="en-US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0" dirty="0">
                    <a:solidFill>
                      <a:srgbClr val="002060"/>
                    </a:solidFill>
                    <a:latin typeface="+mj-lt"/>
                  </a:rPr>
                  <a:t>be 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i="0" dirty="0">
                    <a:solidFill>
                      <a:srgbClr val="002060"/>
                    </a:solidFill>
                    <a:latin typeface="+mj-lt"/>
                  </a:rPr>
                  <a:t> matrix.</a:t>
                </a:r>
                <a:endParaRPr lang="en-IN" dirty="0">
                  <a:solidFill>
                    <a:srgbClr val="002060"/>
                  </a:solidFill>
                </a:endParaRPr>
              </a:p>
              <a:p>
                <a:pPr lvl="0"/>
                <a:r>
                  <a:rPr lang="en-US" dirty="0">
                    <a:solidFill>
                      <a:srgbClr val="002060"/>
                    </a:solidFill>
                  </a:rPr>
                  <a:t>The vectors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…,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</a:rPr>
                  <a:t>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rgbClr val="002060"/>
                    </a:solidFill>
                  </a:rPr>
                  <a:t> are called row vectors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</a:rPr>
                  <a:t>.</a:t>
                </a:r>
                <a:endParaRPr lang="en-IN" dirty="0">
                  <a:solidFill>
                    <a:srgbClr val="00206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N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IN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</m:mr>
                        </m:m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   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d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N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IN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</m:mr>
                        </m:m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   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d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,… ,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sub>
                    </m:sSub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N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IN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m</m:t>
                                  </m:r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m</m:t>
                                  </m:r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4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</m:mr>
                        </m:m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    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  <m:t>mn</m:t>
                            </m:r>
                          </m:sub>
                        </m:sSub>
                      </m:e>
                    </m:d>
                  </m:oMath>
                </a14:m>
                <a:endParaRPr lang="en-IN" dirty="0">
                  <a:solidFill>
                    <a:srgbClr val="002060"/>
                  </a:solidFill>
                </a:endParaRPr>
              </a:p>
              <a:p>
                <a:pPr lvl="0"/>
                <a:r>
                  <a:rPr lang="en-US" dirty="0">
                    <a:solidFill>
                      <a:srgbClr val="002060"/>
                    </a:solidFill>
                  </a:rPr>
                  <a:t>The vectors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…,</m:t>
                    </m:r>
                    <m:sSub>
                      <m:sSub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</a:rPr>
                  <a:t>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rgbClr val="002060"/>
                    </a:solidFill>
                  </a:rPr>
                  <a:t> are called column vectors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dirty="0">
                    <a:solidFill>
                      <a:srgbClr val="002060"/>
                    </a:solidFill>
                  </a:rPr>
                  <a:t>.</a:t>
                </a:r>
                <a:endParaRPr lang="en-IN" dirty="0">
                  <a:solidFill>
                    <a:srgbClr val="00206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N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IN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4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11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21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</m:m>
                          </m:e>
                          <m:e>
                            <m:sSub>
                              <m:sSubPr>
                                <m:ctrlPr>
                                  <a:rPr lang="en-US" sz="24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  <m:r>
                                  <a:rPr lang="en-US" sz="24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eqArr>
                      </m:e>
                    </m:d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N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IN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4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12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22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</m:m>
                          </m:e>
                          <m:e>
                            <m:sSub>
                              <m:sSubPr>
                                <m:ctrlPr>
                                  <a:rPr lang="en-US" sz="24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  <m:r>
                                  <a:rPr lang="en-US" sz="24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eqArr>
                      </m:e>
                    </m:d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,… ,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en-US" sz="24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N" sz="24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IN" sz="24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IN" sz="24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sz="24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</m:m>
                          </m:e>
                          <m:e>
                            <m:sSub>
                              <m:sSubPr>
                                <m:ctrlPr>
                                  <a:rPr lang="en-US" sz="2400" i="1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</a:rPr>
                                  <m:t>mn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endParaRPr lang="en-IN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1180" y="210303"/>
                <a:ext cx="11929641" cy="6393697"/>
              </a:xfrm>
              <a:blipFill>
                <a:blip r:embed="rId2"/>
                <a:stretch>
                  <a:fillRect l="-9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2532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fontAlgn="base"/>
                <a:r>
                  <a:rPr lang="en-US" b="1" dirty="0"/>
                  <a:t>Row Space</a:t>
                </a:r>
              </a:p>
              <a:p>
                <a:pPr lvl="1" fontAlgn="base"/>
                <a:r>
                  <a:rPr lang="en-US" dirty="0"/>
                  <a:t>The subspace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spanned by the row vectors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dirty="0"/>
                  <a:t> is called the </a:t>
                </a:r>
                <a:r>
                  <a:rPr lang="en-US" b="1" dirty="0">
                    <a:solidFill>
                      <a:srgbClr val="FF0000"/>
                    </a:solidFill>
                  </a:rPr>
                  <a:t>row space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dirty="0"/>
              </a:p>
              <a:p>
                <a:pPr lvl="0" fontAlgn="base"/>
                <a:r>
                  <a:rPr lang="en-US" b="1" dirty="0"/>
                  <a:t>Column Space</a:t>
                </a:r>
              </a:p>
              <a:p>
                <a:pPr lvl="1" fontAlgn="base"/>
                <a:r>
                  <a:rPr lang="en-US" dirty="0"/>
                  <a:t>The subspace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spanned by the column vectors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dirty="0"/>
                  <a:t> is called the </a:t>
                </a:r>
                <a:r>
                  <a:rPr lang="en-US" b="1" dirty="0">
                    <a:solidFill>
                      <a:srgbClr val="FF0000"/>
                    </a:solidFill>
                  </a:rPr>
                  <a:t>column space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dirty="0"/>
              </a:p>
              <a:p>
                <a:r>
                  <a:rPr lang="en-US" b="1" dirty="0"/>
                  <a:t>Null Space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FF0000"/>
                    </a:solidFill>
                  </a:rPr>
                  <a:t>set of all solutions</a:t>
                </a:r>
                <a:r>
                  <a:rPr lang="en-US" dirty="0"/>
                  <a:t> of the homogeneous system of simultaneous linear equations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𝐀𝐗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called the </a:t>
                </a:r>
                <a:r>
                  <a:rPr lang="en-US" b="1" dirty="0">
                    <a:solidFill>
                      <a:srgbClr val="FF0000"/>
                    </a:solidFill>
                  </a:rPr>
                  <a:t>null space</a:t>
                </a:r>
                <a:r>
                  <a:rPr lang="en-US" dirty="0"/>
                  <a:t> of the given system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71" r="-1074" b="-109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593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Procedure to Find the Row Space and its Basis from a Matrix A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3"/>
              <p:cNvSpPr txBox="1">
                <a:spLocks/>
              </p:cNvSpPr>
              <p:nvPr/>
            </p:nvSpPr>
            <p:spPr>
              <a:xfrm>
                <a:off x="131180" y="855159"/>
                <a:ext cx="11929641" cy="55905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13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dirty="0"/>
                  <a:t> be 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matrix.</a:t>
                </a:r>
                <a:endParaRPr lang="en-IN" dirty="0"/>
              </a:p>
              <a:p>
                <a:pPr marL="1058862" lvl="1" indent="-514350" fontAlgn="base">
                  <a:buFont typeface="+mj-lt"/>
                  <a:buAutoNum type="arabicPeriod"/>
                </a:pPr>
                <a:r>
                  <a:rPr lang="en-US" dirty="0"/>
                  <a:t>Convert the matrix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dirty="0"/>
                  <a:t> into a </a:t>
                </a:r>
                <a:r>
                  <a:rPr lang="en-US" b="1" dirty="0">
                    <a:solidFill>
                      <a:srgbClr val="FF0000"/>
                    </a:solidFill>
                  </a:rPr>
                  <a:t>row-echelon form</a:t>
                </a:r>
                <a:r>
                  <a:rPr lang="en-US" dirty="0"/>
                  <a:t> with </a:t>
                </a:r>
                <a:r>
                  <a:rPr lang="en-US" b="1" dirty="0">
                    <a:solidFill>
                      <a:srgbClr val="FF0000"/>
                    </a:solidFill>
                  </a:rPr>
                  <a:t>leading element ‘1’</a:t>
                </a:r>
                <a:r>
                  <a:rPr lang="en-US" dirty="0"/>
                  <a:t>.</a:t>
                </a:r>
                <a:endParaRPr lang="en-IN" dirty="0"/>
              </a:p>
              <a:p>
                <a:pPr marL="1058862" lvl="1" indent="-514350" fontAlgn="base">
                  <a:buFont typeface="+mj-lt"/>
                  <a:buAutoNum type="arabicPeriod"/>
                </a:pPr>
                <a:r>
                  <a:rPr lang="en-US" dirty="0"/>
                  <a:t>Identify all the </a:t>
                </a:r>
                <a:r>
                  <a:rPr lang="en-US" b="1" dirty="0">
                    <a:solidFill>
                      <a:srgbClr val="FF0000"/>
                    </a:solidFill>
                  </a:rPr>
                  <a:t>non-zero row vectors</a:t>
                </a:r>
                <a:r>
                  <a:rPr lang="en-US" dirty="0"/>
                  <a:t> in the row-echelon form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dirty="0"/>
                  <a:t>.</a:t>
                </a:r>
                <a:endParaRPr lang="en-IN" dirty="0"/>
              </a:p>
              <a:p>
                <a:pPr marL="1058862" lvl="1" indent="-514350" fontAlgn="base">
                  <a:buFont typeface="+mj-lt"/>
                  <a:buAutoNum type="arabicPeriod"/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dirty="0"/>
                  <a:t> be the </a:t>
                </a:r>
                <a:r>
                  <a:rPr lang="en-US" b="1" dirty="0">
                    <a:solidFill>
                      <a:srgbClr val="FF0000"/>
                    </a:solidFill>
                  </a:rPr>
                  <a:t>set of all non-zero row vectors</a:t>
                </a:r>
                <a:r>
                  <a:rPr lang="en-US" dirty="0"/>
                  <a:t> obtained in step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dirty="0"/>
                  <a:t> forms a basis for the </a:t>
                </a:r>
                <a:r>
                  <a:rPr lang="en-US" b="1" dirty="0">
                    <a:solidFill>
                      <a:srgbClr val="FF0000"/>
                    </a:solidFill>
                  </a:rPr>
                  <a:t>row space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dirty="0"/>
                  <a:t>.</a:t>
                </a:r>
                <a:endParaRPr lang="en-IN" dirty="0"/>
              </a:p>
              <a:p>
                <a:pPr marL="1058862" lvl="1" indent="-514350" fontAlgn="base">
                  <a:buFont typeface="+mj-lt"/>
                  <a:buAutoNum type="arabicPeriod"/>
                </a:pPr>
                <a:r>
                  <a:rPr lang="en-US" dirty="0"/>
                  <a:t>The row space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𝐑𝐨𝐰</m:t>
                        </m:r>
                        <m:d>
                          <m:dPr>
                            <m:ctrlP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  <m:r>
                          <a:rPr lang="en-US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dirty="0"/>
                  <a:t> is the span of the vectors of a basis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544512" lvl="1" indent="0" fontAlgn="base">
                  <a:buFont typeface="Wingdings 3" panose="05040102010807070707" pitchFamily="18" charset="2"/>
                  <a:buNone/>
                </a:pPr>
                <a:r>
                  <a:rPr lang="en-US" dirty="0"/>
                  <a:t>	  i.e.,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𝐑𝐨𝐰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𝐒𝐩𝐚𝐧</m:t>
                    </m:r>
                    <m:d>
                      <m:dPr>
                        <m:begChr m:val="{"/>
                        <m:endChr m:val="}"/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𝐯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𝐯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𝐯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𝐤</m:t>
                            </m:r>
                          </m:sub>
                        </m:sSub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dirty="0"/>
              </a:p>
              <a:p>
                <a:pPr marL="544512" lvl="1" indent="0" fontAlgn="base">
                  <a:buFont typeface="Wingdings 3" panose="05040102010807070707" pitchFamily="18" charset="2"/>
                  <a:buNone/>
                </a:pPr>
                <a:endParaRPr lang="en-IN" dirty="0"/>
              </a:p>
            </p:txBody>
          </p:sp>
        </mc:Choice>
        <mc:Fallback xmlns="">
          <p:sp>
            <p:nvSpPr>
              <p:cNvPr id="6" name="Content Placeholder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180" y="855159"/>
                <a:ext cx="11929641" cy="5590565"/>
              </a:xfrm>
              <a:prstGeom prst="rect">
                <a:avLst/>
              </a:prstGeom>
              <a:blipFill>
                <a:blip r:embed="rId2"/>
                <a:stretch>
                  <a:fillRect l="-971" r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289130F6-FE40-9CFE-6BC1-71DE2ACDC50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1177" y="5588000"/>
                <a:ext cx="11929641" cy="925399"/>
              </a:xfrm>
              <a:prstGeom prst="rect">
                <a:avLst/>
              </a:prstGeom>
              <a:noFill/>
              <a:ln w="12700" cap="flat" cmpd="sng" algn="ctr">
                <a:solidFill>
                  <a:srgbClr val="FF0000"/>
                </a:solidFill>
                <a:prstDash val="lgDash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indent="0" algn="just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defRPr>
                </a:lvl1pPr>
                <a:lvl2pPr marL="809625" indent="-352425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>
                    <a:solidFill>
                      <a:schemeClr val="tx1"/>
                    </a:solidFill>
                  </a:defRPr>
                </a:lvl2pPr>
                <a:lvl3pPr marL="1143000" indent="-228600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</a:defRPr>
                </a:lvl3pPr>
                <a:lvl4pPr marL="1600200" indent="-228600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>
                    <a:solidFill>
                      <a:schemeClr val="tx1"/>
                    </a:solidFill>
                  </a:defRPr>
                </a:lvl4pPr>
                <a:lvl5pPr marL="2057400" indent="-228600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>
                    <a:solidFill>
                      <a:schemeClr val="tx1"/>
                    </a:solidFill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pPr>
                  <a:lnSpc>
                    <a:spcPct val="100000"/>
                  </a:lnSpc>
                </a:pPr>
                <a:r>
                  <a:rPr lang="en-US" b="1" dirty="0"/>
                  <a:t>Note: </a:t>
                </a:r>
                <a:r>
                  <a:rPr lang="en-US" dirty="0"/>
                  <a:t>The number of vectors in basis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dirty="0"/>
                  <a:t> is called the dimension of row space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dirty="0"/>
                  <a:t>. 	i.e.,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𝐝𝐢𝐦</m:t>
                        </m:r>
                      </m:fName>
                      <m:e>
                        <m:d>
                          <m:d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𝐑𝐨𝐰</m:t>
                            </m:r>
                            <m:d>
                              <m:dPr>
                                <m:ctrlPr>
                                  <a:rPr lang="en-US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d>
                          </m:e>
                        </m:d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𝐫𝐚𝐧𝐤</m:t>
                        </m:r>
                        <m:d>
                          <m:d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𝛒</m:t>
                        </m:r>
                        <m:d>
                          <m:d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𝐁</m:t>
                            </m:r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</m:func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dirty="0"/>
              </a:p>
            </p:txBody>
          </p:sp>
        </mc:Choice>
        <mc:Fallback xmlns="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289130F6-FE40-9CFE-6BC1-71DE2ACDC5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177" y="5588000"/>
                <a:ext cx="11929641" cy="925399"/>
              </a:xfrm>
              <a:prstGeom prst="rect">
                <a:avLst/>
              </a:prstGeom>
              <a:blipFill>
                <a:blip r:embed="rId3"/>
                <a:stretch>
                  <a:fillRect l="-1021" t="-10458" r="-1021" b="-19608"/>
                </a:stretch>
              </a:blipFill>
              <a:ln w="12700" cap="flat" cmpd="sng" algn="ctr">
                <a:solidFill>
                  <a:srgbClr val="FF0000"/>
                </a:solidFill>
                <a:prstDash val="lgDash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6776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Procedure to Find the Column Space and its Basis from a Matrix A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3"/>
              <p:cNvSpPr txBox="1">
                <a:spLocks/>
              </p:cNvSpPr>
              <p:nvPr/>
            </p:nvSpPr>
            <p:spPr>
              <a:xfrm>
                <a:off x="131180" y="855159"/>
                <a:ext cx="11929641" cy="55905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13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dirty="0"/>
                  <a:t> be 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matrix.</a:t>
                </a:r>
                <a:endParaRPr lang="en-IN" dirty="0"/>
              </a:p>
              <a:p>
                <a:pPr marL="1058862" lvl="1" indent="-514350" fontAlgn="base">
                  <a:buFont typeface="+mj-lt"/>
                  <a:buAutoNum type="arabicPeriod"/>
                </a:pPr>
                <a:r>
                  <a:rPr lang="en-US" dirty="0">
                    <a:latin typeface="+mj-lt"/>
                  </a:rPr>
                  <a:t>Convert the matrix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dirty="0">
                    <a:latin typeface="+mj-lt"/>
                  </a:rPr>
                  <a:t> into a </a:t>
                </a:r>
                <a:r>
                  <a:rPr lang="en-US" b="1" dirty="0">
                    <a:solidFill>
                      <a:srgbClr val="FF0000"/>
                    </a:solidFill>
                    <a:latin typeface="+mj-lt"/>
                  </a:rPr>
                  <a:t>row-echelon form</a:t>
                </a:r>
                <a:r>
                  <a:rPr lang="en-US" dirty="0">
                    <a:latin typeface="+mj-lt"/>
                  </a:rPr>
                  <a:t> with </a:t>
                </a:r>
                <a:r>
                  <a:rPr lang="en-US" b="1" dirty="0">
                    <a:solidFill>
                      <a:srgbClr val="FF0000"/>
                    </a:solidFill>
                    <a:latin typeface="+mj-lt"/>
                  </a:rPr>
                  <a:t>leading element ‘1’</a:t>
                </a:r>
                <a:r>
                  <a:rPr lang="en-US" dirty="0">
                    <a:latin typeface="+mj-lt"/>
                  </a:rPr>
                  <a:t>.</a:t>
                </a:r>
              </a:p>
              <a:p>
                <a:pPr marL="1058862" lvl="1" indent="-514350" fontAlgn="base">
                  <a:buFont typeface="+mj-lt"/>
                  <a:buAutoNum type="arabicPeriod"/>
                </a:pPr>
                <a:r>
                  <a:rPr lang="en-US" i="0" kern="0" dirty="0">
                    <a:latin typeface="+mj-lt"/>
                    <a:ea typeface="Times New Roman" panose="02020603050405020304" pitchFamily="18" charset="0"/>
                    <a:cs typeface="Shruti" panose="020B0502040204020203"/>
                  </a:rPr>
                  <a:t>Identify the </a:t>
                </a:r>
                <a:r>
                  <a:rPr lang="en-US" b="1" kern="0" dirty="0">
                    <a:solidFill>
                      <a:srgbClr val="FF0000"/>
                    </a:solidFill>
                    <a:latin typeface="+mj-lt"/>
                    <a:ea typeface="Times New Roman" panose="02020603050405020304" pitchFamily="18" charset="0"/>
                    <a:cs typeface="Shruti" panose="020B0502040204020203"/>
                  </a:rPr>
                  <a:t>columns containing leading 1’s</a:t>
                </a:r>
                <a:r>
                  <a:rPr lang="en-US" kern="0" dirty="0">
                    <a:latin typeface="+mj-lt"/>
                    <a:ea typeface="Times New Roman" panose="02020603050405020304" pitchFamily="18" charset="0"/>
                    <a:cs typeface="Shruti" panose="020B0502040204020203"/>
                  </a:rPr>
                  <a:t> </a:t>
                </a:r>
                <a:r>
                  <a:rPr lang="en-US" i="0" kern="0" dirty="0">
                    <a:latin typeface="+mj-lt"/>
                    <a:ea typeface="Times New Roman" panose="02020603050405020304" pitchFamily="18" charset="0"/>
                    <a:cs typeface="Shruti" panose="020B0502040204020203"/>
                  </a:rPr>
                  <a:t>in the row-echelon form of A</a:t>
                </a:r>
                <a:r>
                  <a:rPr lang="en-US" kern="0" dirty="0">
                    <a:latin typeface="+mj-lt"/>
                    <a:ea typeface="Times New Roman" panose="02020603050405020304" pitchFamily="18" charset="0"/>
                    <a:cs typeface="Shruti" panose="020B0502040204020203"/>
                  </a:rPr>
                  <a:t>.</a:t>
                </a:r>
              </a:p>
              <a:p>
                <a:pPr marL="1058862" lvl="1" indent="-514350" fontAlgn="base">
                  <a:buFont typeface="+mj-lt"/>
                  <a:buAutoNum type="arabicPeriod"/>
                </a:pPr>
                <a:r>
                  <a:rPr lang="en-US" i="0" kern="0" dirty="0">
                    <a:latin typeface="+mj-lt"/>
                    <a:ea typeface="Times New Roman" panose="02020603050405020304" pitchFamily="18" charset="0"/>
                    <a:cs typeface="Shruti" panose="020B0502040204020203"/>
                  </a:rPr>
                  <a:t>Select the</a:t>
                </a:r>
                <a:r>
                  <a:rPr lang="en-US" kern="0" dirty="0">
                    <a:latin typeface="+mj-lt"/>
                    <a:ea typeface="Times New Roman" panose="02020603050405020304" pitchFamily="18" charset="0"/>
                    <a:cs typeface="Shruti" panose="020B0502040204020203"/>
                  </a:rPr>
                  <a:t> </a:t>
                </a:r>
                <a:r>
                  <a:rPr lang="en-US" b="1" kern="0" dirty="0">
                    <a:solidFill>
                      <a:srgbClr val="FF0000"/>
                    </a:solidFill>
                    <a:latin typeface="+mj-lt"/>
                    <a:ea typeface="Times New Roman" panose="02020603050405020304" pitchFamily="18" charset="0"/>
                    <a:cs typeface="Shruti" panose="020B0502040204020203"/>
                  </a:rPr>
                  <a:t>corresponding columns</a:t>
                </a:r>
                <a:r>
                  <a:rPr lang="en-US" kern="0" dirty="0">
                    <a:latin typeface="+mj-lt"/>
                    <a:ea typeface="Times New Roman" panose="02020603050405020304" pitchFamily="18" charset="0"/>
                    <a:cs typeface="Shruti" panose="020B0502040204020203"/>
                  </a:rPr>
                  <a:t> from the original </a:t>
                </a:r>
                <a:r>
                  <a:rPr lang="en-US" b="1" kern="0" dirty="0">
                    <a:solidFill>
                      <a:srgbClr val="FF0000"/>
                    </a:solidFill>
                    <a:latin typeface="+mj-lt"/>
                    <a:ea typeface="Times New Roman" panose="02020603050405020304" pitchFamily="18" charset="0"/>
                    <a:cs typeface="Shruti" panose="020B0502040204020203"/>
                  </a:rPr>
                  <a:t>matrix </a:t>
                </a:r>
                <a14:m>
                  <m:oMath xmlns:m="http://schemas.openxmlformats.org/officeDocument/2006/math">
                    <m:r>
                      <a:rPr lang="en-US" b="1" i="1" ker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Times New Roman" panose="02020603050405020304" pitchFamily="18" charset="0"/>
                        <a:cs typeface="Shruti" panose="020B0502040204020203"/>
                      </a:rPr>
                      <m:t>𝐀</m:t>
                    </m:r>
                  </m:oMath>
                </a14:m>
                <a:r>
                  <a:rPr lang="en-US" kern="0" dirty="0">
                    <a:latin typeface="+mj-lt"/>
                    <a:ea typeface="Times New Roman" panose="02020603050405020304" pitchFamily="18" charset="0"/>
                    <a:cs typeface="Shruti" panose="020B0502040204020203"/>
                  </a:rPr>
                  <a:t>. 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ker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Shruti" panose="020B0502040204020203"/>
                      </a:rPr>
                      <m:t>B</m:t>
                    </m:r>
                    <m:r>
                      <a:rPr lang="en-US" ker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Shruti" panose="020B0502040204020203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 ker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hruti" panose="020B0502040204020203"/>
                          </a:rPr>
                        </m:ctrlPr>
                      </m:dPr>
                      <m:e>
                        <m:r>
                          <a:rPr lang="en-US" ker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hruti" panose="020B0502040204020203"/>
                          </a:rPr>
                          <m:t> </m:t>
                        </m:r>
                        <m:sSub>
                          <m:sSubPr>
                            <m:ctrlPr>
                              <a:rPr lang="en-US" i="1" ker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Shruti" panose="020B0502040204020203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ker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Shruti" panose="020B0502040204020203"/>
                              </a:rPr>
                              <m:t>v</m:t>
                            </m:r>
                          </m:e>
                          <m:sub>
                            <m:r>
                              <a:rPr lang="en-US" ker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Shruti" panose="020B0502040204020203"/>
                              </a:rPr>
                              <m:t>1</m:t>
                            </m:r>
                          </m:sub>
                        </m:sSub>
                        <m:r>
                          <a:rPr lang="en-US" ker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hruti" panose="020B0502040204020203"/>
                          </a:rPr>
                          <m:t>,</m:t>
                        </m:r>
                        <m:sSub>
                          <m:sSubPr>
                            <m:ctrlPr>
                              <a:rPr lang="en-US" i="1" ker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Shruti" panose="020B0502040204020203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ker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Shruti" panose="020B0502040204020203"/>
                              </a:rPr>
                              <m:t>v</m:t>
                            </m:r>
                          </m:e>
                          <m:sub>
                            <m:r>
                              <a:rPr lang="en-US" ker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Shruti" panose="020B0502040204020203"/>
                              </a:rPr>
                              <m:t>2</m:t>
                            </m:r>
                          </m:sub>
                        </m:sSub>
                        <m:r>
                          <a:rPr lang="en-US" ker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hruti" panose="020B0502040204020203"/>
                          </a:rPr>
                          <m:t>,…,</m:t>
                        </m:r>
                        <m:sSub>
                          <m:sSubPr>
                            <m:ctrlPr>
                              <a:rPr lang="en-US" i="1" ker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Shruti" panose="020B0502040204020203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ker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Shruti" panose="020B0502040204020203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ker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Shruti" panose="020B0502040204020203"/>
                              </a:rPr>
                              <m:t>l</m:t>
                            </m:r>
                          </m:sub>
                        </m:sSub>
                        <m:r>
                          <a:rPr lang="en-US" ker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hruti" panose="020B0502040204020203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kern="0" dirty="0">
                    <a:latin typeface="+mj-lt"/>
                    <a:ea typeface="Times New Roman" panose="02020603050405020304" pitchFamily="18" charset="0"/>
                    <a:cs typeface="Shruti" panose="020B0502040204020203"/>
                  </a:rPr>
                  <a:t> be the set of these columns of the original matrix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ker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Shruti" panose="020B0502040204020203"/>
                      </a:rPr>
                      <m:t>A</m:t>
                    </m:r>
                    <m:r>
                      <a:rPr lang="en-US" ker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Shruti" panose="020B0502040204020203"/>
                      </a:rPr>
                      <m:t>.</m:t>
                    </m:r>
                  </m:oMath>
                </a14:m>
                <a:r>
                  <a:rPr lang="en-US" kern="0" dirty="0">
                    <a:latin typeface="+mj-lt"/>
                    <a:ea typeface="Times New Roman" panose="02020603050405020304" pitchFamily="18" charset="0"/>
                    <a:cs typeface="Shruti" panose="020B0502040204020203"/>
                  </a:rPr>
                  <a:t>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ker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Shruti" panose="020B0502040204020203"/>
                      </a:rPr>
                      <m:t>B</m:t>
                    </m:r>
                  </m:oMath>
                </a14:m>
                <a:r>
                  <a:rPr lang="en-US" kern="0" dirty="0">
                    <a:latin typeface="+mj-lt"/>
                    <a:ea typeface="Times New Roman" panose="02020603050405020304" pitchFamily="18" charset="0"/>
                    <a:cs typeface="Shruti" panose="020B0502040204020203"/>
                  </a:rPr>
                  <a:t> forms a basis for the </a:t>
                </a:r>
                <a:r>
                  <a:rPr lang="en-US" b="1" kern="0" dirty="0">
                    <a:solidFill>
                      <a:srgbClr val="FF0000"/>
                    </a:solidFill>
                    <a:latin typeface="+mj-lt"/>
                    <a:ea typeface="Times New Roman" panose="02020603050405020304" pitchFamily="18" charset="0"/>
                    <a:cs typeface="Shruti" panose="020B0502040204020203"/>
                  </a:rPr>
                  <a:t>column space</a:t>
                </a:r>
                <a:r>
                  <a:rPr lang="en-US" kern="0" dirty="0">
                    <a:latin typeface="+mj-lt"/>
                    <a:ea typeface="Times New Roman" panose="02020603050405020304" pitchFamily="18" charset="0"/>
                    <a:cs typeface="Shruti" panose="020B0502040204020203"/>
                  </a:rPr>
                  <a:t>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ker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Shruti" panose="020B0502040204020203"/>
                      </a:rPr>
                      <m:t>A</m:t>
                    </m:r>
                  </m:oMath>
                </a14:m>
                <a:r>
                  <a:rPr lang="en-US" kern="0" dirty="0">
                    <a:latin typeface="+mj-lt"/>
                    <a:ea typeface="Times New Roman" panose="02020603050405020304" pitchFamily="18" charset="0"/>
                    <a:cs typeface="Shruti" panose="020B0502040204020203"/>
                  </a:rPr>
                  <a:t>.</a:t>
                </a:r>
              </a:p>
              <a:p>
                <a:pPr marL="1058862" lvl="1" indent="-514350" fontAlgn="base">
                  <a:lnSpc>
                    <a:spcPct val="90000"/>
                  </a:lnSpc>
                  <a:buFont typeface="+mj-lt"/>
                  <a:buAutoNum type="arabicPeriod"/>
                </a:pPr>
                <a:r>
                  <a:rPr lang="en-US" dirty="0">
                    <a:latin typeface="+mj-lt"/>
                    <a:ea typeface="Calibri" panose="020F0502020204030204" pitchFamily="34" charset="0"/>
                    <a:cs typeface="Shruti" panose="020B0502040204020203"/>
                  </a:rPr>
                  <a:t>The column space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/>
                      </a:rPr>
                      <m:t>A</m:t>
                    </m:r>
                  </m:oMath>
                </a14:m>
                <a:r>
                  <a:rPr lang="en-US" dirty="0">
                    <a:latin typeface="+mj-lt"/>
                    <a:ea typeface="Calibri" panose="020F0502020204030204" pitchFamily="34" charset="0"/>
                    <a:cs typeface="Shruti" panose="020B0502040204020203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/>
                          </a:rPr>
                        </m:ctrlPr>
                      </m:dPr>
                      <m:e>
                        <m:r>
                          <a:rPr lang="en-US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/>
                          </a:rPr>
                          <m:t> 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/>
                          </a:rPr>
                          <m:t>𝐂𝐨𝐥</m:t>
                        </m:r>
                        <m:d>
                          <m:d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/>
                              </a:rPr>
                              <m:t>𝐀</m:t>
                            </m:r>
                          </m:e>
                        </m:d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dirty="0">
                    <a:latin typeface="+mj-lt"/>
                    <a:ea typeface="Calibri" panose="020F0502020204030204" pitchFamily="34" charset="0"/>
                    <a:cs typeface="Shruti" panose="020B0502040204020203"/>
                  </a:rPr>
                  <a:t> is the span of the vectors of a basis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/>
                      </a:rPr>
                      <m:t>B</m:t>
                    </m:r>
                  </m:oMath>
                </a14:m>
                <a:r>
                  <a:rPr lang="en-US" dirty="0">
                    <a:latin typeface="+mj-lt"/>
                    <a:ea typeface="Calibri" panose="020F0502020204030204" pitchFamily="34" charset="0"/>
                    <a:cs typeface="Shruti" panose="020B0502040204020203"/>
                  </a:rPr>
                  <a:t>. </a:t>
                </a:r>
              </a:p>
              <a:p>
                <a:pPr marL="544512" lvl="1" indent="0" fontAlgn="base">
                  <a:lnSpc>
                    <a:spcPct val="90000"/>
                  </a:lnSpc>
                  <a:buNone/>
                </a:pPr>
                <a:endParaRPr lang="en-US" sz="1000" dirty="0">
                  <a:latin typeface="+mj-lt"/>
                  <a:ea typeface="Calibri" panose="020F0502020204030204" pitchFamily="34" charset="0"/>
                  <a:cs typeface="Shruti" panose="020B0502040204020203"/>
                </a:endParaRPr>
              </a:p>
              <a:p>
                <a:pPr marL="544512" lvl="1" indent="0" fontAlgn="base">
                  <a:lnSpc>
                    <a:spcPct val="90000"/>
                  </a:lnSpc>
                  <a:buNone/>
                </a:pPr>
                <a:r>
                  <a:rPr lang="en-US" dirty="0">
                    <a:latin typeface="+mj-lt"/>
                    <a:ea typeface="Calibri" panose="020F0502020204030204" pitchFamily="34" charset="0"/>
                    <a:cs typeface="Shruti" panose="020B0502040204020203"/>
                  </a:rPr>
                  <a:t>       i.e.,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/>
                      </a:rPr>
                      <m:t>𝐂𝐨𝐥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/>
                          </a:rPr>
                          <m:t>𝐀</m:t>
                        </m:r>
                      </m:e>
                    </m:d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/>
                      </a:rPr>
                      <m:t>=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/>
                      </a:rPr>
                      <m:t>𝐒𝐩𝐚𝐧</m:t>
                    </m:r>
                    <m:d>
                      <m:dPr>
                        <m:begChr m:val="{"/>
                        <m:endChr m:val="}"/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/>
                          </a:rPr>
                        </m:ctrlPr>
                      </m:d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/>
                          </a:rPr>
                          <m:t> 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/>
                              </a:rPr>
                              <m:t>𝐯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/>
                              </a:rPr>
                              <m:t>𝟏</m:t>
                            </m:r>
                          </m:sub>
                        </m:sSub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/>
                          </a:rPr>
                          <m:t>,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/>
                              </a:rPr>
                              <m:t>𝐯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/>
                              </a:rPr>
                              <m:t>𝟐</m:t>
                            </m:r>
                          </m:sub>
                        </m:sSub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/>
                          </a:rPr>
                          <m:t>,…,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/>
                              </a:rPr>
                              <m:t>𝐯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/>
                              </a:rPr>
                              <m:t>𝐥</m:t>
                            </m:r>
                          </m:sub>
                        </m:sSub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/>
                          </a:rPr>
                          <m:t> </m:t>
                        </m:r>
                      </m:e>
                    </m:d>
                  </m:oMath>
                </a14:m>
                <a:endParaRPr lang="en-US" dirty="0">
                  <a:latin typeface="+mj-lt"/>
                </a:endParaRPr>
              </a:p>
              <a:p>
                <a:pPr marL="544512" lvl="1" indent="0" fontAlgn="base">
                  <a:buFont typeface="Wingdings 3" panose="05040102010807070707" pitchFamily="18" charset="2"/>
                  <a:buNone/>
                </a:pPr>
                <a:endParaRPr lang="en-IN" dirty="0"/>
              </a:p>
            </p:txBody>
          </p:sp>
        </mc:Choice>
        <mc:Fallback xmlns="">
          <p:sp>
            <p:nvSpPr>
              <p:cNvPr id="6" name="Content Placeholder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180" y="855159"/>
                <a:ext cx="11929641" cy="5590565"/>
              </a:xfrm>
              <a:prstGeom prst="rect">
                <a:avLst/>
              </a:prstGeom>
              <a:blipFill>
                <a:blip r:embed="rId2"/>
                <a:stretch>
                  <a:fillRect l="-9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89130F6-FE40-9CFE-6BC1-71DE2ACDC50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1177" y="5588000"/>
                <a:ext cx="11929641" cy="925399"/>
              </a:xfrm>
              <a:prstGeom prst="rect">
                <a:avLst/>
              </a:prstGeom>
              <a:noFill/>
              <a:ln w="12700" cap="flat" cmpd="sng" algn="ctr">
                <a:solidFill>
                  <a:srgbClr val="FF0000"/>
                </a:solidFill>
                <a:prstDash val="lgDash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indent="0" algn="just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defRPr>
                </a:lvl1pPr>
                <a:lvl2pPr marL="809625" indent="-352425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>
                    <a:solidFill>
                      <a:schemeClr val="tx1"/>
                    </a:solidFill>
                  </a:defRPr>
                </a:lvl2pPr>
                <a:lvl3pPr marL="1143000" indent="-228600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</a:defRPr>
                </a:lvl3pPr>
                <a:lvl4pPr marL="1600200" indent="-228600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>
                    <a:solidFill>
                      <a:schemeClr val="tx1"/>
                    </a:solidFill>
                  </a:defRPr>
                </a:lvl4pPr>
                <a:lvl5pPr marL="2057400" indent="-228600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>
                    <a:solidFill>
                      <a:schemeClr val="tx1"/>
                    </a:solidFill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pPr>
                  <a:lnSpc>
                    <a:spcPct val="100000"/>
                  </a:lnSpc>
                </a:pPr>
                <a:r>
                  <a:rPr lang="en-US" b="1" dirty="0"/>
                  <a:t>Note: </a:t>
                </a:r>
                <a:r>
                  <a:rPr lang="en-US" dirty="0"/>
                  <a:t>The number of vectors in basis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dirty="0"/>
                  <a:t> is called the dimension of the column space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dirty="0"/>
                  <a:t>. 	i.e.,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𝐝𝐢𝐦</m:t>
                        </m:r>
                      </m:fName>
                      <m:e>
                        <m:d>
                          <m:d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𝐂𝐨𝐥</m:t>
                            </m:r>
                            <m:d>
                              <m:dPr>
                                <m:ctrlPr>
                                  <a:rPr lang="en-US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d>
                          </m:e>
                        </m:d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𝐫𝐚𝐧𝐤</m:t>
                        </m:r>
                        <m:d>
                          <m:d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𝛒</m:t>
                        </m:r>
                        <m:d>
                          <m:d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𝐁</m:t>
                            </m:r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𝐥</m:t>
                        </m:r>
                      </m:e>
                    </m:func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89130F6-FE40-9CFE-6BC1-71DE2ACDC5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177" y="5588000"/>
                <a:ext cx="11929641" cy="925399"/>
              </a:xfrm>
              <a:prstGeom prst="rect">
                <a:avLst/>
              </a:prstGeom>
              <a:blipFill>
                <a:blip r:embed="rId3"/>
                <a:stretch>
                  <a:fillRect l="-1021" t="-10458" r="-1021" b="-19608"/>
                </a:stretch>
              </a:blipFill>
              <a:ln w="12700" cap="flat" cmpd="sng" algn="ctr">
                <a:solidFill>
                  <a:srgbClr val="FF0000"/>
                </a:solidFill>
                <a:prstDash val="lgDash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1926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5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27E3E-98C7-EB06-6EBD-292486E71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6FE5199-028B-6EAC-49C0-C9F337CD22A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Method:6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6FE5199-028B-6EAC-49C0-C9F337CD22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44EEFF5A-4182-FC3F-2B33-810F91ABC943}"/>
              </a:ext>
            </a:extLst>
          </p:cNvPr>
          <p:cNvSpPr txBox="1">
            <a:spLocks/>
          </p:cNvSpPr>
          <p:nvPr/>
        </p:nvSpPr>
        <p:spPr>
          <a:xfrm>
            <a:off x="205273" y="800163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b="1" dirty="0">
              <a:solidFill>
                <a:schemeClr val="tx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0157254E-2960-BA66-CC20-7AC6435AA7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50756" y="789729"/>
                <a:ext cx="10041132" cy="2424309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Find the basis and dimension for the row and column space for the matrix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A</m:t>
                    </m:r>
                    <m:r>
                      <a:rPr lang="en-US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 </m:t>
                        </m:r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</m:t>
                              </m:r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1</m:t>
                              </m:r>
                            </m:e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−3</m:t>
                              </m:r>
                            </m:e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4</m:t>
                              </m:r>
                            </m:e>
                          </m:mr>
                          <m:mr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2</m:t>
                              </m:r>
                            </m:e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−6</m:t>
                              </m:r>
                            </m:e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9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</m:t>
                                    </m:r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2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−1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−</m:t>
                                    </m:r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6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 3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</m:t>
                                    </m:r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9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−4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   </m:t>
                        </m:r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IN" sz="2800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</m:t>
                              </m:r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5</m:t>
                              </m:r>
                            </m:e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 4</m:t>
                              </m:r>
                            </m:e>
                          </m:mr>
                          <m:mr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8</m:t>
                              </m:r>
                            </m:e>
                            <m:e>
                              <m: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 2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−</m:t>
                                    </m:r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 2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</m:t>
                                    </m:r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9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−5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</m:t>
                                    </m:r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 7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−4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  <m: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.</a:t>
                </a:r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0157254E-2960-BA66-CC20-7AC6435AA7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0756" y="789729"/>
                <a:ext cx="10041132" cy="2424309"/>
              </a:xfrm>
              <a:prstGeom prst="rect">
                <a:avLst/>
              </a:prstGeom>
              <a:blipFill>
                <a:blip r:embed="rId4"/>
                <a:stretch>
                  <a:fillRect l="-1275" r="-1214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4FDEF2-D842-4E33-3706-472C8D9056D7}"/>
              </a:ext>
            </a:extLst>
          </p:cNvPr>
          <p:cNvSpPr/>
          <p:nvPr/>
        </p:nvSpPr>
        <p:spPr>
          <a:xfrm>
            <a:off x="122279" y="854244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9E58EA07-9AC6-A2FE-F2FA-6AD155944809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p:sp>
        <p:nvSpPr>
          <p:cNvPr id="47" name="Rectangle: Rounded Corners 12">
            <a:extLst>
              <a:ext uri="{FF2B5EF4-FFF2-40B4-BE49-F238E27FC236}">
                <a16:creationId xmlns:a16="http://schemas.microsoft.com/office/drawing/2014/main" id="{B84B7CE6-91E9-83CE-9435-AAD10616172A}"/>
              </a:ext>
            </a:extLst>
          </p:cNvPr>
          <p:cNvSpPr/>
          <p:nvPr/>
        </p:nvSpPr>
        <p:spPr>
          <a:xfrm>
            <a:off x="122278" y="3406062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4">
                <a:extLst>
                  <a:ext uri="{FF2B5EF4-FFF2-40B4-BE49-F238E27FC236}">
                    <a16:creationId xmlns:a16="http://schemas.microsoft.com/office/drawing/2014/main" id="{289130F6-FE40-9CFE-6BC1-71DE2ACDC50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63456" y="3390885"/>
                <a:ext cx="10198344" cy="966353"/>
              </a:xfrm>
              <a:prstGeom prst="rect">
                <a:avLst/>
              </a:prstGeom>
              <a:noFill/>
              <a:ln w="12700" cap="flat" cmpd="sng" algn="ctr">
                <a:solidFill>
                  <a:srgbClr val="FF0000"/>
                </a:solidFill>
                <a:prstDash val="lgDash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indent="0" algn="just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defRPr>
                </a:lvl1pPr>
                <a:lvl2pPr marL="809625" indent="-352425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>
                    <a:solidFill>
                      <a:schemeClr val="tx1"/>
                    </a:solidFill>
                  </a:defRPr>
                </a:lvl2pPr>
                <a:lvl3pPr marL="1143000" indent="-228600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</a:defRPr>
                </a:lvl3pPr>
                <a:lvl4pPr marL="1600200" indent="-228600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>
                    <a:solidFill>
                      <a:schemeClr val="tx1"/>
                    </a:solidFill>
                  </a:defRPr>
                </a:lvl4pPr>
                <a:lvl5pPr marL="2057400" indent="-228600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>
                    <a:solidFill>
                      <a:schemeClr val="tx1"/>
                    </a:solidFill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IN" dirty="0"/>
                  <a:t>Let us convert the given matrix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i="0" dirty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IN" dirty="0"/>
                  <a:t> into Row-Echelon Form to find the basis of row space and column space.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4">
                <a:extLst>
                  <a:ext uri="{FF2B5EF4-FFF2-40B4-BE49-F238E27FC236}">
                    <a16:creationId xmlns:a16="http://schemas.microsoft.com/office/drawing/2014/main" id="{289130F6-FE40-9CFE-6BC1-71DE2ACDC5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456" y="3390885"/>
                <a:ext cx="10198344" cy="966353"/>
              </a:xfrm>
              <a:prstGeom prst="rect">
                <a:avLst/>
              </a:prstGeom>
              <a:blipFill>
                <a:blip r:embed="rId5"/>
                <a:stretch>
                  <a:fillRect l="-1194" t="-4348" r="-1134" b="-11180"/>
                </a:stretch>
              </a:blipFill>
              <a:ln w="12700" cap="flat" cmpd="sng" algn="ctr">
                <a:solidFill>
                  <a:srgbClr val="FF0000"/>
                </a:solidFill>
                <a:prstDash val="lgDash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4987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213F7-48F9-2708-428C-AEB37C994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BE113A6D-7B3B-0A8B-2EC4-91603262B72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17141" y="4627121"/>
                <a:ext cx="5929267" cy="1558289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0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eqArr>
                            <m:eqArrPr>
                              <m:ctrlPr>
                                <a:rPr lang="en-US" i="1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d>
                                <m:dPr>
                                  <m:ctrlPr>
                                    <a:rPr lang="en-US" b="0" i="1" dirty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dirty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1, −3, 4, −2, 5, 4 </m:t>
                                  </m:r>
                                </m:e>
                              </m:d>
                              <m:r>
                                <a:rPr lang="en-US" b="0" i="1" dirty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d>
                                <m:dPr>
                                  <m:ctrlP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  <m: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−6</m:t>
                                  </m:r>
                                  <m: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a:rPr lang="en-US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d>
                                <m:dPr>
                                  <m:ctrlP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0, 0, </m:t>
                                  </m:r>
                                  <m:r>
                                    <a:rPr lang="en-US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</m:e>
                          </m:eqArr>
                          <m:r>
                            <a:rPr lang="en-US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BE113A6D-7B3B-0A8B-2EC4-91603262B7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141" y="4627121"/>
                <a:ext cx="5929267" cy="155828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D933828D-B525-93F6-71ED-7223D46CB36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92951" y="4629921"/>
                <a:ext cx="4287044" cy="1558289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eqArr>
                            <m:eqArrPr>
                              <m:ctrlPr>
                                <a:rPr lang="en-US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d>
                                <m:dPr>
                                  <m:ctrlPr>
                                    <a:rPr lang="en-US" b="0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1, −3, 4, −2, 5, 4 </m:t>
                                  </m:r>
                                </m:e>
                              </m:d>
                              <m:r>
                                <a:rPr lang="en-US" b="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d>
                                <m:dPr>
                                  <m:ctrlPr>
                                    <a:rPr lang="en-US" b="0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0, 0, 1, 3, −2, −6 </m:t>
                                  </m:r>
                                </m:e>
                              </m:d>
                              <m:r>
                                <a:rPr lang="en-US" b="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d>
                                <m:dPr>
                                  <m:ctrlP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0, 0, 0, 0, 1, 5 </m:t>
                                  </m:r>
                                </m:e>
                              </m:d>
                            </m:e>
                          </m:eqArr>
                          <m:r>
                            <a:rPr lang="en-US" b="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Content Placeholder 4">
                <a:extLst>
                  <a:ext uri="{FF2B5EF4-FFF2-40B4-BE49-F238E27FC236}">
                    <a16:creationId xmlns:a16="http://schemas.microsoft.com/office/drawing/2014/main" id="{D933828D-B525-93F6-71ED-7223D46CB3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2951" y="4629921"/>
                <a:ext cx="4287044" cy="155828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7F7F886-F2CD-EA45-45E4-AA74C1DF65B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91246" y="4627121"/>
                <a:ext cx="4287043" cy="1558289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eqArr>
                            <m:eqArrPr>
                              <m:ctrlPr>
                                <a:rPr lang="en-US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d>
                                <m:dPr>
                                  <m:ctrlPr>
                                    <a:rPr lang="en-US" b="0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1, −3, 4, −2, 5, 4 </m:t>
                                  </m:r>
                                </m:e>
                              </m:d>
                              <m:r>
                                <a:rPr lang="en-US" b="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d>
                                <m:dPr>
                                  <m:ctrlPr>
                                    <a:rPr lang="en-US" b="0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0, 0, 1, 3, −2, −6 </m:t>
                                  </m:r>
                                </m:e>
                              </m:d>
                              <m:r>
                                <a:rPr lang="en-US" b="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d>
                                <m:dPr>
                                  <m:ctrlPr>
                                    <a:rPr lang="en-US" b="0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0, 0, 0, 0, 1, 5 </m:t>
                                  </m:r>
                                </m:e>
                              </m:d>
                            </m:e>
                          </m:eqArr>
                          <m:r>
                            <a:rPr lang="en-US" b="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C7F7F886-F2CD-EA45-45E4-AA74C1DF65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1246" y="4627121"/>
                <a:ext cx="4287043" cy="155828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F56C7DF-821A-7045-F536-F969B233CBB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Method:6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F56C7DF-821A-7045-F536-F969B233CB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41A254F4-A8F2-672F-CFF1-C751D6942B89}"/>
              </a:ext>
            </a:extLst>
          </p:cNvPr>
          <p:cNvSpPr txBox="1">
            <a:spLocks/>
          </p:cNvSpPr>
          <p:nvPr/>
        </p:nvSpPr>
        <p:spPr>
          <a:xfrm>
            <a:off x="162743" y="1204206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b="1" dirty="0">
              <a:solidFill>
                <a:schemeClr val="tx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81F89838-0591-9C92-BE1D-45EE9F25F67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348" y="1204206"/>
                <a:ext cx="6068262" cy="1990113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A</m:t>
                      </m:r>
                      <m:r>
                        <a:rPr lang="en-US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</m:t>
                                </m:r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1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−3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4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2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−6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9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2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−1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−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6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3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9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−4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  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</m:t>
                                </m:r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5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 4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8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 2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−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2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9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−5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7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−4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 </m:t>
                          </m:r>
                        </m:e>
                      </m:d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81F89838-0591-9C92-BE1D-45EE9F25F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8" y="1204206"/>
                <a:ext cx="6068262" cy="199011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28DF96D5-4093-5A32-A78B-AACE23B17703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1D645E9-4A18-26D8-E180-00CF39486D27}"/>
                  </a:ext>
                </a:extLst>
              </p:cNvPr>
              <p:cNvSpPr/>
              <p:nvPr/>
            </p:nvSpPr>
            <p:spPr>
              <a:xfrm>
                <a:off x="851427" y="3359558"/>
                <a:ext cx="1701076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GB" sz="28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GB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d>
                        <m:d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1D645E9-4A18-26D8-E180-00CF39486D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427" y="3359558"/>
                <a:ext cx="1701076" cy="5436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DA03DF3E-C09D-3B66-9CE3-B9DD88F19BA7}"/>
                  </a:ext>
                </a:extLst>
              </p:cNvPr>
              <p:cNvSpPr/>
              <p:nvPr/>
            </p:nvSpPr>
            <p:spPr>
              <a:xfrm>
                <a:off x="2330976" y="3359558"/>
                <a:ext cx="1849244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IN" sz="2800" b="1" dirty="0">
                    <a:solidFill>
                      <a:srgbClr val="FF0000"/>
                    </a:solidFill>
                  </a:rPr>
                  <a:t>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GB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IN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d>
                      <m:dPr>
                        <m:ctrlP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IN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</m:d>
                  </m:oMath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DA03DF3E-C09D-3B66-9CE3-B9DD88F19B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0976" y="3359558"/>
                <a:ext cx="1849244" cy="543600"/>
              </a:xfrm>
              <a:prstGeom prst="rect">
                <a:avLst/>
              </a:prstGeom>
              <a:blipFill>
                <a:blip r:embed="rId9"/>
                <a:stretch>
                  <a:fillRect l="-6579" t="-11236" b="-269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A677DC0-4427-5E80-335C-0413E465B0E4}"/>
                  </a:ext>
                </a:extLst>
              </p:cNvPr>
              <p:cNvSpPr/>
              <p:nvPr/>
            </p:nvSpPr>
            <p:spPr>
              <a:xfrm>
                <a:off x="3944380" y="3357246"/>
                <a:ext cx="1849244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IN" sz="2800" b="1" dirty="0">
                    <a:solidFill>
                      <a:srgbClr val="FF0000"/>
                    </a:solidFill>
                  </a:rPr>
                  <a:t>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GB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IN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</m:sub>
                    </m:sSub>
                    <m:d>
                      <m:dPr>
                        <m:ctrlPr>
                          <a:rPr lang="en-IN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A677DC0-4427-5E80-335C-0413E465B0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4380" y="3357246"/>
                <a:ext cx="1849244" cy="543600"/>
              </a:xfrm>
              <a:prstGeom prst="rect">
                <a:avLst/>
              </a:prstGeom>
              <a:blipFill>
                <a:blip r:embed="rId10"/>
                <a:stretch>
                  <a:fillRect l="-6601" t="-12360" b="-269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4">
                <a:extLst>
                  <a:ext uri="{FF2B5EF4-FFF2-40B4-BE49-F238E27FC236}">
                    <a16:creationId xmlns:a16="http://schemas.microsoft.com/office/drawing/2014/main" id="{454AD07E-A877-49AB-F884-F15B900DDB8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2743" y="3954943"/>
                <a:ext cx="5613644" cy="1990113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d>
                        <m:dPr>
                          <m:begChr m:val="["/>
                          <m:endChr m:val="]"/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</m:t>
                                </m:r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1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−3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4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</m:t>
                                </m:r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0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</m:t>
                                </m:r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  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</m:t>
                                </m:r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5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 4</m:t>
                                </m:r>
                              </m:e>
                            </m:mr>
                            <m:mr>
                              <m:e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3</m:t>
                                </m:r>
                              </m:e>
                              <m:e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−6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3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−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−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 </m:t>
                          </m:r>
                        </m:e>
                      </m:d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9" name="Content Placeholder 4">
                <a:extLst>
                  <a:ext uri="{FF2B5EF4-FFF2-40B4-BE49-F238E27FC236}">
                    <a16:creationId xmlns:a16="http://schemas.microsoft.com/office/drawing/2014/main" id="{454AD07E-A877-49AB-F884-F15B900DDB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743" y="3954943"/>
                <a:ext cx="5613644" cy="199011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: Rounded Corners 37">
            <a:extLst>
              <a:ext uri="{FF2B5EF4-FFF2-40B4-BE49-F238E27FC236}">
                <a16:creationId xmlns:a16="http://schemas.microsoft.com/office/drawing/2014/main" id="{6A4F0367-2360-9C35-2ACD-BBD3DFD2C5D4}"/>
              </a:ext>
            </a:extLst>
          </p:cNvPr>
          <p:cNvSpPr/>
          <p:nvPr/>
        </p:nvSpPr>
        <p:spPr>
          <a:xfrm>
            <a:off x="6244134" y="1008179"/>
            <a:ext cx="36000" cy="527076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3FC691C-F5FA-D1CA-9408-E547131E7FA4}"/>
                  </a:ext>
                </a:extLst>
              </p:cNvPr>
              <p:cNvSpPr/>
              <p:nvPr/>
            </p:nvSpPr>
            <p:spPr>
              <a:xfrm>
                <a:off x="2330976" y="5945056"/>
                <a:ext cx="1701076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gu-IN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𝟐𝟑</m:t>
                          </m:r>
                        </m:sub>
                      </m:sSub>
                      <m:d>
                        <m:d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gu-IN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3FC691C-F5FA-D1CA-9408-E547131E7F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0976" y="5945056"/>
                <a:ext cx="1701076" cy="5436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78E599B3-D0CA-9F39-C9A6-16ADF44E645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17141" y="1204206"/>
                <a:ext cx="5613644" cy="1990113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d>
                        <m:dPr>
                          <m:begChr m:val="["/>
                          <m:endChr m:val="]"/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</m:t>
                                </m:r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1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−3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4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</m:t>
                                </m:r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0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</m:t>
                                </m:r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  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</m:t>
                                </m:r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5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 4</m:t>
                                </m:r>
                              </m:e>
                            </m:mr>
                            <m:mr>
                              <m:e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3</m:t>
                                </m:r>
                              </m:e>
                              <m:e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−6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5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 </m:t>
                          </m:r>
                        </m:e>
                      </m:d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78E599B3-D0CA-9F39-C9A6-16ADF44E64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141" y="1204206"/>
                <a:ext cx="5613644" cy="199011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A9D82EB2-5FE7-2CCE-C446-0778CC4411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58446" y="3357246"/>
                <a:ext cx="5054600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US" dirty="0">
                    <a:solidFill>
                      <a:srgbClr val="002060"/>
                    </a:solidFill>
                  </a:rPr>
                  <a:t>Here</a:t>
                </a:r>
                <a:r>
                  <a:rPr lang="en-GB" dirty="0">
                    <a:solidFill>
                      <a:srgbClr val="002060"/>
                    </a:solidFill>
                  </a:rPr>
                  <a:t>, There are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GB" dirty="0">
                    <a:solidFill>
                      <a:srgbClr val="002060"/>
                    </a:solidFill>
                  </a:rPr>
                  <a:t> non-zero rows.</a:t>
                </a:r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A9D82EB2-5FE7-2CCE-C446-0778CC4411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446" y="3357246"/>
                <a:ext cx="5054600" cy="543600"/>
              </a:xfrm>
              <a:prstGeom prst="rect">
                <a:avLst/>
              </a:prstGeom>
              <a:blipFill>
                <a:blip r:embed="rId14"/>
                <a:stretch>
                  <a:fillRect l="-120" t="-12360" b="-2584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56">
            <a:extLst>
              <a:ext uri="{FF2B5EF4-FFF2-40B4-BE49-F238E27FC236}">
                <a16:creationId xmlns:a16="http://schemas.microsoft.com/office/drawing/2014/main" id="{D13F663C-E47B-D171-6C31-9F0C4479F9C7}"/>
              </a:ext>
            </a:extLst>
          </p:cNvPr>
          <p:cNvSpPr/>
          <p:nvPr/>
        </p:nvSpPr>
        <p:spPr>
          <a:xfrm>
            <a:off x="7253245" y="1476644"/>
            <a:ext cx="4444550" cy="12303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90FCE7A8-0013-2702-6C73-B8485D21CA8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58446" y="3979483"/>
                <a:ext cx="5054600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US" b="1" i="0" dirty="0">
                    <a:solidFill>
                      <a:srgbClr val="FF0000"/>
                    </a:solidFill>
                    <a:latin typeface="+mj-lt"/>
                  </a:rPr>
                  <a:t>dim(Row Space)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GB" dirty="0">
                    <a:solidFill>
                      <a:srgbClr val="002060"/>
                    </a:solidFill>
                  </a:rPr>
                  <a:t>.</a:t>
                </a:r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90FCE7A8-0013-2702-6C73-B8485D21C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446" y="3979483"/>
                <a:ext cx="5054600" cy="543600"/>
              </a:xfrm>
              <a:prstGeom prst="rect">
                <a:avLst/>
              </a:prstGeom>
              <a:blipFill>
                <a:blip r:embed="rId15"/>
                <a:stretch>
                  <a:fillRect l="-120" t="-12360" b="-2584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FDA08795-A33D-CAFD-3F1F-67621578320C}"/>
              </a:ext>
            </a:extLst>
          </p:cNvPr>
          <p:cNvSpPr txBox="1">
            <a:spLocks/>
          </p:cNvSpPr>
          <p:nvPr/>
        </p:nvSpPr>
        <p:spPr>
          <a:xfrm>
            <a:off x="6324174" y="4990148"/>
            <a:ext cx="1490726" cy="7112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118745" algn="just">
              <a:lnSpc>
                <a:spcPct val="115000"/>
              </a:lnSpc>
              <a:spcBef>
                <a:spcPts val="1000"/>
              </a:spcBef>
              <a:spcAft>
                <a:spcPts val="800"/>
              </a:spcAft>
              <a:buClr>
                <a:schemeClr val="accent6"/>
              </a:buClr>
              <a:buFont typeface="Wingdings 3" panose="05040102010807070707" pitchFamily="18" charset="2"/>
              <a:buNone/>
              <a:defRPr sz="2800">
                <a:solidFill>
                  <a:srgbClr val="3A4A6A"/>
                </a:solidFill>
              </a:defRPr>
            </a:lvl1pPr>
          </a:lstStyle>
          <a:p>
            <a:pPr>
              <a:lnSpc>
                <a:spcPct val="90000"/>
              </a:lnSpc>
            </a:pPr>
            <a:r>
              <a:rPr lang="en-US" b="1" dirty="0">
                <a:solidFill>
                  <a:srgbClr val="FF0000"/>
                </a:solidFill>
              </a:rPr>
              <a:t>Basis</a:t>
            </a:r>
            <a:endParaRPr lang="en-US" dirty="0">
              <a:solidFill>
                <a:srgbClr val="002060"/>
              </a:solidFill>
              <a:latin typeface="Cambria Math" panose="02040503050406030204" pitchFamily="18" charset="0"/>
            </a:endParaRPr>
          </a:p>
        </p:txBody>
      </p:sp>
      <p:sp>
        <p:nvSpPr>
          <p:cNvPr id="19" name="Rounded Rectangle 56">
            <a:extLst>
              <a:ext uri="{FF2B5EF4-FFF2-40B4-BE49-F238E27FC236}">
                <a16:creationId xmlns:a16="http://schemas.microsoft.com/office/drawing/2014/main" id="{53D4C1BC-90B1-21E6-ADA1-616ED6497B3E}"/>
              </a:ext>
            </a:extLst>
          </p:cNvPr>
          <p:cNvSpPr/>
          <p:nvPr/>
        </p:nvSpPr>
        <p:spPr>
          <a:xfrm>
            <a:off x="7256485" y="1517284"/>
            <a:ext cx="4444550" cy="36000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Rounded Rectangle 56">
            <a:extLst>
              <a:ext uri="{FF2B5EF4-FFF2-40B4-BE49-F238E27FC236}">
                <a16:creationId xmlns:a16="http://schemas.microsoft.com/office/drawing/2014/main" id="{82A6EAFE-EF00-B97C-2840-7C5C6BE0471B}"/>
              </a:ext>
            </a:extLst>
          </p:cNvPr>
          <p:cNvSpPr/>
          <p:nvPr/>
        </p:nvSpPr>
        <p:spPr>
          <a:xfrm>
            <a:off x="7253245" y="1938059"/>
            <a:ext cx="4444550" cy="36000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Rounded Rectangle 56">
            <a:extLst>
              <a:ext uri="{FF2B5EF4-FFF2-40B4-BE49-F238E27FC236}">
                <a16:creationId xmlns:a16="http://schemas.microsoft.com/office/drawing/2014/main" id="{C38C52A0-4F3C-E72E-6E23-9CA6DFED1FAB}"/>
              </a:ext>
            </a:extLst>
          </p:cNvPr>
          <p:cNvSpPr/>
          <p:nvPr/>
        </p:nvSpPr>
        <p:spPr>
          <a:xfrm>
            <a:off x="7258325" y="2308899"/>
            <a:ext cx="4444550" cy="36000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7538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0" grpId="0"/>
      <p:bldP spid="21" grpId="0"/>
      <p:bldP spid="5" grpId="0"/>
      <p:bldP spid="6" grpId="0"/>
      <p:bldP spid="7" grpId="0"/>
      <p:bldP spid="9" grpId="0"/>
      <p:bldP spid="11" grpId="0" animBg="1"/>
      <p:bldP spid="12" grpId="0"/>
      <p:bldP spid="13" grpId="0"/>
      <p:bldP spid="14" grpId="0"/>
      <p:bldP spid="15" grpId="0" animBg="1"/>
      <p:bldP spid="15" grpId="1" animBg="1"/>
      <p:bldP spid="16" grpId="0"/>
      <p:bldP spid="18" grpId="0"/>
      <p:bldP spid="19" grpId="0" animBg="1"/>
      <p:bldP spid="19" grpId="1" animBg="1"/>
      <p:bldP spid="22" grpId="0" animBg="1"/>
      <p:bldP spid="22" grpId="1" animBg="1"/>
      <p:bldP spid="24" grpId="0" animBg="1"/>
      <p:bldP spid="24" grpId="1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03F0F-26FA-E93C-736D-02E50B599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0A999581-F126-AD7C-8AC0-1E098A72EA2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68521" y="4672989"/>
                <a:ext cx="4585530" cy="1759413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eqArr>
                                <m:eqArrPr>
                                  <m:ctrlPr>
                                    <a:rPr lang="en-US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b="0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b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b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b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eqArr>
                              <m:r>
                                <a:rPr lang="en-US" b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b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,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eqArr>
                                <m:eqArrPr>
                                  <m:ctrlPr>
                                    <a:rPr lang="en-US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b="0" i="0" dirty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e>
                                  <m:r>
                                    <a:rPr lang="en-US" b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e>
                                <m:e>
                                  <m:r>
                                    <a:rPr lang="en-US" b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e>
                                <m:e>
                                  <m:r>
                                    <a:rPr lang="en-US" b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eqArr>
                              <m:r>
                                <a:rPr lang="en-US" b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b="0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eqArr>
                                <m:eqArrPr>
                                  <m:ctrlPr>
                                    <a:rPr 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b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b="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b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b="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b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eqArr>
                              <m:r>
                                <a:rPr lang="en-US" b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b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5" name="Content Placeholder 4">
                <a:extLst>
                  <a:ext uri="{FF2B5EF4-FFF2-40B4-BE49-F238E27FC236}">
                    <a16:creationId xmlns:a16="http://schemas.microsoft.com/office/drawing/2014/main" id="{0A999581-F126-AD7C-8AC0-1E098A72E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521" y="4672989"/>
                <a:ext cx="4585530" cy="17594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16D646C-65EE-15AE-6923-F6D197116AA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0" y="0"/>
                <a:ext cx="12192000" cy="711200"/>
              </a:xfrm>
            </p:spPr>
            <p:txBody>
              <a:bodyPr/>
              <a:lstStyle/>
              <a:p>
                <a:r>
                  <a:rPr lang="en-IN" dirty="0"/>
                  <a:t>Method:6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Example:1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16D646C-65EE-15AE-6923-F6D197116A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0" y="0"/>
                <a:ext cx="12192000" cy="711200"/>
              </a:xfrm>
              <a:blipFill>
                <a:blip r:embed="rId5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177BF14B-1273-E143-B428-A7D12FC2BC2C}"/>
              </a:ext>
            </a:extLst>
          </p:cNvPr>
          <p:cNvSpPr txBox="1">
            <a:spLocks/>
          </p:cNvSpPr>
          <p:nvPr/>
        </p:nvSpPr>
        <p:spPr>
          <a:xfrm>
            <a:off x="-90172" y="1204206"/>
            <a:ext cx="1558214" cy="5220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endParaRPr lang="en-IN" sz="2800" b="1" dirty="0">
              <a:solidFill>
                <a:schemeClr val="tx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CDC04C51-69DA-4399-D27E-3CBA0E44A2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883" y="1204206"/>
                <a:ext cx="5613644" cy="1990113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</m:t>
                                </m:r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1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−3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4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2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−6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9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2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−1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−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6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3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9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−4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  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</m:t>
                                </m:r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5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 4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8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 2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−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2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9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−5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7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−4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 </m:t>
                          </m:r>
                        </m:e>
                      </m:d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CDC04C51-69DA-4399-D27E-3CBA0E44A2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83" y="1204206"/>
                <a:ext cx="5613644" cy="199011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D16773FD-7402-36A3-0B9E-1AB1F2B3E5EF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13817B7-A065-4F72-29AA-D91900DF1366}"/>
                  </a:ext>
                </a:extLst>
              </p:cNvPr>
              <p:cNvSpPr/>
              <p:nvPr/>
            </p:nvSpPr>
            <p:spPr>
              <a:xfrm>
                <a:off x="598512" y="3359558"/>
                <a:ext cx="1701076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GB" sz="28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GB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d>
                        <m:d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13817B7-A065-4F72-29AA-D91900DF13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512" y="3359558"/>
                <a:ext cx="1701076" cy="5436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F2B2E11-7D92-6FED-AAFB-FEBC74A16A00}"/>
                  </a:ext>
                </a:extLst>
              </p:cNvPr>
              <p:cNvSpPr/>
              <p:nvPr/>
            </p:nvSpPr>
            <p:spPr>
              <a:xfrm>
                <a:off x="2078061" y="3359558"/>
                <a:ext cx="1849244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IN" sz="2800" b="1" dirty="0">
                    <a:solidFill>
                      <a:srgbClr val="FF0000"/>
                    </a:solidFill>
                  </a:rPr>
                  <a:t>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GB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IN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d>
                      <m:dPr>
                        <m:ctrlP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IN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</m:d>
                  </m:oMath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F2B2E11-7D92-6FED-AAFB-FEBC74A16A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8061" y="3359558"/>
                <a:ext cx="1849244" cy="543600"/>
              </a:xfrm>
              <a:prstGeom prst="rect">
                <a:avLst/>
              </a:prstGeom>
              <a:blipFill>
                <a:blip r:embed="rId8"/>
                <a:stretch>
                  <a:fillRect l="-6931" t="-11236" b="-269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6227663-B022-6112-D81E-69257EA5B395}"/>
                  </a:ext>
                </a:extLst>
              </p:cNvPr>
              <p:cNvSpPr/>
              <p:nvPr/>
            </p:nvSpPr>
            <p:spPr>
              <a:xfrm>
                <a:off x="3691465" y="3357246"/>
                <a:ext cx="1849244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IN" sz="2800" b="1" dirty="0">
                    <a:solidFill>
                      <a:srgbClr val="FF0000"/>
                    </a:solidFill>
                  </a:rPr>
                  <a:t>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GB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IN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</m:sub>
                    </m:sSub>
                    <m:d>
                      <m:dPr>
                        <m:ctrlPr>
                          <a:rPr lang="en-IN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6227663-B022-6112-D81E-69257EA5B3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465" y="3357246"/>
                <a:ext cx="1849244" cy="543600"/>
              </a:xfrm>
              <a:prstGeom prst="rect">
                <a:avLst/>
              </a:prstGeom>
              <a:blipFill>
                <a:blip r:embed="rId9"/>
                <a:stretch>
                  <a:fillRect l="-6931" t="-12360" b="-269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4">
                <a:extLst>
                  <a:ext uri="{FF2B5EF4-FFF2-40B4-BE49-F238E27FC236}">
                    <a16:creationId xmlns:a16="http://schemas.microsoft.com/office/drawing/2014/main" id="{3FA3A1E2-1DEB-699F-3849-4613CD85F04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90172" y="3954943"/>
                <a:ext cx="5613644" cy="1990113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d>
                        <m:dPr>
                          <m:begChr m:val="["/>
                          <m:endChr m:val="]"/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</m:t>
                                </m:r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1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−3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4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</m:t>
                                </m:r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0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</m:t>
                                </m:r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  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</m:t>
                                </m:r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5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 4</m:t>
                                </m:r>
                              </m:e>
                            </m:mr>
                            <m:mr>
                              <m:e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3</m:t>
                                </m:r>
                              </m:e>
                              <m:e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−6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3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−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−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 </m:t>
                          </m:r>
                        </m:e>
                      </m:d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9" name="Content Placeholder 4">
                <a:extLst>
                  <a:ext uri="{FF2B5EF4-FFF2-40B4-BE49-F238E27FC236}">
                    <a16:creationId xmlns:a16="http://schemas.microsoft.com/office/drawing/2014/main" id="{3FA3A1E2-1DEB-699F-3849-4613CD85F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0172" y="3954943"/>
                <a:ext cx="5613644" cy="199011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: Rounded Corners 37">
            <a:extLst>
              <a:ext uri="{FF2B5EF4-FFF2-40B4-BE49-F238E27FC236}">
                <a16:creationId xmlns:a16="http://schemas.microsoft.com/office/drawing/2014/main" id="{CB3A4E4B-7CD1-C4ED-F287-64FC7CD02626}"/>
              </a:ext>
            </a:extLst>
          </p:cNvPr>
          <p:cNvSpPr/>
          <p:nvPr/>
        </p:nvSpPr>
        <p:spPr>
          <a:xfrm>
            <a:off x="5991219" y="1008179"/>
            <a:ext cx="36000" cy="527076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4AD85ED1-F960-EBE9-9FAA-BD2FFA93B96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64226" y="1204206"/>
                <a:ext cx="5613644" cy="1990113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d>
                        <m:dPr>
                          <m:begChr m:val="["/>
                          <m:endChr m:val="]"/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</m:t>
                                </m:r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1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−3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4</m:t>
                                </m:r>
                              </m:e>
                            </m:mr>
                            <m:mr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</m:t>
                                </m:r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0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</m:t>
                                </m:r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</m:t>
                                      </m:r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  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</m:t>
                                </m:r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5</m:t>
                                </m:r>
                              </m:e>
                              <m:e>
                                <m:r>
                                  <a:rPr lang="en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 4</m:t>
                                </m:r>
                              </m:e>
                            </m:mr>
                            <m:mr>
                              <m:e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   3</m:t>
                                </m:r>
                              </m:e>
                              <m:e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gu-IN" sz="2800" b="0" i="1" smtClean="0">
                                    <a:solidFill>
                                      <a:srgbClr val="002060"/>
                                    </a:solidFill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Shruti" panose="020B0502040204020203" pitchFamily="34" charset="0"/>
                                  </a:rPr>
                                  <m:t>−6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</m:t>
                                      </m:r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IN" sz="28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5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gu-IN" sz="2800" b="0" i="1" smtClean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Shruti" panose="020B0502040204020203" pitchFamily="34" charset="0"/>
                                        </a:rPr>
                                        <m:t>   0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  <m: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 </m:t>
                          </m:r>
                        </m:e>
                      </m:d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4AD85ED1-F960-EBE9-9FAA-BD2FFA93B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226" y="1204206"/>
                <a:ext cx="5613644" cy="199011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5A326293-0D93-F77E-69DD-F865C66AA69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5530" y="3357246"/>
                <a:ext cx="5364959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US" dirty="0">
                    <a:solidFill>
                      <a:srgbClr val="002060"/>
                    </a:solidFill>
                  </a:rPr>
                  <a:t>Here</a:t>
                </a:r>
                <a:r>
                  <a:rPr lang="en-GB" dirty="0">
                    <a:solidFill>
                      <a:srgbClr val="002060"/>
                    </a:solidFill>
                  </a:rPr>
                  <a:t>, There are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GB" dirty="0">
                    <a:solidFill>
                      <a:srgbClr val="002060"/>
                    </a:solidFill>
                  </a:rPr>
                  <a:t> leading elements.</a:t>
                </a:r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Content Placeholder 4">
                <a:extLst>
                  <a:ext uri="{FF2B5EF4-FFF2-40B4-BE49-F238E27FC236}">
                    <a16:creationId xmlns:a16="http://schemas.microsoft.com/office/drawing/2014/main" id="{5A326293-0D93-F77E-69DD-F865C66AA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530" y="3357246"/>
                <a:ext cx="5364959" cy="543600"/>
              </a:xfrm>
              <a:prstGeom prst="rect">
                <a:avLst/>
              </a:prstGeom>
              <a:blipFill>
                <a:blip r:embed="rId12"/>
                <a:stretch>
                  <a:fillRect l="-227" t="-12360" r="-682" b="-2584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56">
            <a:extLst>
              <a:ext uri="{FF2B5EF4-FFF2-40B4-BE49-F238E27FC236}">
                <a16:creationId xmlns:a16="http://schemas.microsoft.com/office/drawing/2014/main" id="{DB88FE5E-D4D1-8845-2914-BA427D967FB4}"/>
              </a:ext>
            </a:extLst>
          </p:cNvPr>
          <p:cNvSpPr/>
          <p:nvPr/>
        </p:nvSpPr>
        <p:spPr>
          <a:xfrm>
            <a:off x="7035320" y="1543417"/>
            <a:ext cx="360000" cy="36000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44ADC324-E3B6-B2D4-AF77-08312E717D4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5531" y="3979483"/>
                <a:ext cx="5054600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US" b="1" i="0" dirty="0">
                    <a:solidFill>
                      <a:srgbClr val="FF0000"/>
                    </a:solidFill>
                    <a:latin typeface="+mj-lt"/>
                  </a:rPr>
                  <a:t>dim(Column Space)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GB" dirty="0">
                    <a:solidFill>
                      <a:srgbClr val="002060"/>
                    </a:solidFill>
                  </a:rPr>
                  <a:t>.</a:t>
                </a:r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" name="Content Placeholder 4">
                <a:extLst>
                  <a:ext uri="{FF2B5EF4-FFF2-40B4-BE49-F238E27FC236}">
                    <a16:creationId xmlns:a16="http://schemas.microsoft.com/office/drawing/2014/main" id="{44ADC324-E3B6-B2D4-AF77-08312E717D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531" y="3979483"/>
                <a:ext cx="5054600" cy="543600"/>
              </a:xfrm>
              <a:prstGeom prst="rect">
                <a:avLst/>
              </a:prstGeom>
              <a:blipFill>
                <a:blip r:embed="rId13"/>
                <a:stretch>
                  <a:fillRect l="-241" t="-12360" b="-25843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6039BE2F-A690-1312-D62A-9272405930B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74034" y="4661177"/>
                <a:ext cx="3788786" cy="1759413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eqArr>
                                <m:eqArrPr>
                                  <m:ctrlPr>
                                    <a:rPr lang="en-US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b="0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b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b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b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eqArr>
                              <m:r>
                                <a:rPr lang="en-US" b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b="0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eqArr>
                                <m:eqArrPr>
                                  <m:ctrlPr>
                                    <a:rPr 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b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b="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b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b="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b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eqArr>
                              <m:r>
                                <a:rPr lang="en-US" b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b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eqArr>
                                <m:eqArrPr>
                                  <m:ctrlPr>
                                    <a:rPr 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b="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b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b="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b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b="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b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eqArr>
                              <m:r>
                                <a:rPr lang="en-US" b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dirty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rgbClr val="00206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6039BE2F-A690-1312-D62A-927240593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4034" y="4661177"/>
                <a:ext cx="3788786" cy="1759413"/>
              </a:xfrm>
              <a:prstGeom prst="rect">
                <a:avLst/>
              </a:prstGeom>
              <a:blipFill>
                <a:blip r:embed="rId14"/>
                <a:stretch>
                  <a:fillRect r="-1575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ounded Rectangle 56">
            <a:extLst>
              <a:ext uri="{FF2B5EF4-FFF2-40B4-BE49-F238E27FC236}">
                <a16:creationId xmlns:a16="http://schemas.microsoft.com/office/drawing/2014/main" id="{EB32B703-4798-2514-90FF-33ED450C693B}"/>
              </a:ext>
            </a:extLst>
          </p:cNvPr>
          <p:cNvSpPr/>
          <p:nvPr/>
        </p:nvSpPr>
        <p:spPr>
          <a:xfrm>
            <a:off x="8643987" y="1958285"/>
            <a:ext cx="360000" cy="36000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ounded Rectangle 56">
            <a:extLst>
              <a:ext uri="{FF2B5EF4-FFF2-40B4-BE49-F238E27FC236}">
                <a16:creationId xmlns:a16="http://schemas.microsoft.com/office/drawing/2014/main" id="{D5757647-E885-9462-42E1-0811974683AD}"/>
              </a:ext>
            </a:extLst>
          </p:cNvPr>
          <p:cNvSpPr/>
          <p:nvPr/>
        </p:nvSpPr>
        <p:spPr>
          <a:xfrm>
            <a:off x="10210321" y="2313885"/>
            <a:ext cx="360000" cy="36000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Right Arrow 3">
            <a:extLst>
              <a:ext uri="{FF2B5EF4-FFF2-40B4-BE49-F238E27FC236}">
                <a16:creationId xmlns:a16="http://schemas.microsoft.com/office/drawing/2014/main" id="{2A23C778-20E0-DF6C-1370-AE391A44C808}"/>
              </a:ext>
            </a:extLst>
          </p:cNvPr>
          <p:cNvSpPr/>
          <p:nvPr/>
        </p:nvSpPr>
        <p:spPr>
          <a:xfrm rot="5400000" flipV="1">
            <a:off x="6932857" y="880333"/>
            <a:ext cx="576777" cy="394349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19" name="Right Arrow 3">
            <a:extLst>
              <a:ext uri="{FF2B5EF4-FFF2-40B4-BE49-F238E27FC236}">
                <a16:creationId xmlns:a16="http://schemas.microsoft.com/office/drawing/2014/main" id="{F62149BF-3291-9B91-49C2-198BA0140573}"/>
              </a:ext>
            </a:extLst>
          </p:cNvPr>
          <p:cNvSpPr/>
          <p:nvPr/>
        </p:nvSpPr>
        <p:spPr>
          <a:xfrm rot="5400000" flipV="1">
            <a:off x="668924" y="880333"/>
            <a:ext cx="576777" cy="394349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22" name="Right Arrow 3">
            <a:extLst>
              <a:ext uri="{FF2B5EF4-FFF2-40B4-BE49-F238E27FC236}">
                <a16:creationId xmlns:a16="http://schemas.microsoft.com/office/drawing/2014/main" id="{1F0992C9-4502-AF1E-D6C2-4AB042D0DEFD}"/>
              </a:ext>
            </a:extLst>
          </p:cNvPr>
          <p:cNvSpPr/>
          <p:nvPr/>
        </p:nvSpPr>
        <p:spPr>
          <a:xfrm rot="5400000" flipV="1">
            <a:off x="8541524" y="880333"/>
            <a:ext cx="576777" cy="394349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24" name="Right Arrow 3">
            <a:extLst>
              <a:ext uri="{FF2B5EF4-FFF2-40B4-BE49-F238E27FC236}">
                <a16:creationId xmlns:a16="http://schemas.microsoft.com/office/drawing/2014/main" id="{56258054-F1DB-765F-815A-C43D7064E5AC}"/>
              </a:ext>
            </a:extLst>
          </p:cNvPr>
          <p:cNvSpPr/>
          <p:nvPr/>
        </p:nvSpPr>
        <p:spPr>
          <a:xfrm rot="5400000" flipV="1">
            <a:off x="2277591" y="880333"/>
            <a:ext cx="576777" cy="394349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26" name="Right Arrow 3">
            <a:extLst>
              <a:ext uri="{FF2B5EF4-FFF2-40B4-BE49-F238E27FC236}">
                <a16:creationId xmlns:a16="http://schemas.microsoft.com/office/drawing/2014/main" id="{02BD9AB4-52C3-E329-7491-4D6789D9B74F}"/>
              </a:ext>
            </a:extLst>
          </p:cNvPr>
          <p:cNvSpPr/>
          <p:nvPr/>
        </p:nvSpPr>
        <p:spPr>
          <a:xfrm rot="5400000" flipV="1">
            <a:off x="10107858" y="867981"/>
            <a:ext cx="576777" cy="394349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p:sp>
        <p:nvSpPr>
          <p:cNvPr id="27" name="Right Arrow 3">
            <a:extLst>
              <a:ext uri="{FF2B5EF4-FFF2-40B4-BE49-F238E27FC236}">
                <a16:creationId xmlns:a16="http://schemas.microsoft.com/office/drawing/2014/main" id="{2BBE4E2D-826C-BF76-F352-0DFD102AC427}"/>
              </a:ext>
            </a:extLst>
          </p:cNvPr>
          <p:cNvSpPr/>
          <p:nvPr/>
        </p:nvSpPr>
        <p:spPr>
          <a:xfrm rot="5400000" flipV="1">
            <a:off x="3843925" y="867981"/>
            <a:ext cx="576777" cy="394349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240FE460-31AB-6181-184C-932A6DBBB8EB}"/>
                  </a:ext>
                </a:extLst>
              </p:cNvPr>
              <p:cNvSpPr/>
              <p:nvPr/>
            </p:nvSpPr>
            <p:spPr>
              <a:xfrm>
                <a:off x="2078061" y="5945056"/>
                <a:ext cx="1701076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gu-IN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𝟐𝟑</m:t>
                          </m:r>
                        </m:sub>
                      </m:sSub>
                      <m:d>
                        <m:d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gu-IN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240FE460-31AB-6181-184C-932A6DBBB8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8061" y="5945056"/>
                <a:ext cx="1701076" cy="5436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Content Placeholder 4">
            <a:extLst>
              <a:ext uri="{FF2B5EF4-FFF2-40B4-BE49-F238E27FC236}">
                <a16:creationId xmlns:a16="http://schemas.microsoft.com/office/drawing/2014/main" id="{EF0E55F4-7358-5ED7-ED68-6ACB0B95B205}"/>
              </a:ext>
            </a:extLst>
          </p:cNvPr>
          <p:cNvSpPr txBox="1">
            <a:spLocks/>
          </p:cNvSpPr>
          <p:nvPr/>
        </p:nvSpPr>
        <p:spPr>
          <a:xfrm>
            <a:off x="6198259" y="5117148"/>
            <a:ext cx="1490726" cy="7112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118745" algn="just">
              <a:lnSpc>
                <a:spcPct val="115000"/>
              </a:lnSpc>
              <a:spcBef>
                <a:spcPts val="1000"/>
              </a:spcBef>
              <a:spcAft>
                <a:spcPts val="800"/>
              </a:spcAft>
              <a:buClr>
                <a:schemeClr val="accent6"/>
              </a:buClr>
              <a:buFont typeface="Wingdings 3" panose="05040102010807070707" pitchFamily="18" charset="2"/>
              <a:buNone/>
              <a:defRPr sz="2800">
                <a:solidFill>
                  <a:srgbClr val="3A4A6A"/>
                </a:solidFill>
              </a:defRPr>
            </a:lvl1pPr>
          </a:lstStyle>
          <a:p>
            <a:pPr>
              <a:lnSpc>
                <a:spcPct val="90000"/>
              </a:lnSpc>
            </a:pPr>
            <a:r>
              <a:rPr lang="en-US" b="1" dirty="0">
                <a:solidFill>
                  <a:srgbClr val="FF0000"/>
                </a:solidFill>
              </a:rPr>
              <a:t>Basis</a:t>
            </a:r>
            <a:endParaRPr lang="en-US" dirty="0">
              <a:solidFill>
                <a:srgbClr val="002060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39475517-C3A5-9A90-F0D3-C98A8A68E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68521" y="4670441"/>
                <a:ext cx="4660900" cy="1759413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eqArr>
                                <m:eqArrPr>
                                  <m:ctrlPr>
                                    <a:rPr lang="en-US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1</m:t>
                                  </m:r>
                                </m:e>
                                <m:e>
                                  <m:r>
                                    <a:rPr lang="en-US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2</m:t>
                                  </m:r>
                                </m:e>
                                <m:e>
                                  <m:r>
                                    <a:rPr lang="en-US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2</m:t>
                                  </m:r>
                                </m:e>
                                <m:e>
                                  <m:r>
                                    <a:rPr lang="en-US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eqArr>
                              <m:r>
                                <a:rPr lang="en-US" b="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b="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,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eqArr>
                                <m:eqArrPr>
                                  <m:ctrlPr>
                                    <a:rPr lang="en-US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b="0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e>
                                  <m:r>
                                    <a:rPr lang="en-US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e>
                                <m:e>
                                  <m:r>
                                    <a:rPr lang="en-US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e>
                                <m:e>
                                  <m:r>
                                    <a:rPr lang="en-US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eqArr>
                              <m:r>
                                <a:rPr lang="en-US" b="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b="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eqArr>
                                <m:eqArrPr>
                                  <m:ctrlPr>
                                    <a:rPr lang="en-US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i="1" dirty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b="0" i="1" dirty="0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  <m:e>
                                  <m:r>
                                    <a:rPr lang="en-GB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8</m:t>
                                  </m:r>
                                </m:e>
                                <m:e>
                                  <m:r>
                                    <a:rPr lang="en-US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GB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e>
                                <m:e>
                                  <m:r>
                                    <a:rPr lang="en-US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</m:eqArr>
                              <m:r>
                                <a:rPr lang="en-US" b="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b="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39475517-C3A5-9A90-F0D3-C98A8A68E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521" y="4670441"/>
                <a:ext cx="4660900" cy="175941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0398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5" grpId="1"/>
      <p:bldP spid="14" grpId="0"/>
      <p:bldP spid="15" grpId="0" animBg="1"/>
      <p:bldP spid="16" grpId="0"/>
      <p:bldP spid="17" grpId="0"/>
      <p:bldP spid="17" grpId="1"/>
      <p:bldP spid="3" grpId="0" animBg="1"/>
      <p:bldP spid="8" grpId="0" animBg="1"/>
      <p:bldP spid="18" grpId="0" animBg="1"/>
      <p:bldP spid="18" grpId="1" animBg="1"/>
      <p:bldP spid="19" grpId="0" animBg="1"/>
      <p:bldP spid="19" grpId="1" animBg="1"/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9" grpId="0"/>
      <p:bldP spid="21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Procedure to find the Null Space and its Basis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3"/>
              <p:cNvSpPr txBox="1">
                <a:spLocks/>
              </p:cNvSpPr>
              <p:nvPr/>
            </p:nvSpPr>
            <p:spPr>
              <a:xfrm>
                <a:off x="131180" y="855159"/>
                <a:ext cx="11929641" cy="55905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13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13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2800" kern="1200">
                    <a:solidFill>
                      <a:srgbClr val="002060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/>
                <a:r>
                  <a:rPr lang="en-US" dirty="0"/>
                  <a:t>Consider the homogeneous system of simultaneous linear equation.</a:t>
                </a:r>
                <a:endParaRPr lang="en-IN" dirty="0"/>
              </a:p>
              <a:p>
                <a:pPr marL="971550" lvl="1" indent="-514350" fontAlgn="base">
                  <a:buFont typeface="+mj-lt"/>
                  <a:buAutoNum type="arabicPeriod"/>
                </a:pPr>
                <a:r>
                  <a:rPr lang="en-US" dirty="0"/>
                  <a:t>Write the given system in matrix form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𝐀𝐗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dirty="0"/>
              </a:p>
              <a:p>
                <a:pPr marL="971550" lvl="1" indent="-514350" fontAlgn="base">
                  <a:buFont typeface="+mj-lt"/>
                  <a:buAutoNum type="arabicPeriod"/>
                </a:pPr>
                <a:r>
                  <a:rPr lang="en-US" dirty="0"/>
                  <a:t>Solve the system and obtain the </a:t>
                </a:r>
                <a:r>
                  <a:rPr lang="en-US" b="1" dirty="0">
                    <a:solidFill>
                      <a:srgbClr val="FF0000"/>
                    </a:solidFill>
                  </a:rPr>
                  <a:t>solution vector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lang="en-US" dirty="0"/>
                  <a:t>.</a:t>
                </a:r>
                <a:endParaRPr lang="en-IN" dirty="0"/>
              </a:p>
              <a:p>
                <a:pPr marL="971550" lvl="1" indent="-514350" fontAlgn="base">
                  <a:buFont typeface="+mj-lt"/>
                  <a:buAutoNum type="arabicPeriod"/>
                </a:pPr>
                <a:r>
                  <a:rPr lang="en-US" dirty="0"/>
                  <a:t>Express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dirty="0"/>
                  <a:t> in the form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b="1" i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𝐩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𝐩</m:t>
                        </m:r>
                      </m:sub>
                    </m:sSub>
                    <m:r>
                      <a:rPr lang="en-US" b="0" i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>
                    <a:latin typeface="+mj-lt"/>
                  </a:rPr>
                  <a:t>where</a:t>
                </a:r>
                <a14:m>
                  <m:oMath xmlns:m="http://schemas.openxmlformats.org/officeDocument/2006/math">
                    <m:r>
                      <a:rPr lang="en-US" b="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b="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b="0" i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>
                        <a:latin typeface="Cambria Math" panose="02040503050406030204" pitchFamily="18" charset="0"/>
                      </a:rPr>
                      <m:t>, … ,</m:t>
                    </m:r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are arbitrary constants </a:t>
                </a:r>
                <a:r>
                  <a:rPr lang="en-US" i="0" dirty="0">
                    <a:latin typeface="+mj-lt"/>
                  </a:rPr>
                  <a:t>and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,… 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en-US" dirty="0"/>
                  <a:t> are fixed vectors. </a:t>
                </a:r>
              </a:p>
              <a:p>
                <a:pPr marL="457200" lvl="1" indent="0" fontAlgn="base">
                  <a:buNone/>
                </a:pPr>
                <a:r>
                  <a:rPr lang="en-US" dirty="0"/>
                  <a:t>	The set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𝐁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𝐩</m:t>
                            </m:r>
                          </m:sub>
                        </m:s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dirty="0"/>
                  <a:t> forms a </a:t>
                </a:r>
                <a:r>
                  <a:rPr lang="en-US" b="1" dirty="0">
                    <a:solidFill>
                      <a:srgbClr val="FF0000"/>
                    </a:solidFill>
                  </a:rPr>
                  <a:t>basis for the null space</a:t>
                </a:r>
                <a:r>
                  <a:rPr lang="en-US" dirty="0"/>
                  <a:t> of the given 	system.</a:t>
                </a:r>
                <a:endParaRPr lang="en-IN" dirty="0"/>
              </a:p>
            </p:txBody>
          </p:sp>
        </mc:Choice>
        <mc:Fallback xmlns="">
          <p:sp>
            <p:nvSpPr>
              <p:cNvPr id="6" name="Content Placeholder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180" y="855159"/>
                <a:ext cx="11929641" cy="5590565"/>
              </a:xfrm>
              <a:prstGeom prst="rect">
                <a:avLst/>
              </a:prstGeom>
              <a:blipFill>
                <a:blip r:embed="rId2"/>
                <a:stretch>
                  <a:fillRect l="-971" r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4">
                <a:extLst>
                  <a:ext uri="{FF2B5EF4-FFF2-40B4-BE49-F238E27FC236}">
                    <a16:creationId xmlns:a16="http://schemas.microsoft.com/office/drawing/2014/main" id="{CBB94991-635A-4506-9B86-D97AB426B5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1179" y="5435600"/>
                <a:ext cx="11929641" cy="925399"/>
              </a:xfrm>
              <a:prstGeom prst="rect">
                <a:avLst/>
              </a:prstGeom>
              <a:noFill/>
              <a:ln w="12700" cap="flat" cmpd="sng" algn="ctr">
                <a:solidFill>
                  <a:srgbClr val="FF0000"/>
                </a:solidFill>
                <a:prstDash val="lgDash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indent="0" algn="just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defRPr>
                </a:lvl1pPr>
                <a:lvl2pPr marL="809625" indent="-352425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>
                    <a:solidFill>
                      <a:schemeClr val="tx1"/>
                    </a:solidFill>
                  </a:defRPr>
                </a:lvl2pPr>
                <a:lvl3pPr marL="1143000" indent="-228600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</a:defRPr>
                </a:lvl3pPr>
                <a:lvl4pPr marL="1600200" indent="-228600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>
                    <a:solidFill>
                      <a:schemeClr val="tx1"/>
                    </a:solidFill>
                  </a:defRPr>
                </a:lvl4pPr>
                <a:lvl5pPr marL="2057400" indent="-228600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>
                    <a:solidFill>
                      <a:schemeClr val="tx1"/>
                    </a:solidFill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pPr>
                  <a:lnSpc>
                    <a:spcPct val="100000"/>
                  </a:lnSpc>
                </a:pPr>
                <a:r>
                  <a:rPr lang="en-US" b="1" dirty="0"/>
                  <a:t>Note: </a:t>
                </a:r>
                <a:r>
                  <a:rPr lang="en-US" dirty="0"/>
                  <a:t>The number of vectors in basis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dirty="0"/>
                  <a:t> is called the dimension of the null space OR nullity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dirty="0"/>
                  <a:t>. i.e.,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𝐝𝐢𝐦</m:t>
                        </m:r>
                      </m:fName>
                      <m:e>
                        <m:d>
                          <m:d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𝐍</m:t>
                            </m:r>
                            <m:d>
                              <m:dPr>
                                <m:ctrlPr>
                                  <a:rPr lang="en-US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d>
                          </m:e>
                        </m:d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𝐧𝐮𝐥𝐥𝐢𝐭𝐲</m:t>
                        </m:r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𝐨𝐟</m:t>
                        </m:r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𝐀</m:t>
                        </m:r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𝛈</m:t>
                        </m:r>
                        <m:d>
                          <m:d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1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𝐁</m:t>
                            </m:r>
                            <m:r>
                              <a:rPr lang="en-US" b="1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func>
                  </m:oMath>
                </a14:m>
                <a:r>
                  <a:rPr lang="en-IN" dirty="0"/>
                  <a:t>.</a:t>
                </a:r>
              </a:p>
            </p:txBody>
          </p:sp>
        </mc:Choice>
        <mc:Fallback xmlns="">
          <p:sp>
            <p:nvSpPr>
              <p:cNvPr id="4" name="Content Placeholder 4">
                <a:extLst>
                  <a:ext uri="{FF2B5EF4-FFF2-40B4-BE49-F238E27FC236}">
                    <a16:creationId xmlns:a16="http://schemas.microsoft.com/office/drawing/2014/main" id="{CBB94991-635A-4506-9B86-D97AB426B5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179" y="5435600"/>
                <a:ext cx="11929641" cy="925399"/>
              </a:xfrm>
              <a:prstGeom prst="rect">
                <a:avLst/>
              </a:prstGeom>
              <a:blipFill>
                <a:blip r:embed="rId3"/>
                <a:stretch>
                  <a:fillRect l="-1021" t="-10458" r="-1021" b="-19608"/>
                </a:stretch>
              </a:blipFill>
              <a:ln w="12700" cap="flat" cmpd="sng" algn="ctr">
                <a:solidFill>
                  <a:srgbClr val="FF0000"/>
                </a:solidFill>
                <a:prstDash val="lgDash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0590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Remarks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en-US" dirty="0"/>
                  <a:t>The null space is the span of the vectors of a basis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lvl="0" indent="0">
                  <a:buNone/>
                </a:pPr>
                <a:r>
                  <a:rPr lang="en-US" dirty="0"/>
                  <a:t>    i.e.,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𝐍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𝐒𝐩𝐚𝐧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𝐩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  <a:endParaRPr lang="en-IN" dirty="0"/>
              </a:p>
              <a:p>
                <a:pPr lvl="0"/>
                <a:r>
                  <a:rPr lang="en-US" dirty="0"/>
                  <a:t>For any matrix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i="0" dirty="0">
                    <a:latin typeface="+mj-lt"/>
                  </a:rPr>
                  <a:t>, </a:t>
                </a:r>
                <a:r>
                  <a:rPr lang="en-US" dirty="0">
                    <a:latin typeface="+mj-lt"/>
                  </a:rPr>
                  <a:t>	   </a:t>
                </a:r>
                <a:r>
                  <a:rPr lang="en-US" b="1" i="0" dirty="0">
                    <a:solidFill>
                      <a:srgbClr val="FF0000"/>
                    </a:solidFill>
                    <a:latin typeface="+mj-lt"/>
                  </a:rPr>
                  <a:t>Rank of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i="0" dirty="0">
                    <a:solidFill>
                      <a:srgbClr val="FF0000"/>
                    </a:solidFill>
                    <a:latin typeface="+mj-lt"/>
                  </a:rPr>
                  <a:t>Nullity of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𝐍</m:t>
                    </m:r>
                  </m:oMath>
                </a14:m>
                <a:r>
                  <a:rPr lang="en-US" b="1" i="0" dirty="0">
                    <a:solidFill>
                      <a:srgbClr val="FF0000"/>
                    </a:solidFill>
                    <a:latin typeface="+mj-lt"/>
                  </a:rPr>
                  <a:t>umber of columns of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en-IN" dirty="0"/>
                  <a:t>.</a:t>
                </a:r>
              </a:p>
              <a:p>
                <a:pPr lvl="0"/>
                <a:r>
                  <a:rPr lang="en-US" dirty="0"/>
                  <a:t>If the coefficient matrix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dirty="0"/>
                  <a:t> is given directly, then find the null space by solving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𝐀𝐗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0"/>
                <a:r>
                  <a:rPr lang="en-US" dirty="0"/>
                  <a:t>Whenever a question asks to find the solution set, solution space, or general solution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>
                        <a:latin typeface="Cambria Math" panose="02040503050406030204" pitchFamily="18" charset="0"/>
                      </a:rPr>
                      <m:t>AX</m:t>
                    </m:r>
                    <m:r>
                      <a:rPr lang="en-US" b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it is </a:t>
                </a:r>
                <a:r>
                  <a:rPr lang="en-US" b="1" dirty="0">
                    <a:solidFill>
                      <a:srgbClr val="FF0000"/>
                    </a:solidFill>
                  </a:rPr>
                  <a:t>equivalent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to find </a:t>
                </a:r>
                <a:r>
                  <a:rPr lang="en-US" dirty="0"/>
                  <a:t>the null space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𝐍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IN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71" r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944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C4B95-DC6D-755F-1565-D7D5D2B2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FE58F23-1EF8-9C9A-4F27-7AD64DDA6BA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Method:6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FE58F23-1EF8-9C9A-4F27-7AD64DDA6B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6C36952D-5797-8FDB-3304-9A99EDFA45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50756" y="598345"/>
                <a:ext cx="10041132" cy="1496271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lvl1pPr marL="265113" indent="-265113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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809625" indent="-352425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just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Find a basis for the null space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A</m:t>
                    </m:r>
                    <m:r>
                      <a:rPr lang="en-IN" sz="28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GB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</m:t>
                              </m:r>
                              <m:r>
                                <a:rPr lang="en-GB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</m:t>
                              </m:r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−2</m:t>
                              </m:r>
                            </m:e>
                          </m:mr>
                          <m:mr>
                            <m:e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−4</m:t>
                              </m:r>
                            </m:e>
                            <m:e>
                              <m:r>
                                <a:rPr lang="en-GB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</m:t>
                              </m:r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</m:t>
                              </m:r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4</m:t>
                              </m:r>
                            </m:e>
                          </m:mr>
                          <m:mr>
                            <m:e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−8</m:t>
                              </m:r>
                            </m:e>
                            <m:e>
                              <m:r>
                                <a:rPr lang="en-GB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</m:t>
                              </m:r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4</m:t>
                              </m:r>
                            </m:e>
                            <m:e>
                              <m:r>
                                <a:rPr lang="en-GB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</m:t>
                              </m:r>
                              <m:r>
                                <a:rPr lang="en-IN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8</m:t>
                              </m:r>
                            </m:e>
                          </m:mr>
                        </m:m>
                        <m:r>
                          <a:rPr lang="en-GB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rPr>
                  <a:t>.</a:t>
                </a:r>
                <a:endParaRPr lang="en-IN" sz="2800" dirty="0">
                  <a:solidFill>
                    <a:srgbClr val="002060"/>
                  </a:solidFill>
                  <a:ea typeface="Calibri" panose="020F0502020204030204" pitchFamily="34" charset="0"/>
                  <a:cs typeface="Shruti" panose="020B0502040204020203" pitchFamily="34" charset="0"/>
                </a:endParaRPr>
              </a:p>
            </p:txBody>
          </p:sp>
        </mc:Choice>
        <mc:Fallback xmlns="">
          <p:sp>
            <p:nvSpPr>
              <p:cNvPr id="34" name="Content Placeholder 4">
                <a:extLst>
                  <a:ext uri="{FF2B5EF4-FFF2-40B4-BE49-F238E27FC236}">
                    <a16:creationId xmlns:a16="http://schemas.microsoft.com/office/drawing/2014/main" id="{6C36952D-5797-8FDB-3304-9A99EDFA45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0756" y="598345"/>
                <a:ext cx="10041132" cy="1496271"/>
              </a:xfrm>
              <a:prstGeom prst="rect">
                <a:avLst/>
              </a:prstGeom>
              <a:blipFill>
                <a:blip r:embed="rId4"/>
                <a:stretch>
                  <a:fillRect l="-1275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FD620A5-881F-CCC1-704B-4965C5D0599E}"/>
              </a:ext>
            </a:extLst>
          </p:cNvPr>
          <p:cNvSpPr/>
          <p:nvPr/>
        </p:nvSpPr>
        <p:spPr>
          <a:xfrm>
            <a:off x="122277" y="1161788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chemeClr val="bg1"/>
                </a:solidFill>
              </a:rPr>
              <a:t>Example</a:t>
            </a: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26CCD9A0-F410-9DF5-A5C4-7AD21A9550FA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p:sp>
        <p:nvSpPr>
          <p:cNvPr id="47" name="Rectangle: Rounded Corners 12">
            <a:extLst>
              <a:ext uri="{FF2B5EF4-FFF2-40B4-BE49-F238E27FC236}">
                <a16:creationId xmlns:a16="http://schemas.microsoft.com/office/drawing/2014/main" id="{86729943-06C3-98DE-8DC6-35CFB2902DB2}"/>
              </a:ext>
            </a:extLst>
          </p:cNvPr>
          <p:cNvSpPr/>
          <p:nvPr/>
        </p:nvSpPr>
        <p:spPr>
          <a:xfrm>
            <a:off x="122278" y="2236476"/>
            <a:ext cx="1450657" cy="46800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4">
                <a:extLst>
                  <a:ext uri="{FF2B5EF4-FFF2-40B4-BE49-F238E27FC236}">
                    <a16:creationId xmlns:a16="http://schemas.microsoft.com/office/drawing/2014/main" id="{7E2BFA21-E5F4-AF93-B60F-EC06C24F0B9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63456" y="2221299"/>
                <a:ext cx="10198344" cy="966353"/>
              </a:xfrm>
              <a:prstGeom prst="rect">
                <a:avLst/>
              </a:prstGeom>
              <a:noFill/>
              <a:ln w="12700" cap="flat" cmpd="sng" algn="ctr">
                <a:solidFill>
                  <a:srgbClr val="FF0000"/>
                </a:solidFill>
                <a:prstDash val="lgDash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indent="0" algn="just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002060"/>
                    </a:solidFill>
                    <a:ea typeface="Calibri" panose="020F0502020204030204" pitchFamily="34" charset="0"/>
                    <a:cs typeface="Shruti" panose="020B0502040204020203" pitchFamily="34" charset="0"/>
                  </a:defRPr>
                </a:lvl1pPr>
                <a:lvl2pPr marL="809625" indent="-352425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 3" panose="05040102010807070707" pitchFamily="18" charset="2"/>
                  <a:buChar char=""/>
                  <a:defRPr sz="2000">
                    <a:solidFill>
                      <a:schemeClr val="tx1"/>
                    </a:solidFill>
                  </a:defRPr>
                </a:lvl2pPr>
                <a:lvl3pPr marL="1143000" indent="-228600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</a:defRPr>
                </a:lvl3pPr>
                <a:lvl4pPr marL="1600200" indent="-228600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>
                    <a:solidFill>
                      <a:schemeClr val="tx1"/>
                    </a:solidFill>
                  </a:defRPr>
                </a:lvl4pPr>
                <a:lvl5pPr marL="2057400" indent="-228600" algn="just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Arial" panose="020B0604020202020204" pitchFamily="34" charset="0"/>
                  <a:buChar char="•"/>
                  <a:defRPr sz="1600">
                    <a:solidFill>
                      <a:schemeClr val="tx1"/>
                    </a:solidFill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IN" dirty="0"/>
                  <a:t>Let us solve system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i="0" dirty="0" smtClean="0">
                        <a:latin typeface="Cambria Math" panose="02040503050406030204" pitchFamily="18" charset="0"/>
                      </a:rPr>
                      <m:t>AX</m:t>
                    </m:r>
                    <m:r>
                      <a:rPr lang="en-IN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b="0" i="0" dirty="0" smtClean="0"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r>
                  <a:rPr lang="en-IN" dirty="0"/>
                  <a:t> to find null space.</a:t>
                </a:r>
              </a:p>
              <a:p>
                <a:r>
                  <a:rPr lang="en-IN" dirty="0"/>
                  <a:t>The LI vectors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i="0" dirty="0" smtClean="0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IN" dirty="0"/>
                  <a:t> will be basis for Null Space for Matrix 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4">
                <a:extLst>
                  <a:ext uri="{FF2B5EF4-FFF2-40B4-BE49-F238E27FC236}">
                    <a16:creationId xmlns:a16="http://schemas.microsoft.com/office/drawing/2014/main" id="{7E2BFA21-E5F4-AF93-B60F-EC06C24F0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456" y="2221299"/>
                <a:ext cx="10198344" cy="966353"/>
              </a:xfrm>
              <a:prstGeom prst="rect">
                <a:avLst/>
              </a:prstGeom>
              <a:blipFill>
                <a:blip r:embed="rId5"/>
                <a:stretch>
                  <a:fillRect l="-1194" t="-11180" b="-18012"/>
                </a:stretch>
              </a:blipFill>
              <a:ln w="12700" cap="flat" cmpd="sng" algn="ctr">
                <a:solidFill>
                  <a:srgbClr val="FF0000"/>
                </a:solidFill>
                <a:prstDash val="lgDash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7CC2AF3-893B-841E-B862-85EE7C67FA6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575" y="3375445"/>
                <a:ext cx="9335387" cy="1281617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US" dirty="0">
                    <a:solidFill>
                      <a:srgbClr val="002060"/>
                    </a:solidFill>
                  </a:rPr>
                  <a:t>Let</a:t>
                </a:r>
                <a:r>
                  <a:rPr lang="en-GB" dirty="0">
                    <a:solidFill>
                      <a:srgbClr val="002060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i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A</m:t>
                    </m:r>
                    <m:r>
                      <a:rPr lang="en-IN" i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GB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IN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</m:t>
                              </m:r>
                              <m:r>
                                <a:rPr lang="en-GB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</m:t>
                              </m:r>
                              <m:r>
                                <a:rPr lang="en-IN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IN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IN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−2</m:t>
                              </m:r>
                            </m:e>
                          </m:mr>
                          <m:mr>
                            <m:e>
                              <m:r>
                                <a:rPr lang="en-IN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−4</m:t>
                              </m:r>
                            </m:e>
                            <m:e>
                              <m:r>
                                <a:rPr lang="en-GB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</m:t>
                              </m:r>
                              <m:r>
                                <a:rPr lang="en-IN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</m:t>
                              </m:r>
                              <m:r>
                                <a:rPr lang="en-IN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4</m:t>
                              </m:r>
                            </m:e>
                          </m:mr>
                          <m:mr>
                            <m:e>
                              <m:r>
                                <a:rPr lang="en-IN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−8</m:t>
                              </m:r>
                            </m:e>
                            <m:e>
                              <m:r>
                                <a:rPr lang="en-GB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</m:t>
                              </m:r>
                              <m:r>
                                <a:rPr lang="en-IN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4</m:t>
                              </m:r>
                            </m:e>
                            <m:e>
                              <m:r>
                                <a:rPr lang="en-GB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</m:t>
                              </m:r>
                              <m:r>
                                <a:rPr lang="en-IN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8</m:t>
                              </m:r>
                            </m:e>
                          </m:mr>
                        </m:m>
                        <m:r>
                          <a:rPr lang="en-GB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</m:e>
                    </m:d>
                    <m:r>
                      <a:rPr lang="en-GB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  ;   </m:t>
                    </m:r>
                    <m:r>
                      <m:rPr>
                        <m:sty m:val="p"/>
                      </m:rPr>
                      <a:rPr lang="en-GB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X</m:t>
                    </m:r>
                    <m:r>
                      <a:rPr lang="en-GB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GB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eqArr>
                          <m:eqArrPr>
                            <m:ctrlPr>
                              <a:rPr lang="en-GB" b="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eqArrPr>
                          <m:e>
                            <m:r>
                              <m:rPr>
                                <m:sty m:val="p"/>
                              </m:rPr>
                              <a:rPr lang="en-GB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x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a:rPr lang="en-GB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a:rPr lang="en-GB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</m:eqArr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GB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   ;   </m:t>
                    </m:r>
                    <m:r>
                      <m:rPr>
                        <m:sty m:val="p"/>
                      </m:rPr>
                      <a:rPr lang="en-GB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O</m:t>
                    </m:r>
                    <m:r>
                      <a:rPr lang="en-GB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Shrut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</m:ctrlPr>
                      </m:dPr>
                      <m:e>
                        <m:r>
                          <a:rPr lang="en-GB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Shruti" panose="020B0502040204020203" pitchFamily="34" charset="0"/>
                          </a:rPr>
                          <m:t> </m:t>
                        </m:r>
                        <m:eqArr>
                          <m:eqArrPr>
                            <m:ctrlPr>
                              <a:rPr lang="en-GB" i="1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</m:ctrlPr>
                          </m:eqArrPr>
                          <m:e>
                            <m:r>
                              <a:rPr lang="en-GB" b="0" i="0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Shruti" panose="020B0502040204020203" pitchFamily="34" charset="0"/>
                              </a:rPr>
                              <m:t>0</m:t>
                            </m:r>
                          </m:e>
                          <m:e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GB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eqArr>
                        <m:r>
                          <a:rPr lang="en-GB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7CC2AF3-893B-841E-B862-85EE7C67F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75" y="3375445"/>
                <a:ext cx="9335387" cy="1281617"/>
              </a:xfrm>
              <a:prstGeom prst="rect">
                <a:avLst/>
              </a:prstGeom>
              <a:blipFill>
                <a:blip r:embed="rId6"/>
                <a:stretch>
                  <a:fillRect l="-131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316BD089-9E92-D28A-398C-0FCA0FB07D3B}"/>
              </a:ext>
            </a:extLst>
          </p:cNvPr>
          <p:cNvSpPr/>
          <p:nvPr/>
        </p:nvSpPr>
        <p:spPr>
          <a:xfrm>
            <a:off x="122277" y="5229157"/>
            <a:ext cx="6020992" cy="54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rgbClr val="002060"/>
                </a:solidFill>
              </a:rPr>
              <a:t>The Augmented matrix of the </a:t>
            </a:r>
            <a:r>
              <a:rPr lang="en-US" sz="2800" dirty="0">
                <a:solidFill>
                  <a:srgbClr val="002060"/>
                </a:solidFill>
              </a:rPr>
              <a:t>system is,</a:t>
            </a:r>
            <a:endParaRPr lang="en-IN" sz="28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101A603-07C1-E26B-A382-9E915635FC81}"/>
                  </a:ext>
                </a:extLst>
              </p:cNvPr>
              <p:cNvSpPr/>
              <p:nvPr/>
            </p:nvSpPr>
            <p:spPr>
              <a:xfrm>
                <a:off x="5807126" y="5229157"/>
                <a:ext cx="1728392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"/>
                              <m:endChr m:val="|"/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IN" sz="2800" b="0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IN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101A603-07C1-E26B-A382-9E915635FC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7126" y="5229157"/>
                <a:ext cx="1728392" cy="5436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D10C020B-6AEE-1BB8-DD65-DBEA21099C80}"/>
              </a:ext>
            </a:extLst>
          </p:cNvPr>
          <p:cNvGrpSpPr/>
          <p:nvPr/>
        </p:nvGrpSpPr>
        <p:grpSpPr>
          <a:xfrm>
            <a:off x="7401698" y="4850759"/>
            <a:ext cx="3219548" cy="1370924"/>
            <a:chOff x="6686773" y="3163314"/>
            <a:chExt cx="4047775" cy="137092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05DD87E-73D2-B917-ECD6-C9B907A0D2FC}"/>
                </a:ext>
              </a:extLst>
            </p:cNvPr>
            <p:cNvGrpSpPr/>
            <p:nvPr/>
          </p:nvGrpSpPr>
          <p:grpSpPr>
            <a:xfrm>
              <a:off x="6686773" y="3163314"/>
              <a:ext cx="3571656" cy="1370924"/>
              <a:chOff x="1833958" y="3480476"/>
              <a:chExt cx="3055783" cy="148522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E1D8C178-1392-FC71-8C44-E16E0E7D5ECC}"/>
                      </a:ext>
                    </a:extLst>
                  </p:cNvPr>
                  <p:cNvSpPr/>
                  <p:nvPr/>
                </p:nvSpPr>
                <p:spPr>
                  <a:xfrm>
                    <a:off x="1833958" y="3480476"/>
                    <a:ext cx="3055783" cy="14852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</m:t>
                                    </m:r>
                                    <m:r>
                                      <a:rPr lang="en-GB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</m:t>
                                    </m:r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−1</m:t>
                                    </m:r>
                                  </m:e>
                                  <m:e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−2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−4</m:t>
                                    </m:r>
                                  </m:e>
                                  <m:e>
                                    <m:r>
                                      <a:rPr lang="en-GB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 </m:t>
                                    </m:r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GB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 </m:t>
                                    </m:r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−8</m:t>
                                    </m:r>
                                  </m:e>
                                  <m:e>
                                    <m:r>
                                      <a:rPr lang="en-GB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 </m:t>
                                    </m:r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 </m:t>
                                    </m:r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8</m:t>
                                    </m:r>
                                  </m:e>
                                </m:mr>
                              </m:m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        </m:t>
                              </m:r>
                            </m:e>
                          </m:d>
                        </m:oMath>
                      </m:oMathPara>
                    </a14:m>
                    <a:endParaRPr lang="en-IN" sz="2800" dirty="0">
                      <a:solidFill>
                        <a:srgbClr val="00206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E1D8C178-1392-FC71-8C44-E16E0E7D5EC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3958" y="3480476"/>
                    <a:ext cx="3055783" cy="148522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16094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32782717-DA39-438A-3F72-2D1DB4BAB2E0}"/>
                  </a:ext>
                </a:extLst>
              </p:cNvPr>
              <p:cNvCxnSpPr/>
              <p:nvPr/>
            </p:nvCxnSpPr>
            <p:spPr>
              <a:xfrm>
                <a:off x="4578493" y="3514747"/>
                <a:ext cx="0" cy="132605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F916FD64-4ADF-1A0D-EBE9-61050A704944}"/>
                    </a:ext>
                  </a:extLst>
                </p:cNvPr>
                <p:cNvSpPr/>
                <p:nvPr/>
              </p:nvSpPr>
              <p:spPr>
                <a:xfrm>
                  <a:off x="9948347" y="3163314"/>
                  <a:ext cx="786201" cy="12664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F916FD64-4ADF-1A0D-EBE9-61050A70494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8347" y="3163314"/>
                  <a:ext cx="786201" cy="126647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64376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/>
      <p:bldP spid="6" grpId="0"/>
      <p:bldP spid="7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7AE21-254D-1D51-81B8-E2ED8CBD7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8199FAA-0DE0-3994-3AAE-491E69DD4A4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Method:6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Example:2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8199FAA-0DE0-3994-3AAE-491E69DD4A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945B551E-8090-78D4-8743-F3A1653DD0DF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11EB73-5273-630E-EADD-B964562F720D}"/>
              </a:ext>
            </a:extLst>
          </p:cNvPr>
          <p:cNvSpPr/>
          <p:nvPr/>
        </p:nvSpPr>
        <p:spPr>
          <a:xfrm>
            <a:off x="122277" y="927373"/>
            <a:ext cx="6020992" cy="54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IN" sz="2800" dirty="0">
                <a:solidFill>
                  <a:srgbClr val="002060"/>
                </a:solidFill>
              </a:rPr>
              <a:t>The Augmented matrix of the </a:t>
            </a:r>
            <a:r>
              <a:rPr lang="en-US" sz="2800" dirty="0">
                <a:solidFill>
                  <a:srgbClr val="002060"/>
                </a:solidFill>
              </a:rPr>
              <a:t>system is,</a:t>
            </a:r>
            <a:endParaRPr lang="en-IN" sz="28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104CE11-B337-CC7A-8B00-0A1786F8B6F1}"/>
                  </a:ext>
                </a:extLst>
              </p:cNvPr>
              <p:cNvSpPr/>
              <p:nvPr/>
            </p:nvSpPr>
            <p:spPr>
              <a:xfrm>
                <a:off x="122277" y="2044973"/>
                <a:ext cx="1728392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"/>
                              <m:endChr m:val="|"/>
                              <m:ctrlPr>
                                <a:rPr lang="en-IN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IN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IN" sz="2800" b="0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IN" sz="2800" i="1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142E77D1-6FEE-35FF-5355-1274F19B19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7" y="2044973"/>
                <a:ext cx="1728392" cy="5436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8E9C677E-8754-81D5-50CB-F97F03122204}"/>
              </a:ext>
            </a:extLst>
          </p:cNvPr>
          <p:cNvGrpSpPr/>
          <p:nvPr/>
        </p:nvGrpSpPr>
        <p:grpSpPr>
          <a:xfrm>
            <a:off x="1716849" y="1666575"/>
            <a:ext cx="3219548" cy="1370924"/>
            <a:chOff x="6686773" y="3163314"/>
            <a:chExt cx="4047775" cy="137092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CD8E997-2DA3-843B-AFEB-F606F3B3887C}"/>
                </a:ext>
              </a:extLst>
            </p:cNvPr>
            <p:cNvGrpSpPr/>
            <p:nvPr/>
          </p:nvGrpSpPr>
          <p:grpSpPr>
            <a:xfrm>
              <a:off x="6686773" y="3163314"/>
              <a:ext cx="3571656" cy="1370924"/>
              <a:chOff x="1833958" y="3480476"/>
              <a:chExt cx="3055783" cy="148522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472220F8-9C48-5EE4-DC33-AC940FDC0253}"/>
                      </a:ext>
                    </a:extLst>
                  </p:cNvPr>
                  <p:cNvSpPr/>
                  <p:nvPr/>
                </p:nvSpPr>
                <p:spPr>
                  <a:xfrm>
                    <a:off x="1833958" y="3480476"/>
                    <a:ext cx="3055783" cy="14852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</m:t>
                                    </m:r>
                                    <m:r>
                                      <a:rPr lang="en-GB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</m:t>
                                    </m:r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−1</m:t>
                                    </m:r>
                                  </m:e>
                                  <m:e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−2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−4</m:t>
                                    </m:r>
                                  </m:e>
                                  <m:e>
                                    <m:r>
                                      <a:rPr lang="en-GB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 </m:t>
                                    </m:r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GB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 </m:t>
                                    </m:r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−8</m:t>
                                    </m:r>
                                  </m:e>
                                  <m:e>
                                    <m:r>
                                      <a:rPr lang="en-GB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 </m:t>
                                    </m:r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 </m:t>
                                    </m:r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8</m:t>
                                    </m:r>
                                  </m:e>
                                </m:mr>
                              </m:m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        </m:t>
                              </m:r>
                            </m:e>
                          </m:d>
                        </m:oMath>
                      </m:oMathPara>
                    </a14:m>
                    <a:endParaRPr lang="en-IN" sz="2800" dirty="0">
                      <a:solidFill>
                        <a:srgbClr val="00206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9ACAA5D9-8AB7-8399-2D30-3289B33E1B6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3958" y="3480476"/>
                    <a:ext cx="3055783" cy="148522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16094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4192EC8C-E270-EBA9-FFFB-81730120D7CF}"/>
                  </a:ext>
                </a:extLst>
              </p:cNvPr>
              <p:cNvCxnSpPr/>
              <p:nvPr/>
            </p:nvCxnSpPr>
            <p:spPr>
              <a:xfrm>
                <a:off x="4578493" y="3514747"/>
                <a:ext cx="0" cy="132605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A7779AA-BAFD-E746-ADEC-4F1592B3AA28}"/>
                    </a:ext>
                  </a:extLst>
                </p:cNvPr>
                <p:cNvSpPr/>
                <p:nvPr/>
              </p:nvSpPr>
              <p:spPr>
                <a:xfrm>
                  <a:off x="9948347" y="3163314"/>
                  <a:ext cx="786201" cy="12664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64F453E-B3F8-F009-88D2-0AF0080FEB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8347" y="3163314"/>
                  <a:ext cx="786201" cy="126647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49B9BB82-0938-441E-1A7E-0A64AF172BED}"/>
                  </a:ext>
                </a:extLst>
              </p:cNvPr>
              <p:cNvSpPr/>
              <p:nvPr/>
            </p:nvSpPr>
            <p:spPr>
              <a:xfrm>
                <a:off x="1984821" y="3065060"/>
                <a:ext cx="1398130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8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GB" sz="28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GB" sz="28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d>
                        <m:dPr>
                          <m:ctrlPr>
                            <a:rPr lang="en-GB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3BA81C1-C863-0017-F138-DB61E76E09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4821" y="3065060"/>
                <a:ext cx="1398130" cy="5436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58C7FAD-FE66-1A40-D202-C37CBF5A83E8}"/>
                  </a:ext>
                </a:extLst>
              </p:cNvPr>
              <p:cNvSpPr/>
              <p:nvPr/>
            </p:nvSpPr>
            <p:spPr>
              <a:xfrm>
                <a:off x="3229420" y="3065060"/>
                <a:ext cx="1643477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IN" sz="2800" b="1" dirty="0">
                    <a:solidFill>
                      <a:srgbClr val="FF0000"/>
                    </a:solidFill>
                  </a:rPr>
                  <a:t>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GB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IN" sz="28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d>
                      <m:dPr>
                        <m:ctrlPr>
                          <a:rPr lang="en-GB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</m:e>
                    </m:d>
                  </m:oMath>
                </a14:m>
                <a:endParaRPr lang="en-IN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1B249EE-982A-B487-6BAA-75AD1A7BE0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9420" y="3065060"/>
                <a:ext cx="1643477" cy="543600"/>
              </a:xfrm>
              <a:prstGeom prst="rect">
                <a:avLst/>
              </a:prstGeom>
              <a:blipFill>
                <a:blip r:embed="rId8"/>
                <a:stretch>
                  <a:fillRect l="-7807" t="-12360" b="-269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041E5416-5777-E8D4-F8FF-9607CAE715CF}"/>
              </a:ext>
            </a:extLst>
          </p:cNvPr>
          <p:cNvGrpSpPr/>
          <p:nvPr/>
        </p:nvGrpSpPr>
        <p:grpSpPr>
          <a:xfrm>
            <a:off x="1450149" y="3822635"/>
            <a:ext cx="3473548" cy="1370924"/>
            <a:chOff x="6686773" y="3163314"/>
            <a:chExt cx="4367115" cy="1370924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A79D973-D9E8-D102-65E0-8119FBB6F65D}"/>
                </a:ext>
              </a:extLst>
            </p:cNvPr>
            <p:cNvGrpSpPr/>
            <p:nvPr/>
          </p:nvGrpSpPr>
          <p:grpSpPr>
            <a:xfrm>
              <a:off x="6686773" y="3163314"/>
              <a:ext cx="3571658" cy="1370924"/>
              <a:chOff x="1833958" y="3480476"/>
              <a:chExt cx="3055783" cy="148522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Rectangle 24">
                    <a:extLst>
                      <a:ext uri="{FF2B5EF4-FFF2-40B4-BE49-F238E27FC236}">
                        <a16:creationId xmlns:a16="http://schemas.microsoft.com/office/drawing/2014/main" id="{F7A9C324-0985-9E33-A752-2A0B47A84743}"/>
                      </a:ext>
                    </a:extLst>
                  </p:cNvPr>
                  <p:cNvSpPr/>
                  <p:nvPr/>
                </p:nvSpPr>
                <p:spPr>
                  <a:xfrm>
                    <a:off x="1833958" y="3480476"/>
                    <a:ext cx="3055783" cy="148522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IN" sz="2800" i="0" dirty="0" smtClean="0">
                              <a:solidFill>
                                <a:srgbClr val="002060"/>
                              </a:solidFill>
                            </a:rPr>
                            <m:t>~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</m:t>
                                    </m:r>
                                    <m:r>
                                      <a:rPr lang="en-GB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</m:t>
                                    </m:r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−1</m:t>
                                    </m:r>
                                  </m:e>
                                  <m:e>
                                    <m:r>
                                      <a:rPr lang="en-IN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−2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 0</m:t>
                                    </m:r>
                                  </m:e>
                                  <m:e>
                                    <m:r>
                                      <a:rPr lang="en-GB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 </m:t>
                                    </m:r>
                                    <m:r>
                                      <a:rPr lang="en-GB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 </m:t>
                                    </m:r>
                                    <m:r>
                                      <a:rPr lang="en-GB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 0</m:t>
                                    </m:r>
                                  </m:e>
                                  <m:e>
                                    <m:r>
                                      <a:rPr lang="en-GB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 </m:t>
                                    </m:r>
                                    <m:r>
                                      <a:rPr lang="en-GB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80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   </m:t>
                                    </m:r>
                                    <m:r>
                                      <a:rPr lang="en-GB" sz="2800" b="0" i="0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Shruti" panose="020B0502040204020203" pitchFamily="34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          </m:t>
                              </m:r>
                            </m:e>
                          </m:d>
                        </m:oMath>
                      </m:oMathPara>
                    </a14:m>
                    <a:endParaRPr lang="en-IN" sz="2800" dirty="0">
                      <a:solidFill>
                        <a:srgbClr val="00206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Rectangle 24">
                    <a:extLst>
                      <a:ext uri="{FF2B5EF4-FFF2-40B4-BE49-F238E27FC236}">
                        <a16:creationId xmlns:a16="http://schemas.microsoft.com/office/drawing/2014/main" id="{C4A40DD7-7771-F148-A302-FD7DFE24B88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3958" y="3480476"/>
                    <a:ext cx="3055783" cy="148522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24464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I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E34B5332-E372-DF62-676D-135ACA60F720}"/>
                  </a:ext>
                </a:extLst>
              </p:cNvPr>
              <p:cNvCxnSpPr/>
              <p:nvPr/>
            </p:nvCxnSpPr>
            <p:spPr>
              <a:xfrm>
                <a:off x="4851707" y="3514747"/>
                <a:ext cx="0" cy="132605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721DCE75-F364-88BF-0519-DF5DDA250ED6}"/>
                    </a:ext>
                  </a:extLst>
                </p:cNvPr>
                <p:cNvSpPr/>
                <p:nvPr/>
              </p:nvSpPr>
              <p:spPr>
                <a:xfrm>
                  <a:off x="10267687" y="3163314"/>
                  <a:ext cx="786201" cy="12664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N" sz="2800" i="1" smtClean="0">
                                <a:solidFill>
                                  <a:srgbClr val="00206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oMath>
                    </m:oMathPara>
                  </a14:m>
                  <a:endParaRPr lang="en-IN" sz="28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C283CDC0-90EF-65A8-F963-DF44AFE808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67687" y="3163314"/>
                  <a:ext cx="786201" cy="126647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33A1C828-EA33-1145-916C-96D77D483055}"/>
                  </a:ext>
                </a:extLst>
              </p:cNvPr>
              <p:cNvSpPr/>
              <p:nvPr/>
            </p:nvSpPr>
            <p:spPr>
              <a:xfrm>
                <a:off x="122277" y="5380243"/>
                <a:ext cx="7120383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IN" sz="2800" dirty="0">
                    <a:solidFill>
                      <a:srgbClr val="002060"/>
                    </a:solidFill>
                  </a:rPr>
                  <a:t>Let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IN" sz="28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GB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    </m:t>
                    </m:r>
                    <m:r>
                      <m:rPr>
                        <m:sty m:val="p"/>
                      </m:rPr>
                      <a:rPr lang="en-GB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z</m:t>
                    </m:r>
                    <m:r>
                      <a:rPr lang="en-IN" sz="2800" i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GB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;</m:t>
                    </m:r>
                    <m:r>
                      <a:rPr lang="en-GB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GB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IN" sz="2800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N" sz="2800" i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GB" sz="2800" b="0" i="0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IN" sz="2800" b="0" i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IN" sz="28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BEE09C7-C2CB-9046-C0EB-9BD3A8C9B7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277" y="5380243"/>
                <a:ext cx="7120383" cy="543600"/>
              </a:xfrm>
              <a:prstGeom prst="rect">
                <a:avLst/>
              </a:prstGeom>
              <a:blipFill>
                <a:blip r:embed="rId11"/>
                <a:stretch>
                  <a:fillRect l="-1712" t="-12360" b="-269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ight Arrow 3">
            <a:extLst>
              <a:ext uri="{FF2B5EF4-FFF2-40B4-BE49-F238E27FC236}">
                <a16:creationId xmlns:a16="http://schemas.microsoft.com/office/drawing/2014/main" id="{07ACE686-3F29-A734-6308-29EEB0814E29}"/>
              </a:ext>
            </a:extLst>
          </p:cNvPr>
          <p:cNvSpPr/>
          <p:nvPr/>
        </p:nvSpPr>
        <p:spPr>
          <a:xfrm flipV="1">
            <a:off x="6686016" y="1026463"/>
            <a:ext cx="576777" cy="394349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5522A5C7-67A6-C9E3-8040-F2F4E2191D83}"/>
                  </a:ext>
                </a:extLst>
              </p:cNvPr>
              <p:cNvSpPr/>
              <p:nvPr/>
            </p:nvSpPr>
            <p:spPr>
              <a:xfrm>
                <a:off x="7311542" y="951837"/>
                <a:ext cx="2862658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GB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GB" sz="280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GB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r>
                        <m:rPr>
                          <m:sty m:val="p"/>
                        </m:rPr>
                        <a:rPr lang="en-GB" sz="280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5522A5C7-67A6-C9E3-8040-F2F4E2191D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1542" y="951837"/>
                <a:ext cx="2862658" cy="5436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AD07DBDB-1E53-0A7A-8D0D-B86E5835AF02}"/>
                  </a:ext>
                </a:extLst>
              </p:cNvPr>
              <p:cNvSpPr/>
              <p:nvPr/>
            </p:nvSpPr>
            <p:spPr>
              <a:xfrm>
                <a:off x="7063012" y="1613352"/>
                <a:ext cx="2862658" cy="9333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IN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  <m:sub>
                              <m:r>
                                <a:rPr lang="en-GB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  <m:sub>
                              <m:r>
                                <a:rPr lang="en-GB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AD07DBDB-1E53-0A7A-8D0D-B86E5835AF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3012" y="1613352"/>
                <a:ext cx="2862658" cy="9333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ectangle: Rounded Corners 37">
            <a:extLst>
              <a:ext uri="{FF2B5EF4-FFF2-40B4-BE49-F238E27FC236}">
                <a16:creationId xmlns:a16="http://schemas.microsoft.com/office/drawing/2014/main" id="{C767350B-468B-E6EE-DD13-4D7DBC2C1086}"/>
              </a:ext>
            </a:extLst>
          </p:cNvPr>
          <p:cNvSpPr/>
          <p:nvPr/>
        </p:nvSpPr>
        <p:spPr>
          <a:xfrm>
            <a:off x="6244134" y="1008179"/>
            <a:ext cx="36000" cy="527076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33C4B07-1352-AAA1-641E-C7D53B591538}"/>
              </a:ext>
            </a:extLst>
          </p:cNvPr>
          <p:cNvSpPr/>
          <p:nvPr/>
        </p:nvSpPr>
        <p:spPr>
          <a:xfrm>
            <a:off x="6510831" y="2664666"/>
            <a:ext cx="2154198" cy="561037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sz="2800" dirty="0">
                <a:solidFill>
                  <a:srgbClr val="002060"/>
                </a:solidFill>
              </a:rPr>
              <a:t>Solution Set:</a:t>
            </a:r>
            <a:endParaRPr lang="en-IN" sz="2800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2F9D3F98-E28D-54AF-D243-A3E32563909F}"/>
                  </a:ext>
                </a:extLst>
              </p:cNvPr>
              <p:cNvSpPr/>
              <p:nvPr/>
            </p:nvSpPr>
            <p:spPr>
              <a:xfrm>
                <a:off x="6510771" y="3244697"/>
                <a:ext cx="1882115" cy="21560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X</m:t>
                      </m:r>
                      <m:r>
                        <a:rPr lang="en-GB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GB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eqArr>
                            <m:eqArrPr>
                              <m:ctrlP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</m:rPr>
                                <a:rPr lang="en-GB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e/>
                            <m:e>
                              <m:r>
                                <m:rPr>
                                  <m:sty m:val="p"/>
                                </m:rPr>
                                <a:rPr lang="en-GB" sz="280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e/>
                            <m:e>
                              <m:r>
                                <m:rPr>
                                  <m:sty m:val="p"/>
                                </m:rPr>
                                <a:rPr lang="en-GB" sz="28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</m:eqArr>
                          <m:r>
                            <a:rPr lang="en-GB" sz="280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2F9D3F98-E28D-54AF-D243-A3E3256390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0771" y="3244697"/>
                <a:ext cx="1882115" cy="215606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DC01DBA-0A88-49BB-FD3B-D61F1AA60856}"/>
                  </a:ext>
                </a:extLst>
              </p:cNvPr>
              <p:cNvSpPr/>
              <p:nvPr/>
            </p:nvSpPr>
            <p:spPr>
              <a:xfrm>
                <a:off x="8149816" y="2945183"/>
                <a:ext cx="2204832" cy="26865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GB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eqArr>
                            <m:eqArrPr>
                              <m:ctrlP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IN" sz="28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IN" sz="28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</m:e>
                                    <m:sub>
                                      <m:r>
                                        <a:rPr lang="en-GB" sz="28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GB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e>
                                <m:sub>
                                  <m:r>
                                    <a:rPr lang="en-GB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/>
                            <m:e>
                              <m:sSub>
                                <m:sSubPr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e>
                                <m:sub>
                                  <m:r>
                                    <a:rPr lang="en-GB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/>
                            <m:e>
                              <m:sSub>
                                <m:sSubPr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e>
                                <m:sub>
                                  <m:r>
                                    <a:rPr lang="en-GB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  <m:r>
                            <a:rPr lang="en-GB" sz="280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DC01DBA-0A88-49BB-FD3B-D61F1AA608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816" y="2945183"/>
                <a:ext cx="2204832" cy="268652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580B6ED7-2B9A-D3DE-626A-E1F3E09A3365}"/>
                  </a:ext>
                </a:extLst>
              </p:cNvPr>
              <p:cNvSpPr/>
              <p:nvPr/>
            </p:nvSpPr>
            <p:spPr>
              <a:xfrm>
                <a:off x="9622278" y="1645427"/>
                <a:ext cx="1827393" cy="9333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IN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  <m:sub>
                              <m:r>
                                <a:rPr lang="en-GB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en-GB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IN" sz="28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580B6ED7-2B9A-D3DE-626A-E1F3E09A33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2278" y="1645427"/>
                <a:ext cx="1827393" cy="933399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497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8" grpId="0"/>
      <p:bldP spid="20" grpId="0"/>
      <p:bldP spid="28" grpId="0"/>
      <p:bldP spid="30" grpId="0" animBg="1"/>
      <p:bldP spid="32" grpId="0"/>
      <p:bldP spid="36" grpId="0"/>
      <p:bldP spid="44" grpId="0" animBg="1"/>
      <p:bldP spid="27" grpId="0"/>
      <p:bldP spid="29" grpId="0"/>
      <p:bldP spid="31" grpId="0"/>
      <p:bldP spid="33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63059-76BD-68DB-A54E-DE78F9337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E22096F-BDF8-91D8-0181-0CE442BD7D3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IN" dirty="0"/>
                  <a:t>Method:6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</m:oMath>
                </a14:m>
                <a:r>
                  <a:rPr lang="en-IN" dirty="0"/>
                  <a:t> </a:t>
                </a:r>
                <a:r>
                  <a:rPr lang="en-IN"/>
                  <a:t>Example:2</a:t>
                </a:r>
                <a:endParaRPr lang="en-IN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E22096F-BDF8-91D8-0181-0CE442BD7D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400" t="-8547" b="-19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44347B8-3437-8026-9553-86A1A0BFE176}"/>
              </a:ext>
            </a:extLst>
          </p:cNvPr>
          <p:cNvSpPr txBox="1">
            <a:spLocks/>
          </p:cNvSpPr>
          <p:nvPr/>
        </p:nvSpPr>
        <p:spPr>
          <a:xfrm>
            <a:off x="6958939" y="107357"/>
            <a:ext cx="4571801" cy="540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marL="265113" indent="-265113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Char char="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9625" indent="-352425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 3" panose="05040102010807070707" pitchFamily="18" charset="2"/>
              <a:buChar char="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8745" indent="0" algn="l">
              <a:lnSpc>
                <a:spcPct val="115000"/>
              </a:lnSpc>
              <a:spcAft>
                <a:spcPts val="800"/>
              </a:spcAft>
              <a:buNone/>
            </a:pPr>
            <a:endParaRPr lang="en-US" sz="3600" b="1" dirty="0">
              <a:solidFill>
                <a:srgbClr val="3D0FE7"/>
              </a:solidFill>
              <a:latin typeface="Cambria Math" panose="02040503050406030204" pitchFamily="18" charset="0"/>
            </a:endParaRPr>
          </a:p>
        </p:txBody>
      </p:sp>
      <p:sp>
        <p:nvSpPr>
          <p:cNvPr id="30" name="Right Arrow 3">
            <a:extLst>
              <a:ext uri="{FF2B5EF4-FFF2-40B4-BE49-F238E27FC236}">
                <a16:creationId xmlns:a16="http://schemas.microsoft.com/office/drawing/2014/main" id="{BA523A83-A422-E8ED-7866-6E30CA5BD895}"/>
              </a:ext>
            </a:extLst>
          </p:cNvPr>
          <p:cNvSpPr/>
          <p:nvPr/>
        </p:nvSpPr>
        <p:spPr>
          <a:xfrm flipV="1">
            <a:off x="306471" y="1029640"/>
            <a:ext cx="576777" cy="394349"/>
          </a:xfrm>
          <a:prstGeom prst="rightArrow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 3" panose="05040102010807070707" pitchFamily="18" charset="2"/>
              <a:buNone/>
            </a:pPr>
            <a:endParaRPr lang="en-IN" sz="2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4342901D-E117-DC09-3583-43E28E83231A}"/>
                  </a:ext>
                </a:extLst>
              </p:cNvPr>
              <p:cNvSpPr/>
              <p:nvPr/>
            </p:nvSpPr>
            <p:spPr>
              <a:xfrm>
                <a:off x="931997" y="955014"/>
                <a:ext cx="2862658" cy="54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GB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GB" sz="280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GB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r>
                        <m:rPr>
                          <m:sty m:val="p"/>
                        </m:rPr>
                        <a:rPr lang="en-GB" sz="280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4342901D-E117-DC09-3583-43E28E8323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997" y="955014"/>
                <a:ext cx="2862658" cy="5436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3F796EF7-E683-7A3E-619C-813E831C129D}"/>
                  </a:ext>
                </a:extLst>
              </p:cNvPr>
              <p:cNvSpPr/>
              <p:nvPr/>
            </p:nvSpPr>
            <p:spPr>
              <a:xfrm>
                <a:off x="683467" y="1616529"/>
                <a:ext cx="2862658" cy="9333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IN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  <m:sub>
                              <m:r>
                                <a:rPr lang="en-GB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sz="2800" i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  <m:sub>
                              <m:r>
                                <a:rPr lang="en-GB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3F796EF7-E683-7A3E-619C-813E831C12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467" y="1616529"/>
                <a:ext cx="2862658" cy="9333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3F796EF7-E683-7A3E-619C-813E831C129D}"/>
              </a:ext>
            </a:extLst>
          </p:cNvPr>
          <p:cNvSpPr/>
          <p:nvPr/>
        </p:nvSpPr>
        <p:spPr>
          <a:xfrm>
            <a:off x="131286" y="2667843"/>
            <a:ext cx="2154198" cy="561037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sz="2800" dirty="0">
                <a:solidFill>
                  <a:srgbClr val="002060"/>
                </a:solidFill>
              </a:rPr>
              <a:t>Solution Set:</a:t>
            </a:r>
            <a:endParaRPr lang="en-IN" sz="2800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F796EF7-E683-7A3E-619C-813E831C129D}"/>
                  </a:ext>
                </a:extLst>
              </p:cNvPr>
              <p:cNvSpPr/>
              <p:nvPr/>
            </p:nvSpPr>
            <p:spPr>
              <a:xfrm>
                <a:off x="131226" y="3247874"/>
                <a:ext cx="1882115" cy="21560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X</m:t>
                      </m:r>
                      <m:r>
                        <a:rPr lang="en-GB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GB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eqArr>
                            <m:eqArrPr>
                              <m:ctrlP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</m:rPr>
                                <a:rPr lang="en-GB" sz="280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x</m:t>
                              </m:r>
                            </m:e>
                            <m:e/>
                            <m:e>
                              <m:r>
                                <m:rPr>
                                  <m:sty m:val="p"/>
                                </m:rPr>
                                <a:rPr lang="en-GB" sz="280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e/>
                            <m:e>
                              <m:r>
                                <m:rPr>
                                  <m:sty m:val="p"/>
                                </m:rPr>
                                <a:rPr lang="en-GB" sz="28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</m:eqArr>
                          <m:r>
                            <a:rPr lang="en-GB" sz="280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F796EF7-E683-7A3E-619C-813E831C12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226" y="3247874"/>
                <a:ext cx="1882115" cy="215606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F796EF7-E683-7A3E-619C-813E831C129D}"/>
                  </a:ext>
                </a:extLst>
              </p:cNvPr>
              <p:cNvSpPr/>
              <p:nvPr/>
            </p:nvSpPr>
            <p:spPr>
              <a:xfrm>
                <a:off x="1770271" y="2948360"/>
                <a:ext cx="2204832" cy="26865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GB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eqArr>
                            <m:eqArrPr>
                              <m:ctrlP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IN" sz="280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IN" sz="28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</m:e>
                                    <m:sub>
                                      <m:r>
                                        <a:rPr lang="en-GB" sz="280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GB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e>
                                <m:sub>
                                  <m:r>
                                    <a:rPr lang="en-GB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/>
                            <m:e>
                              <m:sSub>
                                <m:sSubPr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e>
                                <m:sub>
                                  <m:r>
                                    <a:rPr lang="en-GB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/>
                            <m:e>
                              <m:sSub>
                                <m:sSubPr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e>
                                <m:sub>
                                  <m:r>
                                    <a:rPr lang="en-GB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  <m:r>
                            <a:rPr lang="en-GB" sz="280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F796EF7-E683-7A3E-619C-813E831C12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0271" y="2948360"/>
                <a:ext cx="2204832" cy="268652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F796EF7-E683-7A3E-619C-813E831C129D}"/>
                  </a:ext>
                </a:extLst>
              </p:cNvPr>
              <p:cNvSpPr/>
              <p:nvPr/>
            </p:nvSpPr>
            <p:spPr>
              <a:xfrm>
                <a:off x="3242733" y="1701769"/>
                <a:ext cx="1827393" cy="9333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800" b="0" i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N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IN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IN" sz="2800" i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  <m:sub>
                              <m:r>
                                <a:rPr lang="en-GB" sz="2800" b="0" i="0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IN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800" b="0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en-GB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IN" sz="28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F796EF7-E683-7A3E-619C-813E831C12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2733" y="1701769"/>
                <a:ext cx="1827393" cy="9333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5BB68DF-8880-B083-2F5C-C71FEC5FE033}"/>
                  </a:ext>
                </a:extLst>
              </p:cNvPr>
              <p:cNvSpPr/>
              <p:nvPr/>
            </p:nvSpPr>
            <p:spPr>
              <a:xfrm>
                <a:off x="3837268" y="2993276"/>
                <a:ext cx="3233377" cy="26865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Shruti" panose="020B0502040204020203" pitchFamily="34" charset="0"/>
                        </a:rPr>
                        <m:t>=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en-GB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GB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eqArr>
                            <m:eqArrPr>
                              <m:ctrlPr>
                                <a:rPr lang="en-GB" sz="2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en-IN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IN" sz="280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1 </m:t>
                                  </m:r>
                                </m:num>
                                <m:den>
                                  <m:r>
                                    <a:rPr lang="en-IN" sz="280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/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/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  <m:r>
                            <a:rPr lang="en-GB" sz="280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IN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N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en-GB" sz="2800" b="0" i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GB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eqArr>
                            <m:eqArrPr>
                              <m:ctrlPr>
                                <a:rPr lang="en-GB" sz="2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/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/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  <m:r>
                            <a:rPr lang="en-GB" sz="280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5BB68DF-8880-B083-2F5C-C71FEC5FE0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7268" y="2993276"/>
                <a:ext cx="3233377" cy="268652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: Rounded Corners 37">
            <a:extLst>
              <a:ext uri="{FF2B5EF4-FFF2-40B4-BE49-F238E27FC236}">
                <a16:creationId xmlns:a16="http://schemas.microsoft.com/office/drawing/2014/main" id="{3EE29206-1819-C69A-9BA4-73B7FDC497E1}"/>
              </a:ext>
            </a:extLst>
          </p:cNvPr>
          <p:cNvSpPr/>
          <p:nvPr/>
        </p:nvSpPr>
        <p:spPr>
          <a:xfrm>
            <a:off x="7551937" y="1008179"/>
            <a:ext cx="36000" cy="5270760"/>
          </a:xfrm>
          <a:prstGeom prst="roundRect">
            <a:avLst/>
          </a:prstGeom>
          <a:gradFill>
            <a:gsLst>
              <a:gs pos="10000">
                <a:srgbClr val="0E47A1"/>
              </a:gs>
              <a:gs pos="100000">
                <a:srgbClr val="03A9F5"/>
              </a:gs>
            </a:gsLst>
            <a:lin ang="10800000" scaled="1"/>
          </a:gradFill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algn="ctr"/>
            <a:r>
              <a:rPr lang="en-IN" sz="2800" b="1" dirty="0">
                <a:solidFill>
                  <a:schemeClr val="bg1"/>
                </a:solidFill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DFB87FE4-5ED7-16E4-6B2C-E2498DB3B60A}"/>
                  </a:ext>
                </a:extLst>
              </p:cNvPr>
              <p:cNvSpPr/>
              <p:nvPr/>
            </p:nvSpPr>
            <p:spPr>
              <a:xfrm>
                <a:off x="4486859" y="2982643"/>
                <a:ext cx="1127229" cy="26865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GB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eqArr>
                            <m:eqArrPr>
                              <m:ctrlP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en-IN" sz="280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GB" sz="2800" b="0" i="1" smtClean="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1 </m:t>
                                  </m:r>
                                </m:num>
                                <m:den>
                                  <m:r>
                                    <a:rPr lang="en-IN" sz="2800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/>
                            <m:e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/>
                            <m:e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  <m:r>
                            <a:rPr lang="en-GB" sz="280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DFB87FE4-5ED7-16E4-6B2C-E2498DB3B6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6859" y="2982643"/>
                <a:ext cx="1127229" cy="268652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5EE822F-F92C-4D0B-21D8-A3B21A33D273}"/>
                  </a:ext>
                </a:extLst>
              </p:cNvPr>
              <p:cNvSpPr/>
              <p:nvPr/>
            </p:nvSpPr>
            <p:spPr>
              <a:xfrm>
                <a:off x="5983036" y="3237241"/>
                <a:ext cx="1189755" cy="21105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800" i="1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</m:ctrlPr>
                        </m:dPr>
                        <m:e>
                          <m:r>
                            <a:rPr lang="en-GB" sz="280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Shruti" panose="020B0502040204020203" pitchFamily="34" charset="0"/>
                            </a:rPr>
                            <m:t> </m:t>
                          </m:r>
                          <m:eqArr>
                            <m:eqArrPr>
                              <m:ctrlPr>
                                <a:rPr lang="en-GB" sz="280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/>
                            <m:e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/>
                            <m:e>
                              <m:r>
                                <a:rPr lang="en-GB" sz="2800" b="0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  <m:r>
                            <a:rPr lang="en-GB" sz="280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IN" sz="2800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5EE822F-F92C-4D0B-21D8-A3B21A33D2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3036" y="3237241"/>
                <a:ext cx="1189755" cy="211052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ounded Rectangle 56">
            <a:extLst>
              <a:ext uri="{FF2B5EF4-FFF2-40B4-BE49-F238E27FC236}">
                <a16:creationId xmlns:a16="http://schemas.microsoft.com/office/drawing/2014/main" id="{A81FC5E7-5856-3463-8FBA-CD70E34A59BC}"/>
              </a:ext>
            </a:extLst>
          </p:cNvPr>
          <p:cNvSpPr/>
          <p:nvPr/>
        </p:nvSpPr>
        <p:spPr>
          <a:xfrm>
            <a:off x="4612385" y="3018344"/>
            <a:ext cx="869538" cy="252000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7" name="Rounded Rectangle 56">
            <a:extLst>
              <a:ext uri="{FF2B5EF4-FFF2-40B4-BE49-F238E27FC236}">
                <a16:creationId xmlns:a16="http://schemas.microsoft.com/office/drawing/2014/main" id="{A4EA6D14-75A2-5915-97A7-1FA2FD0F67B1}"/>
              </a:ext>
            </a:extLst>
          </p:cNvPr>
          <p:cNvSpPr/>
          <p:nvPr/>
        </p:nvSpPr>
        <p:spPr>
          <a:xfrm>
            <a:off x="6143144" y="3231416"/>
            <a:ext cx="869538" cy="208264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Content Placeholder 4">
                <a:extLst>
                  <a:ext uri="{FF2B5EF4-FFF2-40B4-BE49-F238E27FC236}">
                    <a16:creationId xmlns:a16="http://schemas.microsoft.com/office/drawing/2014/main" id="{B0EAA90C-0142-733B-BC2F-C6D49CD0423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44676" y="1109861"/>
                <a:ext cx="3787876" cy="543600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:r>
                  <a:rPr lang="en-US" b="1" i="0" dirty="0">
                    <a:solidFill>
                      <a:srgbClr val="FF0000"/>
                    </a:solidFill>
                    <a:latin typeface="+mj-lt"/>
                  </a:rPr>
                  <a:t>dim(Null Space)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0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Content Placeholder 4">
                <a:extLst>
                  <a:ext uri="{FF2B5EF4-FFF2-40B4-BE49-F238E27FC236}">
                    <a16:creationId xmlns:a16="http://schemas.microsoft.com/office/drawing/2014/main" id="{B0EAA90C-0142-733B-BC2F-C6D49CD042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4676" y="1109861"/>
                <a:ext cx="3787876" cy="543600"/>
              </a:xfrm>
              <a:prstGeom prst="rect">
                <a:avLst/>
              </a:prstGeom>
              <a:blipFill>
                <a:blip r:embed="rId12"/>
                <a:stretch>
                  <a:fillRect l="-322" t="-12360" b="-2696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ontent Placeholder 4">
                <a:extLst>
                  <a:ext uri="{FF2B5EF4-FFF2-40B4-BE49-F238E27FC236}">
                    <a16:creationId xmlns:a16="http://schemas.microsoft.com/office/drawing/2014/main" id="{A0812B1D-2A8C-CE07-DB1B-49658499950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43413" y="1752709"/>
                <a:ext cx="4189139" cy="3423124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>
                <a:defPPr>
                  <a:defRPr lang="en-US"/>
                </a:defPPr>
                <a:lvl1pPr marL="118745" algn="just">
                  <a:lnSpc>
                    <a:spcPct val="115000"/>
                  </a:lnSpc>
                  <a:spcBef>
                    <a:spcPts val="1000"/>
                  </a:spcBef>
                  <a:spcAft>
                    <a:spcPts val="800"/>
                  </a:spcAft>
                  <a:buClr>
                    <a:schemeClr val="accent6"/>
                  </a:buClr>
                  <a:buFont typeface="Wingdings 3" panose="05040102010807070707" pitchFamily="18" charset="2"/>
                  <a:buNone/>
                  <a:defRPr sz="2800">
                    <a:solidFill>
                      <a:srgbClr val="3A4A6A"/>
                    </a:solidFill>
                  </a:defRPr>
                </a:lvl1pPr>
              </a:lstStyle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1" dirty="0" smtClean="0">
                          <a:solidFill>
                            <a:srgbClr val="FF0000"/>
                          </a:solidFill>
                        </a:rPr>
                        <m:t>Basis</m:t>
                      </m:r>
                      <m:r>
                        <m:rPr>
                          <m:nor/>
                        </m:rPr>
                        <a:rPr lang="en-GB" b="1" i="0" dirty="0" smtClean="0">
                          <a:solidFill>
                            <a:srgbClr val="FF0000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GB" b="1" i="0" dirty="0" smtClean="0">
                          <a:solidFill>
                            <a:srgbClr val="FF0000"/>
                          </a:solidFill>
                        </a:rPr>
                        <m:t>for</m:t>
                      </m:r>
                      <m:r>
                        <m:rPr>
                          <m:nor/>
                        </m:rPr>
                        <a:rPr lang="en-GB" b="1" i="0" dirty="0" smtClean="0">
                          <a:solidFill>
                            <a:srgbClr val="FF0000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GB" b="1" i="0" dirty="0" smtClean="0">
                          <a:solidFill>
                            <a:srgbClr val="FF0000"/>
                          </a:solidFill>
                        </a:rPr>
                        <m:t>Null</m:t>
                      </m:r>
                      <m:r>
                        <m:rPr>
                          <m:nor/>
                        </m:rPr>
                        <a:rPr lang="en-GB" b="1" i="0" dirty="0" smtClean="0">
                          <a:solidFill>
                            <a:srgbClr val="FF0000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GB" b="1" i="0" dirty="0" smtClean="0">
                          <a:solidFill>
                            <a:srgbClr val="FF0000"/>
                          </a:solidFill>
                        </a:rPr>
                        <m:t>Space</m:t>
                      </m:r>
                    </m:oMath>
                  </m:oMathPara>
                </a14:m>
                <a:endParaRPr lang="en-GB" b="1" i="0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90000"/>
                  </a:lnSpc>
                </a:pPr>
                <a:endParaRPr lang="en-US" sz="8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b="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GB" b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</m:t>
                              </m:r>
                              <m:eqArr>
                                <m:eqArrPr>
                                  <m:ctrlPr>
                                    <a:rPr lang="en-GB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en-IN" b="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IN" b="0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GB" b="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1 </m:t>
                                      </m:r>
                                    </m:num>
                                    <m:den>
                                      <m:r>
                                        <a:rPr lang="en-IN" b="0" i="1">
                                          <a:solidFill>
                                            <a:srgbClr val="00206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  <m:e/>
                                <m:e>
                                  <m:r>
                                    <a:rPr lang="en-GB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/>
                                <m:e>
                                  <m:r>
                                    <a:rPr lang="en-GB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eqArr>
                              <m:r>
                                <a:rPr lang="en-GB" b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b="0" i="1" dirty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dirty="0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b="0" i="1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GB" b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Shruti" panose="020B0502040204020203" pitchFamily="34" charset="0"/>
                                </a:rPr>
                                <m:t> </m:t>
                              </m:r>
                              <m:eqArr>
                                <m:eqArrPr>
                                  <m:ctrlPr>
                                    <a:rPr lang="en-GB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Shrut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GB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/>
                                <m:e>
                                  <m:r>
                                    <a:rPr lang="en-GB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/>
                                <m:e>
                                  <m:r>
                                    <a:rPr lang="en-GB" b="0" i="1">
                                      <a:solidFill>
                                        <a:srgbClr val="00206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eqArr>
                              <m:r>
                                <a:rPr lang="en-GB" b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GB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IN" dirty="0">
                              <a:solidFill>
                                <a:srgbClr val="002060"/>
                              </a:solidFill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206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9" name="Content Placeholder 4">
                <a:extLst>
                  <a:ext uri="{FF2B5EF4-FFF2-40B4-BE49-F238E27FC236}">
                    <a16:creationId xmlns:a16="http://schemas.microsoft.com/office/drawing/2014/main" id="{A0812B1D-2A8C-CE07-DB1B-496584999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3413" y="1752709"/>
                <a:ext cx="4189139" cy="342312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8059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 animBg="1"/>
      <p:bldP spid="17" grpId="0"/>
      <p:bldP spid="34" grpId="0"/>
      <p:bldP spid="35" grpId="0" animBg="1"/>
      <p:bldP spid="37" grpId="0" animBg="1"/>
      <p:bldP spid="38" grpId="0"/>
      <p:bldP spid="39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Placeholder 19">
                <a:extLst>
                  <a:ext uri="{FF2B5EF4-FFF2-40B4-BE49-F238E27FC236}">
                    <a16:creationId xmlns:a16="http://schemas.microsoft.com/office/drawing/2014/main" id="{FF5B8673-7BA1-4EA7-991A-5F4DCD3054D0}"/>
                  </a:ext>
                </a:extLst>
              </p:cNvPr>
              <p:cNvSpPr>
                <a:spLocks noGrp="1"/>
              </p:cNvSpPr>
              <p:nvPr>
                <p:ph type="body" sz="quarter" idx="16"/>
              </p:nvPr>
            </p:nvSpPr>
            <p:spPr/>
            <p:txBody>
              <a:bodyPr/>
              <a:lstStyle/>
              <a:p>
                <a:pPr>
                  <a:lnSpc>
                    <a:spcPct val="100000"/>
                  </a:lnSpc>
                </a:pPr>
                <a:r>
                  <a:rPr lang="en-US" b="1" dirty="0"/>
                  <a:t>B.Tech.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b="1" dirty="0"/>
                  <a:t>1</a:t>
                </a:r>
                <a:r>
                  <a:rPr lang="en-US" b="1" baseline="30000" dirty="0"/>
                  <a:t>st</a:t>
                </a:r>
                <a:r>
                  <a:rPr lang="en-US" b="1" dirty="0"/>
                  <a:t> Semester</a:t>
                </a:r>
              </a:p>
              <a:p>
                <a:pPr>
                  <a:lnSpc>
                    <a:spcPct val="125000"/>
                  </a:lnSpc>
                </a:pPr>
                <a:r>
                  <a:rPr lang="en-US" b="1" dirty="0"/>
                  <a:t>Mathematics – I (2601HS101)</a:t>
                </a:r>
              </a:p>
            </p:txBody>
          </p:sp>
        </mc:Choice>
        <mc:Fallback xmlns="">
          <p:sp>
            <p:nvSpPr>
              <p:cNvPr id="20" name="Text Placeholder 19">
                <a:extLst>
                  <a:ext uri="{FF2B5EF4-FFF2-40B4-BE49-F238E27FC236}">
                    <a16:creationId xmlns:a16="http://schemas.microsoft.com/office/drawing/2014/main" id="{FF5B8673-7BA1-4EA7-991A-5F4DCD3054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6"/>
              </p:nvPr>
            </p:nvSpPr>
            <p:spPr>
              <a:blipFill>
                <a:blip r:embed="rId2"/>
                <a:stretch>
                  <a:fillRect b="-991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9677FDF1-46E9-47E1-A974-B878D8645D19}"/>
              </a:ext>
            </a:extLst>
          </p:cNvPr>
          <p:cNvGrpSpPr/>
          <p:nvPr/>
        </p:nvGrpSpPr>
        <p:grpSpPr>
          <a:xfrm>
            <a:off x="4670" y="1462475"/>
            <a:ext cx="8044476" cy="3103418"/>
            <a:chOff x="-12804" y="1537545"/>
            <a:chExt cx="8044476" cy="3103418"/>
          </a:xfrm>
        </p:grpSpPr>
        <p:sp>
          <p:nvSpPr>
            <p:cNvPr id="21" name="Title 1">
              <a:extLst>
                <a:ext uri="{FF2B5EF4-FFF2-40B4-BE49-F238E27FC236}">
                  <a16:creationId xmlns:a16="http://schemas.microsoft.com/office/drawing/2014/main" id="{CA4DBECA-252D-4599-A864-6399BFFEB65B}"/>
                </a:ext>
              </a:extLst>
            </p:cNvPr>
            <p:cNvSpPr txBox="1">
              <a:spLocks/>
            </p:cNvSpPr>
            <p:nvPr/>
          </p:nvSpPr>
          <p:spPr>
            <a:xfrm>
              <a:off x="-12804" y="2160999"/>
              <a:ext cx="2594560" cy="185650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lvl="0"/>
            </a:lstStyle>
            <a:p>
              <a:r>
                <a:rPr lang="en-GB" dirty="0">
                  <a:solidFill>
                    <a:srgbClr val="ED524F"/>
                  </a:solidFill>
                </a:rPr>
                <a:t> </a:t>
              </a:r>
            </a:p>
          </p:txBody>
        </p:sp>
        <p:sp>
          <p:nvSpPr>
            <p:cNvPr id="22" name="Hexagon 21">
              <a:extLst>
                <a:ext uri="{FF2B5EF4-FFF2-40B4-BE49-F238E27FC236}">
                  <a16:creationId xmlns:a16="http://schemas.microsoft.com/office/drawing/2014/main" id="{FB21F4C4-30D4-4011-8510-CF20FEFC370B}"/>
                </a:ext>
              </a:extLst>
            </p:cNvPr>
            <p:cNvSpPr/>
            <p:nvPr/>
          </p:nvSpPr>
          <p:spPr>
            <a:xfrm rot="5400000">
              <a:off x="2457725" y="1742096"/>
              <a:ext cx="3103418" cy="2694316"/>
            </a:xfrm>
            <a:prstGeom prst="hexagon">
              <a:avLst/>
            </a:prstGeom>
            <a:noFill/>
            <a:ln w="5715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sz="4000" b="1" dirty="0">
                  <a:solidFill>
                    <a:srgbClr val="0690DF"/>
                  </a:solidFill>
                </a:rPr>
                <a:t>THANK YOU</a:t>
              </a:r>
            </a:p>
          </p:txBody>
        </p:sp>
        <p:sp>
          <p:nvSpPr>
            <p:cNvPr id="23" name="Title 1">
              <a:extLst>
                <a:ext uri="{FF2B5EF4-FFF2-40B4-BE49-F238E27FC236}">
                  <a16:creationId xmlns:a16="http://schemas.microsoft.com/office/drawing/2014/main" id="{96D0D2A0-7D7D-452B-9ADA-174886259D92}"/>
                </a:ext>
              </a:extLst>
            </p:cNvPr>
            <p:cNvSpPr txBox="1">
              <a:spLocks/>
            </p:cNvSpPr>
            <p:nvPr/>
          </p:nvSpPr>
          <p:spPr>
            <a:xfrm rot="10800000">
              <a:off x="5437112" y="2160998"/>
              <a:ext cx="2594560" cy="185650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lvl="0"/>
            </a:lstStyle>
            <a:p>
              <a:r>
                <a:rPr lang="en-GB" dirty="0">
                  <a:solidFill>
                    <a:srgbClr val="ED524F"/>
                  </a:solidFill>
                </a:rPr>
                <a:t> </a:t>
              </a:r>
            </a:p>
          </p:txBody>
        </p:sp>
      </p:grp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F861150B-9D06-49DC-B69E-51B77FE5EF8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0936374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Jay">
      <a:dk1>
        <a:srgbClr val="212121"/>
      </a:dk1>
      <a:lt1>
        <a:sysClr val="window" lastClr="FFFFFF"/>
      </a:lt1>
      <a:dk2>
        <a:srgbClr val="1D6FA9"/>
      </a:dk2>
      <a:lt2>
        <a:srgbClr val="FFFFFF"/>
      </a:lt2>
      <a:accent1>
        <a:srgbClr val="909090"/>
      </a:accent1>
      <a:accent2>
        <a:srgbClr val="00BBD3"/>
      </a:accent2>
      <a:accent3>
        <a:srgbClr val="8BC145"/>
      </a:accent3>
      <a:accent4>
        <a:srgbClr val="1D9A78"/>
      </a:accent4>
      <a:accent5>
        <a:srgbClr val="F19D19"/>
      </a:accent5>
      <a:accent6>
        <a:srgbClr val="B84742"/>
      </a:accent6>
      <a:hlink>
        <a:srgbClr val="70AD47"/>
      </a:hlink>
      <a:folHlink>
        <a:srgbClr val="ED7D31"/>
      </a:folHlink>
    </a:clrScheme>
    <a:fontScheme name="Custom 1">
      <a:majorFont>
        <a:latin typeface="Roboto Condensed"/>
        <a:ea typeface=""/>
        <a:cs typeface=""/>
      </a:majorFont>
      <a:minorFont>
        <a:latin typeface="Roboto Condense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30611</TotalTime>
  <Words>12987</Words>
  <Application>Microsoft Office PowerPoint</Application>
  <PresentationFormat>Widescreen</PresentationFormat>
  <Paragraphs>1615</Paragraphs>
  <Slides>166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166</vt:i4>
      </vt:variant>
    </vt:vector>
  </HeadingPairs>
  <TitlesOfParts>
    <vt:vector size="175" baseType="lpstr">
      <vt:lpstr>Cambria Math</vt:lpstr>
      <vt:lpstr>Roboto Condensed Light</vt:lpstr>
      <vt:lpstr>Arial</vt:lpstr>
      <vt:lpstr>Roboto Condensed</vt:lpstr>
      <vt:lpstr>Wingdings 3</vt:lpstr>
      <vt:lpstr>Calibri</vt:lpstr>
      <vt:lpstr>Wingdings</vt:lpstr>
      <vt:lpstr>Cambria</vt:lpstr>
      <vt:lpstr>Office Theme</vt:lpstr>
      <vt:lpstr>Unit – 2 Vector Space</vt:lpstr>
      <vt:lpstr>PowerPoint Presentation</vt:lpstr>
      <vt:lpstr>PowerPoint Presentation</vt:lpstr>
      <vt:lpstr> Introduction</vt:lpstr>
      <vt:lpstr>Introduction</vt:lpstr>
      <vt:lpstr>Symbol, Name and Elements of Different Sets</vt:lpstr>
      <vt:lpstr>Symbol, Name and Elements of Different Sets</vt:lpstr>
      <vt:lpstr>Symbol, Name and Elements of Different Sets</vt:lpstr>
      <vt:lpstr>Symbol, Name and Elements of Different Sets</vt:lpstr>
      <vt:lpstr>Method-1 Vector Space</vt:lpstr>
      <vt:lpstr>Real Vector Space</vt:lpstr>
      <vt:lpstr>Real Vector Space</vt:lpstr>
      <vt:lpstr>Real Vector Space</vt:lpstr>
      <vt:lpstr>Remarks</vt:lpstr>
      <vt:lpstr>Remarks:</vt:lpstr>
      <vt:lpstr>Method:1 ⇝ Example:2</vt:lpstr>
      <vt:lpstr>Method:1 ⇝ Example:2(continue)</vt:lpstr>
      <vt:lpstr>Method:1 ⇝ Example:2(continue)</vt:lpstr>
      <vt:lpstr>Method:1 ⇝ Example:2(continue)</vt:lpstr>
      <vt:lpstr>Method:1 ⇝ Example:2(continue)</vt:lpstr>
      <vt:lpstr>Method:1 ⇝ Example:2(continue)</vt:lpstr>
      <vt:lpstr>Method:1 ⇝ Example:2(continue)</vt:lpstr>
      <vt:lpstr>Method:1 ⇝ Example:2(continue)</vt:lpstr>
      <vt:lpstr>Method:1 ⇝ Example:2(continue)</vt:lpstr>
      <vt:lpstr>Method:1 ⇝ Example:2(continue)</vt:lpstr>
      <vt:lpstr>Method:1 ⇝ Example:1</vt:lpstr>
      <vt:lpstr>Method:1 ⇝ Example:1(continue)</vt:lpstr>
      <vt:lpstr>Method:1 ⇝ Example:1(continue)</vt:lpstr>
      <vt:lpstr>Method:1 ⇝ Example:1(continue)</vt:lpstr>
      <vt:lpstr>Method:1 ⇝ Example:1(continue)</vt:lpstr>
      <vt:lpstr>Method:1 ⇝ Example:1(continue)</vt:lpstr>
      <vt:lpstr>Method:1 ⇝ Example:1(continue)</vt:lpstr>
      <vt:lpstr>Method:1 ⇝ Example:1(continue)</vt:lpstr>
      <vt:lpstr>Method:1 ⇝ Example:1(continue)</vt:lpstr>
      <vt:lpstr>Method:1 ⇝ Example:1(continue)</vt:lpstr>
      <vt:lpstr>Method:1 ⇝ Example:3</vt:lpstr>
      <vt:lpstr>Method:1 ⇝ Example:3(continue)</vt:lpstr>
      <vt:lpstr>Method:1 ⇝ Example:3(continue)</vt:lpstr>
      <vt:lpstr>Method:1 ⇝ Example:3(continue)</vt:lpstr>
      <vt:lpstr>Method:1 ⇝ Example:3(continue)</vt:lpstr>
      <vt:lpstr>Method:1 ⇝ Example:3(continue)</vt:lpstr>
      <vt:lpstr>Method:1 ⇝ Example:4</vt:lpstr>
      <vt:lpstr>Method:1 ⇝ Example:4(continue)</vt:lpstr>
      <vt:lpstr>Method:1 ⇝ Example:4(continue)</vt:lpstr>
      <vt:lpstr>Method:1 ⇝ Example:4(continue)</vt:lpstr>
      <vt:lpstr>Method:1 ⇝ Example:4(continue)</vt:lpstr>
      <vt:lpstr>Method:1 ⇝ Example:4(continue)</vt:lpstr>
      <vt:lpstr>Method:1 ⇝ Example:4(continue)</vt:lpstr>
      <vt:lpstr>Method:1 ⇝ Example:4(continue)</vt:lpstr>
      <vt:lpstr>Method:1 ⇝ Example:4(continue)</vt:lpstr>
      <vt:lpstr>Method:1 ⇝ Example:5</vt:lpstr>
      <vt:lpstr>Method:1 ⇝ Example:5(continue)</vt:lpstr>
      <vt:lpstr>Method:1 ⇝ Example:5(continue)</vt:lpstr>
      <vt:lpstr>Method:1 ⇝ Example:5(continue)</vt:lpstr>
      <vt:lpstr>Method:1 ⇝ Example:5(continue)</vt:lpstr>
      <vt:lpstr>Method:1 ⇝ Example:5(continue)</vt:lpstr>
      <vt:lpstr>Method:1 ⇝ Example:5(continue)</vt:lpstr>
      <vt:lpstr>Method:1 ⇝ Example:5(continue)</vt:lpstr>
      <vt:lpstr>Method:1 ⇝ Example:5(continue)</vt:lpstr>
      <vt:lpstr>Method:1 ⇝ Example:5(continue)</vt:lpstr>
      <vt:lpstr>Method:1 ⇝ Example:5(continue)</vt:lpstr>
      <vt:lpstr>Method:1 ⇝ Example:5(continue)</vt:lpstr>
      <vt:lpstr>Method:1 ⇝ Example:5(continue)</vt:lpstr>
      <vt:lpstr>Method:1 ⇝ Example:6</vt:lpstr>
      <vt:lpstr>Method:1 ⇝ Example:6(continue)</vt:lpstr>
      <vt:lpstr>Method:1 ⇝ Example:6(continue)</vt:lpstr>
      <vt:lpstr>Method:1 ⇝ Example:6(continue)</vt:lpstr>
      <vt:lpstr>Method:1 ⇝ Example:6(continue)</vt:lpstr>
      <vt:lpstr>Method:1 ⇝ Example:6(continue)</vt:lpstr>
      <vt:lpstr>Method:1 ⇝ Example:6(continue)</vt:lpstr>
      <vt:lpstr>Method:1 ⇝ Example:6(continue)</vt:lpstr>
      <vt:lpstr>Method:1 ⇝ Example:6(continue)</vt:lpstr>
      <vt:lpstr>Method:1 ⇝ Example:6(continue)</vt:lpstr>
      <vt:lpstr>Method:1 ⇝ Example:6(continue)</vt:lpstr>
      <vt:lpstr>Method:1 ⇝ Example:6(continue)</vt:lpstr>
      <vt:lpstr>Method:1 ⇝ Example:6(continue)</vt:lpstr>
      <vt:lpstr>Method-2 Subspaces</vt:lpstr>
      <vt:lpstr>Subspace of a Vector Space</vt:lpstr>
      <vt:lpstr>Remarks</vt:lpstr>
      <vt:lpstr>Method:2 ⇝ Example:1</vt:lpstr>
      <vt:lpstr>Method:2 ⇝ Example:1(continue)</vt:lpstr>
      <vt:lpstr>Method:2 ⇝ Example:1(continue) [ Alternate Method ]</vt:lpstr>
      <vt:lpstr>Method:2 ⇝ Example:2</vt:lpstr>
      <vt:lpstr>Method:2 ⇝ Example:2(continue)</vt:lpstr>
      <vt:lpstr>Method:2 ⇝ Example:2(continue) [ Alternate Method ]</vt:lpstr>
      <vt:lpstr>Method:2 ⇝ Example:3</vt:lpstr>
      <vt:lpstr>Method:2 ⇝ Example:3(continue)</vt:lpstr>
      <vt:lpstr>Method:2 ⇝ Example:4</vt:lpstr>
      <vt:lpstr>Method:2 ⇝ Example:4(continue)</vt:lpstr>
      <vt:lpstr>Method:2 ⇝ Example:5</vt:lpstr>
      <vt:lpstr>Method:2 ⇝ Example:5(continue)</vt:lpstr>
      <vt:lpstr>Method:2 ⇝ Example:5(continue) [ Alternate Method ]</vt:lpstr>
      <vt:lpstr>Method-3 Linear Combination and Span</vt:lpstr>
      <vt:lpstr>Linear Combination</vt:lpstr>
      <vt:lpstr>Procedure to check a vector v can be written as linear combination of u_1, u_2, …,u_n</vt:lpstr>
      <vt:lpstr>Procedure to check a vector v can be written as linear combination of u_1, u_2, …,u_n</vt:lpstr>
      <vt:lpstr>Remarks</vt:lpstr>
      <vt:lpstr>Method:3 ⇝ Example:1</vt:lpstr>
      <vt:lpstr>Method:3 ⇝ Example:1(continue)</vt:lpstr>
      <vt:lpstr>Method:3 ⇝ Example:1* [ For understanding ]</vt:lpstr>
      <vt:lpstr>Method:3 ⇝ Example:1* [ only for determine ]</vt:lpstr>
      <vt:lpstr>Method:3 ⇝ Example:2</vt:lpstr>
      <vt:lpstr>Method:3 ⇝ Example:2(continue)</vt:lpstr>
      <vt:lpstr>Method:3 ⇝ Example:2(continue)</vt:lpstr>
      <vt:lpstr>Method:3 ⇝ Example:3</vt:lpstr>
      <vt:lpstr>Method:3 ⇝ Example:3(continue)</vt:lpstr>
      <vt:lpstr>Method:3 ⇝ Example:3(continue)</vt:lpstr>
      <vt:lpstr>Method:3 ⇝ Example:3(continue)</vt:lpstr>
      <vt:lpstr>Span of a Set of Vectors</vt:lpstr>
      <vt:lpstr>Spanning Set</vt:lpstr>
      <vt:lpstr>Procedure to check whether S spans the vector space V</vt:lpstr>
      <vt:lpstr>Procedure to check whether S spans the vector space V</vt:lpstr>
      <vt:lpstr>Remarks</vt:lpstr>
      <vt:lpstr>Method:3 ⇝ Example:5</vt:lpstr>
      <vt:lpstr>Method:3 ⇝ Example:5(continue)</vt:lpstr>
      <vt:lpstr>Method:3 ⇝ Example:5(continue)</vt:lpstr>
      <vt:lpstr>Method:3 ⇝ Example:4</vt:lpstr>
      <vt:lpstr>Method:3 ⇝ Example:6</vt:lpstr>
      <vt:lpstr>Method:3 ⇝ Example:6(continue)</vt:lpstr>
      <vt:lpstr>Method:3 ⇝ Example:6(continue)</vt:lpstr>
      <vt:lpstr>Method-4 Linear Dependence and Independence</vt:lpstr>
      <vt:lpstr>Linearly Dependent Set and Linearly Independent Set</vt:lpstr>
      <vt:lpstr>Remarks</vt:lpstr>
      <vt:lpstr>Remarks</vt:lpstr>
      <vt:lpstr>Method:4 ⇝ Example:1</vt:lpstr>
      <vt:lpstr>Method:4 ⇝ Example:2</vt:lpstr>
      <vt:lpstr>Method:4 ⇝ Example:3</vt:lpstr>
      <vt:lpstr>Procedure to check whether a set is LD or LI</vt:lpstr>
      <vt:lpstr>Method:4 ⇝ Example:4</vt:lpstr>
      <vt:lpstr>Method:4 ⇝ Example:5</vt:lpstr>
      <vt:lpstr>Method:4 ⇝ Example:6</vt:lpstr>
      <vt:lpstr>Method:4 ⇝ Example:6</vt:lpstr>
      <vt:lpstr>Method-5 Basis and Dimension</vt:lpstr>
      <vt:lpstr>Basis</vt:lpstr>
      <vt:lpstr>Procedure to check whether set S is basis of V</vt:lpstr>
      <vt:lpstr>Remarks</vt:lpstr>
      <vt:lpstr>Dimension of a Vector Space</vt:lpstr>
      <vt:lpstr>Dimension of a Vector Space</vt:lpstr>
      <vt:lpstr>Dimension of a Vector Space</vt:lpstr>
      <vt:lpstr>Remarks</vt:lpstr>
      <vt:lpstr>Remarks</vt:lpstr>
      <vt:lpstr>Method:5 ⇝ Example:1</vt:lpstr>
      <vt:lpstr>Method:5 ⇝ Example:2</vt:lpstr>
      <vt:lpstr>Method:5 ⇝ Example:3</vt:lpstr>
      <vt:lpstr>Method:5 ⇝ Example:4</vt:lpstr>
      <vt:lpstr>Method:5 ⇝ Example:5</vt:lpstr>
      <vt:lpstr>Method:5 ⇝ Example:5</vt:lpstr>
      <vt:lpstr>Method:5 ⇝ Example:5</vt:lpstr>
      <vt:lpstr>Method:5 ⇝ Example:6</vt:lpstr>
      <vt:lpstr>Method:5 ⇝ Example:6</vt:lpstr>
      <vt:lpstr>Method:5 ⇝ Example:6</vt:lpstr>
      <vt:lpstr>Method:5 ⇝ Example:6</vt:lpstr>
      <vt:lpstr>Method-6 Row Space, Column Space, and Null Space</vt:lpstr>
      <vt:lpstr>Introduction</vt:lpstr>
      <vt:lpstr>Introduction</vt:lpstr>
      <vt:lpstr>Procedure to Find the Row Space and its Basis from a Matrix A</vt:lpstr>
      <vt:lpstr>Procedure to Find the Column Space and its Basis from a Matrix A</vt:lpstr>
      <vt:lpstr>Method:6 ⇝ Example:1</vt:lpstr>
      <vt:lpstr>Method:6 ⇝ Example:1</vt:lpstr>
      <vt:lpstr>Method:6 ⇝ Example:1</vt:lpstr>
      <vt:lpstr>Procedure to find the Null Space and its Basis</vt:lpstr>
      <vt:lpstr>Remarks</vt:lpstr>
      <vt:lpstr>Method:6 ⇝ Example:2</vt:lpstr>
      <vt:lpstr>Method:6 ⇝ Example:2</vt:lpstr>
      <vt:lpstr>Method:6 ⇝ Example:2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DRP</dc:creator>
  <cp:lastModifiedBy>DARSHAN PIPALIYA</cp:lastModifiedBy>
  <cp:revision>1793</cp:revision>
  <dcterms:created xsi:type="dcterms:W3CDTF">2020-05-01T05:09:15Z</dcterms:created>
  <dcterms:modified xsi:type="dcterms:W3CDTF">2026-09-22T06:03:40Z</dcterms:modified>
</cp:coreProperties>
</file>